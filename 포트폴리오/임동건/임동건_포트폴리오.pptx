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nohc2001/PulseCity" TargetMode="External"/><Relationship Id="rId4" Type="http://schemas.openxmlformats.org/officeDocument/2006/relationships/hyperlink" Target="https://youtu.be/kb8ucLNXPk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donggeon15/2DGP-Project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59CD1DA-EE21-4949-9980-F38DC6AFC9EB}"/>
              </a:ext>
            </a:extLst>
          </p:cNvPr>
          <p:cNvSpPr>
            <a:spLocks noGrp="1"/>
          </p:cNvSpPr>
          <p:nvPr/>
        </p:nvSpPr>
        <p:spPr>
          <a:xfrm>
            <a:off x="723900" y="7048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GAME DEVELOPER PORTFOLIO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F157F8-73CA-4447-B25C-3649B9E1463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4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게임 개발자 포트폴리오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5B928D-6B5C-40E2-BDF0-963BC5BBFA38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31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임동건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4EF175-D729-47E8-BC6D-4723B1F70D41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개발 분야  게임 클라이언트 / 그래픽스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451B53-119F-47F9-9BB6-F73AB73F45D1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C++ · DirectX 12 · HLSL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7C95D7-06C6-4B25-AC63-5B4CEB259542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0629900" cy="95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DA35F9-07EC-43F9-8036-C0446EFC8B93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010-6690-6923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810AE8-BBD9-4CE9-B79C-567902107AB8}"/>
              </a:ext>
            </a:extLst>
          </p:cNvPr>
          <p:cNvSpPr>
            <a:spLocks noGrp="1"/>
          </p:cNvSpPr>
          <p:nvPr/>
        </p:nvSpPr>
        <p:spPr>
          <a:xfrm>
            <a:off x="742950" y="578167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do020415@naver.com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310E91-6E4A-4730-8940-3F2FDDC4C4D8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783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B6C6DD-698A-4860-99B1-7ACB6E5DCEF2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GAME DEVELOPER PORTFOLIO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ACF1F9-E2A9-4758-A12E-97BBEB879AB4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06AD90-9283-4450-9011-48405230A73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프로젝트와 구현 내용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6EEFFC-5AD8-4719-BE37-32EF14FB4EC5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F1AA557-C5A0-447B-B734-1B5750B29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900" y="1924050"/>
            <a:ext cx="3770600" cy="21907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1AC16A9-43E0-4886-8E8E-51AEED4C5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1306" y="4257675"/>
            <a:ext cx="2783787" cy="21907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B476B9-315C-4A77-8C72-73ABE0419A95}"/>
              </a:ext>
            </a:extLst>
          </p:cNvPr>
          <p:cNvSpPr>
            <a:spLocks noGrp="1"/>
          </p:cNvSpPr>
          <p:nvPr/>
        </p:nvSpPr>
        <p:spPr>
          <a:xfrm>
            <a:off x="5381625" y="1990725"/>
            <a:ext cx="5953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333"/>
          </a:bodyPr>
          <a:lstStyle/>
          <a:p>
            <a:pPr algn="l">
              <a:buNone/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01  PulseCity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E66BED-D5EC-4600-A4F5-C0C3EFC71BC5}"/>
              </a:ext>
            </a:extLst>
          </p:cNvPr>
          <p:cNvSpPr>
            <a:spLocks noGrp="1"/>
          </p:cNvSpPr>
          <p:nvPr/>
        </p:nvSpPr>
        <p:spPr>
          <a:xfrm>
            <a:off x="5381625" y="2495550"/>
            <a:ext cx="5953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팀 졸업작품 / C++, DirectX 12, HLSL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81E55E-6799-4B5D-93CC-80FF7BBED770}"/>
              </a:ext>
            </a:extLst>
          </p:cNvPr>
          <p:cNvSpPr>
            <a:spLocks noGrp="1"/>
          </p:cNvSpPr>
          <p:nvPr/>
        </p:nvSpPr>
        <p:spPr>
          <a:xfrm>
            <a:off x="5381625" y="2971800"/>
            <a:ext cx="5953125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03  프로젝트 소개</a:t>
            </a:r>
          </a:p>
          <a:p>
            <a:pPr algn="l">
              <a:buNone/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04–09  메시 LOD와 거리별 최적화</a:t>
            </a:r>
          </a:p>
          <a:p>
            <a:pPr algn="l">
              <a:buNone/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10–11  GPU 파티클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497CEC-6D64-4E58-B44E-420344B9E60E}"/>
              </a:ext>
            </a:extLst>
          </p:cNvPr>
          <p:cNvSpPr>
            <a:spLocks noGrp="1"/>
          </p:cNvSpPr>
          <p:nvPr/>
        </p:nvSpPr>
        <p:spPr>
          <a:xfrm>
            <a:off x="5381625" y="4505325"/>
            <a:ext cx="5953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333"/>
          </a:bodyPr>
          <a:lstStyle/>
          <a:p>
            <a:pPr algn="l">
              <a:buNone/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02  커비 모작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58C763-DBF5-4D0D-A3CF-B2AC2CDABDA9}"/>
              </a:ext>
            </a:extLst>
          </p:cNvPr>
          <p:cNvSpPr>
            <a:spLocks noGrp="1"/>
          </p:cNvSpPr>
          <p:nvPr/>
        </p:nvSpPr>
        <p:spPr>
          <a:xfrm>
            <a:off x="5381625" y="5010150"/>
            <a:ext cx="5953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개인 프로젝트 / Python, pico2d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F5DB38-A9F1-420A-A505-D1BCA0E813A7}"/>
              </a:ext>
            </a:extLst>
          </p:cNvPr>
          <p:cNvSpPr>
            <a:spLocks noGrp="1"/>
          </p:cNvSpPr>
          <p:nvPr/>
        </p:nvSpPr>
        <p:spPr>
          <a:xfrm>
            <a:off x="5381625" y="5476875"/>
            <a:ext cx="595312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12  프로젝트 소개와 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7F4CFD-F9A4-456A-B4D7-234F44BD5971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0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2A3EFE-6467-4612-89D0-3AE06F4F135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319C36-3DBD-4A4D-B610-418F6A0FD7DF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PulseCity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53D0EA-BBAA-4595-B8B9-D7BD9B84D24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팀 졸업작품. 담당: 원거리 메시 교체·반복 물체 배치 렌더링과 스킬 파티클 처리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231D47-BDC6-492B-9C5A-8F24177D4989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A45EB24-AA5F-4896-8306-0BD8B48A6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1814468"/>
            <a:ext cx="6591300" cy="38005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8FFB40-416F-492D-9ACA-9D62582879FC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8EE39B-F7A0-43A1-82FB-5EE19ECFDDE6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27"/>
          </a:bodyPr>
          <a:lstStyle/>
          <a:p>
            <a:pPr algn="l">
              <a:buNone/>
              <a:defRPr sz="20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팀 졸업작품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3915BE-DF24-4A0A-8D73-4BF6CEA6F0B3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D04C24-AD15-4B7D-AC4F-A876EFD81D5B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50006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3D FPS RPG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711302-DF3A-448F-ADDB-C541EE003659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개인 담당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3FED5C-63BF-4ED7-B1E3-4767AA96E0B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Auto LOD · GPU 파티클 시스템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A62430-5A9A-46DF-82A9-F23096BBB459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4333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275">
                <a:solidFill>
                  <a:srgbClr val="4F5966"/>
                </a:solidFill>
              </a:defRPr>
            </a:defPPr>
            <a:lvl1pPr>
              <a:buNone/>
              <a:defRPr sz="1275">
                <a:solidFill>
                  <a:srgbClr val="4F5966"/>
                </a:solidFill>
              </a:defRPr>
            </a:lvl1pPr>
            <a:lvl2pPr>
              <a:buNone/>
              <a:defRPr sz="1275">
                <a:solidFill>
                  <a:srgbClr val="4F5966"/>
                </a:solidFill>
              </a:defRPr>
            </a:lvl2pPr>
            <a:lvl3pPr>
              <a:buNone/>
              <a:defRPr sz="1275">
                <a:solidFill>
                  <a:srgbClr val="4F5966"/>
                </a:solidFill>
              </a:defRPr>
            </a:lvl3pPr>
            <a:lvl4pPr>
              <a:buNone/>
              <a:defRPr sz="1275">
                <a:solidFill>
                  <a:srgbClr val="4F5966"/>
                </a:solidFill>
              </a:defRPr>
            </a:lvl4pPr>
            <a:lvl5pPr>
              <a:buNone/>
              <a:defRPr sz="1275">
                <a:solidFill>
                  <a:srgbClr val="4F5966"/>
                </a:solidFill>
              </a:defRPr>
            </a:lvl5pPr>
            <a:lvl6pPr>
              <a:buNone/>
              <a:defRPr sz="1275">
                <a:solidFill>
                  <a:srgbClr val="4F5966"/>
                </a:solidFill>
              </a:defRPr>
            </a:lvl6pPr>
            <a:lvl7pPr>
              <a:buNone/>
              <a:defRPr sz="1275">
                <a:solidFill>
                  <a:srgbClr val="4F5966"/>
                </a:solidFill>
              </a:defRPr>
            </a:lvl7pPr>
            <a:lvl8pPr>
              <a:buNone/>
              <a:defRPr sz="1275">
                <a:solidFill>
                  <a:srgbClr val="4F5966"/>
                </a:solidFill>
              </a:defRPr>
            </a:lvl8pPr>
            <a:lvl9pPr>
              <a:buNone/>
              <a:defRPr sz="1275">
                <a:solidFill>
                  <a:srgbClr val="4F5966"/>
                </a:solidFill>
              </a:defRPr>
            </a:lvl9pPr>
          </a:lstStyle>
          <a:p>
            <a:pPr algn="l">
              <a:buNone/>
              <a:def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제작 기간  2025.06.12 ~ 2026.06.22</a:t>
            </a:r>
          </a:p>
          <a:p>
            <a:pPr algn="l">
              <a:buNone/>
              <a:def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사용 기술  C++ / DirectX 12 / HLSL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F4065D-73B7-4EDE-ACCE-734633793B76}"/>
              </a:ext>
            </a:extLst>
          </p:cNvPr>
          <p:cNvSpPr>
            <a:spLocks noGrp="1"/>
          </p:cNvSpPr>
          <p:nvPr/>
        </p:nvSpPr>
        <p:spPr>
          <a:xfrm>
            <a:off x="5048250" y="5772150"/>
            <a:ext cx="6591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0A7E1"/>
                </a:solidFill>
                <a:latin typeface="Malgun Gothic"/>
                <a:ea typeface="Malgun Gothic"/>
                <a:cs typeface="Malgun Gothic"/>
                <a:hlinkClick r:id="rId4"/>
              </a:rPr>
              <a:t>게임 영상  https://youtu.be/kb8ucLNXPk4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054297-61C2-48C5-9B70-CB2697D95A8A}"/>
              </a:ext>
            </a:extLst>
          </p:cNvPr>
          <p:cNvSpPr>
            <a:spLocks noGrp="1"/>
          </p:cNvSpPr>
          <p:nvPr/>
        </p:nvSpPr>
        <p:spPr>
          <a:xfrm>
            <a:off x="5048250" y="6191250"/>
            <a:ext cx="6591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B96B"/>
                </a:solidFill>
                <a:latin typeface="Malgun Gothic"/>
                <a:ea typeface="Malgun Gothic"/>
                <a:cs typeface="Malgun Gothic"/>
                <a:hlinkClick r:id="rId5"/>
              </a:rPr>
              <a:t>GitHub  https://github.com/nohc2001/PulseCity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B1BD76-2664-4408-A021-EE61BECB399B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35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F1E17D-4402-4C6D-8CD7-41954D3F9270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44EAED-008D-48FB-9435-88B896CD152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원본과 LOD 메시 비교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2DF24C-ACD3-401F-B5FC-DC012CDF365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LOD: 멀리 있어 작게 보이는 물체를 삼각형 수가 적은 메시로 바꾸는 기법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872DA7-A74F-4998-86F4-349BC85617C3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A8650A-2DC5-40BF-8C20-040943E7F08C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19050" cy="27146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38B235-9704-4EF0-A38F-659D21543EEC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C5801F0-B1D4-4154-8691-7F4E18776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191851"/>
            <a:ext cx="5238750" cy="180754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F7E9031-DE9A-447F-B8D8-DB9A80F3D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2100581"/>
            <a:ext cx="5238750" cy="199008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823C51-B109-4707-BA56-95A5BA379F7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143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>
                <a:solidFill>
                  <a:srgbClr val="111318"/>
                </a:solidFill>
              </a:defRPr>
            </a:defPPr>
            <a:lvl1pPr>
              <a:buNone/>
              <a:defRPr sz="1650">
                <a:solidFill>
                  <a:srgbClr val="111318"/>
                </a:solidFill>
              </a:defRPr>
            </a:lvl1pPr>
            <a:lvl2pPr>
              <a:buNone/>
              <a:defRPr sz="1650">
                <a:solidFill>
                  <a:srgbClr val="111318"/>
                </a:solidFill>
              </a:defRPr>
            </a:lvl2pPr>
            <a:lvl3pPr>
              <a:buNone/>
              <a:defRPr sz="1650">
                <a:solidFill>
                  <a:srgbClr val="111318"/>
                </a:solidFill>
              </a:defRPr>
            </a:lvl3pPr>
            <a:lvl4pPr>
              <a:buNone/>
              <a:defRPr sz="1650">
                <a:solidFill>
                  <a:srgbClr val="111318"/>
                </a:solidFill>
              </a:defRPr>
            </a:lvl4pPr>
            <a:lvl5pPr>
              <a:buNone/>
              <a:defRPr sz="1650">
                <a:solidFill>
                  <a:srgbClr val="111318"/>
                </a:solidFill>
              </a:defRPr>
            </a:lvl5pPr>
            <a:lvl6pPr>
              <a:buNone/>
              <a:defRPr sz="1650">
                <a:solidFill>
                  <a:srgbClr val="111318"/>
                </a:solidFill>
              </a:defRPr>
            </a:lvl6pPr>
            <a:lvl7pPr>
              <a:buNone/>
              <a:defRPr sz="1650">
                <a:solidFill>
                  <a:srgbClr val="111318"/>
                </a:solidFill>
              </a:defRPr>
            </a:lvl7pPr>
            <a:lvl8pPr>
              <a:buNone/>
              <a:defRPr sz="1650">
                <a:solidFill>
                  <a:srgbClr val="111318"/>
                </a:solidFill>
              </a:defRPr>
            </a:lvl8pPr>
            <a:lvl9pPr>
              <a:buNone/>
              <a:defRPr sz="1650">
                <a:solidFill>
                  <a:srgbClr val="111318"/>
                </a:solidFill>
              </a:defRPr>
            </a:lvl9pPr>
          </a:lstStyle>
          <a:p>
            <a:pPr>
              <a:buNone/>
              <a:defRPr sz="1650">
                <a:solidFill>
                  <a:srgbClr val="111318"/>
                </a:solidFill>
              </a:defRPr>
            </a:pPr>
            <a:r>
              <a:rPr sz="1650">
                <a:solidFill>
                  <a:srgbClr val="111318"/>
                </a:solidFill>
              </a:rPr>
              <a:t>일반 렌더링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2CFEEA-F949-41D7-A688-96690E96D497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5143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>
                <a:solidFill>
                  <a:srgbClr val="111318"/>
                </a:solidFill>
              </a:defRPr>
            </a:defPPr>
            <a:lvl1pPr>
              <a:buNone/>
              <a:defRPr sz="1650">
                <a:solidFill>
                  <a:srgbClr val="111318"/>
                </a:solidFill>
              </a:defRPr>
            </a:lvl1pPr>
            <a:lvl2pPr>
              <a:buNone/>
              <a:defRPr sz="1650">
                <a:solidFill>
                  <a:srgbClr val="111318"/>
                </a:solidFill>
              </a:defRPr>
            </a:lvl2pPr>
            <a:lvl3pPr>
              <a:buNone/>
              <a:defRPr sz="1650">
                <a:solidFill>
                  <a:srgbClr val="111318"/>
                </a:solidFill>
              </a:defRPr>
            </a:lvl3pPr>
            <a:lvl4pPr>
              <a:buNone/>
              <a:defRPr sz="1650">
                <a:solidFill>
                  <a:srgbClr val="111318"/>
                </a:solidFill>
              </a:defRPr>
            </a:lvl4pPr>
            <a:lvl5pPr>
              <a:buNone/>
              <a:defRPr sz="1650">
                <a:solidFill>
                  <a:srgbClr val="111318"/>
                </a:solidFill>
              </a:defRPr>
            </a:lvl5pPr>
            <a:lvl6pPr>
              <a:buNone/>
              <a:defRPr sz="1650">
                <a:solidFill>
                  <a:srgbClr val="111318"/>
                </a:solidFill>
              </a:defRPr>
            </a:lvl6pPr>
            <a:lvl7pPr>
              <a:buNone/>
              <a:defRPr sz="1650">
                <a:solidFill>
                  <a:srgbClr val="111318"/>
                </a:solidFill>
              </a:defRPr>
            </a:lvl7pPr>
            <a:lvl8pPr>
              <a:buNone/>
              <a:defRPr sz="1650">
                <a:solidFill>
                  <a:srgbClr val="111318"/>
                </a:solidFill>
              </a:defRPr>
            </a:lvl8pPr>
            <a:lvl9pPr>
              <a:buNone/>
              <a:defRPr sz="1650">
                <a:solidFill>
                  <a:srgbClr val="111318"/>
                </a:solidFill>
              </a:defRPr>
            </a:lvl9pPr>
          </a:lstStyle>
          <a:p>
            <a:pPr>
              <a:buNone/>
              <a:defRPr sz="1650">
                <a:solidFill>
                  <a:srgbClr val="111318"/>
                </a:solidFill>
              </a:defRPr>
            </a:pPr>
            <a:r>
              <a:rPr sz="1650">
                <a:solidFill>
                  <a:srgbClr val="111318"/>
                </a:solidFill>
              </a:rPr>
              <a:t>와이어프레임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2F613C-CE7A-4BB3-AB36-5406D35A336F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>
                <a:solidFill>
                  <a:srgbClr val="111318"/>
                </a:solidFill>
              </a:defRPr>
            </a:defPPr>
            <a:lvl1pPr>
              <a:buNone/>
              <a:defRPr sz="1575">
                <a:solidFill>
                  <a:srgbClr val="111318"/>
                </a:solidFill>
              </a:defRPr>
            </a:lvl1pPr>
            <a:lvl2pPr>
              <a:buNone/>
              <a:defRPr sz="1575">
                <a:solidFill>
                  <a:srgbClr val="111318"/>
                </a:solidFill>
              </a:defRPr>
            </a:lvl2pPr>
            <a:lvl3pPr>
              <a:buNone/>
              <a:defRPr sz="1575">
                <a:solidFill>
                  <a:srgbClr val="111318"/>
                </a:solidFill>
              </a:defRPr>
            </a:lvl3pPr>
            <a:lvl4pPr>
              <a:buNone/>
              <a:defRPr sz="1575">
                <a:solidFill>
                  <a:srgbClr val="111318"/>
                </a:solidFill>
              </a:defRPr>
            </a:lvl4pPr>
            <a:lvl5pPr>
              <a:buNone/>
              <a:defRPr sz="1575">
                <a:solidFill>
                  <a:srgbClr val="111318"/>
                </a:solidFill>
              </a:defRPr>
            </a:lvl5pPr>
            <a:lvl6pPr>
              <a:buNone/>
              <a:defRPr sz="1575">
                <a:solidFill>
                  <a:srgbClr val="111318"/>
                </a:solidFill>
              </a:defRPr>
            </a:lvl6pPr>
            <a:lvl7pPr>
              <a:buNone/>
              <a:defRPr sz="1575">
                <a:solidFill>
                  <a:srgbClr val="111318"/>
                </a:solidFill>
              </a:defRPr>
            </a:lvl7pPr>
            <a:lvl8pPr>
              <a:buNone/>
              <a:defRPr sz="1575">
                <a:solidFill>
                  <a:srgbClr val="111318"/>
                </a:solidFill>
              </a:defRPr>
            </a:lvl8pPr>
            <a:lvl9pPr>
              <a:buNone/>
              <a:defRPr sz="1575">
                <a:solidFill>
                  <a:srgbClr val="111318"/>
                </a:solidFill>
              </a:defRPr>
            </a:lvl9pPr>
          </a:lstStyle>
          <a:p>
            <a:pPr>
              <a:buNone/>
              <a:defRPr sz="1575">
                <a:solidFill>
                  <a:srgbClr val="111318"/>
                </a:solidFill>
              </a:defRPr>
            </a:pPr>
            <a:r>
              <a:rPr sz="1575">
                <a:solidFill>
                  <a:srgbClr val="111318"/>
                </a:solidFill>
              </a:rPr>
              <a:t>원본 삼각형 5,769개     LOD1 삼각형 2,786개     LOD2 삼각형 862개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92636F-B968-4DAA-A497-7352E42C8104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>
                <a:solidFill>
                  <a:srgbClr val="111318"/>
                </a:solidFill>
              </a:defRPr>
            </a:defPPr>
            <a:lvl1pPr>
              <a:buNone/>
              <a:defRPr sz="1425">
                <a:solidFill>
                  <a:srgbClr val="111318"/>
                </a:solidFill>
              </a:defRPr>
            </a:lvl1pPr>
            <a:lvl2pPr>
              <a:buNone/>
              <a:defRPr sz="1425">
                <a:solidFill>
                  <a:srgbClr val="111318"/>
                </a:solidFill>
              </a:defRPr>
            </a:lvl2pPr>
            <a:lvl3pPr>
              <a:buNone/>
              <a:defRPr sz="1425">
                <a:solidFill>
                  <a:srgbClr val="111318"/>
                </a:solidFill>
              </a:defRPr>
            </a:lvl3pPr>
            <a:lvl4pPr>
              <a:buNone/>
              <a:defRPr sz="1425">
                <a:solidFill>
                  <a:srgbClr val="111318"/>
                </a:solidFill>
              </a:defRPr>
            </a:lvl4pPr>
            <a:lvl5pPr>
              <a:buNone/>
              <a:defRPr sz="1425">
                <a:solidFill>
                  <a:srgbClr val="111318"/>
                </a:solidFill>
              </a:defRPr>
            </a:lvl5pPr>
            <a:lvl6pPr>
              <a:buNone/>
              <a:defRPr sz="1425">
                <a:solidFill>
                  <a:srgbClr val="111318"/>
                </a:solidFill>
              </a:defRPr>
            </a:lvl6pPr>
            <a:lvl7pPr>
              <a:buNone/>
              <a:defRPr sz="1425">
                <a:solidFill>
                  <a:srgbClr val="111318"/>
                </a:solidFill>
              </a:defRPr>
            </a:lvl7pPr>
            <a:lvl8pPr>
              <a:buNone/>
              <a:defRPr sz="1425">
                <a:solidFill>
                  <a:srgbClr val="111318"/>
                </a:solidFill>
              </a:defRPr>
            </a:lvl8pPr>
            <a:lvl9pPr>
              <a:buNone/>
              <a:defRPr sz="1425">
                <a:solidFill>
                  <a:srgbClr val="111318"/>
                </a:solidFill>
              </a:defRPr>
            </a:lvl9pPr>
          </a:lstStyle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meshoptimizer 라이브러리로 삼각형 수가 적은 메시를 구성</a:t>
            </a:r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목표 잔여 삼각형 비율: 원본 대비 LOD1 25%, LOD2 12%. 오차 제한에 따라 달라짐.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BAFE75-917A-4A76-8CD9-090BF31C19F0}"/>
              </a:ext>
            </a:extLst>
          </p:cNvPr>
          <p:cNvSpPr>
            <a:spLocks noGrp="1"/>
          </p:cNvSpPr>
          <p:nvPr/>
        </p:nvSpPr>
        <p:spPr>
          <a:xfrm>
            <a:off x="666750" y="6096000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>
                <a:solidFill>
                  <a:srgbClr val="111318"/>
                </a:solidFill>
              </a:defRPr>
            </a:defPPr>
            <a:lvl1pPr>
              <a:buNone/>
              <a:defRPr sz="1200">
                <a:solidFill>
                  <a:srgbClr val="111318"/>
                </a:solidFill>
              </a:defRPr>
            </a:lvl1pPr>
            <a:lvl2pPr>
              <a:buNone/>
              <a:defRPr sz="1200">
                <a:solidFill>
                  <a:srgbClr val="111318"/>
                </a:solidFill>
              </a:defRPr>
            </a:lvl2pPr>
            <a:lvl3pPr>
              <a:buNone/>
              <a:defRPr sz="1200">
                <a:solidFill>
                  <a:srgbClr val="111318"/>
                </a:solidFill>
              </a:defRPr>
            </a:lvl3pPr>
            <a:lvl4pPr>
              <a:buNone/>
              <a:defRPr sz="1200">
                <a:solidFill>
                  <a:srgbClr val="111318"/>
                </a:solidFill>
              </a:defRPr>
            </a:lvl4pPr>
            <a:lvl5pPr>
              <a:buNone/>
              <a:defRPr sz="1200">
                <a:solidFill>
                  <a:srgbClr val="111318"/>
                </a:solidFill>
              </a:defRPr>
            </a:lvl5pPr>
            <a:lvl6pPr>
              <a:buNone/>
              <a:defRPr sz="1200">
                <a:solidFill>
                  <a:srgbClr val="111318"/>
                </a:solidFill>
              </a:defRPr>
            </a:lvl6pPr>
            <a:lvl7pPr>
              <a:buNone/>
              <a:defRPr sz="1200">
                <a:solidFill>
                  <a:srgbClr val="111318"/>
                </a:solidFill>
              </a:defRPr>
            </a:lvl7pPr>
            <a:lvl8pPr>
              <a:buNone/>
              <a:defRPr sz="1200">
                <a:solidFill>
                  <a:srgbClr val="111318"/>
                </a:solidFill>
              </a:defRPr>
            </a:lvl8pPr>
            <a:lvl9pPr>
              <a:buNone/>
              <a:defRPr sz="1200">
                <a:solidFill>
                  <a:srgbClr val="111318"/>
                </a:solidFill>
              </a:defRPr>
            </a:lvl9pPr>
          </a:lstStyle>
          <a:p>
            <a:pPr>
              <a:buNone/>
              <a:defRPr sz="1200">
                <a:solidFill>
                  <a:srgbClr val="111318"/>
                </a:solidFill>
              </a:defRPr>
            </a:pPr>
            <a:r>
              <a:rPr sz="1200">
                <a:solidFill>
                  <a:srgbClr val="111318"/>
                </a:solidFill>
              </a:rPr>
              <a:t>촬영 모델 1개의 결과. 왼쪽 원본 / 가운데 LOD1 / 오른쪽 LOD2. 원본 대비 감소: 51.7% / 85.1%.</a:t>
            </a:r>
          </a:p>
          <a:p>
            <a:pPr>
              <a:buNone/>
              <a:defRPr sz="1200">
                <a:solidFill>
                  <a:srgbClr val="111318"/>
                </a:solidFill>
              </a:defRPr>
            </a:pPr>
            <a:r>
              <a:rPr sz="1200">
                <a:solidFill>
                  <a:srgbClr val="111318"/>
                </a:solidFill>
              </a:rPr>
              <a:t>LOD2는 상단과 외곽의 변형이 보여 먼 거리에서 선택하고, 가까운 물체는 원본 유지.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DF68B6-E5D1-4276-8F65-7390A6000BF8}"/>
              </a:ext>
            </a:extLst>
          </p:cNvPr>
          <p:cNvSpPr>
            <a:spLocks noGrp="1"/>
          </p:cNvSpPr>
          <p:nvPr/>
        </p:nvSpPr>
        <p:spPr>
          <a:xfrm>
            <a:off x="742950" y="5476875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>
                <a:solidFill>
                  <a:srgbClr val="4F5966"/>
                </a:solidFill>
              </a:defRPr>
            </a:defPPr>
            <a:lvl1pPr>
              <a:buNone/>
              <a:defRPr sz="1050">
                <a:solidFill>
                  <a:srgbClr val="4F5966"/>
                </a:solidFill>
              </a:defRPr>
            </a:lvl1pPr>
            <a:lvl2pPr>
              <a:buNone/>
              <a:defRPr sz="1050">
                <a:solidFill>
                  <a:srgbClr val="4F5966"/>
                </a:solidFill>
              </a:defRPr>
            </a:lvl2pPr>
            <a:lvl3pPr>
              <a:buNone/>
              <a:defRPr sz="1050">
                <a:solidFill>
                  <a:srgbClr val="4F5966"/>
                </a:solidFill>
              </a:defRPr>
            </a:lvl3pPr>
            <a:lvl4pPr>
              <a:buNone/>
              <a:defRPr sz="1050">
                <a:solidFill>
                  <a:srgbClr val="4F5966"/>
                </a:solidFill>
              </a:defRPr>
            </a:lvl4pPr>
            <a:lvl5pPr>
              <a:buNone/>
              <a:defRPr sz="1050">
                <a:solidFill>
                  <a:srgbClr val="4F5966"/>
                </a:solidFill>
              </a:defRPr>
            </a:lvl5pPr>
            <a:lvl6pPr>
              <a:buNone/>
              <a:defRPr sz="1050">
                <a:solidFill>
                  <a:srgbClr val="4F5966"/>
                </a:solidFill>
              </a:defRPr>
            </a:lvl6pPr>
            <a:lvl7pPr>
              <a:buNone/>
              <a:defRPr sz="1050">
                <a:solidFill>
                  <a:srgbClr val="4F5966"/>
                </a:solidFill>
              </a:defRPr>
            </a:lvl7pPr>
            <a:lvl8pPr>
              <a:buNone/>
              <a:defRPr sz="1050">
                <a:solidFill>
                  <a:srgbClr val="4F5966"/>
                </a:solidFill>
              </a:defRPr>
            </a:lvl8pPr>
            <a:lvl9pPr>
              <a:buNone/>
              <a:defRPr sz="1050">
                <a:solidFill>
                  <a:srgbClr val="4F5966"/>
                </a:solidFill>
              </a:defRPr>
            </a:lvl9pPr>
          </a:lstStyle>
          <a:p>
            <a:pPr>
              <a:buNone/>
              <a:defRPr sz="1050">
                <a:solidFill>
                  <a:srgbClr val="4F5966"/>
                </a:solidFill>
              </a:defRPr>
            </a:pPr>
            <a:r>
              <a:rPr sz="1050">
                <a:solidFill>
                  <a:srgbClr val="4F5966"/>
                </a:solidFill>
              </a:rPr>
              <a:t>이 프로젝트의 LOD에서 사용하는 용어</a:t>
            </a:r>
          </a:p>
          <a:p>
            <a:pPr>
              <a:buNone/>
              <a:defRPr sz="1050">
                <a:solidFill>
                  <a:srgbClr val="4F5966"/>
                </a:solidFill>
              </a:defRPr>
            </a:pPr>
            <a:r>
              <a:rPr sz="1050">
                <a:solidFill>
                  <a:srgbClr val="4F5966"/>
                </a:solidFill>
              </a:rPr>
              <a:t>폴리곤: 여기서는 삼각형 한 개. 메시: 정점과 삼각형 연결 정보를 담은 형상. 서브메시: 메시 안에서 재질 슬롯별로 나눠 그리는 삼각형 묶음.</a:t>
            </a:r>
          </a:p>
          <a:p>
            <a:pPr>
              <a:buNone/>
              <a:defRPr sz="1050">
                <a:solidFill>
                  <a:srgbClr val="4F5966"/>
                </a:solidFill>
              </a:defRPr>
            </a:pPr>
            <a:r>
              <a:rPr sz="1050">
                <a:solidFill>
                  <a:srgbClr val="4F5966"/>
                </a:solidFill>
              </a:rPr>
              <a:t>Object(오브젝트): 맵에 배치된 개별 물체. 메시 또는 여러 메시로 구성된 모델을 참조하며, 배치 위치·회전·크기를 별도로 가진다.</a:t>
            </a:r>
          </a:p>
        </p:txBody>
      </p:sp>
    </p:spTree>
    <p:extLst>
      <p:ext uri="{BB962C8B-B14F-4D97-AF65-F5344CB8AC3E}">
        <p14:creationId xmlns:p14="http://schemas.microsoft.com/office/powerpoint/2010/main" val="190912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E5F4D3-BACD-463C-9074-BCBE169A3F3A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5FB71E-24AC-4B11-98BB-0F97FFB00149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LOD 생성 알고리즘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206DF3-B19B-4219-BD5E-EE582D45BAF3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QEM: 원래 표면과의 차이를 오차로 계산하고, 오차가 작은 모서리부터 병합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F01902-0601-4A12-96E6-1032858F5037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A481B5-20C1-4FBD-8B61-7325C070006C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라이브러리 단순화 원리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347C68-C2D6-494A-A52E-D1CB8730A622}"/>
              </a:ext>
            </a:extLst>
          </p:cNvPr>
          <p:cNvSpPr>
            <a:spLocks noGrp="1"/>
          </p:cNvSpPr>
          <p:nvPr/>
        </p:nvSpPr>
        <p:spPr>
          <a:xfrm>
            <a:off x="647700" y="2333625"/>
            <a:ext cx="495300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모서리 양 끝 정점을 합쳐 삼각형 수 감소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표면과 정점 속성의 오차를 고려해 병합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목표 개수 또는 허용 오차 한계에서 종료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목표 잔여 비율: LOD1 25%, LOD2 12%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기본 허용 오차 0.0005 (상대 오차 설정값)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74C6BD-53F5-41F1-BF99-EAC482581D97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19050" cy="33337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DB0242-F32A-432C-B43D-A4E9A133E055}"/>
              </a:ext>
            </a:extLst>
          </p:cNvPr>
          <p:cNvSpPr>
            <a:spLocks noGrp="1"/>
          </p:cNvSpPr>
          <p:nvPr/>
        </p:nvSpPr>
        <p:spPr>
          <a:xfrm>
            <a:off x="6419850" y="19812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프로젝트 적용 방식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4A0A44-BACB-4B82-A7CE-30C100F55AE2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49530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275">
                <a:solidFill>
                  <a:srgbClr val="111318"/>
                </a:solidFill>
              </a:defRPr>
            </a:defPPr>
            <a:lvl1pPr>
              <a:buNone/>
              <a:defRPr sz="1350">
                <a:solidFill>
                  <a:srgbClr val="111318"/>
                </a:solidFill>
              </a:defRPr>
            </a:lvl1pPr>
            <a:lvl2pPr>
              <a:buNone/>
              <a:defRPr sz="1350">
                <a:solidFill>
                  <a:srgbClr val="111318"/>
                </a:solidFill>
              </a:defRPr>
            </a:lvl2pPr>
            <a:lvl3pPr>
              <a:buNone/>
              <a:defRPr sz="1350">
                <a:solidFill>
                  <a:srgbClr val="111318"/>
                </a:solidFill>
              </a:defRPr>
            </a:lvl3pPr>
            <a:lvl4pPr>
              <a:buNone/>
              <a:defRPr sz="1350">
                <a:solidFill>
                  <a:srgbClr val="111318"/>
                </a:solidFill>
              </a:defRPr>
            </a:lvl4pPr>
            <a:lvl5pPr>
              <a:buNone/>
              <a:defRPr sz="1350">
                <a:solidFill>
                  <a:srgbClr val="111318"/>
                </a:solidFill>
              </a:defRPr>
            </a:lvl5pPr>
            <a:lvl6pPr>
              <a:buNone/>
              <a:defRPr sz="1350">
                <a:solidFill>
                  <a:srgbClr val="111318"/>
                </a:solidFill>
              </a:defRPr>
            </a:lvl6pPr>
            <a:lvl7pPr>
              <a:buNone/>
              <a:defRPr sz="1350">
                <a:solidFill>
                  <a:srgbClr val="111318"/>
                </a:solidFill>
              </a:defRPr>
            </a:lvl7pPr>
            <a:lvl8pPr>
              <a:buNone/>
              <a:defRPr sz="1350">
                <a:solidFill>
                  <a:srgbClr val="111318"/>
                </a:solidFill>
              </a:defRPr>
            </a:lvl8pPr>
            <a:lvl9pPr>
              <a:buNone/>
              <a:defRPr sz="1350">
                <a:solidFill>
                  <a:srgbClr val="111318"/>
                </a:solidFill>
              </a:defRPr>
            </a:lvl9pPr>
          </a:lstStyle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정점 데이터를 유지하는 방식 (WithAttributes)</a:t>
            </a:r>
          </a:p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삼각형 연결을 줄이되 노멀·UV·탄젠트 오차 고려</a:t>
            </a:r>
          </a:p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(표면 방향·텍스처 좌표·표면 기준 방향)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endParaRPr sz="1275" b="0">
              <a:solidFill>
                <a:srgbClr val="111318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정점 데이터도 갱신하는 방식 (WithUpdate)</a:t>
            </a:r>
          </a:p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삼각형 연결과 함께 정점 위치·속성도 갱신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14D7F5-359D-48AD-8AE3-DE46BF1D8861}"/>
              </a:ext>
            </a:extLst>
          </p:cNvPr>
          <p:cNvSpPr>
            <a:spLocks noGrp="1"/>
          </p:cNvSpPr>
          <p:nvPr/>
        </p:nvSpPr>
        <p:spPr>
          <a:xfrm>
            <a:off x="647700" y="5238750"/>
            <a:ext cx="10725150" cy="1076325"/>
          </a:xfrm>
          <a:prstGeom prst="roundRect">
            <a:avLst>
              <a:gd name="adj" fmla="val 12903"/>
            </a:avLst>
          </a:prstGeom>
          <a:solidFill>
            <a:srgbClr val="EAF8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E3F0B2-C209-42CA-A7ED-F01B7B9E6FEF}"/>
              </a:ext>
            </a:extLst>
          </p:cNvPr>
          <p:cNvSpPr>
            <a:spLocks noGrp="1"/>
          </p:cNvSpPr>
          <p:nvPr/>
        </p:nvSpPr>
        <p:spPr>
          <a:xfrm>
            <a:off x="866775" y="5383096"/>
            <a:ext cx="1028700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200">
                <a:solidFill>
                  <a:srgbClr val="111318"/>
                </a:solidFill>
              </a:defRPr>
            </a:defPPr>
            <a:lvl1pPr>
              <a:buNone/>
              <a:defRPr sz="1200">
                <a:solidFill>
                  <a:srgbClr val="111318"/>
                </a:solidFill>
              </a:defRPr>
            </a:lvl1pPr>
            <a:lvl2pPr>
              <a:buNone/>
              <a:defRPr sz="1200">
                <a:solidFill>
                  <a:srgbClr val="111318"/>
                </a:solidFill>
              </a:defRPr>
            </a:lvl2pPr>
            <a:lvl3pPr>
              <a:buNone/>
              <a:defRPr sz="1200">
                <a:solidFill>
                  <a:srgbClr val="111318"/>
                </a:solidFill>
              </a:defRPr>
            </a:lvl3pPr>
            <a:lvl4pPr>
              <a:buNone/>
              <a:defRPr sz="1200">
                <a:solidFill>
                  <a:srgbClr val="111318"/>
                </a:solidFill>
              </a:defRPr>
            </a:lvl4pPr>
            <a:lvl5pPr>
              <a:buNone/>
              <a:defRPr sz="1200">
                <a:solidFill>
                  <a:srgbClr val="111318"/>
                </a:solidFill>
              </a:defRPr>
            </a:lvl5pPr>
            <a:lvl6pPr>
              <a:buNone/>
              <a:defRPr sz="1200">
                <a:solidFill>
                  <a:srgbClr val="111318"/>
                </a:solidFill>
              </a:defRPr>
            </a:lvl6pPr>
            <a:lvl7pPr>
              <a:buNone/>
              <a:defRPr sz="1200">
                <a:solidFill>
                  <a:srgbClr val="111318"/>
                </a:solidFill>
              </a:defRPr>
            </a:lvl7pPr>
            <a:lvl8pPr>
              <a:buNone/>
              <a:defRPr sz="1200">
                <a:solidFill>
                  <a:srgbClr val="111318"/>
                </a:solidFill>
              </a:defRPr>
            </a:lvl8pPr>
            <a:lvl9pPr>
              <a:buNone/>
              <a:defRPr sz="1200">
                <a:solidFill>
                  <a:srgbClr val="111318"/>
                </a:solidFill>
              </a:defRPr>
            </a:lvl9pPr>
          </a:lstStyle>
          <a:p>
            <a:pPr algn="l">
              <a:buNone/>
              <a:defRPr sz="1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라이브러리: meshoptimizer의 메시 단순화 함수 사용</a:t>
            </a:r>
          </a:p>
          <a:p>
            <a:pPr algn="l">
              <a:buNone/>
              <a:defRPr sz="1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담당 구현: 거리·크기 기반 선택, 반복 메시 인스턴싱, 원본 폴백, 수치 로그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2F4EDA-74DF-495F-A0EC-31F8741149B2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0F1062-E696-4329-9575-B47123926F31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1057275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>
                <a:solidFill>
                  <a:srgbClr val="111318"/>
                </a:solidFill>
              </a:defRPr>
            </a:defPPr>
            <a:lvl1pPr>
              <a:buNone/>
              <a:defRPr sz="1425">
                <a:solidFill>
                  <a:srgbClr val="111318"/>
                </a:solidFill>
              </a:defRPr>
            </a:lvl1pPr>
            <a:lvl2pPr>
              <a:buNone/>
              <a:defRPr sz="1425">
                <a:solidFill>
                  <a:srgbClr val="111318"/>
                </a:solidFill>
              </a:defRPr>
            </a:lvl2pPr>
            <a:lvl3pPr>
              <a:buNone/>
              <a:defRPr sz="1425">
                <a:solidFill>
                  <a:srgbClr val="111318"/>
                </a:solidFill>
              </a:defRPr>
            </a:lvl3pPr>
            <a:lvl4pPr>
              <a:buNone/>
              <a:defRPr sz="1425">
                <a:solidFill>
                  <a:srgbClr val="111318"/>
                </a:solidFill>
              </a:defRPr>
            </a:lvl4pPr>
            <a:lvl5pPr>
              <a:buNone/>
              <a:defRPr sz="1425">
                <a:solidFill>
                  <a:srgbClr val="111318"/>
                </a:solidFill>
              </a:defRPr>
            </a:lvl5pPr>
            <a:lvl6pPr>
              <a:buNone/>
              <a:defRPr sz="1425">
                <a:solidFill>
                  <a:srgbClr val="111318"/>
                </a:solidFill>
              </a:defRPr>
            </a:lvl6pPr>
            <a:lvl7pPr>
              <a:buNone/>
              <a:defRPr sz="1425">
                <a:solidFill>
                  <a:srgbClr val="111318"/>
                </a:solidFill>
              </a:defRPr>
            </a:lvl7pPr>
            <a:lvl8pPr>
              <a:buNone/>
              <a:defRPr sz="1425">
                <a:solidFill>
                  <a:srgbClr val="111318"/>
                </a:solidFill>
              </a:defRPr>
            </a:lvl8pPr>
            <a:lvl9pPr>
              <a:buNone/>
              <a:defRPr sz="1425">
                <a:solidFill>
                  <a:srgbClr val="111318"/>
                </a:solidFill>
              </a:defRPr>
            </a:lvl9pPr>
          </a:lstStyle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결과 검사와 원본 유지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삼각형 인덱스가 유효한지, 부품별 삼각형 수·공간 범위·면적이 과도하게 줄지 않았는지 검사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우선 보존할 정점 조건을 완화해 재시도. 작은 메시에서만 추가 보호 해제·오차 확대 시도.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검사를 통과하지 못하면 기존 LOD 단계나 원본 메시 유지</a:t>
            </a:r>
          </a:p>
        </p:txBody>
      </p:sp>
    </p:spTree>
    <p:extLst>
      <p:ext uri="{BB962C8B-B14F-4D97-AF65-F5344CB8AC3E}">
        <p14:creationId xmlns:p14="http://schemas.microsoft.com/office/powerpoint/2010/main" val="7588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282E62-C87F-4EFF-AF55-969742928015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1B5E9D-28B6-4BD5-97FA-639218799027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래스터 LOD와 인스턴싱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58C42D-39BC-40AD-BBF4-116EE4B2C84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거리와 물체 크기로 화면에 보이는 크기를 추정해 원본·LOD1·LOD2 선택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46D62C-AF62-48EA-A5C0-0C2CCAEFC993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B6D347-19C2-43E2-A7B5-1A81125F55E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333750" cy="647700"/>
          </a:xfrm>
          <a:prstGeom prst="rect">
            <a:avLst/>
          </a:prstGeom>
          <a:solidFill>
            <a:srgbClr val="00A7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4608AE-E4DF-4488-9A22-D2A8608951E5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FAED66-EBFA-40D6-ADA1-F4C455A1E79E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>
            <a:defPPr>
              <a:defRPr sz="1050"/>
            </a:defPPr>
            <a:lvl1pPr>
              <a:buNone/>
              <a:defRPr sz="1050"/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가까이 있는 물체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F5D948-1593-4DE6-AC49-E0BA6E977B6F}"/>
              </a:ext>
            </a:extLst>
          </p:cNvPr>
          <p:cNvSpPr>
            <a:spLocks noGrp="1"/>
          </p:cNvSpPr>
          <p:nvPr/>
        </p:nvSpPr>
        <p:spPr>
          <a:xfrm>
            <a:off x="4248150" y="2143125"/>
            <a:ext cx="3333750" cy="647700"/>
          </a:xfrm>
          <a:prstGeom prst="rect">
            <a:avLst/>
          </a:prstGeom>
          <a:solidFill>
            <a:srgbClr val="F3C43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7F699F-6A91-44AD-AE7E-FAD675154D41}"/>
              </a:ext>
            </a:extLst>
          </p:cNvPr>
          <p:cNvSpPr>
            <a:spLocks noGrp="1"/>
          </p:cNvSpPr>
          <p:nvPr/>
        </p:nvSpPr>
        <p:spPr>
          <a:xfrm>
            <a:off x="4381500" y="2257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LOD1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78AF54-4D2C-4E71-AD2A-5CBF7E9D351F}"/>
              </a:ext>
            </a:extLst>
          </p:cNvPr>
          <p:cNvSpPr>
            <a:spLocks noGrp="1"/>
          </p:cNvSpPr>
          <p:nvPr/>
        </p:nvSpPr>
        <p:spPr>
          <a:xfrm>
            <a:off x="4381500" y="25146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>
            <a:defPPr>
              <a:defRPr sz="1050"/>
            </a:defPPr>
            <a:lvl1pPr>
              <a:buNone/>
              <a:defRPr sz="1050"/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멀리 있는 물체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F0EA16-5AFA-486F-BCD2-0D207430DF06}"/>
              </a:ext>
            </a:extLst>
          </p:cNvPr>
          <p:cNvSpPr>
            <a:spLocks noGrp="1"/>
          </p:cNvSpPr>
          <p:nvPr/>
        </p:nvSpPr>
        <p:spPr>
          <a:xfrm>
            <a:off x="7867650" y="2143125"/>
            <a:ext cx="3333750" cy="647700"/>
          </a:xfrm>
          <a:prstGeom prst="rect">
            <a:avLst/>
          </a:prstGeom>
          <a:solidFill>
            <a:srgbClr val="20B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49869B-56FE-4BE4-B024-71513ADC0FB2}"/>
              </a:ext>
            </a:extLst>
          </p:cNvPr>
          <p:cNvSpPr>
            <a:spLocks noGrp="1"/>
          </p:cNvSpPr>
          <p:nvPr/>
        </p:nvSpPr>
        <p:spPr>
          <a:xfrm>
            <a:off x="8001000" y="2257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LOD2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54233E-35C9-4453-A755-E807AB719BCC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>
            <a:defPPr>
              <a:defRPr sz="1050"/>
            </a:defPPr>
            <a:lvl1pPr>
              <a:buNone/>
              <a:defRPr sz="1050"/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 멀리 있어 작게 보이는 물체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B7CB53-02B7-4888-9804-975DB3471811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LOD 선택과 배치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2BC926-A305-40CE-A67E-A797F745D20A}"/>
              </a:ext>
            </a:extLst>
          </p:cNvPr>
          <p:cNvSpPr>
            <a:spLocks noGrp="1"/>
          </p:cNvSpPr>
          <p:nvPr/>
        </p:nvSpPr>
        <p:spPr>
          <a:xfrm>
            <a:off x="628650" y="3714750"/>
            <a:ext cx="5143500" cy="2238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작은 물체는 먼저, 큰 물체는 더 멀리서 전환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전환·복귀 기준을 달리해 LOD1 반복 전환 완화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LOD2 삼각형 수가 LOD1 이상이면 LOD1 사용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재질·텍스처 연결 정보와 버퍼 용량 확인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배치 조건을 만족하지 않으면 개별 렌더링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4BC3DF-4B4C-4DAC-8635-28433A09B623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5181600" cy="2428875"/>
          </a:xfrm>
          <a:prstGeom prst="rect">
            <a:avLst/>
          </a:prstGeom>
          <a:solidFill>
            <a:srgbClr val="F2F4F6"/>
          </a:solidFill>
          <a:ln w="9525">
            <a:solidFill>
              <a:srgbClr val="D7DDE3"/>
            </a:solidFill>
          </a:ln>
        </p:spPr>
        <p:txBody>
          <a:bodyPr/>
          <a:lstStyle>
            <a:defPPr>
              <a:defRPr sz="1425">
                <a:solidFill>
                  <a:srgbClr val="111318"/>
                </a:solidFill>
              </a:defRPr>
            </a:defPPr>
            <a:lvl1pPr>
              <a:buNone/>
              <a:defRPr sz="1425">
                <a:solidFill>
                  <a:srgbClr val="111318"/>
                </a:solidFill>
              </a:defRPr>
            </a:lvl1pPr>
            <a:lvl2pPr>
              <a:buNone/>
              <a:defRPr sz="1425">
                <a:solidFill>
                  <a:srgbClr val="111318"/>
                </a:solidFill>
              </a:defRPr>
            </a:lvl2pPr>
            <a:lvl3pPr>
              <a:buNone/>
              <a:defRPr sz="1425">
                <a:solidFill>
                  <a:srgbClr val="111318"/>
                </a:solidFill>
              </a:defRPr>
            </a:lvl3pPr>
            <a:lvl4pPr>
              <a:buNone/>
              <a:defRPr sz="1425">
                <a:solidFill>
                  <a:srgbClr val="111318"/>
                </a:solidFill>
              </a:defRPr>
            </a:lvl4pPr>
            <a:lvl5pPr>
              <a:buNone/>
              <a:defRPr sz="1425">
                <a:solidFill>
                  <a:srgbClr val="111318"/>
                </a:solidFill>
              </a:defRPr>
            </a:lvl5pPr>
            <a:lvl6pPr>
              <a:buNone/>
              <a:defRPr sz="1425">
                <a:solidFill>
                  <a:srgbClr val="111318"/>
                </a:solidFill>
              </a:defRPr>
            </a:lvl6pPr>
            <a:lvl7pPr>
              <a:buNone/>
              <a:defRPr sz="1425">
                <a:solidFill>
                  <a:srgbClr val="111318"/>
                </a:solidFill>
              </a:defRPr>
            </a:lvl7pPr>
            <a:lvl8pPr>
              <a:buNone/>
              <a:defRPr sz="1425">
                <a:solidFill>
                  <a:srgbClr val="111318"/>
                </a:solidFill>
              </a:defRPr>
            </a:lvl8pPr>
            <a:lvl9pPr>
              <a:buNone/>
              <a:defRPr sz="1425">
                <a:solidFill>
                  <a:srgbClr val="111318"/>
                </a:solidFill>
              </a:defRPr>
            </a:lvl9pPr>
          </a:lstStyle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인스턴싱으로 드로우콜 줄이기</a:t>
            </a:r>
            <a:endParaRPr/>
          </a:p>
          <a:p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같은 LOD 메시를 쓰는 물체들을 모아</a:t>
            </a:r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서브메시별 한 번의 그리기 명령으로 처리</a:t>
            </a:r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메시는 공유하고 물체별 위치·회전·재질 번호 전달</a:t>
            </a:r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배치할 수 없는 물체는 개별적으로 그림</a:t>
            </a:r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드로우콜: GPU에 보내는 그리기 명령</a:t>
            </a:r>
            <a:endParaRPr/>
          </a:p>
          <a:p>
            <a:pPr>
              <a:buNone/>
              <a:defRPr sz="1425">
                <a:solidFill>
                  <a:srgbClr val="111318"/>
                </a:solidFill>
              </a:defRPr>
            </a:pPr>
            <a:r>
              <a:rPr sz="1425">
                <a:solidFill>
                  <a:srgbClr val="111318"/>
                </a:solidFill>
              </a:rPr>
              <a:t>실제 비교 화면과 로그는 8쪽에 제시</a:t>
            </a:r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ECD4AF-BC8E-49B7-BE52-BC867480A1A3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5FA02E0-296A-4792-A5DC-14D5E44C7963}"/>
              </a:ext>
            </a:extLst>
          </p:cNvPr>
          <p:cNvSpPr>
            <a:spLocks noGrp="1"/>
          </p:cNvSpPr>
          <p:nvPr/>
        </p:nvSpPr>
        <p:spPr>
          <a:xfrm>
            <a:off x="742950" y="6048375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>
                <a:solidFill>
                  <a:srgbClr val="4F5966"/>
                </a:solidFill>
              </a:defRPr>
            </a:defPPr>
            <a:lvl1pPr>
              <a:buNone/>
              <a:defRPr sz="1050">
                <a:solidFill>
                  <a:srgbClr val="4F5966"/>
                </a:solidFill>
              </a:defRPr>
            </a:lvl1pPr>
            <a:lvl2pPr>
              <a:buNone/>
              <a:defRPr sz="1050">
                <a:solidFill>
                  <a:srgbClr val="4F5966"/>
                </a:solidFill>
              </a:defRPr>
            </a:lvl2pPr>
            <a:lvl3pPr>
              <a:buNone/>
              <a:defRPr sz="1050">
                <a:solidFill>
                  <a:srgbClr val="4F5966"/>
                </a:solidFill>
              </a:defRPr>
            </a:lvl3pPr>
            <a:lvl4pPr>
              <a:buNone/>
              <a:defRPr sz="1050">
                <a:solidFill>
                  <a:srgbClr val="4F5966"/>
                </a:solidFill>
              </a:defRPr>
            </a:lvl4pPr>
            <a:lvl5pPr>
              <a:buNone/>
              <a:defRPr sz="1050">
                <a:solidFill>
                  <a:srgbClr val="4F5966"/>
                </a:solidFill>
              </a:defRPr>
            </a:lvl5pPr>
            <a:lvl6pPr>
              <a:buNone/>
              <a:defRPr sz="1050">
                <a:solidFill>
                  <a:srgbClr val="4F5966"/>
                </a:solidFill>
              </a:defRPr>
            </a:lvl6pPr>
            <a:lvl7pPr>
              <a:buNone/>
              <a:defRPr sz="1050">
                <a:solidFill>
                  <a:srgbClr val="4F5966"/>
                </a:solidFill>
              </a:defRPr>
            </a:lvl7pPr>
            <a:lvl8pPr>
              <a:buNone/>
              <a:defRPr sz="1050">
                <a:solidFill>
                  <a:srgbClr val="4F5966"/>
                </a:solidFill>
              </a:defRPr>
            </a:lvl8pPr>
            <a:lvl9pPr>
              <a:buNone/>
              <a:defRPr sz="1050">
                <a:solidFill>
                  <a:srgbClr val="4F5966"/>
                </a:solidFill>
              </a:defRPr>
            </a:lvl9pPr>
          </a:lstStyle>
          <a:p>
            <a:pPr>
              <a:buNone/>
              <a:defRPr sz="1050">
                <a:solidFill>
                  <a:srgbClr val="4F5966"/>
                </a:solidFill>
              </a:defRPr>
            </a:pPr>
            <a:r>
              <a:rPr sz="1050">
                <a:solidFill>
                  <a:srgbClr val="4F5966"/>
                </a:solidFill>
              </a:rPr>
              <a:t>서브메시는 재질 슬롯마다 삼각형 목록의 시작·끝을 기록해 따로 그린다. 같은 재질이라도 슬롯이 다르면 자동으로 합쳐지지 않는다.</a:t>
            </a:r>
          </a:p>
          <a:p>
            <a:pPr>
              <a:buNone/>
              <a:defRPr sz="1050">
                <a:solidFill>
                  <a:srgbClr val="4F5966"/>
                </a:solidFill>
              </a:defRPr>
            </a:pPr>
            <a:r>
              <a:rPr sz="1050">
                <a:solidFill>
                  <a:srgbClr val="4F5966"/>
                </a:solidFill>
              </a:rPr>
              <a:t>같은 형상의 오브젝트 여러 개는 메시를 공유한다. LOD는 그릴 메시를 선택하고, 인스턴싱은 같은 메시의 반복 배치를 모아 그린다.</a:t>
            </a:r>
          </a:p>
        </p:txBody>
      </p:sp>
    </p:spTree>
    <p:extLst>
      <p:ext uri="{BB962C8B-B14F-4D97-AF65-F5344CB8AC3E}">
        <p14:creationId xmlns:p14="http://schemas.microsoft.com/office/powerpoint/2010/main" val="512145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7B5C36-2DFF-4056-8358-B000B2B67EF9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F946C9-7264-4143-9B6C-9075ED99046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차량 소실 문제와 인스턴싱 수정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7E582F-6224-42E6-BDD3-BDAA6A4C791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차체가 사라지는 문제를 개별 렌더링과 비교해 좁히고, 묶어 그리는 경로의 버퍼 연결 방식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E7A649-2A6C-414F-894E-A5792FFF6D56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C30308-61EE-4B05-BB58-E9362E24BACC}"/>
              </a:ext>
            </a:extLst>
          </p:cNvPr>
          <p:cNvSpPr>
            <a:spLocks noGrp="1"/>
          </p:cNvSpPr>
          <p:nvPr/>
        </p:nvSpPr>
        <p:spPr>
          <a:xfrm>
            <a:off x="2362200" y="20383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F62EE0-4589-4496-9829-7B748A4290EC}"/>
              </a:ext>
            </a:extLst>
          </p:cNvPr>
          <p:cNvSpPr>
            <a:spLocks noGrp="1"/>
          </p:cNvSpPr>
          <p:nvPr/>
        </p:nvSpPr>
        <p:spPr>
          <a:xfrm>
            <a:off x="2362200" y="2952750"/>
            <a:ext cx="15716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CC0799-E082-493A-AF9D-655150E6B4E0}"/>
              </a:ext>
            </a:extLst>
          </p:cNvPr>
          <p:cNvSpPr>
            <a:spLocks noGrp="1"/>
          </p:cNvSpPr>
          <p:nvPr/>
        </p:nvSpPr>
        <p:spPr>
          <a:xfrm>
            <a:off x="2362200" y="3867150"/>
            <a:ext cx="1047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391711-8FD3-489A-9610-E10B30BDC88F}"/>
              </a:ext>
            </a:extLst>
          </p:cNvPr>
          <p:cNvSpPr>
            <a:spLocks noGrp="1"/>
          </p:cNvSpPr>
          <p:nvPr/>
        </p:nvSpPr>
        <p:spPr>
          <a:xfrm>
            <a:off x="2362200" y="4781550"/>
            <a:ext cx="52387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29CB536-FDD5-4420-9D74-09766FFB84E7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63BA60-19E5-46F8-8A31-775CFDA6AEC5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>
                <a:solidFill>
                  <a:srgbClr val="111318"/>
                </a:solidFill>
              </a:defRPr>
            </a:defPPr>
            <a:lvl1pPr>
              <a:buNone/>
              <a:defRPr sz="1200">
                <a:solidFill>
                  <a:srgbClr val="111318"/>
                </a:solidFill>
              </a:defRPr>
            </a:lvl1pPr>
            <a:lvl2pPr>
              <a:buNone/>
              <a:defRPr sz="1200">
                <a:solidFill>
                  <a:srgbClr val="111318"/>
                </a:solidFill>
              </a:defRPr>
            </a:lvl2pPr>
            <a:lvl3pPr>
              <a:buNone/>
              <a:defRPr sz="1200">
                <a:solidFill>
                  <a:srgbClr val="111318"/>
                </a:solidFill>
              </a:defRPr>
            </a:lvl3pPr>
            <a:lvl4pPr>
              <a:buNone/>
              <a:defRPr sz="1200">
                <a:solidFill>
                  <a:srgbClr val="111318"/>
                </a:solidFill>
              </a:defRPr>
            </a:lvl4pPr>
            <a:lvl5pPr>
              <a:buNone/>
              <a:defRPr sz="1200">
                <a:solidFill>
                  <a:srgbClr val="111318"/>
                </a:solidFill>
              </a:defRPr>
            </a:lvl5pPr>
            <a:lvl6pPr>
              <a:buNone/>
              <a:defRPr sz="1200">
                <a:solidFill>
                  <a:srgbClr val="111318"/>
                </a:solidFill>
              </a:defRPr>
            </a:lvl6pPr>
            <a:lvl7pPr>
              <a:buNone/>
              <a:defRPr sz="1200">
                <a:solidFill>
                  <a:srgbClr val="111318"/>
                </a:solidFill>
              </a:defRPr>
            </a:lvl7pPr>
            <a:lvl8pPr>
              <a:buNone/>
              <a:defRPr sz="1200">
                <a:solidFill>
                  <a:srgbClr val="111318"/>
                </a:solidFill>
              </a:defRPr>
            </a:lvl8pPr>
            <a:lvl9pPr>
              <a:buNone/>
              <a:defRPr sz="1200">
                <a:solidFill>
                  <a:srgbClr val="111318"/>
                </a:solidFill>
              </a:defRPr>
            </a:lvl9pPr>
          </a:lstStyle>
          <a:p>
            <a:pPr>
              <a:buNone/>
              <a:defRPr sz="1200">
                <a:solidFill>
                  <a:srgbClr val="111318"/>
                </a:solidFill>
              </a:defRPr>
            </a:pPr>
            <a:r>
              <a:rPr sz="1200">
                <a:solidFill>
                  <a:srgbClr val="111318"/>
                </a:solidFill>
              </a:rPr>
              <a:t>근접 차량 모습 / 수정 전 / 수정 후. 촬영 거리·구도가 달라 정밀한 화질 비교용은 아님.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9A9C40-55F7-40A2-AE8E-11A02183A7A2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5143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>
                <a:solidFill>
                  <a:srgbClr val="111318"/>
                </a:solidFill>
              </a:defRPr>
            </a:defPPr>
            <a:lvl1pPr>
              <a:buNone/>
              <a:defRPr sz="1575">
                <a:solidFill>
                  <a:srgbClr val="111318"/>
                </a:solidFill>
              </a:defRPr>
            </a:lvl1pPr>
            <a:lvl2pPr>
              <a:buNone/>
              <a:defRPr sz="1575">
                <a:solidFill>
                  <a:srgbClr val="111318"/>
                </a:solidFill>
              </a:defRPr>
            </a:lvl2pPr>
            <a:lvl3pPr>
              <a:buNone/>
              <a:defRPr sz="1575">
                <a:solidFill>
                  <a:srgbClr val="111318"/>
                </a:solidFill>
              </a:defRPr>
            </a:lvl3pPr>
            <a:lvl4pPr>
              <a:buNone/>
              <a:defRPr sz="1575">
                <a:solidFill>
                  <a:srgbClr val="111318"/>
                </a:solidFill>
              </a:defRPr>
            </a:lvl4pPr>
            <a:lvl5pPr>
              <a:buNone/>
              <a:defRPr sz="1575">
                <a:solidFill>
                  <a:srgbClr val="111318"/>
                </a:solidFill>
              </a:defRPr>
            </a:lvl5pPr>
            <a:lvl6pPr>
              <a:buNone/>
              <a:defRPr sz="1575">
                <a:solidFill>
                  <a:srgbClr val="111318"/>
                </a:solidFill>
              </a:defRPr>
            </a:lvl6pPr>
            <a:lvl7pPr>
              <a:buNone/>
              <a:defRPr sz="1575">
                <a:solidFill>
                  <a:srgbClr val="111318"/>
                </a:solidFill>
              </a:defRPr>
            </a:lvl7pPr>
            <a:lvl8pPr>
              <a:buNone/>
              <a:defRPr sz="1575">
                <a:solidFill>
                  <a:srgbClr val="111318"/>
                </a:solidFill>
              </a:defRPr>
            </a:lvl8pPr>
            <a:lvl9pPr>
              <a:buNone/>
              <a:defRPr sz="1575">
                <a:solidFill>
                  <a:srgbClr val="111318"/>
                </a:solidFill>
              </a:defRPr>
            </a:lvl9pPr>
          </a:lstStyle>
          <a:p>
            <a:pPr>
              <a:buNone/>
              <a:defRPr sz="1575">
                <a:solidFill>
                  <a:srgbClr val="111318"/>
                </a:solidFill>
              </a:defRPr>
            </a:pPr>
            <a:r>
              <a:rPr sz="1575">
                <a:solidFill>
                  <a:srgbClr val="111318"/>
                </a:solidFill>
              </a:rPr>
              <a:t>문제와 분석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F99B2A-7E49-40D7-B3C1-8983BD3FECE1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>
                <a:solidFill>
                  <a:srgbClr val="111318"/>
                </a:solidFill>
              </a:defRPr>
            </a:defPPr>
            <a:lvl1pPr>
              <a:buNone/>
              <a:defRPr sz="1350">
                <a:solidFill>
                  <a:srgbClr val="111318"/>
                </a:solidFill>
              </a:defRPr>
            </a:lvl1pPr>
            <a:lvl2pPr>
              <a:buNone/>
              <a:defRPr sz="1350">
                <a:solidFill>
                  <a:srgbClr val="111318"/>
                </a:solidFill>
              </a:defRPr>
            </a:lvl2pPr>
            <a:lvl3pPr>
              <a:buNone/>
              <a:defRPr sz="1350">
                <a:solidFill>
                  <a:srgbClr val="111318"/>
                </a:solidFill>
              </a:defRPr>
            </a:lvl3pPr>
            <a:lvl4pPr>
              <a:buNone/>
              <a:defRPr sz="1350">
                <a:solidFill>
                  <a:srgbClr val="111318"/>
                </a:solidFill>
              </a:defRPr>
            </a:lvl4pPr>
            <a:lvl5pPr>
              <a:buNone/>
              <a:defRPr sz="1350">
                <a:solidFill>
                  <a:srgbClr val="111318"/>
                </a:solidFill>
              </a:defRPr>
            </a:lvl5pPr>
            <a:lvl6pPr>
              <a:buNone/>
              <a:defRPr sz="1350">
                <a:solidFill>
                  <a:srgbClr val="111318"/>
                </a:solidFill>
              </a:defRPr>
            </a:lvl6pPr>
            <a:lvl7pPr>
              <a:buNone/>
              <a:defRPr sz="1350">
                <a:solidFill>
                  <a:srgbClr val="111318"/>
                </a:solidFill>
              </a:defRPr>
            </a:lvl7pPr>
            <a:lvl8pPr>
              <a:buNone/>
              <a:defRPr sz="1350">
                <a:solidFill>
                  <a:srgbClr val="111318"/>
                </a:solidFill>
              </a:defRPr>
            </a:lvl8pPr>
            <a:lvl9pPr>
              <a:buNone/>
              <a:defRPr sz="1350">
                <a:solidFill>
                  <a:srgbClr val="111318"/>
                </a:solidFill>
              </a:defRPr>
            </a:lvl9pPr>
          </a:lstStyle>
          <a:p>
            <a:pPr>
              <a:buNone/>
              <a:defRPr sz="1350">
                <a:solidFill>
                  <a:srgbClr val="111318"/>
                </a:solidFill>
              </a:defRPr>
            </a:pPr>
            <a:r>
              <a:rPr sz="1350">
                <a:solidFill>
                  <a:srgbClr val="111318"/>
                </a:solidFill>
              </a:rPr>
              <a:t>문제: LOD 적용 시 차량 차체 일부가 사라짐</a:t>
            </a:r>
          </a:p>
          <a:p>
            <a:pPr>
              <a:buNone/>
              <a:defRPr sz="1350">
                <a:solidFill>
                  <a:srgbClr val="111318"/>
                </a:solidFill>
              </a:defRPr>
            </a:pPr>
            <a:r>
              <a:rPr sz="1350">
                <a:solidFill>
                  <a:srgbClr val="111318"/>
                </a:solidFill>
              </a:rPr>
              <a:t>분석: 같은 메시를 개별 렌더링하면 정상 표시</a:t>
            </a:r>
          </a:p>
          <a:p>
            <a:pPr>
              <a:buNone/>
              <a:defRPr sz="1350">
                <a:solidFill>
                  <a:srgbClr val="111318"/>
                </a:solidFill>
              </a:defRPr>
            </a:pPr>
            <a:r>
              <a:rPr sz="1350">
                <a:solidFill>
                  <a:srgbClr val="111318"/>
                </a:solidFill>
              </a:rPr>
              <a:t>비교 결과를 바탕으로 인스턴싱 경로로 문제 범위를 좁힘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A3B2B9-8019-4A31-B49E-E328EEBA5337}"/>
              </a:ext>
            </a:extLst>
          </p:cNvPr>
          <p:cNvSpPr>
            <a:spLocks noGrp="1"/>
          </p:cNvSpPr>
          <p:nvPr/>
        </p:nvSpPr>
        <p:spPr>
          <a:xfrm>
            <a:off x="6334125" y="4552950"/>
            <a:ext cx="5143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>
                <a:solidFill>
                  <a:srgbClr val="111318"/>
                </a:solidFill>
              </a:defRPr>
            </a:defPPr>
            <a:lvl1pPr>
              <a:buNone/>
              <a:defRPr sz="1575">
                <a:solidFill>
                  <a:srgbClr val="111318"/>
                </a:solidFill>
              </a:defRPr>
            </a:lvl1pPr>
            <a:lvl2pPr>
              <a:buNone/>
              <a:defRPr sz="1575">
                <a:solidFill>
                  <a:srgbClr val="111318"/>
                </a:solidFill>
              </a:defRPr>
            </a:lvl2pPr>
            <a:lvl3pPr>
              <a:buNone/>
              <a:defRPr sz="1575">
                <a:solidFill>
                  <a:srgbClr val="111318"/>
                </a:solidFill>
              </a:defRPr>
            </a:lvl3pPr>
            <a:lvl4pPr>
              <a:buNone/>
              <a:defRPr sz="1575">
                <a:solidFill>
                  <a:srgbClr val="111318"/>
                </a:solidFill>
              </a:defRPr>
            </a:lvl4pPr>
            <a:lvl5pPr>
              <a:buNone/>
              <a:defRPr sz="1575">
                <a:solidFill>
                  <a:srgbClr val="111318"/>
                </a:solidFill>
              </a:defRPr>
            </a:lvl5pPr>
            <a:lvl6pPr>
              <a:buNone/>
              <a:defRPr sz="1575">
                <a:solidFill>
                  <a:srgbClr val="111318"/>
                </a:solidFill>
              </a:defRPr>
            </a:lvl6pPr>
            <a:lvl7pPr>
              <a:buNone/>
              <a:defRPr sz="1575">
                <a:solidFill>
                  <a:srgbClr val="111318"/>
                </a:solidFill>
              </a:defRPr>
            </a:lvl7pPr>
            <a:lvl8pPr>
              <a:buNone/>
              <a:defRPr sz="1575">
                <a:solidFill>
                  <a:srgbClr val="111318"/>
                </a:solidFill>
              </a:defRPr>
            </a:lvl8pPr>
            <a:lvl9pPr>
              <a:buNone/>
              <a:defRPr sz="1575">
                <a:solidFill>
                  <a:srgbClr val="111318"/>
                </a:solidFill>
              </a:defRPr>
            </a:lvl9pPr>
          </a:lstStyle>
          <a:p>
            <a:pPr>
              <a:buNone/>
              <a:defRPr sz="1575">
                <a:solidFill>
                  <a:srgbClr val="111318"/>
                </a:solidFill>
              </a:defRPr>
            </a:pPr>
            <a:r>
              <a:rPr sz="1575">
                <a:solidFill>
                  <a:srgbClr val="111318"/>
                </a:solidFill>
              </a:rPr>
              <a:t>수정과 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5ADD05A-3C2B-4A94-801E-5AE0711A061A}"/>
              </a:ext>
            </a:extLst>
          </p:cNvPr>
          <p:cNvSpPr>
            <a:spLocks noGrp="1"/>
          </p:cNvSpPr>
          <p:nvPr/>
        </p:nvSpPr>
        <p:spPr>
          <a:xfrm>
            <a:off x="6334125" y="4953000"/>
            <a:ext cx="519112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>
                <a:solidFill>
                  <a:srgbClr val="111318"/>
                </a:solidFill>
              </a:defRPr>
            </a:defPPr>
            <a:lvl1pPr>
              <a:buNone/>
              <a:defRPr sz="1275">
                <a:solidFill>
                  <a:srgbClr val="111318"/>
                </a:solidFill>
              </a:defRPr>
            </a:lvl1pPr>
            <a:lvl2pPr>
              <a:buNone/>
              <a:defRPr sz="1275">
                <a:solidFill>
                  <a:srgbClr val="111318"/>
                </a:solidFill>
              </a:defRPr>
            </a:lvl2pPr>
            <a:lvl3pPr>
              <a:buNone/>
              <a:defRPr sz="1275">
                <a:solidFill>
                  <a:srgbClr val="111318"/>
                </a:solidFill>
              </a:defRPr>
            </a:lvl3pPr>
            <a:lvl4pPr>
              <a:buNone/>
              <a:defRPr sz="1275">
                <a:solidFill>
                  <a:srgbClr val="111318"/>
                </a:solidFill>
              </a:defRPr>
            </a:lvl4pPr>
            <a:lvl5pPr>
              <a:buNone/>
              <a:defRPr sz="1275">
                <a:solidFill>
                  <a:srgbClr val="111318"/>
                </a:solidFill>
              </a:defRPr>
            </a:lvl5pPr>
            <a:lvl6pPr>
              <a:buNone/>
              <a:defRPr sz="1275">
                <a:solidFill>
                  <a:srgbClr val="111318"/>
                </a:solidFill>
              </a:defRPr>
            </a:lvl6pPr>
            <a:lvl7pPr>
              <a:buNone/>
              <a:defRPr sz="1275">
                <a:solidFill>
                  <a:srgbClr val="111318"/>
                </a:solidFill>
              </a:defRPr>
            </a:lvl7pPr>
            <a:lvl8pPr>
              <a:buNone/>
              <a:defRPr sz="1275">
                <a:solidFill>
                  <a:srgbClr val="111318"/>
                </a:solidFill>
              </a:defRPr>
            </a:lvl8pPr>
            <a:lvl9pPr>
              <a:buNone/>
              <a:defRPr sz="1275">
                <a:solidFill>
                  <a:srgbClr val="111318"/>
                </a:solidFill>
              </a:defRPr>
            </a:lvl9pPr>
          </a:lstStyle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수정: 위치·회전 정보가 담긴 인스턴스 버퍼를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GPU 주소로 직접 연결하도록 변경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결과: 묶어 그리는 상태에서도 차체 유지 확인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원거리의 형상·밝기 차이는 남아 있음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E6CAEF-135E-4DFF-A3CE-5B982AC3DA98}"/>
              </a:ext>
            </a:extLst>
          </p:cNvPr>
          <p:cNvSpPr>
            <a:spLocks noGrp="1"/>
          </p:cNvSpPr>
          <p:nvPr/>
        </p:nvSpPr>
        <p:spPr>
          <a:xfrm>
            <a:off x="666750" y="610552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>
                <a:solidFill>
                  <a:srgbClr val="111318"/>
                </a:solidFill>
              </a:defRPr>
            </a:defPPr>
            <a:lvl1pPr>
              <a:buNone/>
              <a:defRPr sz="1050">
                <a:solidFill>
                  <a:srgbClr val="111318"/>
                </a:solidFill>
              </a:defRPr>
            </a:lvl1pPr>
            <a:lvl2pPr>
              <a:buNone/>
              <a:defRPr sz="1050">
                <a:solidFill>
                  <a:srgbClr val="111318"/>
                </a:solidFill>
              </a:defRPr>
            </a:lvl2pPr>
            <a:lvl3pPr>
              <a:buNone/>
              <a:defRPr sz="1050">
                <a:solidFill>
                  <a:srgbClr val="111318"/>
                </a:solidFill>
              </a:defRPr>
            </a:lvl3pPr>
            <a:lvl4pPr>
              <a:buNone/>
              <a:defRPr sz="1050">
                <a:solidFill>
                  <a:srgbClr val="111318"/>
                </a:solidFill>
              </a:defRPr>
            </a:lvl4pPr>
            <a:lvl5pPr>
              <a:buNone/>
              <a:defRPr sz="1050">
                <a:solidFill>
                  <a:srgbClr val="111318"/>
                </a:solidFill>
              </a:defRPr>
            </a:lvl5pPr>
            <a:lvl6pPr>
              <a:buNone/>
              <a:defRPr sz="1050">
                <a:solidFill>
                  <a:srgbClr val="111318"/>
                </a:solidFill>
              </a:defRPr>
            </a:lvl6pPr>
            <a:lvl7pPr>
              <a:buNone/>
              <a:defRPr sz="1050">
                <a:solidFill>
                  <a:srgbClr val="111318"/>
                </a:solidFill>
              </a:defRPr>
            </a:lvl7pPr>
            <a:lvl8pPr>
              <a:buNone/>
              <a:defRPr sz="1050">
                <a:solidFill>
                  <a:srgbClr val="111318"/>
                </a:solidFill>
              </a:defRPr>
            </a:lvl8pPr>
            <a:lvl9pPr>
              <a:buNone/>
              <a:defRPr sz="1050">
                <a:solidFill>
                  <a:srgbClr val="111318"/>
                </a:solidFill>
              </a:defRPr>
            </a:lvl9pPr>
          </a:lstStyle>
          <a:p>
            <a:pPr>
              <a:buNone/>
              <a:defRPr sz="1050">
                <a:solidFill>
                  <a:srgbClr val="111318"/>
                </a:solidFill>
              </a:defRPr>
            </a:pPr>
            <a:r>
              <a:rPr sz="1050">
                <a:solidFill>
                  <a:srgbClr val="111318"/>
                </a:solidFill>
              </a:rPr>
              <a:t>차량형으로 판정한 메시는 원본 형상 유지. 이 비교는 차체 소실 개선 사례이며, 차량의 삼각형 감소를 입증하는 화면은 아님.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DC21F3-D2DC-480F-8AF9-E16FB16D48D8}"/>
              </a:ext>
            </a:extLst>
          </p:cNvPr>
          <p:cNvSpPr>
            <a:spLocks noGrp="1"/>
          </p:cNvSpPr>
          <p:nvPr/>
        </p:nvSpPr>
        <p:spPr>
          <a:xfrm>
            <a:off x="619125" y="16954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11318"/>
                </a:solidFill>
              </a:defRPr>
            </a:defPPr>
            <a:lvl1pPr>
              <a:buNone/>
              <a:defRPr sz="1575" b="1">
                <a:solidFill>
                  <a:srgbClr val="111318"/>
                </a:solidFill>
              </a:defRPr>
            </a:lvl1pPr>
            <a:lvl2pPr>
              <a:buNone/>
              <a:defRPr sz="1575" b="1">
                <a:solidFill>
                  <a:srgbClr val="111318"/>
                </a:solidFill>
              </a:defRPr>
            </a:lvl2pPr>
            <a:lvl3pPr>
              <a:buNone/>
              <a:defRPr sz="1575" b="1">
                <a:solidFill>
                  <a:srgbClr val="111318"/>
                </a:solidFill>
              </a:defRPr>
            </a:lvl3pPr>
            <a:lvl4pPr>
              <a:buNone/>
              <a:defRPr sz="1575" b="1">
                <a:solidFill>
                  <a:srgbClr val="111318"/>
                </a:solidFill>
              </a:defRPr>
            </a:lvl4pPr>
            <a:lvl5pPr>
              <a:buNone/>
              <a:defRPr sz="1575" b="1">
                <a:solidFill>
                  <a:srgbClr val="111318"/>
                </a:solidFill>
              </a:defRPr>
            </a:lvl5pPr>
            <a:lvl6pPr>
              <a:buNone/>
              <a:defRPr sz="1575" b="1">
                <a:solidFill>
                  <a:srgbClr val="111318"/>
                </a:solidFill>
              </a:defRPr>
            </a:lvl6pPr>
            <a:lvl7pPr>
              <a:buNone/>
              <a:defRPr sz="1575" b="1">
                <a:solidFill>
                  <a:srgbClr val="111318"/>
                </a:solidFill>
              </a:defRPr>
            </a:lvl7pPr>
            <a:lvl8pPr>
              <a:buNone/>
              <a:defRPr sz="1575" b="1">
                <a:solidFill>
                  <a:srgbClr val="111318"/>
                </a:solidFill>
              </a:defRPr>
            </a:lvl8pPr>
            <a:lvl9pPr>
              <a:buNone/>
              <a:defRPr sz="1575" b="1">
                <a:solidFill>
                  <a:srgbClr val="111318"/>
                </a:solidFill>
              </a:defRPr>
            </a:lvl9pPr>
          </a:lstStyle>
          <a:p>
            <a:pPr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근접 차량 모습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8EEF616-AD1E-4224-BDDD-597AAB5E7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8732" y="2076450"/>
            <a:ext cx="3389787" cy="192405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C5525C-B314-4733-8C0C-B3484F245584}"/>
              </a:ext>
            </a:extLst>
          </p:cNvPr>
          <p:cNvSpPr>
            <a:spLocks noGrp="1"/>
          </p:cNvSpPr>
          <p:nvPr/>
        </p:nvSpPr>
        <p:spPr>
          <a:xfrm>
            <a:off x="4381500" y="16954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11318"/>
                </a:solidFill>
              </a:defRPr>
            </a:defPPr>
            <a:lvl1pPr>
              <a:buNone/>
              <a:defRPr sz="1575" b="1">
                <a:solidFill>
                  <a:srgbClr val="111318"/>
                </a:solidFill>
              </a:defRPr>
            </a:lvl1pPr>
            <a:lvl2pPr>
              <a:buNone/>
              <a:defRPr sz="1575" b="1">
                <a:solidFill>
                  <a:srgbClr val="111318"/>
                </a:solidFill>
              </a:defRPr>
            </a:lvl2pPr>
            <a:lvl3pPr>
              <a:buNone/>
              <a:defRPr sz="1575" b="1">
                <a:solidFill>
                  <a:srgbClr val="111318"/>
                </a:solidFill>
              </a:defRPr>
            </a:lvl3pPr>
            <a:lvl4pPr>
              <a:buNone/>
              <a:defRPr sz="1575" b="1">
                <a:solidFill>
                  <a:srgbClr val="111318"/>
                </a:solidFill>
              </a:defRPr>
            </a:lvl4pPr>
            <a:lvl5pPr>
              <a:buNone/>
              <a:defRPr sz="1575" b="1">
                <a:solidFill>
                  <a:srgbClr val="111318"/>
                </a:solidFill>
              </a:defRPr>
            </a:lvl5pPr>
            <a:lvl6pPr>
              <a:buNone/>
              <a:defRPr sz="1575" b="1">
                <a:solidFill>
                  <a:srgbClr val="111318"/>
                </a:solidFill>
              </a:defRPr>
            </a:lvl6pPr>
            <a:lvl7pPr>
              <a:buNone/>
              <a:defRPr sz="1575" b="1">
                <a:solidFill>
                  <a:srgbClr val="111318"/>
                </a:solidFill>
              </a:defRPr>
            </a:lvl7pPr>
            <a:lvl8pPr>
              <a:buNone/>
              <a:defRPr sz="1575" b="1">
                <a:solidFill>
                  <a:srgbClr val="111318"/>
                </a:solidFill>
              </a:defRPr>
            </a:lvl8pPr>
            <a:lvl9pPr>
              <a:buNone/>
              <a:defRPr sz="1575" b="1">
                <a:solidFill>
                  <a:srgbClr val="111318"/>
                </a:solidFill>
              </a:defRPr>
            </a:lvl9pPr>
          </a:lstStyle>
          <a:p>
            <a:pPr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수정 전: 차체 소실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20CDAD38-3444-4384-B9CB-08CBF0E26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64278" y="2076450"/>
            <a:ext cx="3263444" cy="1924050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414F181C-DAE5-4B2C-BCD2-24248C9156DA}"/>
              </a:ext>
            </a:extLst>
          </p:cNvPr>
          <p:cNvSpPr>
            <a:spLocks noGrp="1"/>
          </p:cNvSpPr>
          <p:nvPr/>
        </p:nvSpPr>
        <p:spPr>
          <a:xfrm>
            <a:off x="8143875" y="16954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11318"/>
                </a:solidFill>
              </a:defRPr>
            </a:defPPr>
            <a:lvl1pPr>
              <a:buNone/>
              <a:defRPr sz="1575" b="1">
                <a:solidFill>
                  <a:srgbClr val="111318"/>
                </a:solidFill>
              </a:defRPr>
            </a:lvl1pPr>
            <a:lvl2pPr>
              <a:buNone/>
              <a:defRPr sz="1575" b="1">
                <a:solidFill>
                  <a:srgbClr val="111318"/>
                </a:solidFill>
              </a:defRPr>
            </a:lvl2pPr>
            <a:lvl3pPr>
              <a:buNone/>
              <a:defRPr sz="1575" b="1">
                <a:solidFill>
                  <a:srgbClr val="111318"/>
                </a:solidFill>
              </a:defRPr>
            </a:lvl3pPr>
            <a:lvl4pPr>
              <a:buNone/>
              <a:defRPr sz="1575" b="1">
                <a:solidFill>
                  <a:srgbClr val="111318"/>
                </a:solidFill>
              </a:defRPr>
            </a:lvl4pPr>
            <a:lvl5pPr>
              <a:buNone/>
              <a:defRPr sz="1575" b="1">
                <a:solidFill>
                  <a:srgbClr val="111318"/>
                </a:solidFill>
              </a:defRPr>
            </a:lvl5pPr>
            <a:lvl6pPr>
              <a:buNone/>
              <a:defRPr sz="1575" b="1">
                <a:solidFill>
                  <a:srgbClr val="111318"/>
                </a:solidFill>
              </a:defRPr>
            </a:lvl6pPr>
            <a:lvl7pPr>
              <a:buNone/>
              <a:defRPr sz="1575" b="1">
                <a:solidFill>
                  <a:srgbClr val="111318"/>
                </a:solidFill>
              </a:defRPr>
            </a:lvl7pPr>
            <a:lvl8pPr>
              <a:buNone/>
              <a:defRPr sz="1575" b="1">
                <a:solidFill>
                  <a:srgbClr val="111318"/>
                </a:solidFill>
              </a:defRPr>
            </a:lvl8pPr>
            <a:lvl9pPr>
              <a:buNone/>
              <a:defRPr sz="1575" b="1">
                <a:solidFill>
                  <a:srgbClr val="111318"/>
                </a:solidFill>
              </a:defRPr>
            </a:lvl9pPr>
          </a:lstStyle>
          <a:p>
            <a:pPr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수정 후: 차체 유지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70591547-5382-45A8-BE77-6DFC3C5DB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85661" y="2076450"/>
            <a:ext cx="2745428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45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D9C714-1027-4626-9CD7-34386A8EE162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1E2518-FCDF-4488-8EF3-FF0A90F2855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거리별 렌더링 최적화와 성능 비교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6441AA-A61B-487D-8124-D72273BB5AC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메시 LOD처럼 먼 영역의 처리 비용을 줄이기 위해, 그림자도 거리별로 갱신 간격을 조절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27CCA2-E1CA-45BF-85D2-368010B8F056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EF1792-94C9-4386-A163-5488A5D7DA52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F907E41-DCB5-452F-A062-E382FD6E2F57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52863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>
                <a:solidFill>
                  <a:srgbClr val="111318"/>
                </a:solidFill>
              </a:defRPr>
            </a:defPPr>
            <a:lvl1pPr>
              <a:buNone/>
              <a:defRPr sz="1800">
                <a:solidFill>
                  <a:srgbClr val="111318"/>
                </a:solidFill>
              </a:defRPr>
            </a:lvl1pPr>
            <a:lvl2pPr>
              <a:buNone/>
              <a:defRPr sz="1800">
                <a:solidFill>
                  <a:srgbClr val="111318"/>
                </a:solidFill>
              </a:defRPr>
            </a:lvl2pPr>
            <a:lvl3pPr>
              <a:buNone/>
              <a:defRPr sz="1800">
                <a:solidFill>
                  <a:srgbClr val="111318"/>
                </a:solidFill>
              </a:defRPr>
            </a:lvl3pPr>
            <a:lvl4pPr>
              <a:buNone/>
              <a:defRPr sz="1800">
                <a:solidFill>
                  <a:srgbClr val="111318"/>
                </a:solidFill>
              </a:defRPr>
            </a:lvl4pPr>
            <a:lvl5pPr>
              <a:buNone/>
              <a:defRPr sz="1800">
                <a:solidFill>
                  <a:srgbClr val="111318"/>
                </a:solidFill>
              </a:defRPr>
            </a:lvl5pPr>
            <a:lvl6pPr>
              <a:buNone/>
              <a:defRPr sz="1800">
                <a:solidFill>
                  <a:srgbClr val="111318"/>
                </a:solidFill>
              </a:defRPr>
            </a:lvl6pPr>
            <a:lvl7pPr>
              <a:buNone/>
              <a:defRPr sz="1800">
                <a:solidFill>
                  <a:srgbClr val="111318"/>
                </a:solidFill>
              </a:defRPr>
            </a:lvl7pPr>
            <a:lvl8pPr>
              <a:buNone/>
              <a:defRPr sz="1800">
                <a:solidFill>
                  <a:srgbClr val="111318"/>
                </a:solidFill>
              </a:defRPr>
            </a:lvl8pPr>
            <a:lvl9pPr>
              <a:buNone/>
              <a:defRPr sz="1800">
                <a:solidFill>
                  <a:srgbClr val="111318"/>
                </a:solidFill>
              </a:defRPr>
            </a:lvl9pPr>
          </a:lstStyle>
          <a:p>
            <a:pPr>
              <a:buNone/>
              <a:defRPr sz="1800">
                <a:solidFill>
                  <a:srgbClr val="111318"/>
                </a:solidFill>
              </a:defRPr>
            </a:pPr>
            <a:r>
              <a:rPr sz="1800">
                <a:solidFill>
                  <a:srgbClr val="111318"/>
                </a:solidFill>
              </a:rPr>
              <a:t>최적화 OFF 20.4 FPS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F5EAE3-FABB-417C-82AC-F402161FCBE4}"/>
              </a:ext>
            </a:extLst>
          </p:cNvPr>
          <p:cNvSpPr>
            <a:spLocks noGrp="1"/>
          </p:cNvSpPr>
          <p:nvPr/>
        </p:nvSpPr>
        <p:spPr>
          <a:xfrm>
            <a:off x="6286500" y="1666875"/>
            <a:ext cx="52863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>
                <a:solidFill>
                  <a:srgbClr val="111318"/>
                </a:solidFill>
              </a:defRPr>
            </a:defPPr>
            <a:lvl1pPr>
              <a:buNone/>
              <a:defRPr sz="1800">
                <a:solidFill>
                  <a:srgbClr val="111318"/>
                </a:solidFill>
              </a:defRPr>
            </a:lvl1pPr>
            <a:lvl2pPr>
              <a:buNone/>
              <a:defRPr sz="1800">
                <a:solidFill>
                  <a:srgbClr val="111318"/>
                </a:solidFill>
              </a:defRPr>
            </a:lvl2pPr>
            <a:lvl3pPr>
              <a:buNone/>
              <a:defRPr sz="1800">
                <a:solidFill>
                  <a:srgbClr val="111318"/>
                </a:solidFill>
              </a:defRPr>
            </a:lvl3pPr>
            <a:lvl4pPr>
              <a:buNone/>
              <a:defRPr sz="1800">
                <a:solidFill>
                  <a:srgbClr val="111318"/>
                </a:solidFill>
              </a:defRPr>
            </a:lvl4pPr>
            <a:lvl5pPr>
              <a:buNone/>
              <a:defRPr sz="1800">
                <a:solidFill>
                  <a:srgbClr val="111318"/>
                </a:solidFill>
              </a:defRPr>
            </a:lvl5pPr>
            <a:lvl6pPr>
              <a:buNone/>
              <a:defRPr sz="1800">
                <a:solidFill>
                  <a:srgbClr val="111318"/>
                </a:solidFill>
              </a:defRPr>
            </a:lvl6pPr>
            <a:lvl7pPr>
              <a:buNone/>
              <a:defRPr sz="1800">
                <a:solidFill>
                  <a:srgbClr val="111318"/>
                </a:solidFill>
              </a:defRPr>
            </a:lvl7pPr>
            <a:lvl8pPr>
              <a:buNone/>
              <a:defRPr sz="1800">
                <a:solidFill>
                  <a:srgbClr val="111318"/>
                </a:solidFill>
              </a:defRPr>
            </a:lvl8pPr>
            <a:lvl9pPr>
              <a:buNone/>
              <a:defRPr sz="1800">
                <a:solidFill>
                  <a:srgbClr val="111318"/>
                </a:solidFill>
              </a:defRPr>
            </a:lvl9pPr>
          </a:lstStyle>
          <a:p>
            <a:pPr>
              <a:buNone/>
              <a:defRPr sz="1800">
                <a:solidFill>
                  <a:srgbClr val="111318"/>
                </a:solidFill>
              </a:defRPr>
            </a:pPr>
            <a:r>
              <a:rPr sz="1800">
                <a:solidFill>
                  <a:srgbClr val="111318"/>
                </a:solidFill>
              </a:rPr>
              <a:t>최적화 ON 43.2 FPS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8F026C2-1B0D-45B8-8054-308D576F6D48}"/>
              </a:ext>
            </a:extLst>
          </p:cNvPr>
          <p:cNvSpPr>
            <a:spLocks noGrp="1"/>
          </p:cNvSpPr>
          <p:nvPr/>
        </p:nvSpPr>
        <p:spPr>
          <a:xfrm>
            <a:off x="619125" y="514350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>
                <a:solidFill>
                  <a:srgbClr val="111318"/>
                </a:solidFill>
              </a:defRPr>
            </a:defPPr>
            <a:lvl1pPr>
              <a:buNone/>
              <a:defRPr sz="1200">
                <a:solidFill>
                  <a:srgbClr val="111318"/>
                </a:solidFill>
              </a:defRPr>
            </a:lvl1pPr>
            <a:lvl2pPr>
              <a:buNone/>
              <a:defRPr sz="1200">
                <a:solidFill>
                  <a:srgbClr val="111318"/>
                </a:solidFill>
              </a:defRPr>
            </a:lvl2pPr>
            <a:lvl3pPr>
              <a:buNone/>
              <a:defRPr sz="1200">
                <a:solidFill>
                  <a:srgbClr val="111318"/>
                </a:solidFill>
              </a:defRPr>
            </a:lvl3pPr>
            <a:lvl4pPr>
              <a:buNone/>
              <a:defRPr sz="1200">
                <a:solidFill>
                  <a:srgbClr val="111318"/>
                </a:solidFill>
              </a:defRPr>
            </a:lvl4pPr>
            <a:lvl5pPr>
              <a:buNone/>
              <a:defRPr sz="1200">
                <a:solidFill>
                  <a:srgbClr val="111318"/>
                </a:solidFill>
              </a:defRPr>
            </a:lvl5pPr>
            <a:lvl6pPr>
              <a:buNone/>
              <a:defRPr sz="1200">
                <a:solidFill>
                  <a:srgbClr val="111318"/>
                </a:solidFill>
              </a:defRPr>
            </a:lvl6pPr>
            <a:lvl7pPr>
              <a:buNone/>
              <a:defRPr sz="1200">
                <a:solidFill>
                  <a:srgbClr val="111318"/>
                </a:solidFill>
              </a:defRPr>
            </a:lvl7pPr>
            <a:lvl8pPr>
              <a:buNone/>
              <a:defRPr sz="1200">
                <a:solidFill>
                  <a:srgbClr val="111318"/>
                </a:solidFill>
              </a:defRPr>
            </a:lvl8pPr>
            <a:lvl9pPr>
              <a:buNone/>
              <a:defRPr sz="1200">
                <a:solidFill>
                  <a:srgbClr val="111318"/>
                </a:solidFill>
              </a:defRPr>
            </a:lvl9pPr>
          </a:lstStyle>
          <a:p>
            <a:pPr>
              <a:buNone/>
              <a:defRPr sz="1200">
                <a:solidFill>
                  <a:srgbClr val="111318"/>
                </a:solidFill>
              </a:defRPr>
            </a:pPr>
            <a:r>
              <a:rPr sz="1200">
                <a:solidFill>
                  <a:srgbClr val="111318"/>
                </a:solidFill>
              </a:rPr>
              <a:t>OFF: 모든 그림자 영역을 매 프레임 갱신. ON: 근·중·원거리 그림자 영역(캐스케이드)을 각각 2·4·12프레임마다 갱신.</a:t>
            </a:r>
          </a:p>
          <a:p>
            <a:pPr>
              <a:buNone/>
              <a:defRPr sz="1200">
                <a:solidFill>
                  <a:srgbClr val="111318"/>
                </a:solidFill>
              </a:defRPr>
            </a:pPr>
            <a:r>
              <a:rPr sz="1200">
                <a:solidFill>
                  <a:srgbClr val="111318"/>
                </a:solidFill>
              </a:rPr>
              <a:t>ON에서 갱신하지 않는 프레임에는 이전 그림자 맵 재사용.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8C75B8-BE42-4462-BE3D-6BCC6C7CA826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>
                <a:solidFill>
                  <a:srgbClr val="111318"/>
                </a:solidFill>
              </a:defRPr>
            </a:defPPr>
            <a:lvl1pPr>
              <a:buNone/>
              <a:defRPr sz="1275">
                <a:solidFill>
                  <a:srgbClr val="111318"/>
                </a:solidFill>
              </a:defRPr>
            </a:lvl1pPr>
            <a:lvl2pPr>
              <a:buNone/>
              <a:defRPr sz="1275">
                <a:solidFill>
                  <a:srgbClr val="111318"/>
                </a:solidFill>
              </a:defRPr>
            </a:lvl2pPr>
            <a:lvl3pPr>
              <a:buNone/>
              <a:defRPr sz="1275">
                <a:solidFill>
                  <a:srgbClr val="111318"/>
                </a:solidFill>
              </a:defRPr>
            </a:lvl3pPr>
            <a:lvl4pPr>
              <a:buNone/>
              <a:defRPr sz="1275">
                <a:solidFill>
                  <a:srgbClr val="111318"/>
                </a:solidFill>
              </a:defRPr>
            </a:lvl4pPr>
            <a:lvl5pPr>
              <a:buNone/>
              <a:defRPr sz="1275">
                <a:solidFill>
                  <a:srgbClr val="111318"/>
                </a:solidFill>
              </a:defRPr>
            </a:lvl5pPr>
            <a:lvl6pPr>
              <a:buNone/>
              <a:defRPr sz="1275">
                <a:solidFill>
                  <a:srgbClr val="111318"/>
                </a:solidFill>
              </a:defRPr>
            </a:lvl6pPr>
            <a:lvl7pPr>
              <a:buNone/>
              <a:defRPr sz="1275">
                <a:solidFill>
                  <a:srgbClr val="111318"/>
                </a:solidFill>
              </a:defRPr>
            </a:lvl7pPr>
            <a:lvl8pPr>
              <a:buNone/>
              <a:defRPr sz="1275">
                <a:solidFill>
                  <a:srgbClr val="111318"/>
                </a:solidFill>
              </a:defRPr>
            </a:lvl8pPr>
            <a:lvl9pPr>
              <a:buNone/>
              <a:defRPr sz="1275">
                <a:solidFill>
                  <a:srgbClr val="111318"/>
                </a:solidFill>
              </a:defRPr>
            </a:lvl9pPr>
          </a:lstStyle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검증 구간: OFF 20.4 FPS (49.11ms) / ON 43.2 FPS (23.16ms)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ON 배치 대상 드로우 833 → 113회. 단순화 대상 삼각형 678,339 → 475,212개.</a:t>
            </a:r>
          </a:p>
          <a:p>
            <a:pPr>
              <a:buNone/>
              <a:defRPr sz="1275">
                <a:solidFill>
                  <a:srgbClr val="111318"/>
                </a:solidFill>
              </a:defRPr>
            </a:pPr>
            <a:r>
              <a:rPr sz="1275">
                <a:solidFill>
                  <a:srgbClr val="111318"/>
                </a:solidFill>
              </a:rPr>
              <a:t>동일 장소의 로그 구간값. 전체 실행 평균·전체 프레임 드로우 수가 아니며, 이미지는 장면 참고용.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1E3B25-0115-49B0-9C9E-7C3058213E62}"/>
              </a:ext>
            </a:extLst>
          </p:cNvPr>
          <p:cNvSpPr>
            <a:spLocks noGrp="1"/>
          </p:cNvSpPr>
          <p:nvPr/>
        </p:nvSpPr>
        <p:spPr>
          <a:xfrm>
            <a:off x="619125" y="61626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>
                <a:solidFill>
                  <a:srgbClr val="4F5966"/>
                </a:solidFill>
              </a:defRPr>
            </a:defPPr>
            <a:lvl1pPr>
              <a:buNone/>
              <a:defRPr sz="1050">
                <a:solidFill>
                  <a:srgbClr val="111318"/>
                </a:solidFill>
              </a:defRPr>
            </a:lvl1pPr>
            <a:lvl2pPr>
              <a:buNone/>
              <a:defRPr sz="1050">
                <a:solidFill>
                  <a:srgbClr val="111318"/>
                </a:solidFill>
              </a:defRPr>
            </a:lvl2pPr>
            <a:lvl3pPr>
              <a:buNone/>
              <a:defRPr sz="1050">
                <a:solidFill>
                  <a:srgbClr val="111318"/>
                </a:solidFill>
              </a:defRPr>
            </a:lvl3pPr>
            <a:lvl4pPr>
              <a:buNone/>
              <a:defRPr sz="1050">
                <a:solidFill>
                  <a:srgbClr val="111318"/>
                </a:solidFill>
              </a:defRPr>
            </a:lvl4pPr>
            <a:lvl5pPr>
              <a:buNone/>
              <a:defRPr sz="1050">
                <a:solidFill>
                  <a:srgbClr val="111318"/>
                </a:solidFill>
              </a:defRPr>
            </a:lvl5pPr>
            <a:lvl6pPr>
              <a:buNone/>
              <a:defRPr sz="1050">
                <a:solidFill>
                  <a:srgbClr val="111318"/>
                </a:solidFill>
              </a:defRPr>
            </a:lvl6pPr>
            <a:lvl7pPr>
              <a:buNone/>
              <a:defRPr sz="1050">
                <a:solidFill>
                  <a:srgbClr val="111318"/>
                </a:solidFill>
              </a:defRPr>
            </a:lvl7pPr>
            <a:lvl8pPr>
              <a:buNone/>
              <a:defRPr sz="1050">
                <a:solidFill>
                  <a:srgbClr val="111318"/>
                </a:solidFill>
              </a:defRPr>
            </a:lvl8pPr>
            <a:lvl9pPr>
              <a:buNone/>
              <a:defRPr sz="1050">
                <a:solidFill>
                  <a:srgbClr val="111318"/>
                </a:solidFill>
              </a:defRPr>
            </a:lvl9pPr>
          </a:lstStyle>
          <a:p>
            <a:pPr>
              <a:buNone/>
              <a:defRPr sz="1050">
                <a:solidFill>
                  <a:srgbClr val="4F5966"/>
                </a:solidFill>
              </a:defRPr>
            </a:pPr>
            <a:r>
              <a:rPr sz="1050">
                <a:solidFill>
                  <a:srgbClr val="4F5966"/>
                </a:solidFill>
              </a:rPr>
              <a:t>측정 장비: RTX 4060 Laptop GPU / Core i7-14700HX / RAM 32GB. 2048×1152, Release, 래스터.</a:t>
            </a:r>
          </a:p>
          <a:p>
            <a:pPr>
              <a:buNone/>
              <a:defRPr sz="1050">
                <a:solidFill>
                  <a:srgbClr val="4F5966"/>
                </a:solidFill>
              </a:defRPr>
            </a:pPr>
            <a:r>
              <a:rPr sz="1050">
                <a:solidFill>
                  <a:srgbClr val="4F5966"/>
                </a:solidFill>
              </a:rPr>
              <a:t>메시 LOD·인스턴싱·그림자 갱신의 통합 결과. 메시 LOD 단독 효과는 별도 측정하지 않음.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47C5D04-E29F-4217-8214-0A24EA3E0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016024"/>
            <a:ext cx="5286375" cy="306407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CCBF10B-02F7-4B64-92F0-1BB187412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2014393"/>
            <a:ext cx="5286375" cy="306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525CE5-220C-4109-84CE-7CD9EE7BA195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00A7E1"/>
                </a:solidFill>
              </a:defRPr>
            </a:defPPr>
            <a:lvl1pPr>
              <a:buNone/>
              <a:defRPr sz="975" b="1">
                <a:solidFill>
                  <a:srgbClr val="00A7E1"/>
                </a:solidFill>
              </a:defRPr>
            </a:lvl1pPr>
            <a:lvl2pPr>
              <a:buNone/>
              <a:defRPr sz="975" b="1">
                <a:solidFill>
                  <a:srgbClr val="00A7E1"/>
                </a:solidFill>
              </a:defRPr>
            </a:lvl2pPr>
            <a:lvl3pPr>
              <a:buNone/>
              <a:defRPr sz="975" b="1">
                <a:solidFill>
                  <a:srgbClr val="00A7E1"/>
                </a:solidFill>
              </a:defRPr>
            </a:lvl3pPr>
            <a:lvl4pPr>
              <a:buNone/>
              <a:defRPr sz="975" b="1">
                <a:solidFill>
                  <a:srgbClr val="00A7E1"/>
                </a:solidFill>
              </a:defRPr>
            </a:lvl4pPr>
            <a:lvl5pPr>
              <a:buNone/>
              <a:defRPr sz="975" b="1">
                <a:solidFill>
                  <a:srgbClr val="00A7E1"/>
                </a:solidFill>
              </a:defRPr>
            </a:lvl5pPr>
            <a:lvl6pPr>
              <a:buNone/>
              <a:defRPr sz="975" b="1">
                <a:solidFill>
                  <a:srgbClr val="00A7E1"/>
                </a:solidFill>
              </a:defRPr>
            </a:lvl6pPr>
            <a:lvl7pPr>
              <a:buNone/>
              <a:defRPr sz="975" b="1">
                <a:solidFill>
                  <a:srgbClr val="00A7E1"/>
                </a:solidFill>
              </a:defRPr>
            </a:lvl7pPr>
            <a:lvl8pPr>
              <a:buNone/>
              <a:defRPr sz="975" b="1">
                <a:solidFill>
                  <a:srgbClr val="00A7E1"/>
                </a:solidFill>
              </a:defRPr>
            </a:lvl8pPr>
            <a:lvl9pPr>
              <a:buNone/>
              <a:defRPr sz="975" b="1">
                <a:solidFill>
                  <a:srgbClr val="00A7E1"/>
                </a:solidFill>
              </a:defRPr>
            </a:lvl9pPr>
          </a:lstStyle>
          <a:p>
            <a:pPr>
              <a:buNone/>
              <a:defRPr sz="975" b="1">
                <a:solidFill>
                  <a:srgbClr val="00A7E1"/>
                </a:solidFill>
              </a:defRPr>
            </a:pPr>
            <a:r>
              <a:rPr sz="975" b="1">
                <a:solidFill>
                  <a:srgbClr val="00A7E1"/>
                </a:solidFill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AB7E9B-1F0C-4840-BC17-30B64500EAB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11318"/>
                </a:solidFill>
              </a:defRPr>
            </a:defPPr>
            <a:lvl1pPr>
              <a:buNone/>
              <a:defRPr sz="2550" b="1">
                <a:solidFill>
                  <a:srgbClr val="111318"/>
                </a:solidFill>
              </a:defRPr>
            </a:lvl1pPr>
            <a:lvl2pPr>
              <a:buNone/>
              <a:defRPr sz="2550" b="1">
                <a:solidFill>
                  <a:srgbClr val="111318"/>
                </a:solidFill>
              </a:defRPr>
            </a:lvl2pPr>
            <a:lvl3pPr>
              <a:buNone/>
              <a:defRPr sz="2550" b="1">
                <a:solidFill>
                  <a:srgbClr val="111318"/>
                </a:solidFill>
              </a:defRPr>
            </a:lvl3pPr>
            <a:lvl4pPr>
              <a:buNone/>
              <a:defRPr sz="2550" b="1">
                <a:solidFill>
                  <a:srgbClr val="111318"/>
                </a:solidFill>
              </a:defRPr>
            </a:lvl4pPr>
            <a:lvl5pPr>
              <a:buNone/>
              <a:defRPr sz="2550" b="1">
                <a:solidFill>
                  <a:srgbClr val="111318"/>
                </a:solidFill>
              </a:defRPr>
            </a:lvl5pPr>
            <a:lvl6pPr>
              <a:buNone/>
              <a:defRPr sz="2550" b="1">
                <a:solidFill>
                  <a:srgbClr val="111318"/>
                </a:solidFill>
              </a:defRPr>
            </a:lvl6pPr>
            <a:lvl7pPr>
              <a:buNone/>
              <a:defRPr sz="2550" b="1">
                <a:solidFill>
                  <a:srgbClr val="111318"/>
                </a:solidFill>
              </a:defRPr>
            </a:lvl7pPr>
            <a:lvl8pPr>
              <a:buNone/>
              <a:defRPr sz="2550" b="1">
                <a:solidFill>
                  <a:srgbClr val="111318"/>
                </a:solidFill>
              </a:defRPr>
            </a:lvl8pPr>
            <a:lvl9pPr>
              <a:buNone/>
              <a:defRPr sz="2550" b="1">
                <a:solidFill>
                  <a:srgbClr val="111318"/>
                </a:solidFill>
              </a:defRPr>
            </a:lvl9pPr>
          </a:lstStyle>
          <a:p>
            <a:pPr>
              <a:buNone/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검증 로그와 장면 규모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7948C6-A8EB-4717-852A-3501A75040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F5966"/>
                </a:solidFill>
              </a:defRPr>
            </a:defPPr>
            <a:lvl1pPr>
              <a:buNone/>
              <a:defRPr sz="1200" b="0">
                <a:solidFill>
                  <a:srgbClr val="4F5966"/>
                </a:solidFill>
              </a:defRPr>
            </a:lvl1pPr>
            <a:lvl2pPr>
              <a:buNone/>
              <a:defRPr sz="1200" b="0">
                <a:solidFill>
                  <a:srgbClr val="4F5966"/>
                </a:solidFill>
              </a:defRPr>
            </a:lvl2pPr>
            <a:lvl3pPr>
              <a:buNone/>
              <a:defRPr sz="1200" b="0">
                <a:solidFill>
                  <a:srgbClr val="4F5966"/>
                </a:solidFill>
              </a:defRPr>
            </a:lvl3pPr>
            <a:lvl4pPr>
              <a:buNone/>
              <a:defRPr sz="1200" b="0">
                <a:solidFill>
                  <a:srgbClr val="4F5966"/>
                </a:solidFill>
              </a:defRPr>
            </a:lvl4pPr>
            <a:lvl5pPr>
              <a:buNone/>
              <a:defRPr sz="1200" b="0">
                <a:solidFill>
                  <a:srgbClr val="4F5966"/>
                </a:solidFill>
              </a:defRPr>
            </a:lvl5pPr>
            <a:lvl6pPr>
              <a:buNone/>
              <a:defRPr sz="1200" b="0">
                <a:solidFill>
                  <a:srgbClr val="4F5966"/>
                </a:solidFill>
              </a:defRPr>
            </a:lvl6pPr>
            <a:lvl7pPr>
              <a:buNone/>
              <a:defRPr sz="1200" b="0">
                <a:solidFill>
                  <a:srgbClr val="4F5966"/>
                </a:solidFill>
              </a:defRPr>
            </a:lvl7pPr>
            <a:lvl8pPr>
              <a:buNone/>
              <a:defRPr sz="1200" b="0">
                <a:solidFill>
                  <a:srgbClr val="4F5966"/>
                </a:solidFill>
              </a:defRPr>
            </a:lvl8pPr>
            <a:lvl9pPr>
              <a:buNone/>
              <a:defRPr sz="1200" b="0">
                <a:solidFill>
                  <a:srgbClr val="4F5966"/>
                </a:solidFill>
              </a:defRPr>
            </a:lvl9pPr>
          </a:lstStyle>
          <a:p>
            <a:pPr>
              <a:buNone/>
              <a:defRPr sz="1200" b="0">
                <a:solidFill>
                  <a:srgbClr val="4F5966"/>
                </a:solidFill>
              </a:defRPr>
            </a:pPr>
            <a:r>
              <a:rPr sz="1200" b="0">
                <a:solidFill>
                  <a:srgbClr val="4F5966"/>
                </a:solidFill>
              </a:rPr>
              <a:t>현재 존에 등록된 자원 수와 성능 기록의 범위를 구분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CA7A67-64A0-4EA8-9874-66DB5C16BC8E}"/>
              </a:ext>
            </a:extLst>
          </p:cNvPr>
          <p:cNvSpPr>
            <a:spLocks noGrp="1"/>
          </p:cNvSpPr>
          <p:nvPr/>
        </p:nvSpPr>
        <p:spPr>
          <a:xfrm>
            <a:off x="647700" y="182880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111318"/>
                </a:solidFill>
              </a:defRPr>
            </a:defPPr>
            <a:lvl1pPr>
              <a:buNone/>
              <a:defRPr sz="1725" b="1">
                <a:solidFill>
                  <a:srgbClr val="111318"/>
                </a:solidFill>
              </a:defRPr>
            </a:lvl1pPr>
            <a:lvl2pPr>
              <a:buNone/>
              <a:defRPr sz="1725" b="1">
                <a:solidFill>
                  <a:srgbClr val="111318"/>
                </a:solidFill>
              </a:defRPr>
            </a:lvl2pPr>
            <a:lvl3pPr>
              <a:buNone/>
              <a:defRPr sz="1725" b="1">
                <a:solidFill>
                  <a:srgbClr val="111318"/>
                </a:solidFill>
              </a:defRPr>
            </a:lvl3pPr>
            <a:lvl4pPr>
              <a:buNone/>
              <a:defRPr sz="1725" b="1">
                <a:solidFill>
                  <a:srgbClr val="111318"/>
                </a:solidFill>
              </a:defRPr>
            </a:lvl4pPr>
            <a:lvl5pPr>
              <a:buNone/>
              <a:defRPr sz="1725" b="1">
                <a:solidFill>
                  <a:srgbClr val="111318"/>
                </a:solidFill>
              </a:defRPr>
            </a:lvl5pPr>
            <a:lvl6pPr>
              <a:buNone/>
              <a:defRPr sz="1725" b="1">
                <a:solidFill>
                  <a:srgbClr val="111318"/>
                </a:solidFill>
              </a:defRPr>
            </a:lvl6pPr>
            <a:lvl7pPr>
              <a:buNone/>
              <a:defRPr sz="1725" b="1">
                <a:solidFill>
                  <a:srgbClr val="111318"/>
                </a:solidFill>
              </a:defRPr>
            </a:lvl7pPr>
            <a:lvl8pPr>
              <a:buNone/>
              <a:defRPr sz="1725" b="1">
                <a:solidFill>
                  <a:srgbClr val="111318"/>
                </a:solidFill>
              </a:defRPr>
            </a:lvl8pPr>
            <a:lvl9pPr>
              <a:buNone/>
              <a:defRPr sz="1725" b="1">
                <a:solidFill>
                  <a:srgbClr val="111318"/>
                </a:solidFill>
              </a:defRPr>
            </a:lvl9pPr>
          </a:lstStyle>
          <a:p>
            <a:pPr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현재 존 73의 등록 자원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4D4FE3-78FF-40A4-8562-6EBAEF5C9734}"/>
              </a:ext>
            </a:extLst>
          </p:cNvPr>
          <p:cNvSpPr>
            <a:spLocks noGrp="1"/>
          </p:cNvSpPr>
          <p:nvPr/>
        </p:nvSpPr>
        <p:spPr>
          <a:xfrm>
            <a:off x="647700" y="2286000"/>
            <a:ext cx="51911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11318"/>
                </a:solidFill>
              </a:defRPr>
            </a:defPPr>
            <a:lvl1pPr>
              <a:buNone/>
              <a:defRPr sz="1725" b="0">
                <a:solidFill>
                  <a:srgbClr val="111318"/>
                </a:solidFill>
              </a:defRPr>
            </a:lvl1pPr>
            <a:lvl2pPr>
              <a:buNone/>
              <a:defRPr sz="1725" b="0">
                <a:solidFill>
                  <a:srgbClr val="111318"/>
                </a:solidFill>
              </a:defRPr>
            </a:lvl2pPr>
            <a:lvl3pPr>
              <a:buNone/>
              <a:defRPr sz="1725" b="0">
                <a:solidFill>
                  <a:srgbClr val="111318"/>
                </a:solidFill>
              </a:defRPr>
            </a:lvl3pPr>
            <a:lvl4pPr>
              <a:buNone/>
              <a:defRPr sz="1725" b="0">
                <a:solidFill>
                  <a:srgbClr val="111318"/>
                </a:solidFill>
              </a:defRPr>
            </a:lvl4pPr>
            <a:lvl5pPr>
              <a:buNone/>
              <a:defRPr sz="1725" b="0">
                <a:solidFill>
                  <a:srgbClr val="111318"/>
                </a:solidFill>
              </a:defRPr>
            </a:lvl5pPr>
            <a:lvl6pPr>
              <a:buNone/>
              <a:defRPr sz="1725" b="0">
                <a:solidFill>
                  <a:srgbClr val="111318"/>
                </a:solidFill>
              </a:defRPr>
            </a:lvl6pPr>
            <a:lvl7pPr>
              <a:buNone/>
              <a:defRPr sz="1725" b="0">
                <a:solidFill>
                  <a:srgbClr val="111318"/>
                </a:solidFill>
              </a:defRPr>
            </a:lvl7pPr>
            <a:lvl8pPr>
              <a:buNone/>
              <a:defRPr sz="1725" b="0">
                <a:solidFill>
                  <a:srgbClr val="111318"/>
                </a:solidFill>
              </a:defRPr>
            </a:lvl8pPr>
            <a:lvl9pPr>
              <a:buNone/>
              <a:defRPr sz="1725" b="0">
                <a:solidFill>
                  <a:srgbClr val="111318"/>
                </a:solidFill>
              </a:defRPr>
            </a:lvl9pPr>
          </a:lstStyle>
          <a:p>
            <a:pPr>
              <a:buNone/>
              <a:defRPr sz="1725" b="0">
                <a:solidFill>
                  <a:srgbClr val="111318"/>
                </a:solidFill>
              </a:defRPr>
            </a:pPr>
            <a:r>
              <a:rPr sz="1725" b="0">
                <a:solidFill>
                  <a:srgbClr val="111318"/>
                </a:solidFill>
              </a:rPr>
              <a:t>스태틱 물체 2,772개</a:t>
            </a:r>
          </a:p>
          <a:p>
            <a:pPr>
              <a:buNone/>
              <a:defRPr sz="1725" b="0">
                <a:solidFill>
                  <a:srgbClr val="111318"/>
                </a:solidFill>
              </a:defRPr>
            </a:pPr>
            <a:r>
              <a:rPr sz="1725" b="0">
                <a:solidFill>
                  <a:srgbClr val="111318"/>
                </a:solidFill>
              </a:rPr>
              <a:t>원본 서브메시 합계 6,345개</a:t>
            </a:r>
          </a:p>
          <a:p>
            <a:pPr>
              <a:buNone/>
              <a:defRPr sz="1725" b="0">
                <a:solidFill>
                  <a:srgbClr val="111318"/>
                </a:solidFill>
              </a:defRPr>
            </a:pPr>
            <a:r>
              <a:rPr sz="1725" b="0">
                <a:solidFill>
                  <a:srgbClr val="111318"/>
                </a:solidFill>
              </a:rPr>
              <a:t>등록 로컬 조명 172개</a:t>
            </a:r>
          </a:p>
          <a:p>
            <a:pPr>
              <a:buNone/>
              <a:defRPr sz="1725" b="0">
                <a:solidFill>
                  <a:srgbClr val="111318"/>
                </a:solidFill>
              </a:defRPr>
            </a:pPr>
            <a:r>
              <a:rPr sz="1725" b="0">
                <a:solidFill>
                  <a:srgbClr val="111318"/>
                </a:solidFill>
              </a:rPr>
              <a:t>카메라 청크 로컬 조명 11개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ECF56B-C37F-4F56-A4C2-CA6DD9DA1F56}"/>
              </a:ext>
            </a:extLst>
          </p:cNvPr>
          <p:cNvSpPr>
            <a:spLocks noGrp="1"/>
          </p:cNvSpPr>
          <p:nvPr/>
        </p:nvSpPr>
        <p:spPr>
          <a:xfrm>
            <a:off x="647700" y="3743325"/>
            <a:ext cx="51911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4F5966"/>
                </a:solidFill>
              </a:defRPr>
            </a:defPPr>
            <a:lvl1pPr>
              <a:buNone/>
              <a:defRPr sz="1275" b="0">
                <a:solidFill>
                  <a:srgbClr val="4F5966"/>
                </a:solidFill>
              </a:defRPr>
            </a:lvl1pPr>
            <a:lvl2pPr>
              <a:buNone/>
              <a:defRPr sz="1275" b="0">
                <a:solidFill>
                  <a:srgbClr val="4F5966"/>
                </a:solidFill>
              </a:defRPr>
            </a:lvl2pPr>
            <a:lvl3pPr>
              <a:buNone/>
              <a:defRPr sz="1275" b="0">
                <a:solidFill>
                  <a:srgbClr val="4F5966"/>
                </a:solidFill>
              </a:defRPr>
            </a:lvl3pPr>
            <a:lvl4pPr>
              <a:buNone/>
              <a:defRPr sz="1275" b="0">
                <a:solidFill>
                  <a:srgbClr val="4F5966"/>
                </a:solidFill>
              </a:defRPr>
            </a:lvl4pPr>
            <a:lvl5pPr>
              <a:buNone/>
              <a:defRPr sz="1275" b="0">
                <a:solidFill>
                  <a:srgbClr val="4F5966"/>
                </a:solidFill>
              </a:defRPr>
            </a:lvl5pPr>
            <a:lvl6pPr>
              <a:buNone/>
              <a:defRPr sz="1275" b="0">
                <a:solidFill>
                  <a:srgbClr val="4F5966"/>
                </a:solidFill>
              </a:defRPr>
            </a:lvl6pPr>
            <a:lvl7pPr>
              <a:buNone/>
              <a:defRPr sz="1275" b="0">
                <a:solidFill>
                  <a:srgbClr val="4F5966"/>
                </a:solidFill>
              </a:defRPr>
            </a:lvl7pPr>
            <a:lvl8pPr>
              <a:buNone/>
              <a:defRPr sz="1275" b="0">
                <a:solidFill>
                  <a:srgbClr val="4F5966"/>
                </a:solidFill>
              </a:defRPr>
            </a:lvl8pPr>
            <a:lvl9pPr>
              <a:buNone/>
              <a:defRPr sz="1275" b="0">
                <a:solidFill>
                  <a:srgbClr val="4F5966"/>
                </a:solidFill>
              </a:defRPr>
            </a:lvl9pPr>
          </a:lstStyle>
          <a:p>
            <a:pPr>
              <a:buNone/>
              <a:defRPr sz="1275" b="0">
                <a:solidFill>
                  <a:srgbClr val="4F5966"/>
                </a:solidFill>
              </a:defRPr>
            </a:pPr>
            <a:r>
              <a:rPr sz="1275" b="0">
                <a:solidFill>
                  <a:srgbClr val="4F5966"/>
                </a:solidFill>
              </a:rPr>
              <a:t>화면 밖 물체 포함. 동일 자산을 여러 번 배치하면 각각 집계.</a:t>
            </a:r>
          </a:p>
          <a:p>
            <a:pPr>
              <a:buNone/>
              <a:defRPr sz="1275" b="0">
                <a:solidFill>
                  <a:srgbClr val="4F5966"/>
                </a:solidFill>
              </a:defRPr>
            </a:pPr>
            <a:r>
              <a:rPr sz="1275" b="0">
                <a:solidFill>
                  <a:srgbClr val="4F5966"/>
                </a:solidFill>
              </a:rPr>
              <a:t>전체 맵·실제 프레임 드로우 수가 아니며,</a:t>
            </a:r>
          </a:p>
          <a:p>
            <a:pPr>
              <a:buNone/>
              <a:defRPr sz="1275" b="0">
                <a:solidFill>
                  <a:srgbClr val="4F5966"/>
                </a:solidFill>
              </a:defRPr>
            </a:pPr>
            <a:r>
              <a:rPr sz="1275" b="0">
                <a:solidFill>
                  <a:srgbClr val="4F5966"/>
                </a:solidFill>
              </a:rPr>
              <a:t>동적 물체와 방향광은 제외.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5A231B-265D-44A6-9E7D-E129D1B4502D}"/>
              </a:ext>
            </a:extLst>
          </p:cNvPr>
          <p:cNvSpPr>
            <a:spLocks noGrp="1"/>
          </p:cNvSpPr>
          <p:nvPr/>
        </p:nvSpPr>
        <p:spPr>
          <a:xfrm>
            <a:off x="6334125" y="182880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111318"/>
                </a:solidFill>
              </a:defRPr>
            </a:defPPr>
            <a:lvl1pPr>
              <a:buNone/>
              <a:defRPr sz="1725" b="1">
                <a:solidFill>
                  <a:srgbClr val="111318"/>
                </a:solidFill>
              </a:defRPr>
            </a:lvl1pPr>
            <a:lvl2pPr>
              <a:buNone/>
              <a:defRPr sz="1725" b="1">
                <a:solidFill>
                  <a:srgbClr val="111318"/>
                </a:solidFill>
              </a:defRPr>
            </a:lvl2pPr>
            <a:lvl3pPr>
              <a:buNone/>
              <a:defRPr sz="1725" b="1">
                <a:solidFill>
                  <a:srgbClr val="111318"/>
                </a:solidFill>
              </a:defRPr>
            </a:lvl3pPr>
            <a:lvl4pPr>
              <a:buNone/>
              <a:defRPr sz="1725" b="1">
                <a:solidFill>
                  <a:srgbClr val="111318"/>
                </a:solidFill>
              </a:defRPr>
            </a:lvl4pPr>
            <a:lvl5pPr>
              <a:buNone/>
              <a:defRPr sz="1725" b="1">
                <a:solidFill>
                  <a:srgbClr val="111318"/>
                </a:solidFill>
              </a:defRPr>
            </a:lvl5pPr>
            <a:lvl6pPr>
              <a:buNone/>
              <a:defRPr sz="1725" b="1">
                <a:solidFill>
                  <a:srgbClr val="111318"/>
                </a:solidFill>
              </a:defRPr>
            </a:lvl6pPr>
            <a:lvl7pPr>
              <a:buNone/>
              <a:defRPr sz="1725" b="1">
                <a:solidFill>
                  <a:srgbClr val="111318"/>
                </a:solidFill>
              </a:defRPr>
            </a:lvl7pPr>
            <a:lvl8pPr>
              <a:buNone/>
              <a:defRPr sz="1725" b="1">
                <a:solidFill>
                  <a:srgbClr val="111318"/>
                </a:solidFill>
              </a:defRPr>
            </a:lvl8pPr>
            <a:lvl9pPr>
              <a:buNone/>
              <a:defRPr sz="1725" b="1">
                <a:solidFill>
                  <a:srgbClr val="111318"/>
                </a:solidFill>
              </a:defRPr>
            </a:lvl9pPr>
          </a:lstStyle>
          <a:p>
            <a:pPr>
              <a:buNone/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검증 로그 발췌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F5B1B2-00EB-46DB-9FDB-F04AA8C7AE90}"/>
              </a:ext>
            </a:extLst>
          </p:cNvPr>
          <p:cNvSpPr>
            <a:spLocks noGrp="1"/>
          </p:cNvSpPr>
          <p:nvPr/>
        </p:nvSpPr>
        <p:spPr>
          <a:xfrm>
            <a:off x="6334125" y="2286000"/>
            <a:ext cx="5191125" cy="1952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111318"/>
                </a:solidFill>
              </a:defRPr>
            </a:defPPr>
            <a:lvl1pPr>
              <a:buNone/>
              <a:defRPr sz="1425" b="0">
                <a:solidFill>
                  <a:srgbClr val="111318"/>
                </a:solidFill>
              </a:defRPr>
            </a:lvl1pPr>
            <a:lvl2pPr>
              <a:buNone/>
              <a:defRPr sz="1425" b="0">
                <a:solidFill>
                  <a:srgbClr val="111318"/>
                </a:solidFill>
              </a:defRPr>
            </a:lvl2pPr>
            <a:lvl3pPr>
              <a:buNone/>
              <a:defRPr sz="1425" b="0">
                <a:solidFill>
                  <a:srgbClr val="111318"/>
                </a:solidFill>
              </a:defRPr>
            </a:lvl3pPr>
            <a:lvl4pPr>
              <a:buNone/>
              <a:defRPr sz="1425" b="0">
                <a:solidFill>
                  <a:srgbClr val="111318"/>
                </a:solidFill>
              </a:defRPr>
            </a:lvl4pPr>
            <a:lvl5pPr>
              <a:buNone/>
              <a:defRPr sz="1425" b="0">
                <a:solidFill>
                  <a:srgbClr val="111318"/>
                </a:solidFill>
              </a:defRPr>
            </a:lvl5pPr>
            <a:lvl6pPr>
              <a:buNone/>
              <a:defRPr sz="1425" b="0">
                <a:solidFill>
                  <a:srgbClr val="111318"/>
                </a:solidFill>
              </a:defRPr>
            </a:lvl6pPr>
            <a:lvl7pPr>
              <a:buNone/>
              <a:defRPr sz="1425" b="0">
                <a:solidFill>
                  <a:srgbClr val="111318"/>
                </a:solidFill>
              </a:defRPr>
            </a:lvl7pPr>
            <a:lvl8pPr>
              <a:buNone/>
              <a:defRPr sz="1425" b="0">
                <a:solidFill>
                  <a:srgbClr val="111318"/>
                </a:solidFill>
              </a:defRPr>
            </a:lvl8pPr>
            <a:lvl9pPr>
              <a:buNone/>
              <a:defRPr sz="1425" b="0">
                <a:solidFill>
                  <a:srgbClr val="111318"/>
                </a:solidFill>
              </a:defRPr>
            </a:lvl9pPr>
          </a:lstStyle>
          <a:p>
            <a:pPr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[검증] zone=73 lod=ON</a:t>
            </a:r>
          </a:p>
          <a:p>
            <a:pPr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resolution=2048x1152</a:t>
            </a:r>
          </a:p>
          <a:p>
            <a:pPr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registeredLocalLights=172</a:t>
            </a:r>
          </a:p>
          <a:p>
            <a:pPr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cameraChunkLocalLights=11</a:t>
            </a:r>
          </a:p>
          <a:p>
            <a:pPr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registeredStaticObjects=2772</a:t>
            </a:r>
          </a:p>
          <a:p>
            <a:pPr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sourceSubmeshInstances=6345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9F6AF9-6D6E-46D5-9383-BEEBAB4753C8}"/>
              </a:ext>
            </a:extLst>
          </p:cNvPr>
          <p:cNvSpPr>
            <a:spLocks noGrp="1"/>
          </p:cNvSpPr>
          <p:nvPr/>
        </p:nvSpPr>
        <p:spPr>
          <a:xfrm>
            <a:off x="6334125" y="4438650"/>
            <a:ext cx="5191125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111318"/>
                </a:solidFill>
              </a:defRPr>
            </a:defPPr>
            <a:lvl1pPr>
              <a:buNone/>
              <a:defRPr sz="1350" b="0">
                <a:solidFill>
                  <a:srgbClr val="111318"/>
                </a:solidFill>
              </a:defRPr>
            </a:lvl1pPr>
            <a:lvl2pPr>
              <a:buNone/>
              <a:defRPr sz="1350" b="0">
                <a:solidFill>
                  <a:srgbClr val="111318"/>
                </a:solidFill>
              </a:defRPr>
            </a:lvl2pPr>
            <a:lvl3pPr>
              <a:buNone/>
              <a:defRPr sz="1350" b="0">
                <a:solidFill>
                  <a:srgbClr val="111318"/>
                </a:solidFill>
              </a:defRPr>
            </a:lvl3pPr>
            <a:lvl4pPr>
              <a:buNone/>
              <a:defRPr sz="1350" b="0">
                <a:solidFill>
                  <a:srgbClr val="111318"/>
                </a:solidFill>
              </a:defRPr>
            </a:lvl4pPr>
            <a:lvl5pPr>
              <a:buNone/>
              <a:defRPr sz="1350" b="0">
                <a:solidFill>
                  <a:srgbClr val="111318"/>
                </a:solidFill>
              </a:defRPr>
            </a:lvl5pPr>
            <a:lvl6pPr>
              <a:buNone/>
              <a:defRPr sz="1350" b="0">
                <a:solidFill>
                  <a:srgbClr val="111318"/>
                </a:solidFill>
              </a:defRPr>
            </a:lvl6pPr>
            <a:lvl7pPr>
              <a:buNone/>
              <a:defRPr sz="1350" b="0">
                <a:solidFill>
                  <a:srgbClr val="111318"/>
                </a:solidFill>
              </a:defRPr>
            </a:lvl7pPr>
            <a:lvl8pPr>
              <a:buNone/>
              <a:defRPr sz="1350" b="0">
                <a:solidFill>
                  <a:srgbClr val="111318"/>
                </a:solidFill>
              </a:defRPr>
            </a:lvl8pPr>
            <a:lvl9pPr>
              <a:buNone/>
              <a:defRPr sz="1350" b="0">
                <a:solidFill>
                  <a:srgbClr val="111318"/>
                </a:solidFill>
              </a:defRPr>
            </a:lvl9pPr>
          </a:lstStyle>
          <a:p>
            <a:pPr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동일한 장소에서 ON/OFF 측정, 동일 자원 수 확인</a:t>
            </a:r>
          </a:p>
          <a:p>
            <a:pPr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OFF fps=20.4 frame=49.11ms</a:t>
            </a:r>
          </a:p>
          <a:p>
            <a:pPr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ON fps=43.2 frame=23.16ms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657082-C624-4750-A492-8CF39D4220B0}"/>
              </a:ext>
            </a:extLst>
          </p:cNvPr>
          <p:cNvSpPr>
            <a:spLocks noGrp="1"/>
          </p:cNvSpPr>
          <p:nvPr/>
        </p:nvSpPr>
        <p:spPr>
          <a:xfrm>
            <a:off x="647700" y="5410200"/>
            <a:ext cx="108585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F5966"/>
                </a:solidFill>
              </a:defRPr>
            </a:defPPr>
            <a:lvl1pPr>
              <a:buNone/>
              <a:defRPr sz="1200" b="0">
                <a:solidFill>
                  <a:srgbClr val="4F5966"/>
                </a:solidFill>
              </a:defRPr>
            </a:lvl1pPr>
            <a:lvl2pPr>
              <a:buNone/>
              <a:defRPr sz="1200" b="0">
                <a:solidFill>
                  <a:srgbClr val="4F5966"/>
                </a:solidFill>
              </a:defRPr>
            </a:lvl2pPr>
            <a:lvl3pPr>
              <a:buNone/>
              <a:defRPr sz="1200" b="0">
                <a:solidFill>
                  <a:srgbClr val="4F5966"/>
                </a:solidFill>
              </a:defRPr>
            </a:lvl3pPr>
            <a:lvl4pPr>
              <a:buNone/>
              <a:defRPr sz="1200" b="0">
                <a:solidFill>
                  <a:srgbClr val="4F5966"/>
                </a:solidFill>
              </a:defRPr>
            </a:lvl4pPr>
            <a:lvl5pPr>
              <a:buNone/>
              <a:defRPr sz="1200" b="0">
                <a:solidFill>
                  <a:srgbClr val="4F5966"/>
                </a:solidFill>
              </a:defRPr>
            </a:lvl5pPr>
            <a:lvl6pPr>
              <a:buNone/>
              <a:defRPr sz="1200" b="0">
                <a:solidFill>
                  <a:srgbClr val="4F5966"/>
                </a:solidFill>
              </a:defRPr>
            </a:lvl6pPr>
            <a:lvl7pPr>
              <a:buNone/>
              <a:defRPr sz="1200" b="0">
                <a:solidFill>
                  <a:srgbClr val="4F5966"/>
                </a:solidFill>
              </a:defRPr>
            </a:lvl7pPr>
            <a:lvl8pPr>
              <a:buNone/>
              <a:defRPr sz="1200" b="0">
                <a:solidFill>
                  <a:srgbClr val="4F5966"/>
                </a:solidFill>
              </a:defRPr>
            </a:lvl8pPr>
            <a:lvl9pPr>
              <a:buNone/>
              <a:defRPr sz="1200" b="0">
                <a:solidFill>
                  <a:srgbClr val="4F5966"/>
                </a:solidFill>
              </a:defRPr>
            </a:lvl9pPr>
          </a:lstStyle>
          <a:p>
            <a:pPr>
              <a:buNone/>
              <a:defRPr sz="1200" b="0">
                <a:solidFill>
                  <a:srgbClr val="4F5966"/>
                </a:solidFill>
              </a:defRPr>
            </a:pPr>
            <a:r>
              <a:rPr sz="1200" b="0">
                <a:solidFill>
                  <a:srgbClr val="4F5966"/>
                </a:solidFill>
              </a:rPr>
              <a:t>동일한 장소에서 최적화 OFF/ON 비교. 8쪽 FPS와 위 자원 집계는 제공된 ON/OFF 실행 로그 기준.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BC8D3B-5AE2-43CE-B943-6B798797E667}"/>
              </a:ext>
            </a:extLst>
          </p:cNvPr>
          <p:cNvSpPr>
            <a:spLocks noGrp="1"/>
          </p:cNvSpPr>
          <p:nvPr/>
        </p:nvSpPr>
        <p:spPr>
          <a:xfrm>
            <a:off x="647700" y="5924550"/>
            <a:ext cx="108585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4F5966"/>
                </a:solidFill>
              </a:defRPr>
            </a:defPPr>
            <a:lvl1pPr>
              <a:buNone/>
              <a:defRPr sz="1125" b="0">
                <a:solidFill>
                  <a:srgbClr val="4F5966"/>
                </a:solidFill>
              </a:defRPr>
            </a:lvl1pPr>
            <a:lvl2pPr>
              <a:buNone/>
              <a:defRPr sz="1125" b="0">
                <a:solidFill>
                  <a:srgbClr val="4F5966"/>
                </a:solidFill>
              </a:defRPr>
            </a:lvl2pPr>
            <a:lvl3pPr>
              <a:buNone/>
              <a:defRPr sz="1125" b="0">
                <a:solidFill>
                  <a:srgbClr val="4F5966"/>
                </a:solidFill>
              </a:defRPr>
            </a:lvl3pPr>
            <a:lvl4pPr>
              <a:buNone/>
              <a:defRPr sz="1125" b="0">
                <a:solidFill>
                  <a:srgbClr val="4F5966"/>
                </a:solidFill>
              </a:defRPr>
            </a:lvl4pPr>
            <a:lvl5pPr>
              <a:buNone/>
              <a:defRPr sz="1125" b="0">
                <a:solidFill>
                  <a:srgbClr val="4F5966"/>
                </a:solidFill>
              </a:defRPr>
            </a:lvl5pPr>
            <a:lvl6pPr>
              <a:buNone/>
              <a:defRPr sz="1125" b="0">
                <a:solidFill>
                  <a:srgbClr val="4F5966"/>
                </a:solidFill>
              </a:defRPr>
            </a:lvl6pPr>
            <a:lvl7pPr>
              <a:buNone/>
              <a:defRPr sz="1125" b="0">
                <a:solidFill>
                  <a:srgbClr val="4F5966"/>
                </a:solidFill>
              </a:defRPr>
            </a:lvl7pPr>
            <a:lvl8pPr>
              <a:buNone/>
              <a:defRPr sz="1125" b="0">
                <a:solidFill>
                  <a:srgbClr val="4F5966"/>
                </a:solidFill>
              </a:defRPr>
            </a:lvl8pPr>
            <a:lvl9pPr>
              <a:buNone/>
              <a:defRPr sz="1125" b="0">
                <a:solidFill>
                  <a:srgbClr val="4F5966"/>
                </a:solidFill>
              </a:defRPr>
            </a:lvl9pPr>
          </a:lstStyle>
          <a:p>
            <a:pPr>
              <a:buNone/>
              <a:defRPr sz="1125" b="0">
                <a:solidFill>
                  <a:srgbClr val="4F5966"/>
                </a:solidFill>
              </a:defRPr>
            </a:pPr>
            <a:r>
              <a:rPr sz="1125" b="0">
                <a:solidFill>
                  <a:srgbClr val="4F5966"/>
                </a:solidFill>
              </a:rPr>
              <a:t>청크: 공간을 나눈 구역. 11개는 카메라 청크의 로컬 조명 목록 수이며, 모든 픽셀에서 계산하는 조명 수를 의미하지 않음.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2F7246-127D-497F-B233-146E076D2696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25" b="0">
                <a:solidFill>
                  <a:srgbClr val="4F5966"/>
                </a:solidFill>
              </a:defRPr>
            </a:defPPr>
            <a:lvl1pPr>
              <a:buNone/>
              <a:defRPr sz="525" b="0">
                <a:solidFill>
                  <a:srgbClr val="4F5966"/>
                </a:solidFill>
              </a:defRPr>
            </a:lvl1pPr>
            <a:lvl2pPr>
              <a:buNone/>
              <a:defRPr sz="525" b="0">
                <a:solidFill>
                  <a:srgbClr val="4F5966"/>
                </a:solidFill>
              </a:defRPr>
            </a:lvl2pPr>
            <a:lvl3pPr>
              <a:buNone/>
              <a:defRPr sz="525" b="0">
                <a:solidFill>
                  <a:srgbClr val="4F5966"/>
                </a:solidFill>
              </a:defRPr>
            </a:lvl3pPr>
            <a:lvl4pPr>
              <a:buNone/>
              <a:defRPr sz="525" b="0">
                <a:solidFill>
                  <a:srgbClr val="4F5966"/>
                </a:solidFill>
              </a:defRPr>
            </a:lvl4pPr>
            <a:lvl5pPr>
              <a:buNone/>
              <a:defRPr sz="525" b="0">
                <a:solidFill>
                  <a:srgbClr val="4F5966"/>
                </a:solidFill>
              </a:defRPr>
            </a:lvl5pPr>
            <a:lvl6pPr>
              <a:buNone/>
              <a:defRPr sz="525" b="0">
                <a:solidFill>
                  <a:srgbClr val="4F5966"/>
                </a:solidFill>
              </a:defRPr>
            </a:lvl6pPr>
            <a:lvl7pPr>
              <a:buNone/>
              <a:defRPr sz="525" b="0">
                <a:solidFill>
                  <a:srgbClr val="4F5966"/>
                </a:solidFill>
              </a:defRPr>
            </a:lvl7pPr>
            <a:lvl8pPr>
              <a:buNone/>
              <a:defRPr sz="525" b="0">
                <a:solidFill>
                  <a:srgbClr val="4F5966"/>
                </a:solidFill>
              </a:defRPr>
            </a:lvl8pPr>
            <a:lvl9pPr>
              <a:buNone/>
              <a:defRPr sz="525" b="0">
                <a:solidFill>
                  <a:srgbClr val="4F5966"/>
                </a:solidFill>
              </a:defRPr>
            </a:lvl9pPr>
          </a:lstStyle>
          <a:p>
            <a:pPr>
              <a:buNone/>
              <a:defRPr sz="525" b="0">
                <a:solidFill>
                  <a:srgbClr val="4F5966"/>
                </a:solidFill>
              </a:defRPr>
            </a:pPr>
            <a:r>
              <a:rPr sz="525" b="0">
                <a:solidFill>
                  <a:srgbClr val="4F596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247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D06903-0D1C-4A81-B5B9-495E9857EDC9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EDB3E4-6465-4C66-B383-EAA2F4DF2BD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파티클 갱신 범위와 GPU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D6A81F-4D44-40DD-AAB8-A8F4221357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Compute Shader로 등록된 스킬 입자를 GPU에서 병렬 갱신. 총구 섬광·탄환 궤적·포털 등은 CPU 갱신.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FC0ED2-952D-4D10-A2B0-DFB8397347D6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8B09841-C5C2-41F7-A493-4DDAF03369A8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558625-5553-4DF8-8C4E-558C03168EE3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buNone/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2407C-620B-4231-B070-81DDCADC4B72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입력 전달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E9CB61-7F06-4AE1-921D-067637B1391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시간·발생 위치 전달</a:t>
            </a:r>
          </a:p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(Root Constants)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75CB9670-73B4-41C3-AA66-90794C47104C}"/>
              </a:ext>
            </a:extLst>
          </p:cNvPr>
          <p:cNvSpPr>
            <a:spLocks noGrp="1"/>
          </p:cNvSpPr>
          <p:nvPr/>
        </p:nvSpPr>
        <p:spPr>
          <a:xfrm>
            <a:off x="2209800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1D5A58-CAA6-4DAB-BE92-30F0765BD96E}"/>
              </a:ext>
            </a:extLst>
          </p:cNvPr>
          <p:cNvSpPr>
            <a:spLocks noGrp="1"/>
          </p:cNvSpPr>
          <p:nvPr/>
        </p:nvSpPr>
        <p:spPr>
          <a:xfrm>
            <a:off x="2733675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CECE75-996B-49D3-A69C-562E1CBFC6AF}"/>
              </a:ext>
            </a:extLst>
          </p:cNvPr>
          <p:cNvSpPr>
            <a:spLocks noGrp="1"/>
          </p:cNvSpPr>
          <p:nvPr/>
        </p:nvSpPr>
        <p:spPr>
          <a:xfrm>
            <a:off x="2905125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buNone/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5CE78D-AFB7-4991-AD72-EA08045AAAA3}"/>
              </a:ext>
            </a:extLst>
          </p:cNvPr>
          <p:cNvSpPr>
            <a:spLocks noGrp="1"/>
          </p:cNvSpPr>
          <p:nvPr/>
        </p:nvSpPr>
        <p:spPr>
          <a:xfrm>
            <a:off x="2905125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쓰기 준비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310509-6220-4C1F-8526-D943F1903926}"/>
              </a:ext>
            </a:extLst>
          </p:cNvPr>
          <p:cNvSpPr>
            <a:spLocks noGrp="1"/>
          </p:cNvSpPr>
          <p:nvPr/>
        </p:nvSpPr>
        <p:spPr>
          <a:xfrm>
            <a:off x="2905125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GPU가 입자 버퍼를</a:t>
            </a:r>
          </a:p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수정하도록 전환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47340A8F-3DF8-41E5-9437-A8F61C6FC959}"/>
              </a:ext>
            </a:extLst>
          </p:cNvPr>
          <p:cNvSpPr>
            <a:spLocks noGrp="1"/>
          </p:cNvSpPr>
          <p:nvPr/>
        </p:nvSpPr>
        <p:spPr>
          <a:xfrm>
            <a:off x="4543425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82FCF9B-92B3-4607-B414-B687A9624E50}"/>
              </a:ext>
            </a:extLst>
          </p:cNvPr>
          <p:cNvSpPr>
            <a:spLocks noGrp="1"/>
          </p:cNvSpPr>
          <p:nvPr/>
        </p:nvSpPr>
        <p:spPr>
          <a:xfrm>
            <a:off x="5067300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CEAF3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173959-B40B-48BF-8DEC-29CCDBC01A30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buNone/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5A38EA-761C-4890-8ACF-E191077698C3}"/>
              </a:ext>
            </a:extLst>
          </p:cNvPr>
          <p:cNvSpPr>
            <a:spLocks noGrp="1"/>
          </p:cNvSpPr>
          <p:nvPr/>
        </p:nvSpPr>
        <p:spPr>
          <a:xfrm>
            <a:off x="5238750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병렬 실행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DC35E8-8FC4-4680-9991-FFACA9CDF69A}"/>
              </a:ext>
            </a:extLst>
          </p:cNvPr>
          <p:cNvSpPr>
            <a:spLocks noGrp="1"/>
          </p:cNvSpPr>
          <p:nvPr/>
        </p:nvSpPr>
        <p:spPr>
          <a:xfrm>
            <a:off x="5238750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그룹당 256스레드</a:t>
            </a:r>
          </a:p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입자 병렬 갱신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25171C1-1F5D-413D-B296-150E41845F05}"/>
              </a:ext>
            </a:extLst>
          </p:cNvPr>
          <p:cNvSpPr>
            <a:spLocks noGrp="1"/>
          </p:cNvSpPr>
          <p:nvPr/>
        </p:nvSpPr>
        <p:spPr>
          <a:xfrm>
            <a:off x="6877050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47F6CB9-C9FC-4E8E-8309-F6C31ACEB124}"/>
              </a:ext>
            </a:extLst>
          </p:cNvPr>
          <p:cNvSpPr>
            <a:spLocks noGrp="1"/>
          </p:cNvSpPr>
          <p:nvPr/>
        </p:nvSpPr>
        <p:spPr>
          <a:xfrm>
            <a:off x="7400925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0A57C8-A75D-45BC-99C4-883A1B86DE89}"/>
              </a:ext>
            </a:extLst>
          </p:cNvPr>
          <p:cNvSpPr>
            <a:spLocks noGrp="1"/>
          </p:cNvSpPr>
          <p:nvPr/>
        </p:nvSpPr>
        <p:spPr>
          <a:xfrm>
            <a:off x="7572375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buNone/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185358-E68E-4040-82E6-13EF0C431746}"/>
              </a:ext>
            </a:extLst>
          </p:cNvPr>
          <p:cNvSpPr>
            <a:spLocks noGrp="1"/>
          </p:cNvSpPr>
          <p:nvPr/>
        </p:nvSpPr>
        <p:spPr>
          <a:xfrm>
            <a:off x="7572375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입자 갱신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50D711-3876-4C76-B83D-7F033B6755CC}"/>
              </a:ext>
            </a:extLst>
          </p:cNvPr>
          <p:cNvSpPr>
            <a:spLocks noGrp="1"/>
          </p:cNvSpPr>
          <p:nvPr/>
        </p:nvSpPr>
        <p:spPr>
          <a:xfrm>
            <a:off x="7572375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중력·항력·난류</a:t>
            </a:r>
          </a:p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충돌·재생성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6A640829-06BF-4953-A64C-1A590D56D3C2}"/>
              </a:ext>
            </a:extLst>
          </p:cNvPr>
          <p:cNvSpPr>
            <a:spLocks noGrp="1"/>
          </p:cNvSpPr>
          <p:nvPr/>
        </p:nvSpPr>
        <p:spPr>
          <a:xfrm>
            <a:off x="9210675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F245BCE-B300-4078-83AC-FA4BA0F03DED}"/>
              </a:ext>
            </a:extLst>
          </p:cNvPr>
          <p:cNvSpPr>
            <a:spLocks noGrp="1"/>
          </p:cNvSpPr>
          <p:nvPr/>
        </p:nvSpPr>
        <p:spPr>
          <a:xfrm>
            <a:off x="9734550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F1FC3B-14D0-4AA4-8B6A-E938248DB87D}"/>
              </a:ext>
            </a:extLst>
          </p:cNvPr>
          <p:cNvSpPr>
            <a:spLocks noGrp="1"/>
          </p:cNvSpPr>
          <p:nvPr/>
        </p:nvSpPr>
        <p:spPr>
          <a:xfrm>
            <a:off x="9906000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buNone/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F8247D-3D11-4F43-B403-92B7877FE9A5}"/>
              </a:ext>
            </a:extLst>
          </p:cNvPr>
          <p:cNvSpPr>
            <a:spLocks noGrp="1"/>
          </p:cNvSpPr>
          <p:nvPr/>
        </p:nvSpPr>
        <p:spPr>
          <a:xfrm>
            <a:off x="9906000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읽기 준비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6DE0F9-9467-4CDE-AF02-F48647936716}"/>
              </a:ext>
            </a:extLst>
          </p:cNvPr>
          <p:cNvSpPr>
            <a:spLocks noGrp="1"/>
          </p:cNvSpPr>
          <p:nvPr/>
        </p:nvSpPr>
        <p:spPr>
          <a:xfrm>
            <a:off x="9906000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갱신한 입자 버퍼를</a:t>
            </a:r>
          </a:p>
          <a:p>
            <a:pPr algn="l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그리기에 사용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7CDECD-2512-4269-9AC6-20CB87E30538}"/>
              </a:ext>
            </a:extLst>
          </p:cNvPr>
          <p:cNvSpPr>
            <a:spLocks noGrp="1"/>
          </p:cNvSpPr>
          <p:nvPr/>
        </p:nvSpPr>
        <p:spPr>
          <a:xfrm>
            <a:off x="647700" y="4333875"/>
            <a:ext cx="10715625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275">
                <a:solidFill>
                  <a:srgbClr val="111318"/>
                </a:solidFill>
              </a:defRPr>
            </a:defPPr>
            <a:lvl1pPr>
              <a:buNone/>
              <a:defRPr sz="1275">
                <a:solidFill>
                  <a:srgbClr val="111318"/>
                </a:solidFill>
              </a:defRPr>
            </a:lvl1pPr>
            <a:lvl2pPr>
              <a:buNone/>
              <a:defRPr sz="1275">
                <a:solidFill>
                  <a:srgbClr val="111318"/>
                </a:solidFill>
              </a:defRPr>
            </a:lvl2pPr>
            <a:lvl3pPr>
              <a:buNone/>
              <a:defRPr sz="1275">
                <a:solidFill>
                  <a:srgbClr val="111318"/>
                </a:solidFill>
              </a:defRPr>
            </a:lvl3pPr>
            <a:lvl4pPr>
              <a:buNone/>
              <a:defRPr sz="1275">
                <a:solidFill>
                  <a:srgbClr val="111318"/>
                </a:solidFill>
              </a:defRPr>
            </a:lvl4pPr>
            <a:lvl5pPr>
              <a:buNone/>
              <a:defRPr sz="1275">
                <a:solidFill>
                  <a:srgbClr val="111318"/>
                </a:solidFill>
              </a:defRPr>
            </a:lvl5pPr>
            <a:lvl6pPr>
              <a:buNone/>
              <a:defRPr sz="1275">
                <a:solidFill>
                  <a:srgbClr val="111318"/>
                </a:solidFill>
              </a:defRPr>
            </a:lvl6pPr>
            <a:lvl7pPr>
              <a:buNone/>
              <a:defRPr sz="1275">
                <a:solidFill>
                  <a:srgbClr val="111318"/>
                </a:solidFill>
              </a:defRPr>
            </a:lvl7pPr>
            <a:lvl8pPr>
              <a:buNone/>
              <a:defRPr sz="1275">
                <a:solidFill>
                  <a:srgbClr val="111318"/>
                </a:solidFill>
              </a:defRPr>
            </a:lvl8pPr>
            <a:lvl9pPr>
              <a:buNone/>
              <a:defRPr sz="1275">
                <a:solidFill>
                  <a:srgbClr val="111318"/>
                </a:solidFill>
              </a:defRPr>
            </a:lvl9pPr>
          </a:lstStyle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Particle 구조에 입자의 위치·속도·수명·색상·크기를 저장</a:t>
            </a:r>
          </a:p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Emitter 입력으로 입자가 발생할 위치·방향·범위·지속시간 전달</a:t>
            </a:r>
          </a:p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화염 기둥·고리·전기·서리 등은 GPU 갱신. 위 흐름도는 이 경로를 설명.</a:t>
            </a:r>
          </a:p>
          <a:p>
            <a:pPr algn="l">
              <a:buNone/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총구 섬광·탄환 궤적·포털·상태 효과 등은 CPU 갱신 후 GPU로 업로드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23951F-7972-48DD-8B41-7D46319691C2}"/>
              </a:ext>
            </a:extLst>
          </p:cNvPr>
          <p:cNvSpPr>
            <a:spLocks noGrp="1"/>
          </p:cNvSpPr>
          <p:nvPr/>
        </p:nvSpPr>
        <p:spPr>
          <a:xfrm>
            <a:off x="647700" y="58102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AI 활용: 스킬 이펙트의 모양과 시각적 표현 조정에 활용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A03B639-DE10-4ACD-AC8D-5B7C33294136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9587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77A0C3-1DF9-4174-B103-15381FE8C5FC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B65EDB-043B-4F5E-B9AF-A390D08DAF0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파티클 렌더링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BB1888-626D-4183-8095-78A5EBF799A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별도 사각형 메시 없이 정점 번호(SV_VertexID)로 입자 사각형을 만들고 카메라를 향하게 배치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0256BD-06C8-416F-BE67-C32499F9455C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FB09BE0-D344-437F-BFA8-D9803BAF8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1862768"/>
            <a:ext cx="5238750" cy="30276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6B17030-6794-4347-A439-590E5E443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0300" y="1851439"/>
            <a:ext cx="5238750" cy="305034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C7EB20C-4C54-4BF5-9A78-05ED7C22DA46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영역 스킬 이펙트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D7CBC7-11FF-40CA-A415-38DAB0879105}"/>
              </a:ext>
            </a:extLst>
          </p:cNvPr>
          <p:cNvSpPr>
            <a:spLocks noGrp="1"/>
          </p:cNvSpPr>
          <p:nvPr/>
        </p:nvSpPr>
        <p:spPr>
          <a:xfrm>
            <a:off x="6210300" y="49720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화염 스킬 이펙트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88032D-9084-4745-92A2-133FF46A5CA1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108013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카메라를 향하는 사각형으로 표시하고, 속도 방향으로 늘리거나 수명에 따라 색상·크기 변경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텍스처의 여러 칸을 순서대로 표시해 애니메이션 재생. 색을 더하는 혼합 방식 사용.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장면의 깊이와 비교해 가려진 입자는 표시하지 않으며, 입자 자체는 깊이 값을 기록하지 않음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B01F0C-275E-44CF-A511-D173D2A414E2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0519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8D9B9-5941-40D6-8959-57BC2B0E101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02 / KIRBY CLONE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0AB139-5739-4886-9D8C-D25CEA7217B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커비 모작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0A0ACF-6440-43D9-BD59-CD8635E7AA9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제작 기간: 2024.10 ~ 2024.12 / 개인 프로젝트 / Python, pico2d 기반 2D 액션 게임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8F5457-060A-486A-BD8C-EEBD8622CFE7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699D9F-ED2A-45A4-A6B8-9019A497678C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게임 기능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FB7CC3-36AC-4E77-8945-C59801E4FEBB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캐릭터 이동·달리기·점프·비행·공격 상태 전환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몬스터의 이동·공격과 보스 공격 패턴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캐릭터·적·투사체 충돌과 피해 처리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포털을 통한 스테이지 전환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B4BBE4-F625-48ED-BE3F-7CA4DC035102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buNone/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49542A-6B98-4AFD-B307-ED1B3E816BED}"/>
              </a:ext>
            </a:extLst>
          </p:cNvPr>
          <p:cNvSpPr>
            <a:spLocks noGrp="1"/>
          </p:cNvSpPr>
          <p:nvPr/>
        </p:nvSpPr>
        <p:spPr>
          <a:xfrm>
            <a:off x="6229350" y="220980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상태 머신으로 입력과 캐릭터 행동 연결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행동 트리로 몬스터·보스 행동 선택</a:t>
            </a:r>
          </a:p>
          <a:p>
            <a:pPr algn="l">
              <a:buNone/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스프라이트 프레임으로 애니메이션 표시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799DBC4-D873-4C71-9C65-D9A2AD80B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4712" y="3381375"/>
            <a:ext cx="3449476" cy="27146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ACF91BD-7879-4E1D-9E9C-4A90AE5AB5B1}"/>
              </a:ext>
            </a:extLst>
          </p:cNvPr>
          <p:cNvSpPr>
            <a:spLocks noGrp="1"/>
          </p:cNvSpPr>
          <p:nvPr/>
        </p:nvSpPr>
        <p:spPr>
          <a:xfrm>
            <a:off x="647700" y="6115050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일반 스테이지 전투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0FB82A5-1224-4CF3-B1B6-26005CABA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78302" y="3381375"/>
            <a:ext cx="3445596" cy="271462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AAF52D-5103-4729-940E-044B53F97C31}"/>
              </a:ext>
            </a:extLst>
          </p:cNvPr>
          <p:cNvSpPr>
            <a:spLocks noGrp="1"/>
          </p:cNvSpPr>
          <p:nvPr/>
        </p:nvSpPr>
        <p:spPr>
          <a:xfrm>
            <a:off x="6229350" y="6115050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buNone/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보스 전투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459A5E-5FFE-4056-924D-121FAAF9C63D}"/>
              </a:ext>
            </a:extLst>
          </p:cNvPr>
          <p:cNvSpPr>
            <a:spLocks noGrp="1"/>
          </p:cNvSpPr>
          <p:nvPr/>
        </p:nvSpPr>
        <p:spPr>
          <a:xfrm>
            <a:off x="647700" y="6505575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/>
          </a:bodyPr>
          <a:lstStyle/>
          <a:p>
            <a:pPr algn="l">
              <a:buNone/>
              <a:defRPr sz="1050" b="0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0A7E1"/>
                </a:solidFill>
                <a:latin typeface="Malgun Gothic"/>
                <a:ea typeface="Malgun Gothic"/>
                <a:cs typeface="Malgun Gothic"/>
                <a:hlinkClick r:id="rId5"/>
              </a:rPr>
              <a:t>GitHub: github.com/donggeon15/2DGP-Project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51FB28-7910-47CE-949B-CCBC2D914490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9803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1452</Words>
  <Application>Microsoft Office PowerPoint</Application>
  <DocSecurity>0</DocSecurity>
  <PresentationFormat>와이드스크린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임동건(2021182032)</cp:lastModifiedBy>
  <cp:revision>1</cp:revision>
  <dcterms:created xsi:type="dcterms:W3CDTF">2026-10-17T16:23:46Z</dcterms:created>
  <dcterms:modified xsi:type="dcterms:W3CDTF">2026-10-19T11:53:15Z</dcterms:modified>
</cp:coreProperties>
</file>