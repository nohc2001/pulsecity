
<file path=[Content_Types].xml><?xml version="1.0" encoding="utf-8"?>
<Types xmlns="http://schemas.openxmlformats.org/package/2006/content-types"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22"/>
  </p:notesMasterIdLst>
  <p:sldIdLst>
    <p:sldId id="256" r:id="rId2"/>
    <p:sldId id="276" r:id="rId3"/>
    <p:sldId id="257" r:id="rId4"/>
    <p:sldId id="258" r:id="rId5"/>
    <p:sldId id="275" r:id="rId6"/>
    <p:sldId id="259" r:id="rId7"/>
    <p:sldId id="277" r:id="rId8"/>
    <p:sldId id="260" r:id="rId9"/>
    <p:sldId id="261" r:id="rId10"/>
    <p:sldId id="262" r:id="rId11"/>
    <p:sldId id="267" r:id="rId12"/>
    <p:sldId id="263" r:id="rId13"/>
    <p:sldId id="268" r:id="rId14"/>
    <p:sldId id="264" r:id="rId15"/>
    <p:sldId id="265" r:id="rId16"/>
    <p:sldId id="266" r:id="rId17"/>
    <p:sldId id="269" r:id="rId18"/>
    <p:sldId id="270" r:id="rId19"/>
    <p:sldId id="273" r:id="rId20"/>
    <p:sldId id="274" r:id="rId21"/>
  </p:sldIdLst>
  <p:sldSz cx="12192000" cy="6858000"/>
  <p:notesSz cx="6858000" cy="9144000"/>
  <p:defaultTextStyle>
    <a:defPPr>
      <a:defRPr lang="ko-KR"/>
    </a:defPPr>
    <a:lvl1pPr marL="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>
      <p:cViewPr varScale="1">
        <p:scale>
          <a:sx n="102" d="100"/>
          <a:sy n="102" d="100"/>
        </p:scale>
        <p:origin x="918" y="10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tableStyles" Target="tableStyles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theme" Target="theme/theme1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viewProps" Target="viewProp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presProps" Target="presProps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notesMaster" Target="notesMasters/notesMaster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머리글 개체 틀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ko-KR" altLang="en-US"/>
          </a:p>
        </p:txBody>
      </p:sp>
      <p:sp>
        <p:nvSpPr>
          <p:cNvPr id="3" name="날짜 개체 틀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26EF728B-280E-4D26-BDBC-ECF6F5D07DAF}" type="datetimeFigureOut">
              <a:rPr lang="ko-KR" altLang="en-US" smtClean="0"/>
              <a:t>2026-07-20</a:t>
            </a:fld>
            <a:endParaRPr lang="ko-KR" altLang="en-US"/>
          </a:p>
        </p:txBody>
      </p:sp>
      <p:sp>
        <p:nvSpPr>
          <p:cNvPr id="4" name="슬라이드 이미지 개체 틀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ko-KR" altLang="en-US"/>
          </a:p>
        </p:txBody>
      </p:sp>
      <p:sp>
        <p:nvSpPr>
          <p:cNvPr id="5" name="슬라이드 노트 개체 틀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6" name="바닥글 개체 틀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ko-KR" altLang="en-US"/>
          </a:p>
        </p:txBody>
      </p:sp>
      <p:sp>
        <p:nvSpPr>
          <p:cNvPr id="7" name="슬라이드 번호 개체 틀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4B837EFF-673F-41F3-AB98-855B3A98250E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945002656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제목 슬라이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7B3C1C69-B3CA-AD84-2C61-16F89D91069D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부제목 2">
            <a:extLst>
              <a:ext uri="{FF2B5EF4-FFF2-40B4-BE49-F238E27FC236}">
                <a16:creationId xmlns:a16="http://schemas.microsoft.com/office/drawing/2014/main" id="{CAE994F5-3265-C602-4319-F4BDE4CBF82B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ko-KR" altLang="en-US"/>
              <a:t>클릭하여 마스터 부제목 스타일 편집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0C0ACB83-15BA-6C74-5744-2DBCA58FFC9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F832F47-332D-4D66-97A1-FB8F822F5083}" type="datetimeFigureOut">
              <a:rPr lang="ko-KR" altLang="en-US" smtClean="0"/>
              <a:t>2026-07-20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9E6C41C3-9BB5-493A-EB68-2AD8BB078D2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3DBFB979-FB05-93D1-8133-4F35020C8BD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4502FB1-CB1C-4218-A50C-AB083AC0FCC0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325598281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제목 및 내용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F9F4340B-DBA7-5766-60EB-DB597C9D7AB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330FC742-9A5D-E3D7-5DFA-3479FC864C27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091E3773-2589-30D6-3546-904A77CAD5E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F832F47-332D-4D66-97A1-FB8F822F5083}" type="datetimeFigureOut">
              <a:rPr lang="ko-KR" altLang="en-US" smtClean="0"/>
              <a:t>2026-07-20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2CC29026-190C-CDAD-DE9C-1E832F2F4D7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550E35F3-3E09-363E-1E05-5B6F24B788E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4502FB1-CB1C-4218-A50C-AB083AC0FCC0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32500749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구역 머리글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E40C2477-7101-E920-3939-F0E5EE1398B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CD945EFD-EFBE-72A3-0D23-41EE80CF96B6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33046D24-9F9E-518B-BB23-68F3BF2F50E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F832F47-332D-4D66-97A1-FB8F822F5083}" type="datetimeFigureOut">
              <a:rPr lang="ko-KR" altLang="en-US" smtClean="0"/>
              <a:t>2026-07-20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7FDD0C7F-6378-4CCC-A902-4EADB8B3E55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0476167B-835D-7012-AA01-C54499B90AD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4502FB1-CB1C-4218-A50C-AB083AC0FCC0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193200600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콘텐츠 2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049437CF-AC04-F3D4-0114-1BD0F3A32CD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AB783F4C-3378-21E4-3134-C7BBA79AF97D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내용 개체 틀 3">
            <a:extLst>
              <a:ext uri="{FF2B5EF4-FFF2-40B4-BE49-F238E27FC236}">
                <a16:creationId xmlns:a16="http://schemas.microsoft.com/office/drawing/2014/main" id="{179D6347-B208-4996-FEB2-4413B10C8AEC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E129D06B-10A8-BCBB-33E0-D8BB3CE0CE7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F832F47-332D-4D66-97A1-FB8F822F5083}" type="datetimeFigureOut">
              <a:rPr lang="ko-KR" altLang="en-US" smtClean="0"/>
              <a:t>2026-07-20</a:t>
            </a:fld>
            <a:endParaRPr lang="ko-KR" altLang="en-US"/>
          </a:p>
        </p:txBody>
      </p:sp>
      <p:sp>
        <p:nvSpPr>
          <p:cNvPr id="6" name="바닥글 개체 틀 5">
            <a:extLst>
              <a:ext uri="{FF2B5EF4-FFF2-40B4-BE49-F238E27FC236}">
                <a16:creationId xmlns:a16="http://schemas.microsoft.com/office/drawing/2014/main" id="{7FB9973A-16B8-EE79-1E38-D5E7A7640BB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>
            <a:extLst>
              <a:ext uri="{FF2B5EF4-FFF2-40B4-BE49-F238E27FC236}">
                <a16:creationId xmlns:a16="http://schemas.microsoft.com/office/drawing/2014/main" id="{FA6D43F4-3D8F-74F3-D732-858204C9F80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4502FB1-CB1C-4218-A50C-AB083AC0FCC0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668591631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비교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3F82934C-09E0-E494-0072-C5E31FBE1DA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70EA2AE6-6D89-786E-6396-896C932B3F95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4" name="내용 개체 틀 3">
            <a:extLst>
              <a:ext uri="{FF2B5EF4-FFF2-40B4-BE49-F238E27FC236}">
                <a16:creationId xmlns:a16="http://schemas.microsoft.com/office/drawing/2014/main" id="{E2F2A896-0A40-242C-F75A-003DEC05065F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5" name="텍스트 개체 틀 4">
            <a:extLst>
              <a:ext uri="{FF2B5EF4-FFF2-40B4-BE49-F238E27FC236}">
                <a16:creationId xmlns:a16="http://schemas.microsoft.com/office/drawing/2014/main" id="{CD98418C-E2BC-C361-29CE-3CBE8341074A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6" name="내용 개체 틀 5">
            <a:extLst>
              <a:ext uri="{FF2B5EF4-FFF2-40B4-BE49-F238E27FC236}">
                <a16:creationId xmlns:a16="http://schemas.microsoft.com/office/drawing/2014/main" id="{390F5626-0A5E-3484-9B9B-D0F944E93849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7" name="날짜 개체 틀 6">
            <a:extLst>
              <a:ext uri="{FF2B5EF4-FFF2-40B4-BE49-F238E27FC236}">
                <a16:creationId xmlns:a16="http://schemas.microsoft.com/office/drawing/2014/main" id="{AC659AAC-ECB9-37B0-FF5D-BB0FF5A340B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F832F47-332D-4D66-97A1-FB8F822F5083}" type="datetimeFigureOut">
              <a:rPr lang="ko-KR" altLang="en-US" smtClean="0"/>
              <a:t>2026-07-20</a:t>
            </a:fld>
            <a:endParaRPr lang="ko-KR" altLang="en-US"/>
          </a:p>
        </p:txBody>
      </p:sp>
      <p:sp>
        <p:nvSpPr>
          <p:cNvPr id="8" name="바닥글 개체 틀 7">
            <a:extLst>
              <a:ext uri="{FF2B5EF4-FFF2-40B4-BE49-F238E27FC236}">
                <a16:creationId xmlns:a16="http://schemas.microsoft.com/office/drawing/2014/main" id="{92D56A28-E34A-EA0B-1FF9-A2496E78CF1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9" name="슬라이드 번호 개체 틀 8">
            <a:extLst>
              <a:ext uri="{FF2B5EF4-FFF2-40B4-BE49-F238E27FC236}">
                <a16:creationId xmlns:a16="http://schemas.microsoft.com/office/drawing/2014/main" id="{57CF3DDD-B1B2-69DA-E8A1-0303C7F3F69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4502FB1-CB1C-4218-A50C-AB083AC0FCC0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724725015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제목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97DFCA82-BC18-29BC-1DE8-E255558D096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날짜 개체 틀 2">
            <a:extLst>
              <a:ext uri="{FF2B5EF4-FFF2-40B4-BE49-F238E27FC236}">
                <a16:creationId xmlns:a16="http://schemas.microsoft.com/office/drawing/2014/main" id="{697A9D64-C3AF-391D-391A-72DAA57797D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F832F47-332D-4D66-97A1-FB8F822F5083}" type="datetimeFigureOut">
              <a:rPr lang="ko-KR" altLang="en-US" smtClean="0"/>
              <a:t>2026-07-20</a:t>
            </a:fld>
            <a:endParaRPr lang="ko-KR" altLang="en-US"/>
          </a:p>
        </p:txBody>
      </p:sp>
      <p:sp>
        <p:nvSpPr>
          <p:cNvPr id="4" name="바닥글 개체 틀 3">
            <a:extLst>
              <a:ext uri="{FF2B5EF4-FFF2-40B4-BE49-F238E27FC236}">
                <a16:creationId xmlns:a16="http://schemas.microsoft.com/office/drawing/2014/main" id="{3C194070-3001-24CA-1326-828CA319B91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5" name="슬라이드 번호 개체 틀 4">
            <a:extLst>
              <a:ext uri="{FF2B5EF4-FFF2-40B4-BE49-F238E27FC236}">
                <a16:creationId xmlns:a16="http://schemas.microsoft.com/office/drawing/2014/main" id="{751D6C85-4B67-D86F-5DFC-3E32B37E7CE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4502FB1-CB1C-4218-A50C-AB083AC0FCC0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978318867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빈 화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날짜 개체 틀 1">
            <a:extLst>
              <a:ext uri="{FF2B5EF4-FFF2-40B4-BE49-F238E27FC236}">
                <a16:creationId xmlns:a16="http://schemas.microsoft.com/office/drawing/2014/main" id="{1A86ED65-90D5-BCDF-2A01-FE8D2DEC798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F832F47-332D-4D66-97A1-FB8F822F5083}" type="datetimeFigureOut">
              <a:rPr lang="ko-KR" altLang="en-US" smtClean="0"/>
              <a:t>2026-07-20</a:t>
            </a:fld>
            <a:endParaRPr lang="ko-KR" altLang="en-US"/>
          </a:p>
        </p:txBody>
      </p:sp>
      <p:sp>
        <p:nvSpPr>
          <p:cNvPr id="3" name="바닥글 개체 틀 2">
            <a:extLst>
              <a:ext uri="{FF2B5EF4-FFF2-40B4-BE49-F238E27FC236}">
                <a16:creationId xmlns:a16="http://schemas.microsoft.com/office/drawing/2014/main" id="{787FF562-AA78-D896-8F16-B5385FD18A7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64EF7DC4-358D-6CBF-AA4A-03BF4882C74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4502FB1-CB1C-4218-A50C-AB083AC0FCC0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542715196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캡션 있는 콘텐츠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7C2DA98A-C1E7-9E00-9470-2BDB2B34B5B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53AB5E2F-B7DC-0CEF-01D0-F98D479A129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텍스트 개체 틀 3">
            <a:extLst>
              <a:ext uri="{FF2B5EF4-FFF2-40B4-BE49-F238E27FC236}">
                <a16:creationId xmlns:a16="http://schemas.microsoft.com/office/drawing/2014/main" id="{B3A0E5A2-432E-04B9-C29E-0A81BF784AD7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16F447E6-24DC-17BE-F683-A6C6EF68DE2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F832F47-332D-4D66-97A1-FB8F822F5083}" type="datetimeFigureOut">
              <a:rPr lang="ko-KR" altLang="en-US" smtClean="0"/>
              <a:t>2026-07-20</a:t>
            </a:fld>
            <a:endParaRPr lang="ko-KR" altLang="en-US"/>
          </a:p>
        </p:txBody>
      </p:sp>
      <p:sp>
        <p:nvSpPr>
          <p:cNvPr id="6" name="바닥글 개체 틀 5">
            <a:extLst>
              <a:ext uri="{FF2B5EF4-FFF2-40B4-BE49-F238E27FC236}">
                <a16:creationId xmlns:a16="http://schemas.microsoft.com/office/drawing/2014/main" id="{963FF625-87E4-3193-B8F6-81FC023BB6C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>
            <a:extLst>
              <a:ext uri="{FF2B5EF4-FFF2-40B4-BE49-F238E27FC236}">
                <a16:creationId xmlns:a16="http://schemas.microsoft.com/office/drawing/2014/main" id="{71BAFFE1-232F-DE06-9E0A-1F8CA5F5F49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4502FB1-CB1C-4218-A50C-AB083AC0FCC0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973294224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캡션 있는 그림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83E8A8DF-7116-EB81-E085-E5B39939396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그림 개체 틀 2">
            <a:extLst>
              <a:ext uri="{FF2B5EF4-FFF2-40B4-BE49-F238E27FC236}">
                <a16:creationId xmlns:a16="http://schemas.microsoft.com/office/drawing/2014/main" id="{F9687148-6844-F47D-F9EE-4A659B95B60A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ko-KR" altLang="en-US"/>
          </a:p>
        </p:txBody>
      </p:sp>
      <p:sp>
        <p:nvSpPr>
          <p:cNvPr id="4" name="텍스트 개체 틀 3">
            <a:extLst>
              <a:ext uri="{FF2B5EF4-FFF2-40B4-BE49-F238E27FC236}">
                <a16:creationId xmlns:a16="http://schemas.microsoft.com/office/drawing/2014/main" id="{449B2365-D3B3-385A-DC47-FC7E8BC387F6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F855A41B-2768-7D1B-32F1-551DC45301B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F832F47-332D-4D66-97A1-FB8F822F5083}" type="datetimeFigureOut">
              <a:rPr lang="ko-KR" altLang="en-US" smtClean="0"/>
              <a:t>2026-07-20</a:t>
            </a:fld>
            <a:endParaRPr lang="ko-KR" altLang="en-US"/>
          </a:p>
        </p:txBody>
      </p:sp>
      <p:sp>
        <p:nvSpPr>
          <p:cNvPr id="6" name="바닥글 개체 틀 5">
            <a:extLst>
              <a:ext uri="{FF2B5EF4-FFF2-40B4-BE49-F238E27FC236}">
                <a16:creationId xmlns:a16="http://schemas.microsoft.com/office/drawing/2014/main" id="{CEA55D96-4899-C9EC-CC6F-6C72155CB66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>
            <a:extLst>
              <a:ext uri="{FF2B5EF4-FFF2-40B4-BE49-F238E27FC236}">
                <a16:creationId xmlns:a16="http://schemas.microsoft.com/office/drawing/2014/main" id="{6118DA1A-6B87-611B-2680-F60E282AA74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4502FB1-CB1C-4218-A50C-AB083AC0FCC0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238158223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제목 및 세로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AF004DE4-2931-1678-64C7-5C6EDEE1A32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세로 텍스트 개체 틀 2">
            <a:extLst>
              <a:ext uri="{FF2B5EF4-FFF2-40B4-BE49-F238E27FC236}">
                <a16:creationId xmlns:a16="http://schemas.microsoft.com/office/drawing/2014/main" id="{E8802B50-66A9-77CF-F443-8537EC4B7F8A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76CAC27B-E4FF-3FEF-3BA8-DFFCC9F22E8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F832F47-332D-4D66-97A1-FB8F822F5083}" type="datetimeFigureOut">
              <a:rPr lang="ko-KR" altLang="en-US" smtClean="0"/>
              <a:t>2026-07-20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01393B49-75C5-DBFF-18B2-BFC4CB75F16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31BBAE72-1884-A7B0-1BB4-6336406E297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4502FB1-CB1C-4218-A50C-AB083AC0FCC0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569134487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세로 제목 및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세로 제목 1">
            <a:extLst>
              <a:ext uri="{FF2B5EF4-FFF2-40B4-BE49-F238E27FC236}">
                <a16:creationId xmlns:a16="http://schemas.microsoft.com/office/drawing/2014/main" id="{69937FC3-AE10-6F29-607E-5D8594786996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세로 텍스트 개체 틀 2">
            <a:extLst>
              <a:ext uri="{FF2B5EF4-FFF2-40B4-BE49-F238E27FC236}">
                <a16:creationId xmlns:a16="http://schemas.microsoft.com/office/drawing/2014/main" id="{02C5294D-02FE-83A2-588A-2B0CC9D4A68C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468FDB6E-2970-4075-BD87-97C0569728A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F832F47-332D-4D66-97A1-FB8F822F5083}" type="datetimeFigureOut">
              <a:rPr lang="ko-KR" altLang="en-US" smtClean="0"/>
              <a:t>2026-07-20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8BBCAA37-F5BC-E052-B8B7-C784EA3B7A3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21FA6825-97BA-0A94-7573-98931A8B9A4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4502FB1-CB1C-4218-A50C-AB083AC0FCC0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52730118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개체 틀 1">
            <a:extLst>
              <a:ext uri="{FF2B5EF4-FFF2-40B4-BE49-F238E27FC236}">
                <a16:creationId xmlns:a16="http://schemas.microsoft.com/office/drawing/2014/main" id="{BD598ECD-6140-1A71-A275-0BED705D72A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DDAE03E1-FECE-B35E-B5DF-FA120EC2F08E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7BD99D8E-E248-5073-6880-D474AEFC2458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1F832F47-332D-4D66-97A1-FB8F822F5083}" type="datetimeFigureOut">
              <a:rPr lang="ko-KR" altLang="en-US" smtClean="0"/>
              <a:t>2026-07-20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1E2FE860-2E63-8438-B8F6-909F6C7710CF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B57F97FC-24A2-634F-E48B-D2D6099C0422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B4502FB1-CB1C-4218-A50C-AB083AC0FCC0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378501467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1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1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ko-KR"/>
      </a:defPPr>
      <a:lvl1pPr marL="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hyperlink" Target="https://youtu.be/kb8ucLNXPk4" TargetMode="External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8.png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2.png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3.png"/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.jpeg"/><Relationship Id="rId2" Type="http://schemas.openxmlformats.org/officeDocument/2006/relationships/image" Target="../media/image14.jpg"/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7.png"/><Relationship Id="rId2" Type="http://schemas.openxmlformats.org/officeDocument/2006/relationships/image" Target="../media/image16.png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19.png"/><Relationship Id="rId4" Type="http://schemas.openxmlformats.org/officeDocument/2006/relationships/image" Target="../media/image18.png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image" Target="../media/image20.png"/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hyperlink" Target="https://www.youtube.com/playlist?list=PLjFfL6iibssVuoxZ-uO_7KU551bWSrDeT" TargetMode="External"/><Relationship Id="rId2" Type="http://schemas.openxmlformats.org/officeDocument/2006/relationships/image" Target="../media/image21.png"/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hyperlink" Target="https://youtu.be/XZY9EVAGHlk?si=QXp5YU6lOEM0dtPO" TargetMode="External"/><Relationship Id="rId2" Type="http://schemas.openxmlformats.org/officeDocument/2006/relationships/image" Target="../media/image22.png"/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image" Target="../media/image23.png"/><Relationship Id="rId2" Type="http://schemas.openxmlformats.org/officeDocument/2006/relationships/hyperlink" Target="https://nohc2001.itch.io/inverseproportion" TargetMode="External"/><Relationship Id="rId1" Type="http://schemas.openxmlformats.org/officeDocument/2006/relationships/slideLayout" Target="../slideLayouts/slideLayout2.xml"/><Relationship Id="rId4" Type="http://schemas.openxmlformats.org/officeDocument/2006/relationships/hyperlink" Target="https://www.youtube.com/watch?v=9U4Zoagd_40" TargetMode="External"/></Relationships>
</file>

<file path=ppt/slides/_rels/slide20.xml.rels><?xml version="1.0" encoding="UTF-8" standalone="yes"?>
<Relationships xmlns="http://schemas.openxmlformats.org/package/2006/relationships"><Relationship Id="rId3" Type="http://schemas.openxmlformats.org/officeDocument/2006/relationships/hyperlink" Target="https://nohc2001.itch.io/godchoice" TargetMode="External"/><Relationship Id="rId2" Type="http://schemas.openxmlformats.org/officeDocument/2006/relationships/hyperlink" Target="https://youtu.be/qeZcDBkHkvw" TargetMode="Externa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25.png"/><Relationship Id="rId5" Type="http://schemas.openxmlformats.org/officeDocument/2006/relationships/image" Target="../media/image24.png"/><Relationship Id="rId4" Type="http://schemas.openxmlformats.org/officeDocument/2006/relationships/hyperlink" Target="https://www.youtube.com/watch?v=9U4Zoagd_40" TargetMode="Externa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2F70E6EF-EBBD-9857-71B1-70EE06D76AA1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ko-KR" altLang="en-US"/>
              <a:t>게임 개발자 포트폴리오</a:t>
            </a:r>
          </a:p>
        </p:txBody>
      </p:sp>
      <p:sp>
        <p:nvSpPr>
          <p:cNvPr id="3" name="부제목 2">
            <a:extLst>
              <a:ext uri="{FF2B5EF4-FFF2-40B4-BE49-F238E27FC236}">
                <a16:creationId xmlns:a16="http://schemas.microsoft.com/office/drawing/2014/main" id="{D3AE12C4-9EF1-7A12-C3C1-9AA1905FDEB7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pPr algn="l"/>
            <a:r>
              <a:rPr lang="ko-KR" altLang="en-US"/>
              <a:t>노훈철</a:t>
            </a:r>
            <a:endParaRPr lang="en-US" altLang="ko-KR"/>
          </a:p>
          <a:p>
            <a:pPr algn="l"/>
            <a:r>
              <a:rPr lang="en-US" altLang="ko-KR"/>
              <a:t>Tel. 010 - 2365 - 6395</a:t>
            </a:r>
          </a:p>
          <a:p>
            <a:pPr algn="l"/>
            <a:r>
              <a:rPr lang="en-US" altLang="ko-KR"/>
              <a:t>Email : nohc2001@naver.com</a:t>
            </a:r>
            <a:endParaRPr lang="ko-KR" altLang="en-US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FB8A15A5-00FF-8A04-B91A-1FEAF6EF23BF}"/>
              </a:ext>
            </a:extLst>
          </p:cNvPr>
          <p:cNvSpPr txBox="1"/>
          <p:nvPr/>
        </p:nvSpPr>
        <p:spPr>
          <a:xfrm>
            <a:off x="92365" y="6253017"/>
            <a:ext cx="5317481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o-KR" altLang="en-US" sz="1400" dirty="0"/>
              <a:t>본 문서의 저작자는 </a:t>
            </a:r>
            <a:endParaRPr lang="en-US" altLang="ko-KR" sz="1400" dirty="0"/>
          </a:p>
          <a:p>
            <a:r>
              <a:rPr lang="en-US" altLang="ko-KR" sz="1400" dirty="0"/>
              <a:t>AI</a:t>
            </a:r>
            <a:r>
              <a:rPr lang="ko-KR" altLang="en-US" sz="1400" dirty="0"/>
              <a:t>를 통해 해당 문서를 읽거나 </a:t>
            </a:r>
            <a:r>
              <a:rPr lang="ko-KR" altLang="en-US" sz="1400" dirty="0" err="1"/>
              <a:t>학습하는것을</a:t>
            </a:r>
            <a:r>
              <a:rPr lang="ko-KR" altLang="en-US" sz="1400" dirty="0"/>
              <a:t> 금지하고 있습니다</a:t>
            </a:r>
            <a:r>
              <a:rPr lang="en-US" altLang="ko-KR" sz="1400" dirty="0"/>
              <a:t>.</a:t>
            </a:r>
            <a:endParaRPr lang="ko-KR" altLang="en-US" sz="1400" dirty="0"/>
          </a:p>
        </p:txBody>
      </p:sp>
    </p:spTree>
    <p:extLst>
      <p:ext uri="{BB962C8B-B14F-4D97-AF65-F5344CB8AC3E}">
        <p14:creationId xmlns:p14="http://schemas.microsoft.com/office/powerpoint/2010/main" val="3393949237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D26D6B3B-B109-9C32-F999-9819ABB56D8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소개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69DC098E-40EA-B32C-1F87-49DE8650D89E}"/>
              </a:ext>
            </a:extLst>
          </p:cNvPr>
          <p:cNvSpPr txBox="1"/>
          <p:nvPr/>
        </p:nvSpPr>
        <p:spPr>
          <a:xfrm>
            <a:off x="838200" y="4704755"/>
            <a:ext cx="2600392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o-KR" altLang="en-US"/>
              <a:t>노훈철</a:t>
            </a:r>
            <a:r>
              <a:rPr lang="en-US" altLang="ko-KR"/>
              <a:t> / No hun Cheul</a:t>
            </a:r>
          </a:p>
          <a:p>
            <a:r>
              <a:rPr lang="ko-KR" altLang="en-US"/>
              <a:t>예술가</a:t>
            </a:r>
            <a:endParaRPr lang="en-US" altLang="ko-KR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684BB018-E809-3420-1891-06AB68C4CE01}"/>
              </a:ext>
            </a:extLst>
          </p:cNvPr>
          <p:cNvSpPr txBox="1"/>
          <p:nvPr/>
        </p:nvSpPr>
        <p:spPr>
          <a:xfrm>
            <a:off x="4705350" y="1506022"/>
            <a:ext cx="5888150" cy="286232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o-KR" altLang="en-US" dirty="0"/>
              <a:t>프로필</a:t>
            </a:r>
            <a:endParaRPr lang="en-US" altLang="ko-KR" dirty="0"/>
          </a:p>
          <a:p>
            <a:endParaRPr lang="en-US" altLang="ko-KR" dirty="0"/>
          </a:p>
          <a:p>
            <a:r>
              <a:rPr lang="ko-KR" altLang="en-US" dirty="0"/>
              <a:t>생년월일</a:t>
            </a:r>
            <a:r>
              <a:rPr lang="en-US" altLang="ko-KR" dirty="0"/>
              <a:t>	2001.06.18</a:t>
            </a:r>
          </a:p>
          <a:p>
            <a:r>
              <a:rPr lang="ko-KR" altLang="en-US" dirty="0"/>
              <a:t>연락처</a:t>
            </a:r>
            <a:r>
              <a:rPr lang="en-US" altLang="ko-KR" dirty="0"/>
              <a:t>		010-2365-6395</a:t>
            </a:r>
          </a:p>
          <a:p>
            <a:r>
              <a:rPr lang="ko-KR" altLang="en-US" dirty="0"/>
              <a:t>메일</a:t>
            </a:r>
            <a:r>
              <a:rPr lang="en-US" altLang="ko-KR" dirty="0"/>
              <a:t>		nohc2001@naver.com</a:t>
            </a:r>
          </a:p>
          <a:p>
            <a:r>
              <a:rPr lang="ko-KR" altLang="en-US" dirty="0"/>
              <a:t>주소</a:t>
            </a:r>
            <a:r>
              <a:rPr lang="en-US" altLang="ko-KR" dirty="0"/>
              <a:t>		</a:t>
            </a:r>
            <a:r>
              <a:rPr lang="ko-KR" altLang="en-US" dirty="0"/>
              <a:t>대전광역시</a:t>
            </a:r>
            <a:endParaRPr lang="en-US" altLang="ko-KR" dirty="0"/>
          </a:p>
          <a:p>
            <a:endParaRPr lang="en-US" altLang="ko-KR" dirty="0"/>
          </a:p>
          <a:p>
            <a:r>
              <a:rPr lang="ko-KR" altLang="en-US" dirty="0"/>
              <a:t>최종학력</a:t>
            </a:r>
            <a:endParaRPr lang="en-US" altLang="ko-KR" dirty="0"/>
          </a:p>
          <a:p>
            <a:r>
              <a:rPr lang="en-US" altLang="ko-KR" dirty="0"/>
              <a:t>2020.02		</a:t>
            </a:r>
            <a:r>
              <a:rPr lang="ko-KR" altLang="en-US" dirty="0"/>
              <a:t>대전광역시 </a:t>
            </a:r>
            <a:r>
              <a:rPr lang="ko-KR" altLang="en-US" dirty="0" err="1"/>
              <a:t>노은고등학교</a:t>
            </a:r>
            <a:r>
              <a:rPr lang="ko-KR" altLang="en-US" dirty="0"/>
              <a:t> 졸업</a:t>
            </a:r>
            <a:endParaRPr lang="en-US" altLang="ko-KR" dirty="0"/>
          </a:p>
          <a:p>
            <a:r>
              <a:rPr lang="en-US" altLang="ko-KR" dirty="0"/>
              <a:t>2027.02		</a:t>
            </a:r>
            <a:r>
              <a:rPr lang="ko-KR" altLang="en-US" dirty="0"/>
              <a:t>한국공학대학교 게임공학과 졸업예정</a:t>
            </a:r>
            <a:endParaRPr lang="en-US" altLang="ko-KR" dirty="0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A6E398A3-578C-D7A7-9CAD-5388A5A71592}"/>
              </a:ext>
            </a:extLst>
          </p:cNvPr>
          <p:cNvSpPr txBox="1"/>
          <p:nvPr/>
        </p:nvSpPr>
        <p:spPr>
          <a:xfrm>
            <a:off x="4705350" y="4587359"/>
            <a:ext cx="2378985" cy="203132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o-KR" altLang="en-US" dirty="0"/>
              <a:t>기술</a:t>
            </a:r>
            <a:endParaRPr lang="en-US" altLang="ko-KR" dirty="0"/>
          </a:p>
          <a:p>
            <a:endParaRPr lang="en-US" altLang="ko-KR" dirty="0"/>
          </a:p>
          <a:p>
            <a:r>
              <a:rPr lang="en-US" altLang="ko-KR" dirty="0"/>
              <a:t>C/C++20</a:t>
            </a:r>
          </a:p>
          <a:p>
            <a:r>
              <a:rPr lang="en-US" altLang="ko-KR" dirty="0"/>
              <a:t>Unity/C#</a:t>
            </a:r>
          </a:p>
          <a:p>
            <a:r>
              <a:rPr lang="en-US" altLang="ko-KR" dirty="0"/>
              <a:t>DirectX12/PIX</a:t>
            </a:r>
          </a:p>
          <a:p>
            <a:r>
              <a:rPr lang="en-US" altLang="ko-KR" dirty="0"/>
              <a:t>Socket Programming</a:t>
            </a:r>
          </a:p>
          <a:p>
            <a:r>
              <a:rPr lang="en-US" altLang="ko-KR" dirty="0"/>
              <a:t>FL Studio/</a:t>
            </a:r>
            <a:r>
              <a:rPr lang="en-US" altLang="ko-KR" dirty="0" err="1"/>
              <a:t>Auducity</a:t>
            </a:r>
            <a:endParaRPr lang="en-US" altLang="ko-KR" dirty="0"/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F284BF7A-1CA5-2007-79B8-372444D1CB53}"/>
              </a:ext>
            </a:extLst>
          </p:cNvPr>
          <p:cNvSpPr txBox="1"/>
          <p:nvPr/>
        </p:nvSpPr>
        <p:spPr>
          <a:xfrm>
            <a:off x="8254704" y="4587359"/>
            <a:ext cx="3758850" cy="1138773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o-KR" altLang="en-US" dirty="0"/>
              <a:t>수상</a:t>
            </a:r>
            <a:endParaRPr lang="en-US" altLang="ko-KR" dirty="0"/>
          </a:p>
          <a:p>
            <a:endParaRPr lang="en-US" altLang="ko-KR" dirty="0"/>
          </a:p>
          <a:p>
            <a:r>
              <a:rPr lang="en-US" altLang="ko-KR" sz="1600" dirty="0"/>
              <a:t>2022 </a:t>
            </a:r>
            <a:r>
              <a:rPr lang="ko-KR" altLang="en-US" sz="1600" dirty="0"/>
              <a:t>한국공학대학교 </a:t>
            </a:r>
            <a:r>
              <a:rPr lang="ko-KR" altLang="en-US" sz="1600" dirty="0" err="1"/>
              <a:t>과제전</a:t>
            </a:r>
            <a:r>
              <a:rPr lang="ko-KR" altLang="en-US" sz="1600" dirty="0"/>
              <a:t> 준우승</a:t>
            </a:r>
            <a:endParaRPr lang="en-US" altLang="ko-KR" sz="1600" dirty="0"/>
          </a:p>
          <a:p>
            <a:r>
              <a:rPr lang="en-US" altLang="ko-KR" sz="1600" dirty="0"/>
              <a:t>(</a:t>
            </a:r>
            <a:r>
              <a:rPr lang="ko-KR" altLang="en-US" sz="1600" dirty="0"/>
              <a:t>윈도우 프로그래밍 기말과제 </a:t>
            </a:r>
            <a:r>
              <a:rPr lang="en-US" altLang="ko-KR" sz="1600" dirty="0" err="1"/>
              <a:t>Otornait</a:t>
            </a:r>
            <a:r>
              <a:rPr lang="en-US" altLang="ko-KR" sz="1600" dirty="0"/>
              <a:t>)</a:t>
            </a:r>
          </a:p>
        </p:txBody>
      </p:sp>
      <p:pic>
        <p:nvPicPr>
          <p:cNvPr id="12" name="그림 11">
            <a:extLst>
              <a:ext uri="{FF2B5EF4-FFF2-40B4-BE49-F238E27FC236}">
                <a16:creationId xmlns:a16="http://schemas.microsoft.com/office/drawing/2014/main" id="{865385B2-6002-DFD3-F901-13F39249219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80534" y="1573081"/>
            <a:ext cx="2426080" cy="287663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808941541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73E3F099-0824-2A1E-8299-9505B059ED7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프로젝트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36E9B868-4E8C-B7A1-0686-4DD2F1A66C7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562351"/>
            <a:ext cx="10515600" cy="4802187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US" altLang="ko-KR" sz="2000"/>
              <a:t>1. </a:t>
            </a:r>
            <a:r>
              <a:rPr lang="ko-KR" altLang="en-US" sz="2000"/>
              <a:t>개발</a:t>
            </a:r>
            <a:endParaRPr lang="en-US" altLang="ko-KR" sz="2000"/>
          </a:p>
          <a:p>
            <a:pPr marL="0" indent="0">
              <a:buNone/>
            </a:pPr>
            <a:r>
              <a:rPr lang="en-US" altLang="ko-KR" sz="2000"/>
              <a:t>	1. PulseCity (</a:t>
            </a:r>
            <a:r>
              <a:rPr lang="ko-KR" altLang="en-US" sz="2000"/>
              <a:t>게임공학과 졸업작품</a:t>
            </a:r>
            <a:r>
              <a:rPr lang="en-US" altLang="ko-KR" sz="2000"/>
              <a:t>)</a:t>
            </a:r>
          </a:p>
          <a:p>
            <a:pPr marL="0" indent="0">
              <a:buNone/>
            </a:pPr>
            <a:r>
              <a:rPr lang="en-US" altLang="ko-KR" sz="2000"/>
              <a:t>	2. Otornait (</a:t>
            </a:r>
            <a:r>
              <a:rPr lang="ko-KR" altLang="en-US" sz="2000"/>
              <a:t>윈도우 프로그래밍 기말과제</a:t>
            </a:r>
            <a:r>
              <a:rPr lang="en-US" altLang="ko-KR" sz="2000"/>
              <a:t>, </a:t>
            </a:r>
            <a:r>
              <a:rPr lang="ko-KR" altLang="en-US" sz="2000"/>
              <a:t>교내 과제전 </a:t>
            </a:r>
            <a:r>
              <a:rPr lang="en-US" altLang="ko-KR" sz="2000"/>
              <a:t>2</a:t>
            </a:r>
            <a:r>
              <a:rPr lang="ko-KR" altLang="en-US" sz="2000"/>
              <a:t>등 수상</a:t>
            </a:r>
            <a:r>
              <a:rPr lang="en-US" altLang="ko-KR" sz="2000"/>
              <a:t>)</a:t>
            </a:r>
          </a:p>
          <a:p>
            <a:pPr marL="0" indent="0">
              <a:buNone/>
            </a:pPr>
            <a:r>
              <a:rPr lang="en-US" altLang="ko-KR" sz="2000"/>
              <a:t>	3. </a:t>
            </a:r>
            <a:r>
              <a:rPr lang="ko-KR" altLang="en-US" sz="2000"/>
              <a:t>그래픽스 기말과제 </a:t>
            </a:r>
            <a:r>
              <a:rPr lang="en-US" altLang="ko-KR" sz="2000"/>
              <a:t>(</a:t>
            </a:r>
            <a:r>
              <a:rPr lang="ko-KR" altLang="en-US" sz="2000"/>
              <a:t>게임그래픽스 기말과제</a:t>
            </a:r>
            <a:r>
              <a:rPr lang="en-US" altLang="ko-KR" sz="2000"/>
              <a:t>)</a:t>
            </a:r>
          </a:p>
          <a:p>
            <a:pPr marL="0" indent="0">
              <a:buNone/>
            </a:pPr>
            <a:r>
              <a:rPr lang="en-US" altLang="ko-KR" sz="2000"/>
              <a:t>2. </a:t>
            </a:r>
            <a:r>
              <a:rPr lang="ko-KR" altLang="en-US" sz="2000"/>
              <a:t>기획</a:t>
            </a:r>
            <a:endParaRPr lang="en-US" altLang="ko-KR" sz="2000"/>
          </a:p>
          <a:p>
            <a:pPr marL="0" indent="0">
              <a:buNone/>
            </a:pPr>
            <a:r>
              <a:rPr lang="en-US" altLang="ko-KR" sz="2000"/>
              <a:t>	1. GMTK </a:t>
            </a:r>
            <a:r>
              <a:rPr lang="ko-KR" altLang="en-US" sz="2000"/>
              <a:t>게임잼 참여</a:t>
            </a:r>
            <a:endParaRPr lang="en-US" altLang="ko-KR" sz="2000"/>
          </a:p>
          <a:p>
            <a:pPr marL="0" indent="0">
              <a:buNone/>
            </a:pPr>
            <a:r>
              <a:rPr lang="en-US" altLang="ko-KR" sz="2000"/>
              <a:t>		1. Inverse</a:t>
            </a:r>
            <a:r>
              <a:rPr lang="ko-KR" altLang="en-US" sz="2000"/>
              <a:t> </a:t>
            </a:r>
            <a:r>
              <a:rPr lang="en-US" altLang="ko-KR" sz="2000"/>
              <a:t>Proportion</a:t>
            </a:r>
          </a:p>
          <a:p>
            <a:pPr marL="0" indent="0">
              <a:buNone/>
            </a:pPr>
            <a:r>
              <a:rPr lang="en-US" altLang="ko-KR" sz="2000"/>
              <a:t>		2. God Choice</a:t>
            </a:r>
          </a:p>
          <a:p>
            <a:pPr marL="0" indent="0">
              <a:buNone/>
            </a:pPr>
            <a:r>
              <a:rPr lang="en-US" altLang="ko-KR" sz="2000"/>
              <a:t>	</a:t>
            </a:r>
          </a:p>
        </p:txBody>
      </p:sp>
    </p:spTree>
    <p:extLst>
      <p:ext uri="{BB962C8B-B14F-4D97-AF65-F5344CB8AC3E}">
        <p14:creationId xmlns:p14="http://schemas.microsoft.com/office/powerpoint/2010/main" val="4261130810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D272D462-C573-C46F-5AD0-83B11613E8C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/>
              <a:t>Pulse</a:t>
            </a:r>
            <a:r>
              <a:rPr lang="ko-KR" altLang="en-US"/>
              <a:t> </a:t>
            </a:r>
            <a:r>
              <a:rPr lang="en-US" altLang="ko-KR"/>
              <a:t>City</a:t>
            </a:r>
            <a:endParaRPr lang="ko-KR" altLang="en-US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84E6C90E-9845-4D7E-EB24-2910163EAEEC}"/>
              </a:ext>
            </a:extLst>
          </p:cNvPr>
          <p:cNvSpPr txBox="1"/>
          <p:nvPr/>
        </p:nvSpPr>
        <p:spPr>
          <a:xfrm>
            <a:off x="838200" y="1353804"/>
            <a:ext cx="7785100" cy="461664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600" dirty="0"/>
              <a:t>프로젝트 이름 </a:t>
            </a:r>
            <a:r>
              <a:rPr lang="en-US" altLang="ko-KR" sz="1600" dirty="0"/>
              <a:t>: Pulse City</a:t>
            </a:r>
          </a:p>
          <a:p>
            <a:r>
              <a:rPr lang="ko-KR" altLang="en-US" sz="1600" dirty="0"/>
              <a:t>장르 </a:t>
            </a:r>
            <a:r>
              <a:rPr lang="en-US" altLang="ko-KR" sz="1600" dirty="0"/>
              <a:t>: </a:t>
            </a:r>
            <a:r>
              <a:rPr lang="ko-KR" altLang="en-US" sz="1600" dirty="0"/>
              <a:t>멀티플레이 </a:t>
            </a:r>
            <a:r>
              <a:rPr lang="en-US" altLang="ko-KR" sz="1600" dirty="0"/>
              <a:t>FPS RPG</a:t>
            </a:r>
          </a:p>
          <a:p>
            <a:r>
              <a:rPr lang="ko-KR" altLang="en-US" sz="1600" dirty="0"/>
              <a:t>개발인원 </a:t>
            </a:r>
            <a:r>
              <a:rPr lang="en-US" altLang="ko-KR" sz="1600" dirty="0"/>
              <a:t>: 3</a:t>
            </a:r>
            <a:r>
              <a:rPr lang="ko-KR" altLang="en-US" sz="1600" dirty="0"/>
              <a:t>명 </a:t>
            </a:r>
            <a:r>
              <a:rPr lang="en-US" altLang="ko-KR" sz="1600" dirty="0"/>
              <a:t>/ </a:t>
            </a:r>
            <a:r>
              <a:rPr lang="ko-KR" altLang="en-US" sz="1600" dirty="0"/>
              <a:t>개발 기간 </a:t>
            </a:r>
            <a:r>
              <a:rPr lang="en-US" altLang="ko-KR" sz="1600" dirty="0"/>
              <a:t>(2025-06-12 ~ 2026-06-22)</a:t>
            </a:r>
          </a:p>
          <a:p>
            <a:r>
              <a:rPr lang="ko-KR" altLang="en-US" sz="1600" dirty="0"/>
              <a:t>개발 환경 </a:t>
            </a:r>
            <a:r>
              <a:rPr lang="en-US" altLang="ko-KR" sz="1600" dirty="0"/>
              <a:t>: </a:t>
            </a:r>
          </a:p>
          <a:p>
            <a:r>
              <a:rPr lang="en-US" altLang="ko-KR" sz="1600" dirty="0"/>
              <a:t>	</a:t>
            </a:r>
            <a:r>
              <a:rPr lang="en-US" altLang="ko-KR" sz="1400" dirty="0"/>
              <a:t>IDE/Debugger : VisualStudio2022, PIX(GPU</a:t>
            </a:r>
            <a:r>
              <a:rPr lang="ko-KR" altLang="en-US" sz="1400" dirty="0"/>
              <a:t> 디버깅</a:t>
            </a:r>
            <a:r>
              <a:rPr lang="en-US" altLang="ko-KR" sz="1400" dirty="0"/>
              <a:t>)</a:t>
            </a:r>
          </a:p>
          <a:p>
            <a:r>
              <a:rPr lang="en-US" altLang="ko-KR" sz="1400" dirty="0"/>
              <a:t>	Language : C++20</a:t>
            </a:r>
          </a:p>
          <a:p>
            <a:r>
              <a:rPr lang="en-US" altLang="ko-KR" sz="1400" dirty="0"/>
              <a:t>	System API : Windows API, DXGI</a:t>
            </a:r>
          </a:p>
          <a:p>
            <a:r>
              <a:rPr lang="en-US" altLang="ko-KR" sz="1400" dirty="0"/>
              <a:t>	Rendering : DirectX 12 Raster/Raytracing, </a:t>
            </a:r>
            <a:r>
              <a:rPr lang="en-US" altLang="ko-KR" sz="1400" dirty="0" err="1"/>
              <a:t>hlsl</a:t>
            </a:r>
            <a:endParaRPr lang="en-US" altLang="ko-KR" sz="1400" dirty="0"/>
          </a:p>
          <a:p>
            <a:r>
              <a:rPr lang="en-US" altLang="ko-KR" sz="1400" dirty="0"/>
              <a:t>	</a:t>
            </a:r>
            <a:r>
              <a:rPr lang="en-US" altLang="ko-KR" sz="1400" dirty="0" err="1"/>
              <a:t>GameData</a:t>
            </a:r>
            <a:r>
              <a:rPr lang="en-US" altLang="ko-KR" sz="1400" dirty="0"/>
              <a:t> Making : Unity + C#, Blender</a:t>
            </a:r>
          </a:p>
          <a:p>
            <a:r>
              <a:rPr lang="en-US" altLang="ko-KR" sz="1400" dirty="0"/>
              <a:t>	</a:t>
            </a:r>
            <a:r>
              <a:rPr lang="en-US" altLang="ko-KR" sz="1400" dirty="0" err="1"/>
              <a:t>GameData</a:t>
            </a:r>
            <a:r>
              <a:rPr lang="en-US" altLang="ko-KR" sz="1400" dirty="0"/>
              <a:t> Finding : </a:t>
            </a:r>
            <a:r>
              <a:rPr lang="en-US" altLang="ko-KR" sz="1400" dirty="0" err="1"/>
              <a:t>SketchFab</a:t>
            </a:r>
            <a:r>
              <a:rPr lang="en-US" altLang="ko-KR" sz="1400" dirty="0"/>
              <a:t>, </a:t>
            </a:r>
            <a:r>
              <a:rPr lang="en-US" altLang="ko-KR" sz="1400" dirty="0" err="1"/>
              <a:t>AmbientPBR</a:t>
            </a:r>
            <a:r>
              <a:rPr lang="en-US" altLang="ko-KR" sz="1400" dirty="0"/>
              <a:t>, </a:t>
            </a:r>
            <a:r>
              <a:rPr lang="en-US" altLang="ko-KR" sz="1400" dirty="0" err="1"/>
              <a:t>cgtrader</a:t>
            </a:r>
            <a:endParaRPr lang="en-US" altLang="ko-KR" sz="1400" dirty="0"/>
          </a:p>
          <a:p>
            <a:r>
              <a:rPr lang="en-US" altLang="ko-KR" sz="1400" dirty="0"/>
              <a:t>	TTF</a:t>
            </a:r>
            <a:r>
              <a:rPr lang="ko-KR" altLang="en-US" sz="1400" dirty="0"/>
              <a:t> </a:t>
            </a:r>
            <a:r>
              <a:rPr lang="en-US" altLang="ko-KR" sz="1400" dirty="0"/>
              <a:t>Parsing</a:t>
            </a:r>
            <a:r>
              <a:rPr lang="ko-KR" altLang="en-US" sz="1400" dirty="0"/>
              <a:t> </a:t>
            </a:r>
            <a:r>
              <a:rPr lang="en-US" altLang="ko-KR" sz="1400" dirty="0"/>
              <a:t>:</a:t>
            </a:r>
            <a:r>
              <a:rPr lang="ko-KR" altLang="en-US" sz="1400" dirty="0"/>
              <a:t> </a:t>
            </a:r>
            <a:r>
              <a:rPr lang="en-US" altLang="ko-KR" sz="1400" dirty="0" err="1"/>
              <a:t>ttfParser.h</a:t>
            </a:r>
            <a:r>
              <a:rPr lang="en-US" altLang="ko-KR" sz="1400" dirty="0"/>
              <a:t> (https://github.com/kv01/ttf-parser)</a:t>
            </a:r>
          </a:p>
          <a:p>
            <a:r>
              <a:rPr lang="en-US" altLang="ko-KR" sz="1400" dirty="0"/>
              <a:t>	Sound : Window WASAPI</a:t>
            </a:r>
          </a:p>
          <a:p>
            <a:r>
              <a:rPr lang="en-US" altLang="ko-KR" sz="1400" dirty="0"/>
              <a:t>	AI </a:t>
            </a:r>
            <a:r>
              <a:rPr lang="ko-KR" altLang="en-US" sz="1400" dirty="0"/>
              <a:t>활용 </a:t>
            </a:r>
            <a:r>
              <a:rPr lang="en-US" altLang="ko-KR" sz="1400" dirty="0"/>
              <a:t>: Microsoft </a:t>
            </a:r>
            <a:r>
              <a:rPr lang="en-US" altLang="ko-KR" sz="1400" dirty="0" err="1"/>
              <a:t>Copliot</a:t>
            </a:r>
            <a:r>
              <a:rPr lang="en-US" altLang="ko-KR" sz="1400" dirty="0"/>
              <a:t> + Gemini 4.5</a:t>
            </a:r>
          </a:p>
          <a:p>
            <a:r>
              <a:rPr lang="en-US" altLang="ko-KR" sz="1600" dirty="0"/>
              <a:t>	</a:t>
            </a:r>
          </a:p>
          <a:p>
            <a:r>
              <a:rPr lang="ko-KR" altLang="en-US" sz="1600" dirty="0"/>
              <a:t>본인이 </a:t>
            </a:r>
            <a:r>
              <a:rPr lang="ko-KR" altLang="en-US" sz="1600" dirty="0" err="1"/>
              <a:t>당담한</a:t>
            </a:r>
            <a:r>
              <a:rPr lang="ko-KR" altLang="en-US" sz="1600" dirty="0"/>
              <a:t> 역할 </a:t>
            </a:r>
            <a:r>
              <a:rPr lang="en-US" altLang="ko-KR" sz="1600" dirty="0"/>
              <a:t>/ </a:t>
            </a:r>
            <a:r>
              <a:rPr lang="ko-KR" altLang="en-US" sz="1600" dirty="0"/>
              <a:t>수행한 과제 요약</a:t>
            </a:r>
            <a:endParaRPr lang="en-US" altLang="ko-KR" sz="1600" dirty="0"/>
          </a:p>
          <a:p>
            <a:r>
              <a:rPr lang="en-US" altLang="ko-KR" sz="1400" dirty="0"/>
              <a:t>	1. </a:t>
            </a:r>
            <a:r>
              <a:rPr lang="ko-KR" altLang="en-US" sz="1400" dirty="0"/>
              <a:t>유니티 바이너리 </a:t>
            </a:r>
            <a:r>
              <a:rPr lang="ko-KR" altLang="en-US" sz="1400" dirty="0" err="1"/>
              <a:t>익스포터</a:t>
            </a:r>
            <a:r>
              <a:rPr lang="ko-KR" altLang="en-US" sz="1400" dirty="0"/>
              <a:t> 제작</a:t>
            </a:r>
            <a:endParaRPr lang="en-US" altLang="ko-KR" sz="1400" dirty="0"/>
          </a:p>
          <a:p>
            <a:r>
              <a:rPr lang="en-US" altLang="ko-KR" sz="1400" dirty="0"/>
              <a:t>	2. </a:t>
            </a:r>
            <a:r>
              <a:rPr lang="ko-KR" altLang="en-US" sz="1400" dirty="0"/>
              <a:t>서버 프레임워크 제작</a:t>
            </a:r>
            <a:endParaRPr lang="en-US" altLang="ko-KR" sz="1400" dirty="0"/>
          </a:p>
          <a:p>
            <a:r>
              <a:rPr lang="en-US" altLang="ko-KR" sz="1400" dirty="0"/>
              <a:t>	3. </a:t>
            </a:r>
            <a:r>
              <a:rPr lang="ko-KR" altLang="en-US" sz="1400" dirty="0"/>
              <a:t>게임 프레임워크 제작</a:t>
            </a:r>
            <a:endParaRPr lang="en-US" altLang="ko-KR" sz="1400" dirty="0"/>
          </a:p>
          <a:p>
            <a:r>
              <a:rPr lang="en-US" altLang="ko-KR" sz="1400" dirty="0"/>
              <a:t>	4. </a:t>
            </a:r>
            <a:r>
              <a:rPr lang="ko-KR" altLang="en-US" sz="1400" dirty="0"/>
              <a:t>렌더링 파이프라인 제작</a:t>
            </a:r>
            <a:endParaRPr lang="en-US" altLang="ko-KR" sz="1400" dirty="0"/>
          </a:p>
          <a:p>
            <a:r>
              <a:rPr lang="en-US" altLang="ko-KR" sz="1400" dirty="0"/>
              <a:t>	5. </a:t>
            </a:r>
            <a:r>
              <a:rPr lang="ko-KR" altLang="en-US" sz="1400" dirty="0" err="1"/>
              <a:t>레이트레이싱</a:t>
            </a:r>
            <a:r>
              <a:rPr lang="ko-KR" altLang="en-US" sz="1400" dirty="0"/>
              <a:t> 구현</a:t>
            </a:r>
            <a:endParaRPr lang="en-US" altLang="ko-KR" sz="1400" dirty="0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4EC605F4-3198-5900-9408-3A8C1ED8B521}"/>
              </a:ext>
            </a:extLst>
          </p:cNvPr>
          <p:cNvSpPr txBox="1"/>
          <p:nvPr/>
        </p:nvSpPr>
        <p:spPr>
          <a:xfrm>
            <a:off x="0" y="15544"/>
            <a:ext cx="134620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ko-KR" altLang="en-US" b="1"/>
              <a:t>개발영역</a:t>
            </a:r>
            <a:endParaRPr lang="en-US" altLang="ko-KR" b="1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F2160205-0536-AD37-4A7D-64B3F0096577}"/>
              </a:ext>
            </a:extLst>
          </p:cNvPr>
          <p:cNvSpPr txBox="1"/>
          <p:nvPr/>
        </p:nvSpPr>
        <p:spPr>
          <a:xfrm>
            <a:off x="8289636" y="852522"/>
            <a:ext cx="3542145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ko-KR" altLang="en-US"/>
              <a:t>플레이 및 소개영상</a:t>
            </a:r>
            <a:r>
              <a:rPr lang="en-US" altLang="ko-KR">
                <a:hlinkClick r:id="rId2"/>
              </a:rPr>
              <a:t>https://youtu.be/kb8ucLNXPk4</a:t>
            </a:r>
            <a:endParaRPr lang="en-US" altLang="ko-KR"/>
          </a:p>
        </p:txBody>
      </p:sp>
      <p:sp>
        <p:nvSpPr>
          <p:cNvPr id="3" name="직사각형 2">
            <a:extLst>
              <a:ext uri="{FF2B5EF4-FFF2-40B4-BE49-F238E27FC236}">
                <a16:creationId xmlns:a16="http://schemas.microsoft.com/office/drawing/2014/main" id="{99D4F91A-E2C4-0AEB-FBC2-E30CDEBE4478}"/>
              </a:ext>
            </a:extLst>
          </p:cNvPr>
          <p:cNvSpPr/>
          <p:nvPr/>
        </p:nvSpPr>
        <p:spPr>
          <a:xfrm>
            <a:off x="7158182" y="3149600"/>
            <a:ext cx="4276436" cy="2724727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/>
              <a:t>게임 스샷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93783E5F-29E1-B8DD-7B3E-8657D767B177}"/>
              </a:ext>
            </a:extLst>
          </p:cNvPr>
          <p:cNvSpPr txBox="1"/>
          <p:nvPr/>
        </p:nvSpPr>
        <p:spPr>
          <a:xfrm>
            <a:off x="6716151" y="1602149"/>
            <a:ext cx="5053118" cy="1077218"/>
          </a:xfrm>
          <a:prstGeom prst="rect">
            <a:avLst/>
          </a:prstGeom>
          <a:noFill/>
          <a:ln>
            <a:solidFill>
              <a:schemeClr val="accent1"/>
            </a:solidFill>
          </a:ln>
        </p:spPr>
        <p:txBody>
          <a:bodyPr wrap="square" rtlCol="0">
            <a:spAutoFit/>
          </a:bodyPr>
          <a:lstStyle/>
          <a:p>
            <a:r>
              <a:rPr lang="ko-KR" altLang="en-US" sz="1600" dirty="0">
                <a:solidFill>
                  <a:srgbClr val="FF0000"/>
                </a:solidFill>
              </a:rPr>
              <a:t>가로등의 </a:t>
            </a:r>
            <a:r>
              <a:rPr lang="ko-KR" altLang="en-US" sz="1600" dirty="0" err="1">
                <a:solidFill>
                  <a:srgbClr val="FF0000"/>
                </a:solidFill>
              </a:rPr>
              <a:t>욱일기</a:t>
            </a:r>
            <a:r>
              <a:rPr lang="ko-KR" altLang="en-US" sz="1600" dirty="0">
                <a:solidFill>
                  <a:srgbClr val="FF0000"/>
                </a:solidFill>
              </a:rPr>
              <a:t> 그림자는 좀 수정할 것</a:t>
            </a:r>
            <a:r>
              <a:rPr lang="en-US" altLang="ko-KR" sz="1600" dirty="0">
                <a:solidFill>
                  <a:srgbClr val="FF0000"/>
                </a:solidFill>
              </a:rPr>
              <a:t>, (</a:t>
            </a:r>
            <a:r>
              <a:rPr lang="ko-KR" altLang="en-US" sz="1600" dirty="0">
                <a:solidFill>
                  <a:srgbClr val="FF0000"/>
                </a:solidFill>
              </a:rPr>
              <a:t>대낮에 가로등 그림자가 그렇게 진하면 안됨</a:t>
            </a:r>
            <a:r>
              <a:rPr lang="en-US" altLang="ko-KR" sz="1600" dirty="0">
                <a:solidFill>
                  <a:srgbClr val="FF0000"/>
                </a:solidFill>
              </a:rPr>
              <a:t>)</a:t>
            </a:r>
          </a:p>
          <a:p>
            <a:r>
              <a:rPr lang="ko-KR" altLang="en-US" sz="1600" dirty="0">
                <a:solidFill>
                  <a:srgbClr val="FF0000"/>
                </a:solidFill>
              </a:rPr>
              <a:t>그림자 안쪽은 아예 아무런 </a:t>
            </a:r>
            <a:r>
              <a:rPr lang="en-US" altLang="ko-KR" sz="1600" dirty="0">
                <a:solidFill>
                  <a:srgbClr val="FF0000"/>
                </a:solidFill>
              </a:rPr>
              <a:t>shading </a:t>
            </a:r>
            <a:r>
              <a:rPr lang="ko-KR" altLang="en-US" sz="1600" dirty="0">
                <a:solidFill>
                  <a:srgbClr val="FF0000"/>
                </a:solidFill>
              </a:rPr>
              <a:t>이 먹지 않는 버그가 있음</a:t>
            </a:r>
            <a:r>
              <a:rPr lang="en-US" altLang="ko-KR" sz="1600" dirty="0">
                <a:solidFill>
                  <a:srgbClr val="FF0000"/>
                </a:solidFill>
              </a:rPr>
              <a:t>.</a:t>
            </a:r>
          </a:p>
        </p:txBody>
      </p:sp>
    </p:spTree>
    <p:extLst>
      <p:ext uri="{BB962C8B-B14F-4D97-AF65-F5344CB8AC3E}">
        <p14:creationId xmlns:p14="http://schemas.microsoft.com/office/powerpoint/2010/main" val="1560428436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488B3E7-174D-CFEB-5F2F-D65D929A0E2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A128043D-DF74-8837-1C6F-B5967FBC7FD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/>
              <a:t>AI </a:t>
            </a:r>
            <a:r>
              <a:rPr lang="ko-KR" altLang="en-US"/>
              <a:t>사용</a:t>
            </a:r>
          </a:p>
        </p:txBody>
      </p:sp>
      <p:sp>
        <p:nvSpPr>
          <p:cNvPr id="120" name="TextBox 119">
            <a:extLst>
              <a:ext uri="{FF2B5EF4-FFF2-40B4-BE49-F238E27FC236}">
                <a16:creationId xmlns:a16="http://schemas.microsoft.com/office/drawing/2014/main" id="{578876BC-2B09-B31F-F064-2BD54468585D}"/>
              </a:ext>
            </a:extLst>
          </p:cNvPr>
          <p:cNvSpPr txBox="1"/>
          <p:nvPr/>
        </p:nvSpPr>
        <p:spPr>
          <a:xfrm>
            <a:off x="0" y="15544"/>
            <a:ext cx="134620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b="1"/>
              <a:t>PulseCity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498C9594-A949-4D67-4957-148634FEB8A0}"/>
              </a:ext>
            </a:extLst>
          </p:cNvPr>
          <p:cNvSpPr txBox="1"/>
          <p:nvPr/>
        </p:nvSpPr>
        <p:spPr>
          <a:xfrm>
            <a:off x="838201" y="1550864"/>
            <a:ext cx="4826750" cy="403187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dirty="0"/>
              <a:t>사용한 </a:t>
            </a:r>
            <a:r>
              <a:rPr lang="en-US" altLang="ko-KR" dirty="0"/>
              <a:t>AI </a:t>
            </a:r>
            <a:r>
              <a:rPr lang="ko-KR" altLang="en-US" dirty="0"/>
              <a:t>사용 코드</a:t>
            </a:r>
            <a:endParaRPr lang="en-US" altLang="ko-KR" dirty="0"/>
          </a:p>
          <a:p>
            <a:pPr marL="228600" indent="-228600">
              <a:buAutoNum type="arabicPeriod"/>
            </a:pPr>
            <a:r>
              <a:rPr lang="en-US" altLang="ko-KR" sz="1200" b="1" dirty="0"/>
              <a:t>Microsoft Copilot</a:t>
            </a:r>
          </a:p>
          <a:p>
            <a:r>
              <a:rPr lang="en-US" altLang="ko-KR" sz="1100" dirty="0"/>
              <a:t>  </a:t>
            </a:r>
            <a:r>
              <a:rPr lang="ko-KR" altLang="en-US" sz="1100" dirty="0"/>
              <a:t>모니터 해상도 판독 코드</a:t>
            </a:r>
            <a:r>
              <a:rPr lang="en-US" altLang="ko-KR" sz="1100" dirty="0"/>
              <a:t>, DXGI_FORMAT</a:t>
            </a:r>
            <a:r>
              <a:rPr lang="ko-KR" altLang="en-US" sz="1100" dirty="0"/>
              <a:t>에서 픽셀당 메모리크기 를 얻는 코드</a:t>
            </a:r>
            <a:r>
              <a:rPr lang="en-US" altLang="ko-KR" sz="1100" dirty="0"/>
              <a:t>, WM_INPUT</a:t>
            </a:r>
            <a:r>
              <a:rPr lang="ko-KR" altLang="en-US" sz="1100" dirty="0"/>
              <a:t>을 통해 마우스의 </a:t>
            </a:r>
            <a:r>
              <a:rPr lang="en-US" altLang="ko-KR" sz="1100" dirty="0" err="1"/>
              <a:t>DeltaX</a:t>
            </a:r>
            <a:r>
              <a:rPr lang="en-US" altLang="ko-KR" sz="1100" dirty="0"/>
              <a:t>, Delta Y</a:t>
            </a:r>
            <a:r>
              <a:rPr lang="ko-KR" altLang="en-US" sz="1100" dirty="0"/>
              <a:t>를 얻는 </a:t>
            </a:r>
            <a:r>
              <a:rPr lang="ko-KR" altLang="en-US" sz="1100" dirty="0" err="1"/>
              <a:t>코드등</a:t>
            </a:r>
            <a:r>
              <a:rPr lang="ko-KR" altLang="en-US" sz="1100" dirty="0"/>
              <a:t> </a:t>
            </a:r>
            <a:endParaRPr lang="en-US" altLang="ko-KR" sz="1100" dirty="0"/>
          </a:p>
          <a:p>
            <a:r>
              <a:rPr lang="en-US" altLang="ko-KR" sz="1200" b="1" dirty="0"/>
              <a:t>2. Google</a:t>
            </a:r>
            <a:r>
              <a:rPr lang="ko-KR" altLang="en-US" sz="1200" b="1" dirty="0"/>
              <a:t> </a:t>
            </a:r>
            <a:r>
              <a:rPr lang="en-US" altLang="ko-KR" sz="1200" b="1" dirty="0"/>
              <a:t>Gemini</a:t>
            </a:r>
          </a:p>
          <a:p>
            <a:r>
              <a:rPr lang="en-US" altLang="ko-KR" sz="1100" dirty="0"/>
              <a:t>  </a:t>
            </a:r>
            <a:r>
              <a:rPr lang="ko-KR" altLang="en-US" sz="1100" dirty="0" err="1"/>
              <a:t>쿼터니언을</a:t>
            </a:r>
            <a:r>
              <a:rPr lang="ko-KR" altLang="en-US" sz="1100" dirty="0"/>
              <a:t> 통해 벡터를 회전시키는 </a:t>
            </a:r>
            <a:r>
              <a:rPr lang="en-US" altLang="ko-KR" sz="1100" dirty="0" err="1"/>
              <a:t>hlsl</a:t>
            </a:r>
            <a:r>
              <a:rPr lang="en-US" altLang="ko-KR" sz="1100" dirty="0"/>
              <a:t> </a:t>
            </a:r>
            <a:r>
              <a:rPr lang="ko-KR" altLang="en-US" sz="1100" dirty="0"/>
              <a:t>코드</a:t>
            </a:r>
            <a:r>
              <a:rPr lang="en-US" altLang="ko-KR" sz="1100" dirty="0"/>
              <a:t>,</a:t>
            </a:r>
            <a:r>
              <a:rPr lang="ko-KR" altLang="en-US" sz="1100" dirty="0"/>
              <a:t>  </a:t>
            </a:r>
            <a:r>
              <a:rPr lang="en-US" altLang="ko-KR" sz="1100" dirty="0"/>
              <a:t>4</a:t>
            </a:r>
            <a:r>
              <a:rPr lang="ko-KR" altLang="en-US" sz="1100" dirty="0"/>
              <a:t>개의 </a:t>
            </a:r>
            <a:r>
              <a:rPr lang="ko-KR" altLang="en-US" sz="1100" dirty="0" err="1"/>
              <a:t>쿼터니언</a:t>
            </a:r>
            <a:r>
              <a:rPr lang="ko-KR" altLang="en-US" sz="1100" dirty="0"/>
              <a:t> 보간 코드</a:t>
            </a:r>
            <a:r>
              <a:rPr lang="en-US" altLang="ko-KR" sz="1100" dirty="0"/>
              <a:t>, </a:t>
            </a:r>
            <a:r>
              <a:rPr lang="ko-KR" altLang="en-US" sz="1100" dirty="0"/>
              <a:t>벡터를 </a:t>
            </a:r>
            <a:r>
              <a:rPr lang="ko-KR" altLang="en-US" sz="1100" dirty="0" err="1"/>
              <a:t>쿼터니언으로</a:t>
            </a:r>
            <a:r>
              <a:rPr lang="ko-KR" altLang="en-US" sz="1100" dirty="0"/>
              <a:t> 변환하는 </a:t>
            </a:r>
            <a:r>
              <a:rPr lang="en-US" altLang="ko-KR" sz="1100" dirty="0" err="1"/>
              <a:t>hlsl</a:t>
            </a:r>
            <a:r>
              <a:rPr lang="en-US" altLang="ko-KR" sz="1100" dirty="0"/>
              <a:t> </a:t>
            </a:r>
            <a:r>
              <a:rPr lang="ko-KR" altLang="en-US" sz="1100" dirty="0"/>
              <a:t>코드 </a:t>
            </a:r>
            <a:endParaRPr lang="en-US" altLang="ko-KR" sz="1100" dirty="0"/>
          </a:p>
          <a:p>
            <a:endParaRPr lang="en-US" altLang="ko-KR" sz="1200" dirty="0"/>
          </a:p>
          <a:p>
            <a:r>
              <a:rPr lang="en-US" altLang="ko-KR" dirty="0"/>
              <a:t>AI</a:t>
            </a:r>
            <a:r>
              <a:rPr lang="ko-KR" altLang="en-US" dirty="0"/>
              <a:t>를 사용한 방법</a:t>
            </a:r>
            <a:endParaRPr lang="en-US" altLang="ko-KR" dirty="0"/>
          </a:p>
          <a:p>
            <a:pPr marL="228600" indent="-228600">
              <a:buAutoNum type="arabicPeriod"/>
            </a:pPr>
            <a:r>
              <a:rPr lang="ko-KR" altLang="en-US" sz="1200" b="1" dirty="0"/>
              <a:t>그래픽 에러 로그를 번역 시킴</a:t>
            </a:r>
            <a:endParaRPr lang="en-US" altLang="ko-KR" sz="1200" b="1" dirty="0"/>
          </a:p>
          <a:p>
            <a:r>
              <a:rPr lang="en-US" altLang="ko-KR" sz="1100" dirty="0"/>
              <a:t>  </a:t>
            </a:r>
            <a:r>
              <a:rPr lang="ko-KR" altLang="en-US" sz="1100" dirty="0"/>
              <a:t>영어 문장이며</a:t>
            </a:r>
            <a:r>
              <a:rPr lang="en-US" altLang="ko-KR" sz="1100" dirty="0"/>
              <a:t>, </a:t>
            </a:r>
            <a:r>
              <a:rPr lang="ko-KR" altLang="en-US" sz="1100" dirty="0"/>
              <a:t>너무 길고</a:t>
            </a:r>
            <a:r>
              <a:rPr lang="en-US" altLang="ko-KR" sz="1100" dirty="0"/>
              <a:t>, </a:t>
            </a:r>
            <a:r>
              <a:rPr lang="ko-KR" altLang="en-US" sz="1100" dirty="0"/>
              <a:t>부가 설명이 많고</a:t>
            </a:r>
            <a:r>
              <a:rPr lang="en-US" altLang="ko-KR" sz="1100" dirty="0"/>
              <a:t>, ENUM </a:t>
            </a:r>
            <a:r>
              <a:rPr lang="ko-KR" altLang="en-US" sz="1100" dirty="0"/>
              <a:t>표현이 길어서 한눈에 보기가 어려웠음</a:t>
            </a:r>
            <a:r>
              <a:rPr lang="en-US" altLang="ko-KR" sz="1100" dirty="0"/>
              <a:t>.</a:t>
            </a:r>
          </a:p>
          <a:p>
            <a:r>
              <a:rPr lang="en-US" altLang="ko-KR" sz="1200" b="1" dirty="0"/>
              <a:t>2. </a:t>
            </a:r>
            <a:r>
              <a:rPr lang="ko-KR" altLang="en-US" sz="1200" b="1" dirty="0"/>
              <a:t>문제 해결을 위한 해결책의 검색을 지시</a:t>
            </a:r>
            <a:endParaRPr lang="en-US" altLang="ko-KR" sz="1200" b="1" dirty="0"/>
          </a:p>
          <a:p>
            <a:r>
              <a:rPr lang="en-US" altLang="ko-KR" sz="1100" dirty="0"/>
              <a:t> </a:t>
            </a:r>
            <a:r>
              <a:rPr lang="ko-KR" altLang="en-US" sz="1100" dirty="0"/>
              <a:t>이 경우 자신이나 남의 코드를 보여주지 않고</a:t>
            </a:r>
            <a:r>
              <a:rPr lang="en-US" altLang="ko-KR" sz="1100" dirty="0"/>
              <a:t>, </a:t>
            </a:r>
            <a:r>
              <a:rPr lang="ko-KR" altLang="en-US" sz="1100" dirty="0"/>
              <a:t>말로만 검색 혹은 예제 코드 작성 후 설명 </a:t>
            </a:r>
            <a:r>
              <a:rPr lang="en-US" altLang="ko-KR" sz="1100" dirty="0"/>
              <a:t>(</a:t>
            </a:r>
            <a:r>
              <a:rPr lang="ko-KR" altLang="en-US" sz="1100" dirty="0"/>
              <a:t>남의 코드를 보여주지 말라고 당부함</a:t>
            </a:r>
            <a:r>
              <a:rPr lang="en-US" altLang="ko-KR" sz="1100" dirty="0"/>
              <a:t>)</a:t>
            </a:r>
          </a:p>
          <a:p>
            <a:endParaRPr lang="en-US" altLang="ko-KR" dirty="0"/>
          </a:p>
          <a:p>
            <a:r>
              <a:rPr lang="ko-KR" altLang="en-US" dirty="0"/>
              <a:t>다른 팀원이 사용한 </a:t>
            </a:r>
            <a:r>
              <a:rPr lang="en-US" altLang="ko-KR" dirty="0"/>
              <a:t>AI Code.</a:t>
            </a:r>
          </a:p>
          <a:p>
            <a:r>
              <a:rPr lang="en-US" altLang="ko-KR" sz="1200" dirty="0"/>
              <a:t> -</a:t>
            </a:r>
            <a:r>
              <a:rPr lang="ko-KR" altLang="en-US" sz="1200" dirty="0"/>
              <a:t>초반에 </a:t>
            </a:r>
            <a:r>
              <a:rPr lang="en-US" altLang="ko-KR" sz="1200" dirty="0"/>
              <a:t>A* </a:t>
            </a:r>
            <a:r>
              <a:rPr lang="ko-KR" altLang="en-US" sz="1200" dirty="0" err="1"/>
              <a:t>길찾기</a:t>
            </a:r>
            <a:r>
              <a:rPr lang="ko-KR" altLang="en-US" sz="1200" dirty="0"/>
              <a:t> 알고리즘 구현에 </a:t>
            </a:r>
            <a:r>
              <a:rPr lang="en-US" altLang="ko-KR" sz="1200" dirty="0"/>
              <a:t>AI</a:t>
            </a:r>
            <a:r>
              <a:rPr lang="ko-KR" altLang="en-US" sz="1200" dirty="0"/>
              <a:t>활용</a:t>
            </a:r>
            <a:r>
              <a:rPr lang="en-US" altLang="ko-KR" sz="1200" dirty="0"/>
              <a:t>. (</a:t>
            </a:r>
            <a:r>
              <a:rPr lang="ko-KR" altLang="en-US" sz="1200" dirty="0"/>
              <a:t>공간의 한계</a:t>
            </a:r>
            <a:r>
              <a:rPr lang="en-US" altLang="ko-KR" sz="1200" dirty="0"/>
              <a:t>(Grid</a:t>
            </a:r>
            <a:r>
              <a:rPr lang="ko-KR" altLang="en-US" sz="1200" dirty="0"/>
              <a:t>라 </a:t>
            </a:r>
            <a:r>
              <a:rPr lang="en-US" altLang="ko-KR" sz="1200" dirty="0"/>
              <a:t>3</a:t>
            </a:r>
            <a:r>
              <a:rPr lang="ko-KR" altLang="en-US" sz="1200" dirty="0"/>
              <a:t>차원 움직임에 제한</a:t>
            </a:r>
            <a:r>
              <a:rPr lang="en-US" altLang="ko-KR" sz="1200" dirty="0"/>
              <a:t>)</a:t>
            </a:r>
            <a:r>
              <a:rPr lang="ko-KR" altLang="en-US" sz="1200" dirty="0"/>
              <a:t>과 느린 문제 때문에 최종적으로 프로젝트에 포함되지 못함</a:t>
            </a:r>
            <a:r>
              <a:rPr lang="en-US" altLang="ko-KR" sz="1200" dirty="0"/>
              <a:t>.) - </a:t>
            </a:r>
            <a:r>
              <a:rPr lang="en-US" altLang="ko-KR" sz="1200" dirty="0" err="1"/>
              <a:t>c++</a:t>
            </a:r>
            <a:r>
              <a:rPr lang="en-US" altLang="ko-KR" sz="1200" dirty="0"/>
              <a:t> </a:t>
            </a:r>
            <a:r>
              <a:rPr lang="en-US" altLang="ko-KR" sz="1200" dirty="0" err="1"/>
              <a:t>chatgpt</a:t>
            </a:r>
            <a:endParaRPr lang="en-US" altLang="ko-KR" sz="1200" dirty="0"/>
          </a:p>
        </p:txBody>
      </p:sp>
      <p:pic>
        <p:nvPicPr>
          <p:cNvPr id="6" name="그림 5">
            <a:extLst>
              <a:ext uri="{FF2B5EF4-FFF2-40B4-BE49-F238E27FC236}">
                <a16:creationId xmlns:a16="http://schemas.microsoft.com/office/drawing/2014/main" id="{39B66E76-2A69-0D65-26E1-56BCF4813D8D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843561" y="1690688"/>
            <a:ext cx="6099058" cy="4164682"/>
          </a:xfrm>
          <a:prstGeom prst="rect">
            <a:avLst/>
          </a:prstGeom>
          <a:ln w="28575">
            <a:solidFill>
              <a:schemeClr val="tx1"/>
            </a:solidFill>
          </a:ln>
        </p:spPr>
      </p:pic>
      <p:sp>
        <p:nvSpPr>
          <p:cNvPr id="7" name="TextBox 6">
            <a:extLst>
              <a:ext uri="{FF2B5EF4-FFF2-40B4-BE49-F238E27FC236}">
                <a16:creationId xmlns:a16="http://schemas.microsoft.com/office/drawing/2014/main" id="{342EA306-EC89-730C-AD82-C8146291B1D8}"/>
              </a:ext>
            </a:extLst>
          </p:cNvPr>
          <p:cNvSpPr txBox="1"/>
          <p:nvPr/>
        </p:nvSpPr>
        <p:spPr>
          <a:xfrm>
            <a:off x="5843561" y="5825602"/>
            <a:ext cx="5012911" cy="83099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sz="1200" b="1"/>
              <a:t>&lt;</a:t>
            </a:r>
            <a:r>
              <a:rPr lang="ko-KR" altLang="en-US" sz="1200" b="1"/>
              <a:t>우리 코드는 왜 더러운가</a:t>
            </a:r>
            <a:r>
              <a:rPr lang="en-US" altLang="ko-KR" sz="1200" b="1"/>
              <a:t>.pdf </a:t>
            </a:r>
            <a:r>
              <a:rPr lang="ko-KR" altLang="en-US" sz="1200" b="1"/>
              <a:t>중 </a:t>
            </a:r>
            <a:r>
              <a:rPr lang="en-US" altLang="ko-KR" sz="1200" b="1"/>
              <a:t>AI </a:t>
            </a:r>
            <a:r>
              <a:rPr lang="ko-KR" altLang="en-US" sz="1200" b="1"/>
              <a:t>코드를 쓸 때의 가이드라인</a:t>
            </a:r>
            <a:r>
              <a:rPr lang="en-US" altLang="ko-KR" sz="1200" b="1"/>
              <a:t>&gt;</a:t>
            </a:r>
          </a:p>
          <a:p>
            <a:r>
              <a:rPr lang="en-US" altLang="ko-KR" sz="1200"/>
              <a:t>- </a:t>
            </a:r>
            <a:r>
              <a:rPr lang="ko-KR" altLang="en-US" sz="1200"/>
              <a:t>작성했기 때문에 </a:t>
            </a:r>
            <a:r>
              <a:rPr lang="en-US" altLang="ko-KR" sz="1200"/>
              <a:t>AI</a:t>
            </a:r>
            <a:r>
              <a:rPr lang="ko-KR" altLang="en-US" sz="1200"/>
              <a:t>를 나중에 어떤 부분이 </a:t>
            </a:r>
            <a:r>
              <a:rPr lang="en-US" altLang="ko-KR" sz="1200"/>
              <a:t>AI</a:t>
            </a:r>
            <a:r>
              <a:rPr lang="ko-KR" altLang="en-US" sz="1200"/>
              <a:t>를 썼는지 알 수 있었다</a:t>
            </a:r>
            <a:r>
              <a:rPr lang="en-US" altLang="ko-KR" sz="1200"/>
              <a:t>.</a:t>
            </a:r>
          </a:p>
          <a:p>
            <a:r>
              <a:rPr lang="en-US" altLang="ko-KR" sz="1200"/>
              <a:t>- </a:t>
            </a:r>
            <a:r>
              <a:rPr lang="ko-KR" altLang="en-US" sz="1200"/>
              <a:t>다만 다른 팀원이 한 작업 중 이것을 간과하거나 </a:t>
            </a:r>
            <a:endParaRPr lang="en-US" altLang="ko-KR" sz="1200"/>
          </a:p>
          <a:p>
            <a:r>
              <a:rPr lang="en-US" altLang="ko-KR" sz="1200"/>
              <a:t>	</a:t>
            </a:r>
            <a:r>
              <a:rPr lang="ko-KR" altLang="en-US" sz="1200"/>
              <a:t>따르지 않아서 생긴 코드가 있을 수는 있다</a:t>
            </a:r>
            <a:r>
              <a:rPr lang="en-US" altLang="ko-KR" sz="1200"/>
              <a:t>.</a:t>
            </a:r>
          </a:p>
        </p:txBody>
      </p:sp>
      <p:pic>
        <p:nvPicPr>
          <p:cNvPr id="9" name="그림 8">
            <a:extLst>
              <a:ext uri="{FF2B5EF4-FFF2-40B4-BE49-F238E27FC236}">
                <a16:creationId xmlns:a16="http://schemas.microsoft.com/office/drawing/2014/main" id="{738078BE-B476-8642-746B-CC082EC06430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073279" y="571500"/>
            <a:ext cx="2047950" cy="2675480"/>
          </a:xfrm>
          <a:prstGeom prst="rect">
            <a:avLst/>
          </a:prstGeom>
          <a:ln w="31750">
            <a:solidFill>
              <a:schemeClr val="tx1"/>
            </a:solidFill>
          </a:ln>
        </p:spPr>
      </p:pic>
    </p:spTree>
    <p:extLst>
      <p:ext uri="{BB962C8B-B14F-4D97-AF65-F5344CB8AC3E}">
        <p14:creationId xmlns:p14="http://schemas.microsoft.com/office/powerpoint/2010/main" val="3641417152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A9245081-D09D-B38B-3FA9-980F1449C12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유니티 바이너리 익스포터 제작</a:t>
            </a:r>
          </a:p>
        </p:txBody>
      </p:sp>
      <p:sp>
        <p:nvSpPr>
          <p:cNvPr id="110" name="TextBox 109">
            <a:extLst>
              <a:ext uri="{FF2B5EF4-FFF2-40B4-BE49-F238E27FC236}">
                <a16:creationId xmlns:a16="http://schemas.microsoft.com/office/drawing/2014/main" id="{3E06C305-99E5-CE0B-8758-2EED38A395C7}"/>
              </a:ext>
            </a:extLst>
          </p:cNvPr>
          <p:cNvSpPr txBox="1"/>
          <p:nvPr/>
        </p:nvSpPr>
        <p:spPr>
          <a:xfrm>
            <a:off x="177800" y="1386068"/>
            <a:ext cx="11072262" cy="215443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dirty="0"/>
              <a:t>* </a:t>
            </a:r>
            <a:r>
              <a:rPr lang="ko-KR" altLang="en-US" dirty="0"/>
              <a:t>유니티와 </a:t>
            </a:r>
            <a:r>
              <a:rPr lang="en-US" altLang="ko-KR" dirty="0"/>
              <a:t>C# </a:t>
            </a:r>
            <a:r>
              <a:rPr lang="ko-KR" altLang="en-US" dirty="0"/>
              <a:t>스크립트를 활용한 </a:t>
            </a:r>
            <a:r>
              <a:rPr lang="en-US" altLang="ko-KR" dirty="0"/>
              <a:t>[</a:t>
            </a:r>
            <a:r>
              <a:rPr lang="ko-KR" altLang="en-US" dirty="0"/>
              <a:t>맵 </a:t>
            </a:r>
            <a:r>
              <a:rPr lang="en-US" altLang="ko-KR" dirty="0"/>
              <a:t>- </a:t>
            </a:r>
            <a:r>
              <a:rPr lang="ko-KR" altLang="en-US" dirty="0"/>
              <a:t>모델 </a:t>
            </a:r>
            <a:r>
              <a:rPr lang="en-US" altLang="ko-KR" dirty="0"/>
              <a:t>- </a:t>
            </a:r>
            <a:r>
              <a:rPr lang="ko-KR" altLang="en-US" dirty="0" err="1"/>
              <a:t>스킨메쉬</a:t>
            </a:r>
            <a:r>
              <a:rPr lang="ko-KR" altLang="en-US" dirty="0"/>
              <a:t> 포함 모델 </a:t>
            </a:r>
            <a:r>
              <a:rPr lang="en-US" altLang="ko-KR" dirty="0"/>
              <a:t>- </a:t>
            </a:r>
            <a:r>
              <a:rPr lang="ko-KR" altLang="en-US" dirty="0"/>
              <a:t>애니메이션 바이너리 </a:t>
            </a:r>
            <a:r>
              <a:rPr lang="ko-KR" altLang="en-US" dirty="0" err="1"/>
              <a:t>익스포터</a:t>
            </a:r>
            <a:r>
              <a:rPr lang="en-US" altLang="ko-KR" dirty="0"/>
              <a:t>]</a:t>
            </a:r>
            <a:r>
              <a:rPr lang="ko-KR" altLang="en-US" dirty="0"/>
              <a:t> 제작</a:t>
            </a:r>
            <a:r>
              <a:rPr lang="en-US" altLang="ko-KR" dirty="0"/>
              <a:t>.</a:t>
            </a:r>
          </a:p>
          <a:p>
            <a:r>
              <a:rPr lang="en-US" altLang="ko-KR" dirty="0"/>
              <a:t>* </a:t>
            </a:r>
            <a:r>
              <a:rPr lang="en-US" altLang="ko-KR" dirty="0" err="1"/>
              <a:t>c++</a:t>
            </a:r>
            <a:r>
              <a:rPr lang="ko-KR" altLang="en-US" dirty="0"/>
              <a:t>로 바이너리 </a:t>
            </a:r>
            <a:r>
              <a:rPr lang="ko-KR" altLang="en-US" dirty="0" err="1"/>
              <a:t>임포터</a:t>
            </a:r>
            <a:r>
              <a:rPr lang="ko-KR" altLang="en-US" dirty="0"/>
              <a:t> 제작</a:t>
            </a:r>
            <a:r>
              <a:rPr lang="en-US" altLang="ko-KR" dirty="0"/>
              <a:t>.</a:t>
            </a:r>
          </a:p>
          <a:p>
            <a:r>
              <a:rPr lang="en-US" altLang="ko-KR" dirty="0"/>
              <a:t>* </a:t>
            </a:r>
            <a:r>
              <a:rPr lang="ko-KR" altLang="en-US" dirty="0"/>
              <a:t>여러 존과 </a:t>
            </a:r>
            <a:r>
              <a:rPr lang="ko-KR" altLang="en-US" dirty="0" err="1"/>
              <a:t>맵을</a:t>
            </a:r>
            <a:r>
              <a:rPr lang="ko-KR" altLang="en-US" dirty="0"/>
              <a:t> 하나의 </a:t>
            </a:r>
            <a:r>
              <a:rPr lang="en-US" altLang="ko-KR" dirty="0"/>
              <a:t>Scene</a:t>
            </a:r>
            <a:r>
              <a:rPr lang="ko-KR" altLang="en-US" dirty="0"/>
              <a:t>에서 만들어 볼 수 있고</a:t>
            </a:r>
            <a:r>
              <a:rPr lang="en-US" altLang="ko-KR" dirty="0"/>
              <a:t>, </a:t>
            </a:r>
            <a:r>
              <a:rPr lang="ko-KR" altLang="en-US" dirty="0"/>
              <a:t>그래서 자연스럽게 연결되게 할 수 있다</a:t>
            </a:r>
            <a:r>
              <a:rPr lang="en-US" altLang="ko-KR" dirty="0"/>
              <a:t>.</a:t>
            </a:r>
            <a:br>
              <a:rPr lang="en-US" altLang="ko-KR" dirty="0"/>
            </a:br>
            <a:endParaRPr lang="en-US" altLang="ko-KR" dirty="0"/>
          </a:p>
          <a:p>
            <a:r>
              <a:rPr lang="ko-KR" altLang="en-US" dirty="0" err="1"/>
              <a:t>익스포터</a:t>
            </a:r>
            <a:r>
              <a:rPr lang="ko-KR" altLang="en-US" dirty="0"/>
              <a:t> 스크립트뿐 아니라</a:t>
            </a:r>
            <a:r>
              <a:rPr lang="en-US" altLang="ko-KR" dirty="0"/>
              <a:t>, </a:t>
            </a:r>
            <a:r>
              <a:rPr lang="ko-KR" altLang="en-US" dirty="0" err="1"/>
              <a:t>익스포트에</a:t>
            </a:r>
            <a:r>
              <a:rPr lang="ko-KR" altLang="en-US" dirty="0"/>
              <a:t> 걸림돌이 되는 요소들을 정리하는 </a:t>
            </a:r>
            <a:r>
              <a:rPr lang="en-US" altLang="ko-KR" dirty="0"/>
              <a:t>Editor </a:t>
            </a:r>
            <a:r>
              <a:rPr lang="ko-KR" altLang="en-US" dirty="0"/>
              <a:t>스크립트 또한 제작</a:t>
            </a:r>
            <a:r>
              <a:rPr lang="en-US" altLang="ko-KR" dirty="0"/>
              <a:t>.</a:t>
            </a:r>
          </a:p>
          <a:p>
            <a:r>
              <a:rPr lang="ko-KR" altLang="en-US" sz="1100" dirty="0"/>
              <a:t>이름에서 특수문자와 띄어쓰기를 제외하는 스크립트 </a:t>
            </a:r>
            <a:r>
              <a:rPr lang="en-US" altLang="ko-KR" sz="1100" dirty="0"/>
              <a:t>-&gt; DDS </a:t>
            </a:r>
            <a:r>
              <a:rPr lang="ko-KR" altLang="en-US" sz="1100" dirty="0"/>
              <a:t>변환을 위해서</a:t>
            </a:r>
            <a:endParaRPr lang="en-US" altLang="ko-KR" sz="1100" dirty="0"/>
          </a:p>
          <a:p>
            <a:r>
              <a:rPr lang="ko-KR" altLang="en-US" sz="1100" dirty="0"/>
              <a:t>모든 </a:t>
            </a:r>
            <a:r>
              <a:rPr lang="ko-KR" altLang="en-US" sz="1100" dirty="0" err="1"/>
              <a:t>에셋을</a:t>
            </a:r>
            <a:r>
              <a:rPr lang="ko-KR" altLang="en-US" sz="1100" dirty="0"/>
              <a:t> </a:t>
            </a:r>
            <a:r>
              <a:rPr lang="en-US" altLang="ko-KR" sz="1100" dirty="0"/>
              <a:t>Read/Write Enable</a:t>
            </a:r>
            <a:r>
              <a:rPr lang="ko-KR" altLang="en-US" sz="1100" dirty="0"/>
              <a:t>로 만드는 스크립트 </a:t>
            </a:r>
            <a:r>
              <a:rPr lang="en-US" altLang="ko-KR" sz="1100" dirty="0"/>
              <a:t>-&gt; </a:t>
            </a:r>
            <a:r>
              <a:rPr lang="ko-KR" altLang="en-US" sz="1100" dirty="0" err="1"/>
              <a:t>익스포트를</a:t>
            </a:r>
            <a:r>
              <a:rPr lang="ko-KR" altLang="en-US" sz="1100" dirty="0"/>
              <a:t> 위해서</a:t>
            </a:r>
            <a:endParaRPr lang="en-US" altLang="ko-KR" sz="1100" dirty="0"/>
          </a:p>
          <a:p>
            <a:r>
              <a:rPr lang="ko-KR" altLang="en-US" sz="1100" dirty="0" err="1"/>
              <a:t>메쉬의</a:t>
            </a:r>
            <a:r>
              <a:rPr lang="ko-KR" altLang="en-US" sz="1100" dirty="0"/>
              <a:t> </a:t>
            </a:r>
            <a:r>
              <a:rPr lang="en-US" altLang="ko-KR" sz="1100" dirty="0"/>
              <a:t>pivot</a:t>
            </a:r>
            <a:r>
              <a:rPr lang="ko-KR" altLang="en-US" sz="1100" dirty="0"/>
              <a:t>을 자신의 중심점으로 만드는 스크립트 </a:t>
            </a:r>
            <a:r>
              <a:rPr lang="en-US" altLang="ko-KR" sz="1100" dirty="0"/>
              <a:t>-&gt; </a:t>
            </a:r>
            <a:r>
              <a:rPr lang="ko-KR" altLang="en-US" sz="1100" dirty="0" err="1"/>
              <a:t>원할한</a:t>
            </a:r>
            <a:r>
              <a:rPr lang="ko-KR" altLang="en-US" sz="1100" dirty="0"/>
              <a:t> 맵 제작을 위해서</a:t>
            </a:r>
            <a:endParaRPr lang="en-US" altLang="ko-KR" sz="1100" dirty="0"/>
          </a:p>
          <a:p>
            <a:r>
              <a:rPr lang="ko-KR" altLang="en-US" sz="1100" dirty="0"/>
              <a:t>등등</a:t>
            </a:r>
            <a:r>
              <a:rPr lang="en-US" altLang="ko-KR" sz="1100" dirty="0"/>
              <a:t>..</a:t>
            </a:r>
          </a:p>
        </p:txBody>
      </p:sp>
      <p:sp>
        <p:nvSpPr>
          <p:cNvPr id="114" name="TextBox 113">
            <a:extLst>
              <a:ext uri="{FF2B5EF4-FFF2-40B4-BE49-F238E27FC236}">
                <a16:creationId xmlns:a16="http://schemas.microsoft.com/office/drawing/2014/main" id="{91EB5018-3AD4-2ECC-00A6-2944EC6E96AA}"/>
              </a:ext>
            </a:extLst>
          </p:cNvPr>
          <p:cNvSpPr txBox="1"/>
          <p:nvPr/>
        </p:nvSpPr>
        <p:spPr>
          <a:xfrm>
            <a:off x="6096000" y="4541696"/>
            <a:ext cx="3289300" cy="120032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ko-KR" altLang="en-US"/>
              <a:t>또한 팀원과의 원할한 소통을 위해 </a:t>
            </a:r>
            <a:endParaRPr lang="en-US" altLang="ko-KR"/>
          </a:p>
          <a:p>
            <a:r>
              <a:rPr lang="ko-KR" altLang="en-US"/>
              <a:t>맵 제작 가이드라인을 업데이트하고</a:t>
            </a:r>
            <a:r>
              <a:rPr lang="en-US" altLang="ko-KR"/>
              <a:t>, </a:t>
            </a:r>
            <a:r>
              <a:rPr lang="ko-KR" altLang="en-US"/>
              <a:t>공유했다</a:t>
            </a:r>
            <a:r>
              <a:rPr lang="en-US" altLang="ko-KR"/>
              <a:t>.</a:t>
            </a:r>
          </a:p>
        </p:txBody>
      </p:sp>
      <p:pic>
        <p:nvPicPr>
          <p:cNvPr id="116" name="그림 115">
            <a:extLst>
              <a:ext uri="{FF2B5EF4-FFF2-40B4-BE49-F238E27FC236}">
                <a16:creationId xmlns:a16="http://schemas.microsoft.com/office/drawing/2014/main" id="{D1B6A473-F275-4E70-6730-E24A8C273E6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207500" y="2861158"/>
            <a:ext cx="2984500" cy="3996842"/>
          </a:xfrm>
          <a:prstGeom prst="rect">
            <a:avLst/>
          </a:prstGeom>
        </p:spPr>
      </p:pic>
      <p:sp>
        <p:nvSpPr>
          <p:cNvPr id="120" name="TextBox 119">
            <a:extLst>
              <a:ext uri="{FF2B5EF4-FFF2-40B4-BE49-F238E27FC236}">
                <a16:creationId xmlns:a16="http://schemas.microsoft.com/office/drawing/2014/main" id="{0F54350C-2024-1E8C-A13C-7D0E6EA14449}"/>
              </a:ext>
            </a:extLst>
          </p:cNvPr>
          <p:cNvSpPr txBox="1"/>
          <p:nvPr/>
        </p:nvSpPr>
        <p:spPr>
          <a:xfrm>
            <a:off x="0" y="15544"/>
            <a:ext cx="134620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b="1"/>
              <a:t>PulseCity</a:t>
            </a:r>
          </a:p>
        </p:txBody>
      </p:sp>
      <p:pic>
        <p:nvPicPr>
          <p:cNvPr id="4" name="그림 3">
            <a:extLst>
              <a:ext uri="{FF2B5EF4-FFF2-40B4-BE49-F238E27FC236}">
                <a16:creationId xmlns:a16="http://schemas.microsoft.com/office/drawing/2014/main" id="{D5E43158-DF14-4021-01F1-C76B97CCE5F5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1725" y="3932410"/>
            <a:ext cx="5596348" cy="2462746"/>
          </a:xfrm>
          <a:prstGeom prst="rect">
            <a:avLst/>
          </a:prstGeom>
        </p:spPr>
      </p:pic>
      <p:sp>
        <p:nvSpPr>
          <p:cNvPr id="3" name="TextBox 2">
            <a:extLst>
              <a:ext uri="{FF2B5EF4-FFF2-40B4-BE49-F238E27FC236}">
                <a16:creationId xmlns:a16="http://schemas.microsoft.com/office/drawing/2014/main" id="{75BE264E-A6EE-0B24-B290-CAAE04B9BB5B}"/>
              </a:ext>
            </a:extLst>
          </p:cNvPr>
          <p:cNvSpPr txBox="1"/>
          <p:nvPr/>
        </p:nvSpPr>
        <p:spPr>
          <a:xfrm>
            <a:off x="1004099" y="6210490"/>
            <a:ext cx="2776050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800" dirty="0">
                <a:solidFill>
                  <a:srgbClr val="FF0000"/>
                </a:solidFill>
                <a:highlight>
                  <a:srgbClr val="FFFF00"/>
                </a:highlight>
              </a:rPr>
              <a:t>(Binary Importer</a:t>
            </a:r>
            <a:r>
              <a:rPr lang="ko-KR" altLang="en-US" sz="800" dirty="0">
                <a:solidFill>
                  <a:srgbClr val="FF0000"/>
                </a:solidFill>
                <a:highlight>
                  <a:srgbClr val="FFFF00"/>
                </a:highlight>
              </a:rPr>
              <a:t>도 </a:t>
            </a:r>
            <a:r>
              <a:rPr lang="en-US" altLang="ko-KR" sz="800" dirty="0">
                <a:solidFill>
                  <a:srgbClr val="FF0000"/>
                </a:solidFill>
                <a:highlight>
                  <a:srgbClr val="FFFF00"/>
                </a:highlight>
              </a:rPr>
              <a:t>Binary Exporter </a:t>
            </a:r>
            <a:r>
              <a:rPr lang="ko-KR" altLang="en-US" sz="800" dirty="0">
                <a:solidFill>
                  <a:srgbClr val="FF0000"/>
                </a:solidFill>
                <a:highlight>
                  <a:srgbClr val="FFFF00"/>
                </a:highlight>
              </a:rPr>
              <a:t>처럼 게임에 포함되는 모양으로 수정할 것</a:t>
            </a:r>
            <a:r>
              <a:rPr lang="en-US" altLang="ko-KR" sz="800" dirty="0">
                <a:solidFill>
                  <a:srgbClr val="FF0000"/>
                </a:solidFill>
                <a:highlight>
                  <a:srgbClr val="FFFF00"/>
                </a:highlight>
              </a:rPr>
              <a:t>, </a:t>
            </a:r>
            <a:r>
              <a:rPr lang="en-US" altLang="ko-KR" sz="800" dirty="0" err="1">
                <a:solidFill>
                  <a:srgbClr val="FF0000"/>
                </a:solidFill>
                <a:highlight>
                  <a:srgbClr val="FFFF00"/>
                </a:highlight>
              </a:rPr>
              <a:t>Impoter</a:t>
            </a:r>
            <a:r>
              <a:rPr lang="ko-KR" altLang="en-US" sz="800" dirty="0">
                <a:solidFill>
                  <a:srgbClr val="FF0000"/>
                </a:solidFill>
                <a:highlight>
                  <a:srgbClr val="FFFF00"/>
                </a:highlight>
              </a:rPr>
              <a:t>와 </a:t>
            </a:r>
            <a:r>
              <a:rPr lang="en-US" altLang="ko-KR" sz="800" dirty="0">
                <a:solidFill>
                  <a:srgbClr val="FF0000"/>
                </a:solidFill>
                <a:highlight>
                  <a:srgbClr val="FFFF00"/>
                </a:highlight>
              </a:rPr>
              <a:t>Exporter</a:t>
            </a:r>
            <a:r>
              <a:rPr lang="ko-KR" altLang="en-US" sz="800" dirty="0">
                <a:solidFill>
                  <a:srgbClr val="FF0000"/>
                </a:solidFill>
                <a:highlight>
                  <a:srgbClr val="FFFF00"/>
                </a:highlight>
              </a:rPr>
              <a:t>는 배경색을 달리 하는 것이 </a:t>
            </a:r>
            <a:r>
              <a:rPr lang="ko-KR" altLang="en-US" sz="800" dirty="0" err="1">
                <a:solidFill>
                  <a:srgbClr val="FF0000"/>
                </a:solidFill>
                <a:highlight>
                  <a:srgbClr val="FFFF00"/>
                </a:highlight>
              </a:rPr>
              <a:t>좋아보임</a:t>
            </a:r>
            <a:endParaRPr lang="ko-KR" altLang="en-US" sz="800" dirty="0">
              <a:solidFill>
                <a:srgbClr val="FF0000"/>
              </a:solidFill>
              <a:highlight>
                <a:srgbClr val="FFFF00"/>
              </a:highlight>
            </a:endParaRPr>
          </a:p>
        </p:txBody>
      </p:sp>
    </p:spTree>
    <p:extLst>
      <p:ext uri="{BB962C8B-B14F-4D97-AF65-F5344CB8AC3E}">
        <p14:creationId xmlns:p14="http://schemas.microsoft.com/office/powerpoint/2010/main" val="46275832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0C6DF87-0DAA-9896-BA5F-A0C35CF43BB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6FE54215-6538-A362-048E-70D4A194959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</p:spPr>
        <p:txBody>
          <a:bodyPr/>
          <a:lstStyle/>
          <a:p>
            <a:r>
              <a:rPr lang="ko-KR" altLang="en-US" dirty="0"/>
              <a:t>서버 프로그래머</a:t>
            </a:r>
          </a:p>
        </p:txBody>
      </p:sp>
      <p:sp>
        <p:nvSpPr>
          <p:cNvPr id="4" name="내용 개체 틀 3">
            <a:extLst>
              <a:ext uri="{FF2B5EF4-FFF2-40B4-BE49-F238E27FC236}">
                <a16:creationId xmlns:a16="http://schemas.microsoft.com/office/drawing/2014/main" id="{9FB2C23E-D23E-5EA6-86BC-C64815C5AD8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lnSpcReduction="10000"/>
          </a:bodyPr>
          <a:lstStyle/>
          <a:p>
            <a:r>
              <a:rPr lang="ko-KR" altLang="en-US" dirty="0"/>
              <a:t>역할 분담</a:t>
            </a:r>
            <a:endParaRPr lang="en-US" altLang="ko-KR" dirty="0"/>
          </a:p>
          <a:p>
            <a:r>
              <a:rPr lang="ko-KR" altLang="en-US" dirty="0"/>
              <a:t>진성준</a:t>
            </a:r>
            <a:endParaRPr lang="en-US" altLang="ko-KR" dirty="0"/>
          </a:p>
          <a:p>
            <a:pPr lvl="1"/>
            <a:r>
              <a:rPr lang="ko-KR" altLang="en-US" dirty="0"/>
              <a:t>게임 컨텐츠 구현 </a:t>
            </a:r>
            <a:endParaRPr lang="en-US" altLang="ko-KR" dirty="0"/>
          </a:p>
          <a:p>
            <a:pPr lvl="2"/>
            <a:r>
              <a:rPr lang="ko-KR" altLang="en-US" dirty="0"/>
              <a:t>파티</a:t>
            </a:r>
            <a:r>
              <a:rPr lang="en-US" altLang="ko-KR" dirty="0"/>
              <a:t>, </a:t>
            </a:r>
            <a:r>
              <a:rPr lang="ko-KR" altLang="en-US" dirty="0"/>
              <a:t>보스 </a:t>
            </a:r>
            <a:r>
              <a:rPr lang="en-US" altLang="ko-KR" dirty="0"/>
              <a:t>AI,</a:t>
            </a:r>
          </a:p>
          <a:p>
            <a:pPr lvl="1"/>
            <a:r>
              <a:rPr lang="ko-KR" altLang="en-US" dirty="0" err="1"/>
              <a:t>심리스</a:t>
            </a:r>
            <a:r>
              <a:rPr lang="ko-KR" altLang="en-US" dirty="0"/>
              <a:t> 존 구현</a:t>
            </a:r>
            <a:endParaRPr lang="en-US" altLang="ko-KR" dirty="0"/>
          </a:p>
          <a:p>
            <a:r>
              <a:rPr lang="ko-KR" altLang="en-US" dirty="0" err="1"/>
              <a:t>노훈철</a:t>
            </a:r>
            <a:endParaRPr lang="en-US" altLang="ko-KR" dirty="0"/>
          </a:p>
          <a:p>
            <a:pPr lvl="1"/>
            <a:r>
              <a:rPr lang="ko-KR" altLang="en-US" dirty="0"/>
              <a:t>게임 컨텐츠 구현</a:t>
            </a:r>
            <a:endParaRPr lang="en-US" altLang="ko-KR" dirty="0"/>
          </a:p>
          <a:p>
            <a:pPr lvl="2"/>
            <a:r>
              <a:rPr lang="ko-KR" altLang="en-US" dirty="0"/>
              <a:t>퀘스트</a:t>
            </a:r>
            <a:r>
              <a:rPr lang="en-US" altLang="ko-KR" dirty="0"/>
              <a:t>, NPC</a:t>
            </a:r>
            <a:r>
              <a:rPr lang="ko-KR" altLang="en-US" dirty="0"/>
              <a:t> </a:t>
            </a:r>
            <a:r>
              <a:rPr lang="en-US" altLang="ko-KR" dirty="0"/>
              <a:t>AI,</a:t>
            </a:r>
            <a:r>
              <a:rPr lang="ko-KR" altLang="en-US" dirty="0"/>
              <a:t> </a:t>
            </a:r>
            <a:endParaRPr lang="en-US" altLang="ko-KR" dirty="0"/>
          </a:p>
          <a:p>
            <a:pPr lvl="1"/>
            <a:r>
              <a:rPr lang="ko-KR" altLang="en-US" dirty="0"/>
              <a:t>패킷 전송</a:t>
            </a:r>
            <a:r>
              <a:rPr lang="en-US" altLang="ko-KR" dirty="0"/>
              <a:t>, </a:t>
            </a:r>
            <a:r>
              <a:rPr lang="ko-KR" altLang="en-US" dirty="0" err="1"/>
              <a:t>재조립</a:t>
            </a:r>
            <a:endParaRPr lang="en-US" altLang="ko-KR" dirty="0"/>
          </a:p>
          <a:p>
            <a:pPr lvl="1"/>
            <a:r>
              <a:rPr lang="ko-KR" altLang="en-US" dirty="0"/>
              <a:t>기본 프로토콜 설계</a:t>
            </a:r>
            <a:endParaRPr lang="en-US" altLang="ko-KR" dirty="0"/>
          </a:p>
          <a:p>
            <a:pPr lvl="1"/>
            <a:r>
              <a:rPr lang="ko-KR" altLang="en-US" dirty="0" err="1"/>
              <a:t>청크</a:t>
            </a:r>
            <a:r>
              <a:rPr lang="en-US" altLang="ko-KR" dirty="0"/>
              <a:t>(</a:t>
            </a:r>
            <a:r>
              <a:rPr lang="ko-KR" altLang="en-US" dirty="0" err="1"/>
              <a:t>맵분할</a:t>
            </a:r>
            <a:r>
              <a:rPr lang="en-US" altLang="ko-KR" dirty="0"/>
              <a:t>)</a:t>
            </a:r>
            <a:r>
              <a:rPr lang="ko-KR" altLang="en-US" dirty="0"/>
              <a:t>구조 구현</a:t>
            </a:r>
            <a:r>
              <a:rPr lang="en-US" altLang="ko-KR" dirty="0"/>
              <a:t>, </a:t>
            </a:r>
            <a:r>
              <a:rPr lang="ko-KR" altLang="en-US" dirty="0"/>
              <a:t>충돌 검사</a:t>
            </a:r>
            <a:endParaRPr lang="en-US" altLang="ko-KR" dirty="0"/>
          </a:p>
          <a:p>
            <a:pPr lvl="1"/>
            <a:endParaRPr lang="en-US" altLang="ko-KR" dirty="0"/>
          </a:p>
          <a:p>
            <a:pPr lvl="1"/>
            <a:endParaRPr lang="ko-KR" altLang="en-US" dirty="0"/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D6663171-16AF-FA7E-571F-7526EBA41F46}"/>
              </a:ext>
            </a:extLst>
          </p:cNvPr>
          <p:cNvSpPr txBox="1"/>
          <p:nvPr/>
        </p:nvSpPr>
        <p:spPr>
          <a:xfrm>
            <a:off x="0" y="15544"/>
            <a:ext cx="134620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b="1"/>
              <a:t>PulseCity</a:t>
            </a:r>
          </a:p>
        </p:txBody>
      </p:sp>
    </p:spTree>
    <p:extLst>
      <p:ext uri="{BB962C8B-B14F-4D97-AF65-F5344CB8AC3E}">
        <p14:creationId xmlns:p14="http://schemas.microsoft.com/office/powerpoint/2010/main" val="4194763700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CA03438-6757-E686-CC40-61A776B4399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9" name="그림 28">
            <a:extLst>
              <a:ext uri="{FF2B5EF4-FFF2-40B4-BE49-F238E27FC236}">
                <a16:creationId xmlns:a16="http://schemas.microsoft.com/office/drawing/2014/main" id="{EB37DAE5-6E6F-2D47-CDA1-81CE046E001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762900" y="2446758"/>
            <a:ext cx="2142600" cy="1146626"/>
          </a:xfrm>
          <a:prstGeom prst="rect">
            <a:avLst/>
          </a:prstGeom>
        </p:spPr>
      </p:pic>
      <p:pic>
        <p:nvPicPr>
          <p:cNvPr id="27" name="그림 26">
            <a:extLst>
              <a:ext uri="{FF2B5EF4-FFF2-40B4-BE49-F238E27FC236}">
                <a16:creationId xmlns:a16="http://schemas.microsoft.com/office/drawing/2014/main" id="{4EFDD742-6158-7C35-2BAE-150047BEC54A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2048013"/>
            <a:ext cx="3762900" cy="1733792"/>
          </a:xfrm>
          <a:prstGeom prst="rect">
            <a:avLst/>
          </a:prstGeom>
        </p:spPr>
      </p:pic>
      <p:sp>
        <p:nvSpPr>
          <p:cNvPr id="2" name="제목 1">
            <a:extLst>
              <a:ext uri="{FF2B5EF4-FFF2-40B4-BE49-F238E27FC236}">
                <a16:creationId xmlns:a16="http://schemas.microsoft.com/office/drawing/2014/main" id="{78DA6A47-24F6-9E82-C65F-55C0B01DCEC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핵심 서버 코드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62286D1B-7EE7-81DC-AA30-147EB24F42CC}"/>
              </a:ext>
            </a:extLst>
          </p:cNvPr>
          <p:cNvSpPr txBox="1"/>
          <p:nvPr/>
        </p:nvSpPr>
        <p:spPr>
          <a:xfrm>
            <a:off x="711200" y="1589346"/>
            <a:ext cx="5194300" cy="22313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b="1" dirty="0"/>
              <a:t>1 3D</a:t>
            </a:r>
            <a:r>
              <a:rPr lang="ko-KR" altLang="en-US" b="1" dirty="0"/>
              <a:t> 이동을 위한 OBB 충돌 계산</a:t>
            </a:r>
            <a:endParaRPr lang="en-US" altLang="ko-KR" b="1" dirty="0"/>
          </a:p>
          <a:p>
            <a:r>
              <a:rPr lang="ko-KR" altLang="en-US" sz="1100" dirty="0"/>
              <a:t>서버에서 </a:t>
            </a:r>
            <a:r>
              <a:rPr lang="en-US" altLang="ko-KR" sz="1100" dirty="0"/>
              <a:t>3D</a:t>
            </a:r>
            <a:r>
              <a:rPr lang="ko-KR" altLang="en-US" sz="1100" dirty="0"/>
              <a:t>로 움직여야 할 게임 오브젝트 간 충돌을 계산하기 위해 많이 고민했다</a:t>
            </a:r>
            <a:r>
              <a:rPr lang="en-US" altLang="ko-KR" sz="1100" dirty="0"/>
              <a:t>. </a:t>
            </a:r>
            <a:r>
              <a:rPr lang="ko-KR" altLang="en-US" sz="1100" dirty="0"/>
              <a:t>그리고 특별한 오류 없이 </a:t>
            </a:r>
            <a:r>
              <a:rPr lang="en-US" altLang="ko-KR" sz="1100" dirty="0"/>
              <a:t>OBB </a:t>
            </a:r>
            <a:r>
              <a:rPr lang="ko-KR" altLang="en-US" sz="1100" dirty="0"/>
              <a:t>충돌을 수행하는 서버를 만들었다</a:t>
            </a:r>
            <a:r>
              <a:rPr lang="en-US" altLang="ko-KR" sz="1100" dirty="0"/>
              <a:t>.</a:t>
            </a:r>
          </a:p>
          <a:p>
            <a:endParaRPr lang="en-US" altLang="ko-KR" sz="1100" dirty="0"/>
          </a:p>
          <a:p>
            <a:endParaRPr lang="en-US" altLang="ko-KR" sz="1100" dirty="0"/>
          </a:p>
          <a:p>
            <a:endParaRPr lang="en-US" altLang="ko-KR" sz="1100" dirty="0"/>
          </a:p>
          <a:p>
            <a:endParaRPr lang="en-US" altLang="ko-KR" sz="1100" dirty="0"/>
          </a:p>
          <a:p>
            <a:endParaRPr lang="en-US" altLang="ko-KR" sz="1100" dirty="0"/>
          </a:p>
          <a:p>
            <a:endParaRPr lang="en-US" altLang="ko-KR" sz="1100" dirty="0"/>
          </a:p>
          <a:p>
            <a:endParaRPr lang="en-US" altLang="ko-KR" sz="1100" dirty="0"/>
          </a:p>
          <a:p>
            <a:endParaRPr lang="en-US" altLang="ko-KR" sz="1100" dirty="0"/>
          </a:p>
          <a:p>
            <a:r>
              <a:rPr lang="ko-KR" altLang="en-US" sz="1100" dirty="0"/>
              <a:t>해당 기록의 일부는 </a:t>
            </a:r>
            <a:r>
              <a:rPr lang="en-US" altLang="ko-KR" sz="1100" dirty="0"/>
              <a:t>&lt;</a:t>
            </a:r>
            <a:r>
              <a:rPr lang="ko-KR" altLang="en-US" sz="1100" dirty="0"/>
              <a:t>부록 </a:t>
            </a:r>
            <a:r>
              <a:rPr lang="en-US" altLang="ko-KR" sz="1100" dirty="0"/>
              <a:t>- </a:t>
            </a:r>
            <a:r>
              <a:rPr lang="ko-KR" altLang="en-US" sz="1100" dirty="0"/>
              <a:t>서버의 충돌 계산 고민 메모</a:t>
            </a:r>
            <a:r>
              <a:rPr lang="en-US" altLang="ko-KR" sz="1100" dirty="0"/>
              <a:t>&gt;</a:t>
            </a:r>
            <a:r>
              <a:rPr lang="ko-KR" altLang="en-US" sz="1100" dirty="0"/>
              <a:t>를 참고하자</a:t>
            </a:r>
            <a:r>
              <a:rPr lang="en-US" altLang="ko-KR" sz="1100" dirty="0"/>
              <a:t>.</a:t>
            </a:r>
            <a:endParaRPr lang="ko-KR" altLang="en-US" sz="1100" dirty="0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57930600-B6AB-CD91-7D2D-01A85545A558}"/>
              </a:ext>
            </a:extLst>
          </p:cNvPr>
          <p:cNvSpPr txBox="1"/>
          <p:nvPr/>
        </p:nvSpPr>
        <p:spPr>
          <a:xfrm>
            <a:off x="6096000" y="1569481"/>
            <a:ext cx="6096000" cy="216982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b="1" dirty="0"/>
              <a:t>2. </a:t>
            </a:r>
            <a:r>
              <a:rPr lang="en-US" altLang="ko-KR" b="1" dirty="0" err="1"/>
              <a:t>ImaysNet</a:t>
            </a:r>
            <a:r>
              <a:rPr lang="en-US" altLang="ko-KR" b="1" dirty="0"/>
              <a:t> Lib</a:t>
            </a:r>
            <a:r>
              <a:rPr lang="ko-KR" altLang="en-US" b="1" dirty="0"/>
              <a:t>를 수정하여 </a:t>
            </a:r>
            <a:r>
              <a:rPr lang="en-US" altLang="ko-KR" b="1" dirty="0"/>
              <a:t>nonblocking </a:t>
            </a:r>
            <a:r>
              <a:rPr lang="en-US" altLang="ko-KR" b="1" dirty="0" err="1"/>
              <a:t>recv</a:t>
            </a:r>
            <a:r>
              <a:rPr lang="en-US" altLang="ko-KR" b="1" dirty="0"/>
              <a:t> </a:t>
            </a:r>
            <a:r>
              <a:rPr lang="ko-KR" altLang="en-US" b="1" dirty="0"/>
              <a:t>구현</a:t>
            </a:r>
            <a:r>
              <a:rPr lang="en-US" altLang="ko-KR" b="1" dirty="0"/>
              <a:t>,</a:t>
            </a:r>
          </a:p>
          <a:p>
            <a:r>
              <a:rPr lang="en-US" altLang="ko-KR" b="1" dirty="0" err="1"/>
              <a:t>WSASend</a:t>
            </a:r>
            <a:r>
              <a:rPr lang="en-US" altLang="ko-KR" b="1" dirty="0"/>
              <a:t>, </a:t>
            </a:r>
            <a:r>
              <a:rPr lang="ko-KR" altLang="en-US" b="1" dirty="0" err="1"/>
              <a:t>SendDataSaver활용해</a:t>
            </a:r>
            <a:r>
              <a:rPr lang="ko-KR" altLang="en-US" b="1" dirty="0"/>
              <a:t> 패킷 크기 줄이기</a:t>
            </a:r>
            <a:endParaRPr lang="en-US" altLang="ko-KR" b="1" dirty="0"/>
          </a:p>
          <a:p>
            <a:r>
              <a:rPr lang="ko-KR" altLang="en-US" sz="1100" dirty="0"/>
              <a:t>논 </a:t>
            </a:r>
            <a:r>
              <a:rPr lang="ko-KR" altLang="en-US" sz="1100" dirty="0" err="1"/>
              <a:t>블록킹</a:t>
            </a:r>
            <a:r>
              <a:rPr lang="ko-KR" altLang="en-US" sz="1100" dirty="0"/>
              <a:t> 소켓을 활용해 서버는 </a:t>
            </a:r>
            <a:r>
              <a:rPr lang="en-US" altLang="ko-KR" sz="1100" dirty="0" err="1"/>
              <a:t>recv</a:t>
            </a:r>
            <a:r>
              <a:rPr lang="en-US" altLang="ko-KR" sz="1100" dirty="0"/>
              <a:t>(</a:t>
            </a:r>
            <a:r>
              <a:rPr lang="en-US" altLang="ko-KR" sz="1100" dirty="0" err="1"/>
              <a:t>WSAPoll</a:t>
            </a:r>
            <a:r>
              <a:rPr lang="en-US" altLang="ko-KR" sz="1100" dirty="0"/>
              <a:t>)</a:t>
            </a:r>
            <a:r>
              <a:rPr lang="ko-KR" altLang="en-US" sz="1100" dirty="0"/>
              <a:t>를 받게 된다</a:t>
            </a:r>
            <a:r>
              <a:rPr lang="en-US" altLang="ko-KR" sz="1100" dirty="0"/>
              <a:t>.</a:t>
            </a:r>
          </a:p>
          <a:p>
            <a:r>
              <a:rPr lang="en-US" altLang="ko-KR" sz="1100" dirty="0"/>
              <a:t> Server</a:t>
            </a:r>
            <a:r>
              <a:rPr lang="ko-KR" altLang="en-US" sz="1100" dirty="0"/>
              <a:t>의 </a:t>
            </a:r>
            <a:r>
              <a:rPr lang="en-US" altLang="ko-KR" sz="1100" dirty="0"/>
              <a:t>send</a:t>
            </a:r>
            <a:r>
              <a:rPr lang="ko-KR" altLang="en-US" sz="1100" dirty="0"/>
              <a:t>는</a:t>
            </a:r>
            <a:r>
              <a:rPr lang="en-US" altLang="ko-KR" sz="1100" dirty="0"/>
              <a:t>, </a:t>
            </a:r>
            <a:r>
              <a:rPr lang="ko-KR" altLang="en-US" sz="1100" dirty="0"/>
              <a:t>게임 루프에서 </a:t>
            </a:r>
            <a:r>
              <a:rPr lang="en-US" altLang="ko-KR" sz="1100" dirty="0" err="1"/>
              <a:t>SendDataSaver</a:t>
            </a:r>
            <a:r>
              <a:rPr lang="ko-KR" altLang="en-US" sz="1100" dirty="0"/>
              <a:t>에</a:t>
            </a:r>
            <a:endParaRPr lang="en-US" altLang="ko-KR" sz="1100" dirty="0"/>
          </a:p>
          <a:p>
            <a:r>
              <a:rPr lang="ko-KR" altLang="en-US" sz="1100" dirty="0"/>
              <a:t>패킷을 먼저 저장해놓고</a:t>
            </a:r>
            <a:r>
              <a:rPr lang="en-US" altLang="ko-KR" sz="1100" dirty="0"/>
              <a:t> </a:t>
            </a:r>
            <a:r>
              <a:rPr lang="ko-KR" altLang="en-US" sz="1100" dirty="0"/>
              <a:t>나중에 </a:t>
            </a:r>
            <a:r>
              <a:rPr lang="en-US" altLang="ko-KR" sz="1100" dirty="0"/>
              <a:t>send</a:t>
            </a:r>
            <a:r>
              <a:rPr lang="ko-KR" altLang="en-US" sz="1100" dirty="0"/>
              <a:t>를 하게 되는데</a:t>
            </a:r>
            <a:r>
              <a:rPr lang="en-US" altLang="ko-KR" sz="1100" dirty="0"/>
              <a:t>,</a:t>
            </a:r>
          </a:p>
          <a:p>
            <a:r>
              <a:rPr lang="ko-KR" altLang="en-US" sz="1100" dirty="0"/>
              <a:t>특정 </a:t>
            </a:r>
            <a:r>
              <a:rPr lang="ko-KR" altLang="en-US" sz="1100" dirty="0" err="1"/>
              <a:t>클라에게만</a:t>
            </a:r>
            <a:r>
              <a:rPr lang="ko-KR" altLang="en-US" sz="1100" dirty="0"/>
              <a:t> 보내줄 데이터는 </a:t>
            </a:r>
            <a:r>
              <a:rPr lang="en-US" altLang="ko-KR" sz="1100" dirty="0" err="1"/>
              <a:t>PersonalSDS</a:t>
            </a:r>
            <a:r>
              <a:rPr lang="ko-KR" altLang="en-US" sz="1100" dirty="0"/>
              <a:t>에</a:t>
            </a:r>
            <a:r>
              <a:rPr lang="en-US" altLang="ko-KR" sz="1100" dirty="0"/>
              <a:t>,</a:t>
            </a:r>
          </a:p>
          <a:p>
            <a:r>
              <a:rPr lang="ko-KR" altLang="en-US" sz="1100" dirty="0"/>
              <a:t>해당 </a:t>
            </a:r>
            <a:r>
              <a:rPr lang="en-US" altLang="ko-KR" sz="1100" dirty="0"/>
              <a:t>Zone</a:t>
            </a:r>
            <a:r>
              <a:rPr lang="ko-KR" altLang="en-US" sz="1100" dirty="0"/>
              <a:t>의 모두에게 보내줄 데이터는 </a:t>
            </a:r>
            <a:r>
              <a:rPr lang="en-US" altLang="ko-KR" sz="1100" dirty="0" err="1"/>
              <a:t>CommonSDS</a:t>
            </a:r>
            <a:r>
              <a:rPr lang="ko-KR" altLang="en-US" sz="1100" dirty="0"/>
              <a:t>에 담는다</a:t>
            </a:r>
            <a:r>
              <a:rPr lang="en-US" altLang="ko-KR" sz="1100" dirty="0"/>
              <a:t>.</a:t>
            </a:r>
          </a:p>
          <a:p>
            <a:r>
              <a:rPr lang="en-US" altLang="ko-KR" sz="1100" dirty="0" err="1"/>
              <a:t>CommonSDS</a:t>
            </a:r>
            <a:r>
              <a:rPr lang="ko-KR" altLang="en-US" sz="1100" dirty="0"/>
              <a:t>에는 한 번만 데이터를 담고</a:t>
            </a:r>
            <a:r>
              <a:rPr lang="en-US" altLang="ko-KR" sz="1100" dirty="0"/>
              <a:t>, </a:t>
            </a:r>
            <a:r>
              <a:rPr lang="ko-KR" altLang="en-US" sz="1100" dirty="0"/>
              <a:t>모두가 공유하기 때문에</a:t>
            </a:r>
            <a:r>
              <a:rPr lang="en-US" altLang="ko-KR" sz="1100" dirty="0"/>
              <a:t> </a:t>
            </a:r>
            <a:r>
              <a:rPr lang="ko-KR" altLang="en-US" sz="1100" dirty="0"/>
              <a:t>데이터 복사가 줄어들며</a:t>
            </a:r>
            <a:r>
              <a:rPr lang="en-US" altLang="ko-KR" sz="1100" dirty="0"/>
              <a:t>, </a:t>
            </a:r>
            <a:r>
              <a:rPr lang="en-US" altLang="ko-KR" sz="1100" dirty="0" err="1"/>
              <a:t>WSASend</a:t>
            </a:r>
            <a:r>
              <a:rPr lang="ko-KR" altLang="en-US" sz="1100" dirty="0"/>
              <a:t>로 </a:t>
            </a:r>
            <a:r>
              <a:rPr lang="en-US" altLang="ko-KR" sz="1100" dirty="0" err="1"/>
              <a:t>PersonalSDS</a:t>
            </a:r>
            <a:r>
              <a:rPr lang="ko-KR" altLang="en-US" sz="1100" dirty="0"/>
              <a:t>와 </a:t>
            </a:r>
            <a:r>
              <a:rPr lang="en-US" altLang="ko-KR" sz="1100" dirty="0" err="1"/>
              <a:t>CommonSDS</a:t>
            </a:r>
            <a:r>
              <a:rPr lang="ko-KR" altLang="en-US" sz="1100" dirty="0"/>
              <a:t>를 한 번의 호출로 전송한다</a:t>
            </a:r>
            <a:r>
              <a:rPr lang="en-US" altLang="ko-KR" sz="1100" dirty="0"/>
              <a:t>.</a:t>
            </a:r>
          </a:p>
          <a:p>
            <a:r>
              <a:rPr lang="ko-KR" altLang="en-US" sz="1100" dirty="0"/>
              <a:t>그렇게 되면 데이터를 보낼 때마다 한 번에 보내게 되어서</a:t>
            </a:r>
            <a:r>
              <a:rPr lang="en-US" altLang="ko-KR" sz="1100" dirty="0"/>
              <a:t>, </a:t>
            </a:r>
            <a:r>
              <a:rPr lang="ko-KR" altLang="en-US" sz="1100" dirty="0"/>
              <a:t>전송회수가 줄어들 것으로 생각하고 설계했다</a:t>
            </a:r>
            <a:r>
              <a:rPr lang="en-US" altLang="ko-KR" sz="1100" dirty="0"/>
              <a:t>.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674ED087-B2A7-D6FC-E821-9CB1A911A631}"/>
              </a:ext>
            </a:extLst>
          </p:cNvPr>
          <p:cNvSpPr txBox="1"/>
          <p:nvPr/>
        </p:nvSpPr>
        <p:spPr>
          <a:xfrm>
            <a:off x="673100" y="3886610"/>
            <a:ext cx="478790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dirty="0"/>
              <a:t>3. </a:t>
            </a:r>
            <a:r>
              <a:rPr lang="ko-KR" altLang="en-US" dirty="0" err="1"/>
              <a:t>Recv</a:t>
            </a:r>
            <a:r>
              <a:rPr lang="ko-KR" altLang="en-US" dirty="0"/>
              <a:t> 시에 패킷 </a:t>
            </a:r>
            <a:r>
              <a:rPr lang="ko-KR" altLang="en-US" dirty="0" err="1"/>
              <a:t>재조립</a:t>
            </a:r>
            <a:r>
              <a:rPr lang="ko-KR" altLang="en-US" dirty="0"/>
              <a:t> 로직</a:t>
            </a:r>
            <a:endParaRPr lang="ko-KR" altLang="en-US" sz="1200" dirty="0"/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7222AD10-06C6-1DB4-4406-B93E762DF0E1}"/>
              </a:ext>
            </a:extLst>
          </p:cNvPr>
          <p:cNvSpPr txBox="1"/>
          <p:nvPr/>
        </p:nvSpPr>
        <p:spPr>
          <a:xfrm>
            <a:off x="711200" y="4467571"/>
            <a:ext cx="6718300" cy="15542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b="1" dirty="0"/>
              <a:t>4. </a:t>
            </a:r>
            <a:r>
              <a:rPr lang="ko-KR" altLang="en-US" b="1" dirty="0"/>
              <a:t>STC 변수 동기화</a:t>
            </a:r>
            <a:endParaRPr lang="en-US" altLang="ko-KR" sz="1100" b="1" dirty="0"/>
          </a:p>
          <a:p>
            <a:r>
              <a:rPr lang="ko-KR" altLang="en-US" sz="1100" dirty="0" err="1"/>
              <a:t>게임오브젝트의</a:t>
            </a:r>
            <a:r>
              <a:rPr lang="ko-KR" altLang="en-US" sz="1100" dirty="0"/>
              <a:t> 동기화할 필요가 있는 모든 멤버를 위해 일일이 프로토콜을 만드는 대신</a:t>
            </a:r>
            <a:r>
              <a:rPr lang="en-US" altLang="ko-KR" sz="1100" dirty="0"/>
              <a:t>,</a:t>
            </a:r>
          </a:p>
          <a:p>
            <a:r>
              <a:rPr lang="en-US" altLang="ko-KR" sz="1100" dirty="0" err="1"/>
              <a:t>ChangeMemberGameObject</a:t>
            </a:r>
            <a:r>
              <a:rPr lang="en-US" altLang="ko-KR" sz="1100" dirty="0"/>
              <a:t> </a:t>
            </a:r>
            <a:r>
              <a:rPr lang="ko-KR" altLang="en-US" sz="1100" dirty="0"/>
              <a:t>프로토콜 하나로 게임 오브젝트의 모든 </a:t>
            </a:r>
            <a:r>
              <a:rPr lang="en-US" altLang="ko-KR" sz="1100" dirty="0"/>
              <a:t>STC </a:t>
            </a:r>
            <a:r>
              <a:rPr lang="ko-KR" altLang="en-US" sz="1100" dirty="0"/>
              <a:t>멤버를 동기화할 수 있게 하기</a:t>
            </a:r>
            <a:r>
              <a:rPr lang="en-US" altLang="ko-KR" sz="1100" dirty="0"/>
              <a:t>.</a:t>
            </a:r>
          </a:p>
          <a:p>
            <a:endParaRPr lang="en-US" altLang="ko-KR" sz="1100" dirty="0"/>
          </a:p>
          <a:p>
            <a:r>
              <a:rPr lang="ko-KR" altLang="en-US" sz="1100" dirty="0"/>
              <a:t>매크로를 활용해서 만들었다</a:t>
            </a:r>
            <a:r>
              <a:rPr lang="en-US" altLang="ko-KR" sz="1100" dirty="0"/>
              <a:t>.</a:t>
            </a:r>
          </a:p>
          <a:p>
            <a:r>
              <a:rPr lang="en-US" altLang="ko-KR" sz="1100" dirty="0"/>
              <a:t>STC</a:t>
            </a:r>
            <a:r>
              <a:rPr lang="ko-KR" altLang="en-US" sz="1100" dirty="0"/>
              <a:t>는 </a:t>
            </a:r>
            <a:r>
              <a:rPr lang="en-US" altLang="ko-KR" sz="1100" dirty="0"/>
              <a:t>Server To Client</a:t>
            </a:r>
            <a:r>
              <a:rPr lang="ko-KR" altLang="en-US" sz="1100" dirty="0"/>
              <a:t>의 약자이며</a:t>
            </a:r>
            <a:r>
              <a:rPr lang="en-US" altLang="ko-KR" sz="1100" dirty="0"/>
              <a:t>, </a:t>
            </a:r>
            <a:r>
              <a:rPr lang="en-US" altLang="ko-KR" sz="1100" dirty="0" err="1"/>
              <a:t>STCDef</a:t>
            </a:r>
            <a:r>
              <a:rPr lang="en-US" altLang="ko-KR" sz="1100" dirty="0"/>
              <a:t>(type, name); </a:t>
            </a:r>
            <a:r>
              <a:rPr lang="ko-KR" altLang="en-US" sz="1100" dirty="0"/>
              <a:t>으로 선언할 수 있다</a:t>
            </a:r>
            <a:r>
              <a:rPr lang="en-US" altLang="ko-KR" sz="1100" dirty="0"/>
              <a:t>.</a:t>
            </a:r>
          </a:p>
          <a:p>
            <a:r>
              <a:rPr lang="en-US" altLang="ko-KR" sz="1100" dirty="0"/>
              <a:t>STC</a:t>
            </a:r>
            <a:r>
              <a:rPr lang="ko-KR" altLang="en-US" sz="1100" dirty="0"/>
              <a:t>로 선언된 멤버 변수는 </a:t>
            </a:r>
            <a:r>
              <a:rPr lang="en-US" altLang="ko-KR" sz="1100" dirty="0" err="1"/>
              <a:t>ChangeMemberGameObject</a:t>
            </a:r>
            <a:r>
              <a:rPr lang="en-US" altLang="ko-KR" sz="1100" dirty="0"/>
              <a:t> </a:t>
            </a:r>
            <a:r>
              <a:rPr lang="ko-KR" altLang="en-US" sz="1100" dirty="0"/>
              <a:t>프로토콜을 보내서 </a:t>
            </a:r>
            <a:endParaRPr lang="en-US" altLang="ko-KR" sz="1100" dirty="0"/>
          </a:p>
          <a:p>
            <a:r>
              <a:rPr lang="ko-KR" altLang="en-US" sz="1100" dirty="0"/>
              <a:t>클라이언트에 있는 같은 멤버를 수정할 수 있다</a:t>
            </a:r>
            <a:r>
              <a:rPr lang="en-US" altLang="ko-KR" sz="1100" dirty="0"/>
              <a:t>.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7F15C6E2-095D-7A95-06BD-1D40983A9EC9}"/>
              </a:ext>
            </a:extLst>
          </p:cNvPr>
          <p:cNvSpPr txBox="1"/>
          <p:nvPr/>
        </p:nvSpPr>
        <p:spPr>
          <a:xfrm>
            <a:off x="0" y="15544"/>
            <a:ext cx="134620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b="1"/>
              <a:t>PulseCity</a:t>
            </a:r>
          </a:p>
        </p:txBody>
      </p:sp>
      <p:pic>
        <p:nvPicPr>
          <p:cNvPr id="31" name="그림 30">
            <a:extLst>
              <a:ext uri="{FF2B5EF4-FFF2-40B4-BE49-F238E27FC236}">
                <a16:creationId xmlns:a16="http://schemas.microsoft.com/office/drawing/2014/main" id="{C4C1D301-59DD-9EA5-3FD6-A59E1815FC4D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556500" y="4070088"/>
            <a:ext cx="3568700" cy="242278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675940105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A4E5C3A-8383-F2EC-AE61-9C0469C14B2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C6FF5C4D-7257-9734-9035-B373707206A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클라이언트 프레임워크 제작</a:t>
            </a:r>
            <a:endParaRPr lang="en-US" altLang="ko-KR" dirty="0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993F3B83-E377-C3F6-8D71-6DDCF0B9ED00}"/>
              </a:ext>
            </a:extLst>
          </p:cNvPr>
          <p:cNvSpPr txBox="1"/>
          <p:nvPr/>
        </p:nvSpPr>
        <p:spPr>
          <a:xfrm>
            <a:off x="0" y="15544"/>
            <a:ext cx="134620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b="1"/>
              <a:t>PulseCity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F25A619C-92FB-DE0C-746B-BA0906671B0F}"/>
              </a:ext>
            </a:extLst>
          </p:cNvPr>
          <p:cNvSpPr txBox="1"/>
          <p:nvPr/>
        </p:nvSpPr>
        <p:spPr>
          <a:xfrm>
            <a:off x="673100" y="4065885"/>
            <a:ext cx="5422900" cy="1046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b="1" dirty="0"/>
              <a:t>3.</a:t>
            </a:r>
            <a:r>
              <a:rPr lang="ko-KR" altLang="en-US" b="1" dirty="0"/>
              <a:t> UI </a:t>
            </a:r>
            <a:r>
              <a:rPr lang="ko-KR" altLang="en-US" b="1" dirty="0" err="1"/>
              <a:t>system</a:t>
            </a:r>
            <a:r>
              <a:rPr lang="ko-KR" altLang="en-US" b="1" dirty="0"/>
              <a:t> 제작</a:t>
            </a:r>
            <a:endParaRPr lang="en-US" altLang="ko-KR" b="1" dirty="0"/>
          </a:p>
          <a:p>
            <a:r>
              <a:rPr lang="ko-KR" altLang="en-US" sz="1100" dirty="0"/>
              <a:t>게임에 제대로 된 </a:t>
            </a:r>
            <a:r>
              <a:rPr lang="en-US" altLang="ko-KR" sz="1100" dirty="0"/>
              <a:t>UI</a:t>
            </a:r>
            <a:r>
              <a:rPr lang="ko-KR" altLang="en-US" sz="1100" dirty="0"/>
              <a:t>가 들어갈 수 있게 하고 싶었다</a:t>
            </a:r>
            <a:r>
              <a:rPr lang="en-US" altLang="ko-KR" sz="1100" dirty="0"/>
              <a:t>.</a:t>
            </a:r>
          </a:p>
          <a:p>
            <a:r>
              <a:rPr lang="en-US" altLang="ko-KR" sz="1100" dirty="0"/>
              <a:t>Window, Slider, </a:t>
            </a:r>
            <a:r>
              <a:rPr lang="en-US" altLang="ko-KR" sz="1100" dirty="0" err="1"/>
              <a:t>Btn</a:t>
            </a:r>
            <a:r>
              <a:rPr lang="en-US" altLang="ko-KR" sz="1100" dirty="0"/>
              <a:t>, </a:t>
            </a:r>
            <a:r>
              <a:rPr lang="en-US" altLang="ko-KR" sz="1100" dirty="0" err="1"/>
              <a:t>EditBox</a:t>
            </a:r>
            <a:r>
              <a:rPr lang="en-US" altLang="ko-KR" sz="1100" dirty="0"/>
              <a:t>, Slot UI</a:t>
            </a:r>
            <a:r>
              <a:rPr lang="ko-KR" altLang="en-US" sz="1100" dirty="0"/>
              <a:t>를 제작했고</a:t>
            </a:r>
            <a:r>
              <a:rPr lang="en-US" altLang="ko-KR" sz="1100" dirty="0"/>
              <a:t>,</a:t>
            </a:r>
          </a:p>
          <a:p>
            <a:r>
              <a:rPr lang="en-US" altLang="ko-KR" sz="1100" dirty="0"/>
              <a:t>Page(=Layer)</a:t>
            </a:r>
            <a:r>
              <a:rPr lang="ko-KR" altLang="en-US" sz="1100" dirty="0"/>
              <a:t>에 해당 </a:t>
            </a:r>
            <a:r>
              <a:rPr lang="en-US" altLang="ko-KR" sz="1100" dirty="0"/>
              <a:t>UI</a:t>
            </a:r>
            <a:r>
              <a:rPr lang="ko-KR" altLang="en-US" sz="1100" dirty="0"/>
              <a:t>들이 포함 가능하며</a:t>
            </a:r>
            <a:r>
              <a:rPr lang="en-US" altLang="ko-KR" sz="1100" dirty="0"/>
              <a:t>, Window</a:t>
            </a:r>
            <a:r>
              <a:rPr lang="ko-KR" altLang="en-US" sz="1100" dirty="0"/>
              <a:t>는 여러 </a:t>
            </a:r>
            <a:r>
              <a:rPr lang="en-US" altLang="ko-KR" sz="1100" dirty="0"/>
              <a:t>Page</a:t>
            </a:r>
            <a:r>
              <a:rPr lang="ko-KR" altLang="en-US" sz="1100" dirty="0"/>
              <a:t>를 포함 가능하다</a:t>
            </a:r>
            <a:r>
              <a:rPr lang="en-US" altLang="ko-KR" sz="1100" dirty="0"/>
              <a:t>. </a:t>
            </a:r>
          </a:p>
          <a:p>
            <a:r>
              <a:rPr lang="ko-KR" altLang="en-US" sz="1100" dirty="0"/>
              <a:t>게임에서 상호작용이 가능</a:t>
            </a:r>
            <a:r>
              <a:rPr lang="en-US" altLang="ko-KR" sz="1100" dirty="0"/>
              <a:t>.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000D9B57-68EF-6749-5FE4-BCE61EDAA38D}"/>
              </a:ext>
            </a:extLst>
          </p:cNvPr>
          <p:cNvSpPr txBox="1"/>
          <p:nvPr/>
        </p:nvSpPr>
        <p:spPr>
          <a:xfrm>
            <a:off x="673100" y="1690688"/>
            <a:ext cx="5422900" cy="172354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b="1" dirty="0"/>
              <a:t>1. </a:t>
            </a:r>
            <a:r>
              <a:rPr lang="ko-KR" altLang="en-US" b="1" dirty="0" err="1"/>
              <a:t>청크시스템과</a:t>
            </a:r>
            <a:r>
              <a:rPr lang="ko-KR" altLang="en-US" b="1" dirty="0"/>
              <a:t> </a:t>
            </a:r>
            <a:r>
              <a:rPr lang="ko-KR" altLang="en-US" b="1" dirty="0" err="1"/>
              <a:t>Static-Dynamic</a:t>
            </a:r>
            <a:r>
              <a:rPr lang="ko-KR" altLang="en-US" b="1" dirty="0"/>
              <a:t> </a:t>
            </a:r>
            <a:r>
              <a:rPr lang="ko-KR" altLang="en-US" b="1" dirty="0" err="1"/>
              <a:t>Object</a:t>
            </a:r>
            <a:r>
              <a:rPr lang="ko-KR" altLang="en-US" b="1" dirty="0"/>
              <a:t> 처리</a:t>
            </a:r>
            <a:endParaRPr lang="en-US" altLang="ko-KR" b="1" dirty="0"/>
          </a:p>
          <a:p>
            <a:r>
              <a:rPr lang="ko-KR" altLang="en-US" sz="1100" dirty="0"/>
              <a:t>클라이언트에서의 </a:t>
            </a:r>
            <a:r>
              <a:rPr lang="en-US" altLang="ko-KR" sz="1100" dirty="0" err="1"/>
              <a:t>ViewFrustumCulling</a:t>
            </a:r>
            <a:r>
              <a:rPr lang="ko-KR" altLang="en-US" sz="1100" dirty="0"/>
              <a:t>이나</a:t>
            </a:r>
            <a:r>
              <a:rPr lang="en-US" altLang="ko-KR" sz="1100" dirty="0"/>
              <a:t>, </a:t>
            </a:r>
            <a:r>
              <a:rPr lang="ko-KR" altLang="en-US" sz="1100" dirty="0"/>
              <a:t>보이는 스킨 </a:t>
            </a:r>
            <a:r>
              <a:rPr lang="ko-KR" altLang="en-US" sz="1100" dirty="0" err="1"/>
              <a:t>메쉬만</a:t>
            </a:r>
            <a:r>
              <a:rPr lang="ko-KR" altLang="en-US" sz="1100" dirty="0"/>
              <a:t> 업데이트하기 위해서 하나의 존을 나누는 </a:t>
            </a:r>
            <a:r>
              <a:rPr lang="ko-KR" altLang="en-US" sz="1100" dirty="0" err="1"/>
              <a:t>청크가</a:t>
            </a:r>
            <a:r>
              <a:rPr lang="ko-KR" altLang="en-US" sz="1100" dirty="0"/>
              <a:t> 필요했고</a:t>
            </a:r>
            <a:r>
              <a:rPr lang="en-US" altLang="ko-KR" sz="1100" dirty="0"/>
              <a:t>, </a:t>
            </a:r>
          </a:p>
          <a:p>
            <a:r>
              <a:rPr lang="ko-KR" altLang="en-US" sz="1100" dirty="0"/>
              <a:t>서버 쪽에서는 충돌 처리에 고려되는 오브젝트 개수를 줄이기 위해 </a:t>
            </a:r>
            <a:r>
              <a:rPr lang="ko-KR" altLang="en-US" sz="1100" dirty="0" err="1"/>
              <a:t>청크가</a:t>
            </a:r>
            <a:r>
              <a:rPr lang="ko-KR" altLang="en-US" sz="1100" dirty="0"/>
              <a:t> 필요했다</a:t>
            </a:r>
            <a:r>
              <a:rPr lang="en-US" altLang="ko-KR" sz="1100" dirty="0"/>
              <a:t>. </a:t>
            </a:r>
            <a:r>
              <a:rPr lang="ko-KR" altLang="en-US" sz="1100" dirty="0"/>
              <a:t>그래서 </a:t>
            </a:r>
            <a:r>
              <a:rPr lang="ko-KR" altLang="en-US" sz="1100" dirty="0" err="1"/>
              <a:t>청크</a:t>
            </a:r>
            <a:r>
              <a:rPr lang="ko-KR" altLang="en-US" sz="1100" dirty="0"/>
              <a:t> 시스템을 만들고</a:t>
            </a:r>
            <a:r>
              <a:rPr lang="en-US" altLang="ko-KR" sz="1100" dirty="0"/>
              <a:t>, </a:t>
            </a:r>
          </a:p>
          <a:p>
            <a:r>
              <a:rPr lang="en-US" altLang="ko-KR" sz="1100" dirty="0"/>
              <a:t>Object</a:t>
            </a:r>
            <a:r>
              <a:rPr lang="ko-KR" altLang="en-US" sz="1100" dirty="0"/>
              <a:t>를 움직이지 않는 </a:t>
            </a:r>
            <a:r>
              <a:rPr lang="en-US" altLang="ko-KR" sz="1100" dirty="0" err="1"/>
              <a:t>StaticObject</a:t>
            </a:r>
            <a:r>
              <a:rPr lang="ko-KR" altLang="en-US" sz="1100" dirty="0"/>
              <a:t>와 움직이는 </a:t>
            </a:r>
            <a:r>
              <a:rPr lang="en-US" altLang="ko-KR" sz="1100" dirty="0" err="1"/>
              <a:t>DynamicObject</a:t>
            </a:r>
            <a:r>
              <a:rPr lang="ko-KR" altLang="en-US" sz="1100" dirty="0"/>
              <a:t>로 나누었다</a:t>
            </a:r>
            <a:r>
              <a:rPr lang="en-US" altLang="ko-KR" sz="1100" dirty="0"/>
              <a:t>.</a:t>
            </a:r>
          </a:p>
          <a:p>
            <a:r>
              <a:rPr lang="en-US" altLang="ko-KR" sz="1100" dirty="0" err="1"/>
              <a:t>DynamicObject</a:t>
            </a:r>
            <a:r>
              <a:rPr lang="ko-KR" altLang="en-US" sz="1100" dirty="0"/>
              <a:t>가 </a:t>
            </a:r>
            <a:r>
              <a:rPr lang="ko-KR" altLang="en-US" sz="1100" dirty="0" err="1"/>
              <a:t>청크</a:t>
            </a:r>
            <a:r>
              <a:rPr lang="ko-KR" altLang="en-US" sz="1100" dirty="0"/>
              <a:t> 위에서 계산되기 위해 구조를 수정했다</a:t>
            </a:r>
            <a:r>
              <a:rPr lang="en-US" altLang="ko-KR" sz="1100" dirty="0"/>
              <a:t>.</a:t>
            </a:r>
          </a:p>
          <a:p>
            <a:r>
              <a:rPr lang="ko-KR" altLang="en-US" sz="1100" dirty="0"/>
              <a:t>더 자세한 내용은 </a:t>
            </a:r>
            <a:endParaRPr lang="en-US" altLang="ko-KR" sz="1100" dirty="0"/>
          </a:p>
          <a:p>
            <a:r>
              <a:rPr lang="en-US" altLang="ko-KR" sz="1100" dirty="0"/>
              <a:t>&lt;</a:t>
            </a:r>
            <a:r>
              <a:rPr lang="ko-KR" altLang="en-US" sz="1100" dirty="0"/>
              <a:t>부록 </a:t>
            </a:r>
            <a:r>
              <a:rPr lang="en-US" altLang="ko-KR" sz="1100" dirty="0"/>
              <a:t>- </a:t>
            </a:r>
            <a:r>
              <a:rPr lang="ko-KR" altLang="en-US" sz="1100" dirty="0" err="1"/>
              <a:t>청크에</a:t>
            </a:r>
            <a:r>
              <a:rPr lang="ko-KR" altLang="en-US" sz="1100" dirty="0"/>
              <a:t> 들어가기 위한 </a:t>
            </a:r>
            <a:r>
              <a:rPr lang="ko-KR" altLang="en-US" sz="1100" dirty="0" err="1"/>
              <a:t>게임오브젝트</a:t>
            </a:r>
            <a:r>
              <a:rPr lang="ko-KR" altLang="en-US" sz="1100" dirty="0"/>
              <a:t> 구조 설계</a:t>
            </a:r>
            <a:r>
              <a:rPr lang="en-US" altLang="ko-KR" sz="1100" dirty="0"/>
              <a:t>&gt;</a:t>
            </a:r>
            <a:r>
              <a:rPr lang="ko-KR" altLang="en-US" sz="1100" dirty="0"/>
              <a:t>를 참고하자</a:t>
            </a:r>
            <a:r>
              <a:rPr lang="en-US" altLang="ko-KR" sz="1100" dirty="0"/>
              <a:t>.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57B8D91C-2819-B192-C2FC-5F6891C60DBD}"/>
              </a:ext>
            </a:extLst>
          </p:cNvPr>
          <p:cNvSpPr txBox="1"/>
          <p:nvPr/>
        </p:nvSpPr>
        <p:spPr>
          <a:xfrm>
            <a:off x="6502400" y="1670937"/>
            <a:ext cx="6121400" cy="189282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b="1"/>
              <a:t>2.</a:t>
            </a:r>
            <a:r>
              <a:rPr lang="ko-KR" altLang="en-US" b="1"/>
              <a:t> Window WASAPI을 활용한 사운드 시스템 제작</a:t>
            </a:r>
            <a:endParaRPr lang="en-US" altLang="ko-KR" b="1"/>
          </a:p>
          <a:p>
            <a:r>
              <a:rPr lang="en-US" altLang="ko-KR" sz="1100"/>
              <a:t>Fmod</a:t>
            </a:r>
            <a:r>
              <a:rPr lang="ko-KR" altLang="en-US" sz="1100"/>
              <a:t> 같은 걸 쓰지 않은 이유는</a:t>
            </a:r>
            <a:endParaRPr lang="en-US" altLang="ko-KR" sz="1100"/>
          </a:p>
          <a:p>
            <a:r>
              <a:rPr lang="ko-KR" altLang="en-US" sz="1100"/>
              <a:t>프로젝트가 너무 무거워질 것 같기도 하고</a:t>
            </a:r>
            <a:r>
              <a:rPr lang="en-US" altLang="ko-KR" sz="1100"/>
              <a:t>, </a:t>
            </a:r>
          </a:p>
          <a:p>
            <a:r>
              <a:rPr lang="ko-KR" altLang="en-US" sz="1100"/>
              <a:t>또 새로운 라이브러리를 배운다는 건 버겁다고 생각되었다</a:t>
            </a:r>
            <a:r>
              <a:rPr lang="en-US" altLang="ko-KR" sz="1100"/>
              <a:t>.</a:t>
            </a:r>
          </a:p>
          <a:p>
            <a:r>
              <a:rPr lang="ko-KR" altLang="en-US" sz="1100"/>
              <a:t>사운드 작업은 </a:t>
            </a:r>
            <a:r>
              <a:rPr lang="en-US" altLang="ko-KR" sz="1100"/>
              <a:t>CPU</a:t>
            </a:r>
            <a:r>
              <a:rPr lang="ko-KR" altLang="en-US" sz="1100"/>
              <a:t>작업이라 내가 통제하고 싶었다</a:t>
            </a:r>
            <a:r>
              <a:rPr lang="en-US" altLang="ko-KR" sz="1100"/>
              <a:t>.</a:t>
            </a:r>
          </a:p>
          <a:p>
            <a:r>
              <a:rPr lang="ko-KR" altLang="en-US" sz="1100"/>
              <a:t>통제 불가한 익명의 스레드에 사운드 작업을 맡기고 싶지는 않았던 것 같다</a:t>
            </a:r>
            <a:r>
              <a:rPr lang="en-US" altLang="ko-KR" sz="1100"/>
              <a:t>. </a:t>
            </a:r>
          </a:p>
          <a:p>
            <a:r>
              <a:rPr lang="en-US" altLang="ko-KR" sz="1100"/>
              <a:t>Fmod</a:t>
            </a:r>
            <a:r>
              <a:rPr lang="ko-KR" altLang="en-US" sz="1100"/>
              <a:t>같은 라이브러리를 쓰지 않은 이유다</a:t>
            </a:r>
            <a:r>
              <a:rPr lang="en-US" altLang="ko-KR" sz="1100"/>
              <a:t>.</a:t>
            </a:r>
          </a:p>
          <a:p>
            <a:r>
              <a:rPr lang="ko-KR" altLang="en-US" sz="1100"/>
              <a:t>사실 개인적 욕심이고 그럴 필요는 없었다</a:t>
            </a:r>
            <a:r>
              <a:rPr lang="en-US" altLang="ko-KR" sz="1100"/>
              <a:t>.</a:t>
            </a:r>
          </a:p>
          <a:p>
            <a:endParaRPr lang="en-US" altLang="ko-KR" sz="1100"/>
          </a:p>
          <a:p>
            <a:r>
              <a:rPr lang="ko-KR" altLang="en-US" sz="1100"/>
              <a:t>마스터 채널과 채널들을 연결할 수 있고</a:t>
            </a:r>
            <a:r>
              <a:rPr lang="en-US" altLang="ko-KR" sz="1100"/>
              <a:t>, </a:t>
            </a:r>
            <a:r>
              <a:rPr lang="ko-KR" altLang="en-US" sz="1100"/>
              <a:t>채널의 볼륨을 줄이거나 높일 수 있다</a:t>
            </a:r>
            <a:r>
              <a:rPr lang="en-US" altLang="ko-KR" sz="1100"/>
              <a:t>.</a:t>
            </a:r>
          </a:p>
        </p:txBody>
      </p:sp>
      <p:pic>
        <p:nvPicPr>
          <p:cNvPr id="17" name="그림 16">
            <a:extLst>
              <a:ext uri="{FF2B5EF4-FFF2-40B4-BE49-F238E27FC236}">
                <a16:creationId xmlns:a16="http://schemas.microsoft.com/office/drawing/2014/main" id="{640D5101-0D6D-8A68-3EA6-46219768F17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502400" y="3888599"/>
            <a:ext cx="5295900" cy="296940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05110419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1F9605B-C3E8-5401-CF4B-A26BFFD5DCC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A72F2F19-E01D-F645-1186-B4FA91B4BCC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렌더링</a:t>
            </a:r>
            <a:endParaRPr lang="en-US" altLang="ko-KR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F8DC0685-484A-735F-1B72-AF08FCB60FA6}"/>
              </a:ext>
            </a:extLst>
          </p:cNvPr>
          <p:cNvSpPr txBox="1"/>
          <p:nvPr/>
        </p:nvSpPr>
        <p:spPr>
          <a:xfrm>
            <a:off x="0" y="15544"/>
            <a:ext cx="134620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b="1"/>
              <a:t>PulseCity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FB3FEC1B-1F66-65C4-60EA-9A714AFF4A95}"/>
              </a:ext>
            </a:extLst>
          </p:cNvPr>
          <p:cNvSpPr txBox="1"/>
          <p:nvPr/>
        </p:nvSpPr>
        <p:spPr>
          <a:xfrm>
            <a:off x="6096000" y="4138950"/>
            <a:ext cx="5257800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b="1"/>
              <a:t>4. CascadeShadowMap (3</a:t>
            </a:r>
            <a:r>
              <a:rPr lang="ko-KR" altLang="en-US" b="1"/>
              <a:t>단계</a:t>
            </a:r>
            <a:r>
              <a:rPr lang="en-US" altLang="ko-KR" b="1"/>
              <a:t>)</a:t>
            </a:r>
          </a:p>
          <a:p>
            <a:r>
              <a:rPr lang="en-US" altLang="ko-KR" sz="1100"/>
              <a:t>3</a:t>
            </a:r>
            <a:r>
              <a:rPr lang="ko-KR" altLang="en-US" sz="1100"/>
              <a:t>단계의 </a:t>
            </a:r>
            <a:r>
              <a:rPr lang="en-US" altLang="ko-KR" sz="1100"/>
              <a:t>CascadeShadowMapping</a:t>
            </a:r>
            <a:r>
              <a:rPr lang="ko-KR" altLang="en-US" sz="1100"/>
              <a:t>을 진행한다</a:t>
            </a:r>
            <a:r>
              <a:rPr lang="en-US" altLang="ko-KR"/>
              <a:t>.</a:t>
            </a:r>
            <a:endParaRPr lang="ko-KR" altLang="en-US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5AAE8D09-E078-3184-9F52-4DAD084763CC}"/>
              </a:ext>
            </a:extLst>
          </p:cNvPr>
          <p:cNvSpPr txBox="1"/>
          <p:nvPr/>
        </p:nvSpPr>
        <p:spPr>
          <a:xfrm>
            <a:off x="838200" y="1670937"/>
            <a:ext cx="5257800" cy="189282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b="1"/>
              <a:t>1. </a:t>
            </a:r>
            <a:r>
              <a:rPr lang="ko-KR" altLang="en-US" b="1"/>
              <a:t>간단한 PBR 셰이딩 구현</a:t>
            </a:r>
            <a:endParaRPr lang="en-US" altLang="ko-KR" b="1"/>
          </a:p>
          <a:p>
            <a:r>
              <a:rPr lang="en-US" altLang="ko-KR" sz="1100"/>
              <a:t>PBR </a:t>
            </a:r>
            <a:r>
              <a:rPr lang="ko-KR" altLang="en-US" sz="1100"/>
              <a:t>셰이딩을 </a:t>
            </a:r>
            <a:r>
              <a:rPr lang="en-US" altLang="ko-KR" sz="1100"/>
              <a:t>LearnOpenGL </a:t>
            </a:r>
            <a:r>
              <a:rPr lang="ko-KR" altLang="en-US" sz="1100"/>
              <a:t>문서를 보고 배운 후</a:t>
            </a:r>
            <a:r>
              <a:rPr lang="en-US" altLang="ko-KR" sz="1100"/>
              <a:t>, PBR </a:t>
            </a:r>
            <a:r>
              <a:rPr lang="ko-KR" altLang="en-US" sz="1100"/>
              <a:t>셰이더를 제작했다</a:t>
            </a:r>
            <a:r>
              <a:rPr lang="en-US" altLang="ko-KR" sz="1100"/>
              <a:t>.</a:t>
            </a:r>
          </a:p>
          <a:p>
            <a:r>
              <a:rPr lang="ko-KR" altLang="en-US" sz="1100"/>
              <a:t>첫 시도에 잘되지 않아서 여러 번 시도했다</a:t>
            </a:r>
            <a:r>
              <a:rPr lang="en-US" altLang="ko-KR" sz="1100"/>
              <a:t>.</a:t>
            </a:r>
          </a:p>
          <a:p>
            <a:r>
              <a:rPr lang="ko-KR" altLang="en-US" sz="1100"/>
              <a:t>지금은 메탈릭 맵과 러프니스 맵이 잘 반영되는 모습</a:t>
            </a:r>
            <a:r>
              <a:rPr lang="en-US" altLang="ko-KR" sz="1100"/>
              <a:t>, </a:t>
            </a:r>
          </a:p>
          <a:p>
            <a:r>
              <a:rPr lang="en-US" altLang="ko-KR" sz="1100"/>
              <a:t>IBL </a:t>
            </a:r>
            <a:r>
              <a:rPr lang="ko-KR" altLang="en-US" sz="1100"/>
              <a:t>반사가 되는 모습을 확인할 수 있다</a:t>
            </a:r>
            <a:r>
              <a:rPr lang="en-US" altLang="ko-KR" sz="1100"/>
              <a:t>.</a:t>
            </a:r>
          </a:p>
          <a:p>
            <a:r>
              <a:rPr lang="ko-KR" altLang="en-US" sz="1100"/>
              <a:t>다만 </a:t>
            </a:r>
            <a:r>
              <a:rPr lang="en-US" altLang="ko-KR" sz="1100"/>
              <a:t>PBR</a:t>
            </a:r>
            <a:r>
              <a:rPr lang="ko-KR" altLang="en-US" sz="1100"/>
              <a:t>의 모든 특징을 담아냈다고 보기는 어려울 것 같다</a:t>
            </a:r>
            <a:r>
              <a:rPr lang="en-US" altLang="ko-KR" sz="1100"/>
              <a:t>.</a:t>
            </a:r>
          </a:p>
          <a:p>
            <a:r>
              <a:rPr lang="ko-KR" altLang="en-US" sz="1100">
                <a:solidFill>
                  <a:srgbClr val="FF0000"/>
                </a:solidFill>
              </a:rPr>
              <a:t>러프니스가 올라가면 반사가 흐려져야 하는데</a:t>
            </a:r>
            <a:r>
              <a:rPr lang="en-US" altLang="ko-KR" sz="1100">
                <a:solidFill>
                  <a:srgbClr val="FF0000"/>
                </a:solidFill>
              </a:rPr>
              <a:t>,</a:t>
            </a:r>
          </a:p>
          <a:p>
            <a:r>
              <a:rPr lang="ko-KR" altLang="en-US" sz="1100">
                <a:solidFill>
                  <a:srgbClr val="FF0000"/>
                </a:solidFill>
              </a:rPr>
              <a:t>그 부분은 제대로 구현이 안 되었다</a:t>
            </a:r>
            <a:r>
              <a:rPr lang="en-US" altLang="ko-KR" sz="1100">
                <a:solidFill>
                  <a:srgbClr val="FF0000"/>
                </a:solidFill>
              </a:rPr>
              <a:t>. </a:t>
            </a:r>
          </a:p>
          <a:p>
            <a:r>
              <a:rPr lang="ko-KR" altLang="en-US" sz="1100">
                <a:solidFill>
                  <a:srgbClr val="FF0000"/>
                </a:solidFill>
              </a:rPr>
              <a:t>또한 </a:t>
            </a:r>
            <a:r>
              <a:rPr lang="en-US" altLang="ko-KR" sz="1100">
                <a:solidFill>
                  <a:srgbClr val="FF0000"/>
                </a:solidFill>
              </a:rPr>
              <a:t>EmisionLightMaterial</a:t>
            </a:r>
            <a:r>
              <a:rPr lang="ko-KR" altLang="en-US" sz="1100">
                <a:solidFill>
                  <a:srgbClr val="FF0000"/>
                </a:solidFill>
              </a:rPr>
              <a:t>이 처리가 안 된다</a:t>
            </a:r>
            <a:r>
              <a:rPr lang="en-US" altLang="ko-KR" sz="1100">
                <a:solidFill>
                  <a:srgbClr val="FF0000"/>
                </a:solidFill>
              </a:rPr>
              <a:t>.</a:t>
            </a:r>
          </a:p>
          <a:p>
            <a:r>
              <a:rPr lang="ko-KR" altLang="en-US" sz="1100">
                <a:solidFill>
                  <a:srgbClr val="FF0000"/>
                </a:solidFill>
              </a:rPr>
              <a:t>추후 수정할 예정이다</a:t>
            </a:r>
            <a:r>
              <a:rPr lang="en-US" altLang="ko-KR" sz="1100">
                <a:solidFill>
                  <a:srgbClr val="FF0000"/>
                </a:solidFill>
              </a:rPr>
              <a:t>.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4D774F32-6839-48EE-3BA7-C7C2AED2F69B}"/>
              </a:ext>
            </a:extLst>
          </p:cNvPr>
          <p:cNvSpPr txBox="1"/>
          <p:nvPr/>
        </p:nvSpPr>
        <p:spPr>
          <a:xfrm>
            <a:off x="6096000" y="1666506"/>
            <a:ext cx="5842000" cy="172354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b="1" dirty="0"/>
              <a:t>2. </a:t>
            </a:r>
            <a:r>
              <a:rPr lang="ko-KR" altLang="en-US" b="1" dirty="0" err="1"/>
              <a:t>Static</a:t>
            </a:r>
            <a:r>
              <a:rPr lang="ko-KR" altLang="en-US" b="1" dirty="0"/>
              <a:t> 다중 </a:t>
            </a:r>
            <a:r>
              <a:rPr lang="ko-KR" altLang="en-US" b="1" dirty="0" err="1"/>
              <a:t>라이팅</a:t>
            </a:r>
            <a:endParaRPr lang="en-US" altLang="ko-KR" b="1" dirty="0"/>
          </a:p>
          <a:p>
            <a:r>
              <a:rPr lang="ko-KR" altLang="en-US" sz="1100" dirty="0"/>
              <a:t>다중 </a:t>
            </a:r>
            <a:r>
              <a:rPr lang="ko-KR" altLang="en-US" sz="1100" dirty="0" err="1"/>
              <a:t>라이팅이</a:t>
            </a:r>
            <a:r>
              <a:rPr lang="ko-KR" altLang="en-US" sz="1100" dirty="0"/>
              <a:t> 작동한다</a:t>
            </a:r>
            <a:r>
              <a:rPr lang="en-US" altLang="ko-KR" sz="1100" dirty="0"/>
              <a:t>.</a:t>
            </a:r>
            <a:r>
              <a:rPr lang="ko-KR" altLang="en-US" sz="1100" dirty="0"/>
              <a:t> </a:t>
            </a:r>
            <a:r>
              <a:rPr lang="en-US" altLang="ko-KR" sz="1100" dirty="0" err="1"/>
              <a:t>StructuredBuffer</a:t>
            </a:r>
            <a:r>
              <a:rPr lang="ko-KR" altLang="en-US" sz="1100" dirty="0"/>
              <a:t>를 사용해 모든 </a:t>
            </a:r>
            <a:r>
              <a:rPr lang="ko-KR" altLang="en-US" sz="1100" dirty="0" err="1"/>
              <a:t>청크의</a:t>
            </a:r>
            <a:r>
              <a:rPr lang="ko-KR" altLang="en-US" sz="1100" dirty="0"/>
              <a:t> 라이트 데이터를 담아서 </a:t>
            </a:r>
            <a:endParaRPr lang="en-US" altLang="ko-KR" sz="1100" dirty="0"/>
          </a:p>
          <a:p>
            <a:r>
              <a:rPr lang="ko-KR" altLang="en-US" sz="1100" dirty="0" err="1"/>
              <a:t>셰이더에서</a:t>
            </a:r>
            <a:r>
              <a:rPr lang="ko-KR" altLang="en-US" sz="1100" dirty="0"/>
              <a:t> 위치 정보를 통해 주변의 </a:t>
            </a:r>
            <a:r>
              <a:rPr lang="ko-KR" altLang="en-US" sz="1100" dirty="0" err="1"/>
              <a:t>라이트에</a:t>
            </a:r>
            <a:r>
              <a:rPr lang="ko-KR" altLang="en-US" sz="1100" dirty="0"/>
              <a:t> 접근할 수 있게 했다</a:t>
            </a:r>
            <a:r>
              <a:rPr lang="en-US" altLang="ko-KR" sz="1100" dirty="0"/>
              <a:t>.</a:t>
            </a:r>
          </a:p>
          <a:p>
            <a:r>
              <a:rPr lang="ko-KR" altLang="en-US" sz="1100" dirty="0">
                <a:solidFill>
                  <a:srgbClr val="FF0000"/>
                </a:solidFill>
              </a:rPr>
              <a:t>그 때문에 만약 </a:t>
            </a:r>
            <a:r>
              <a:rPr lang="en-US" altLang="ko-KR" sz="1100" dirty="0" err="1">
                <a:solidFill>
                  <a:srgbClr val="FF0000"/>
                </a:solidFill>
              </a:rPr>
              <a:t>DynamicLight</a:t>
            </a:r>
            <a:r>
              <a:rPr lang="en-US" altLang="ko-KR" sz="1100" dirty="0">
                <a:solidFill>
                  <a:srgbClr val="FF0000"/>
                </a:solidFill>
              </a:rPr>
              <a:t> </a:t>
            </a:r>
            <a:r>
              <a:rPr lang="ko-KR" altLang="en-US" sz="1100" dirty="0">
                <a:solidFill>
                  <a:srgbClr val="FF0000"/>
                </a:solidFill>
              </a:rPr>
              <a:t>또한 여기에 담고 움직이다 라이트 없어질 때 해제하면 돼서 추후에 구현할 수 있어 보인다</a:t>
            </a:r>
            <a:r>
              <a:rPr lang="en-US" altLang="ko-KR" sz="1100" dirty="0">
                <a:solidFill>
                  <a:srgbClr val="FF0000"/>
                </a:solidFill>
              </a:rPr>
              <a:t>.</a:t>
            </a:r>
          </a:p>
          <a:p>
            <a:r>
              <a:rPr lang="ko-KR" altLang="en-US" sz="1100" dirty="0"/>
              <a:t>다만 </a:t>
            </a:r>
            <a:r>
              <a:rPr lang="en-US" altLang="ko-KR" sz="1100" dirty="0" err="1"/>
              <a:t>StructuredBuffer</a:t>
            </a:r>
            <a:r>
              <a:rPr lang="ko-KR" altLang="en-US" sz="1100" dirty="0"/>
              <a:t>를 통해 라이트 데이터를 모두 바인딩하므로 한 </a:t>
            </a:r>
            <a:r>
              <a:rPr lang="ko-KR" altLang="en-US" sz="1100" dirty="0" err="1"/>
              <a:t>청크당</a:t>
            </a:r>
            <a:r>
              <a:rPr lang="ko-KR" altLang="en-US" sz="1100" dirty="0"/>
              <a:t> 라이트 수가 제한된 점은 단점이다</a:t>
            </a:r>
            <a:r>
              <a:rPr lang="en-US" altLang="ko-KR" sz="1100" dirty="0"/>
              <a:t>. 32</a:t>
            </a:r>
            <a:r>
              <a:rPr lang="ko-KR" altLang="en-US" sz="1100" dirty="0"/>
              <a:t>개다</a:t>
            </a:r>
            <a:r>
              <a:rPr lang="en-US" altLang="ko-KR" sz="1100" dirty="0"/>
              <a:t>.</a:t>
            </a:r>
          </a:p>
          <a:p>
            <a:r>
              <a:rPr lang="ko-KR" altLang="en-US" sz="1100" dirty="0"/>
              <a:t>또한 </a:t>
            </a:r>
            <a:r>
              <a:rPr lang="en-US" altLang="ko-KR" sz="1100" dirty="0"/>
              <a:t>Light</a:t>
            </a:r>
            <a:r>
              <a:rPr lang="ko-KR" altLang="en-US" sz="1100" dirty="0"/>
              <a:t>는 </a:t>
            </a:r>
            <a:r>
              <a:rPr lang="en-US" altLang="ko-KR" sz="1100" dirty="0"/>
              <a:t>Point, Spot </a:t>
            </a:r>
            <a:r>
              <a:rPr lang="ko-KR" altLang="en-US" sz="1100" dirty="0"/>
              <a:t>두 개 종류의 라이트 모두 구현했다</a:t>
            </a:r>
            <a:r>
              <a:rPr lang="en-US" altLang="ko-KR" sz="1100" dirty="0"/>
              <a:t>.</a:t>
            </a:r>
          </a:p>
          <a:p>
            <a:r>
              <a:rPr lang="en-US" altLang="ko-KR" sz="1100" dirty="0" err="1"/>
              <a:t>DirLight</a:t>
            </a:r>
            <a:r>
              <a:rPr lang="en-US" altLang="ko-KR" sz="1100" dirty="0"/>
              <a:t> </a:t>
            </a:r>
            <a:r>
              <a:rPr lang="ko-KR" altLang="en-US" sz="1100" dirty="0"/>
              <a:t>정보는 따로 바인딩한다</a:t>
            </a:r>
            <a:r>
              <a:rPr lang="en-US" altLang="ko-KR" sz="1100" dirty="0"/>
              <a:t>.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3C485E29-85FF-6B2B-8997-D8F5EC790818}"/>
              </a:ext>
            </a:extLst>
          </p:cNvPr>
          <p:cNvSpPr txBox="1"/>
          <p:nvPr/>
        </p:nvSpPr>
        <p:spPr>
          <a:xfrm>
            <a:off x="838200" y="4138950"/>
            <a:ext cx="4229100" cy="138499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b="1"/>
              <a:t>3. </a:t>
            </a:r>
            <a:r>
              <a:rPr lang="ko-KR" altLang="en-US" b="1"/>
              <a:t>청크를 활용한 뷰 프러스텀 컬링</a:t>
            </a:r>
            <a:endParaRPr lang="en-US" altLang="ko-KR" b="1"/>
          </a:p>
          <a:p>
            <a:r>
              <a:rPr lang="en-US" altLang="ko-KR" sz="1100"/>
              <a:t>RenderTour </a:t>
            </a:r>
            <a:r>
              <a:rPr lang="ko-KR" altLang="en-US" sz="1100"/>
              <a:t>함수를 통해 선택된 </a:t>
            </a:r>
            <a:r>
              <a:rPr lang="en-US" altLang="ko-KR" sz="1100"/>
              <a:t>viewport</a:t>
            </a:r>
            <a:r>
              <a:rPr lang="ko-KR" altLang="en-US" sz="1100"/>
              <a:t>에 대해 프러스텀 컬링을 한 오브젝트를 뽑거나</a:t>
            </a:r>
            <a:r>
              <a:rPr lang="en-US" altLang="ko-KR" sz="1100"/>
              <a:t>, </a:t>
            </a:r>
            <a:r>
              <a:rPr lang="ko-KR" altLang="en-US" sz="1100"/>
              <a:t>렌더를 해서 </a:t>
            </a:r>
            <a:r>
              <a:rPr lang="en-US" altLang="ko-KR" sz="1100"/>
              <a:t>DrawCall</a:t>
            </a:r>
            <a:r>
              <a:rPr lang="ko-KR" altLang="en-US" sz="1100"/>
              <a:t>을 줄이고</a:t>
            </a:r>
            <a:r>
              <a:rPr lang="en-US" altLang="ko-KR" sz="1100"/>
              <a:t>, GPU</a:t>
            </a:r>
            <a:r>
              <a:rPr lang="ko-KR" altLang="en-US" sz="1100"/>
              <a:t>가 할 일을 줄인다</a:t>
            </a:r>
            <a:r>
              <a:rPr lang="en-US" altLang="ko-KR" sz="1100"/>
              <a:t>.</a:t>
            </a:r>
          </a:p>
          <a:p>
            <a:endParaRPr lang="en-US" altLang="ko-KR" sz="1100"/>
          </a:p>
          <a:p>
            <a:r>
              <a:rPr lang="ko-KR" altLang="en-US" sz="1100"/>
              <a:t>이는 셰도우 맵핑을 할 때도 </a:t>
            </a:r>
            <a:r>
              <a:rPr lang="en-US" altLang="ko-KR" sz="1100"/>
              <a:t>viewport</a:t>
            </a:r>
            <a:r>
              <a:rPr lang="ko-KR" altLang="en-US" sz="1100"/>
              <a:t>를 직교 투영으로 설정하여</a:t>
            </a:r>
            <a:endParaRPr lang="en-US" altLang="ko-KR" sz="1100"/>
          </a:p>
          <a:p>
            <a:r>
              <a:rPr lang="ko-KR" altLang="en-US" sz="1100"/>
              <a:t>오브젝트를 추린다</a:t>
            </a:r>
            <a:r>
              <a:rPr lang="en-US" altLang="ko-KR" sz="1100"/>
              <a:t>.</a:t>
            </a:r>
            <a:endParaRPr lang="ko-KR" altLang="en-US" sz="1100"/>
          </a:p>
        </p:txBody>
      </p:sp>
    </p:spTree>
    <p:extLst>
      <p:ext uri="{BB962C8B-B14F-4D97-AF65-F5344CB8AC3E}">
        <p14:creationId xmlns:p14="http://schemas.microsoft.com/office/powerpoint/2010/main" val="1641885591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7D63DC4-5EA1-E3FE-F43A-44C3E0DECC4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4" name="그림 13">
            <a:extLst>
              <a:ext uri="{FF2B5EF4-FFF2-40B4-BE49-F238E27FC236}">
                <a16:creationId xmlns:a16="http://schemas.microsoft.com/office/drawing/2014/main" id="{C92CE56F-D301-05EA-0603-148116171AB3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96000" y="3863250"/>
            <a:ext cx="5325859" cy="2994750"/>
          </a:xfrm>
          <a:prstGeom prst="rect">
            <a:avLst/>
          </a:prstGeom>
        </p:spPr>
      </p:pic>
      <p:pic>
        <p:nvPicPr>
          <p:cNvPr id="18" name="그림 17" descr="화이트, 디자인이(가) 표시된 사진&#10;&#10;AI 생성 콘텐츠는 정확하지 않을 수 있습니다.">
            <a:extLst>
              <a:ext uri="{FF2B5EF4-FFF2-40B4-BE49-F238E27FC236}">
                <a16:creationId xmlns:a16="http://schemas.microsoft.com/office/drawing/2014/main" id="{C942C7A0-6362-9146-919C-9339254A767D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 rot="10800000" flipH="1">
            <a:off x="4501573" y="5280731"/>
            <a:ext cx="1499177" cy="1575862"/>
          </a:xfrm>
          <a:prstGeom prst="rect">
            <a:avLst/>
          </a:prstGeom>
        </p:spPr>
      </p:pic>
      <p:sp>
        <p:nvSpPr>
          <p:cNvPr id="2" name="제목 1">
            <a:extLst>
              <a:ext uri="{FF2B5EF4-FFF2-40B4-BE49-F238E27FC236}">
                <a16:creationId xmlns:a16="http://schemas.microsoft.com/office/drawing/2014/main" id="{715F2DC0-4EBD-8A95-DD47-9E566032E22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렌더링</a:t>
            </a:r>
            <a:endParaRPr lang="en-US" altLang="ko-KR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DA48FA71-D4E2-C1F9-E2AA-072C07F1C48D}"/>
              </a:ext>
            </a:extLst>
          </p:cNvPr>
          <p:cNvSpPr txBox="1"/>
          <p:nvPr/>
        </p:nvSpPr>
        <p:spPr>
          <a:xfrm>
            <a:off x="0" y="15544"/>
            <a:ext cx="134620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b="1"/>
              <a:t>PulseCity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B8AD1AB2-D393-D945-06DC-7459706C343E}"/>
              </a:ext>
            </a:extLst>
          </p:cNvPr>
          <p:cNvSpPr txBox="1"/>
          <p:nvPr/>
        </p:nvSpPr>
        <p:spPr>
          <a:xfrm>
            <a:off x="723900" y="1472525"/>
            <a:ext cx="3429000" cy="216982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b="1"/>
              <a:t>5. </a:t>
            </a:r>
            <a:r>
              <a:rPr lang="ko-KR" altLang="en-US" b="1"/>
              <a:t>대부분의 셰이더와 </a:t>
            </a:r>
            <a:r>
              <a:rPr lang="en-US" altLang="ko-KR" b="1"/>
              <a:t>Render</a:t>
            </a:r>
            <a:r>
              <a:rPr lang="ko-KR" altLang="en-US" b="1"/>
              <a:t>함수 작성</a:t>
            </a:r>
            <a:endParaRPr lang="en-US" altLang="ko-KR" b="1"/>
          </a:p>
          <a:p>
            <a:r>
              <a:rPr lang="en-US" altLang="ko-KR" sz="1100"/>
              <a:t>Particle.hlsl</a:t>
            </a:r>
            <a:r>
              <a:rPr lang="ko-KR" altLang="en-US" sz="1100"/>
              <a:t>을 제외한 모든 셰이더를 </a:t>
            </a:r>
            <a:endParaRPr lang="en-US" altLang="ko-KR" sz="1100"/>
          </a:p>
          <a:p>
            <a:r>
              <a:rPr lang="ko-KR" altLang="en-US" sz="1100"/>
              <a:t>작성했다</a:t>
            </a:r>
            <a:r>
              <a:rPr lang="en-US" altLang="ko-KR" sz="1100"/>
              <a:t>.</a:t>
            </a:r>
          </a:p>
          <a:p>
            <a:endParaRPr lang="en-US" altLang="ko-KR" sz="1100"/>
          </a:p>
          <a:p>
            <a:r>
              <a:rPr lang="ko-KR" altLang="en-US" sz="1100"/>
              <a:t>레스터 </a:t>
            </a:r>
            <a:r>
              <a:rPr lang="en-US" altLang="ko-KR" sz="1100"/>
              <a:t>PBR </a:t>
            </a:r>
            <a:r>
              <a:rPr lang="ko-KR" altLang="en-US" sz="1100"/>
              <a:t>셰이더</a:t>
            </a:r>
            <a:r>
              <a:rPr lang="en-US" altLang="ko-KR" sz="1100"/>
              <a:t>, </a:t>
            </a:r>
            <a:r>
              <a:rPr lang="ko-KR" altLang="en-US" sz="1100"/>
              <a:t>스카이박스 셰이더</a:t>
            </a:r>
            <a:r>
              <a:rPr lang="en-US" altLang="ko-KR" sz="1100"/>
              <a:t>,</a:t>
            </a:r>
          </a:p>
          <a:p>
            <a:r>
              <a:rPr lang="ko-KR" altLang="en-US" sz="1100"/>
              <a:t>모션블러와 거리에 따른 합성곱 수행 셰이더</a:t>
            </a:r>
            <a:r>
              <a:rPr lang="en-US" altLang="ko-KR" sz="1100"/>
              <a:t>,</a:t>
            </a:r>
          </a:p>
          <a:p>
            <a:r>
              <a:rPr lang="en-US" altLang="ko-KR" sz="1100"/>
              <a:t>SDFText</a:t>
            </a:r>
            <a:r>
              <a:rPr lang="ko-KR" altLang="en-US" sz="1100"/>
              <a:t>를 출력하기 위한 셰이더와</a:t>
            </a:r>
            <a:endParaRPr lang="en-US" altLang="ko-KR" sz="1100"/>
          </a:p>
          <a:p>
            <a:r>
              <a:rPr lang="ko-KR" altLang="en-US" sz="1100"/>
              <a:t>레이트레이싱 렌더링을 위한 셰이더</a:t>
            </a:r>
            <a:r>
              <a:rPr lang="en-US" altLang="ko-KR" sz="1100"/>
              <a:t>,</a:t>
            </a:r>
          </a:p>
          <a:p>
            <a:r>
              <a:rPr lang="ko-KR" altLang="en-US" sz="1100"/>
              <a:t>애니메이션 작동을 위한 </a:t>
            </a:r>
            <a:r>
              <a:rPr lang="en-US" altLang="ko-KR" sz="1100"/>
              <a:t>3</a:t>
            </a:r>
            <a:r>
              <a:rPr lang="ko-KR" altLang="en-US" sz="1100"/>
              <a:t>개의 셰이더등</a:t>
            </a:r>
            <a:endParaRPr lang="en-US" altLang="ko-KR" sz="1100"/>
          </a:p>
          <a:p>
            <a:r>
              <a:rPr lang="ko-KR" altLang="en-US" sz="1100"/>
              <a:t>렌더의 대부분을 작성함</a:t>
            </a:r>
            <a:r>
              <a:rPr lang="en-US" altLang="ko-KR" sz="1100"/>
              <a:t>.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66EC1B80-4404-4267-747B-B01E5EAE6DAB}"/>
              </a:ext>
            </a:extLst>
          </p:cNvPr>
          <p:cNvSpPr txBox="1"/>
          <p:nvPr/>
        </p:nvSpPr>
        <p:spPr>
          <a:xfrm>
            <a:off x="6145009" y="129844"/>
            <a:ext cx="5372100" cy="363176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b="1" dirty="0"/>
              <a:t>6. </a:t>
            </a:r>
            <a:r>
              <a:rPr lang="ko-KR" altLang="en-US" b="1" dirty="0" err="1"/>
              <a:t>컴퓨트</a:t>
            </a:r>
            <a:r>
              <a:rPr lang="ko-KR" altLang="en-US" b="1" dirty="0"/>
              <a:t> </a:t>
            </a:r>
            <a:r>
              <a:rPr lang="ko-KR" altLang="en-US" b="1" dirty="0" err="1"/>
              <a:t>셰이더를</a:t>
            </a:r>
            <a:r>
              <a:rPr lang="ko-KR" altLang="en-US" b="1" dirty="0"/>
              <a:t> 활용한 </a:t>
            </a:r>
            <a:r>
              <a:rPr lang="en-US" altLang="ko-KR" b="1" dirty="0"/>
              <a:t>GPU </a:t>
            </a:r>
            <a:r>
              <a:rPr lang="ko-KR" altLang="en-US" b="1" dirty="0"/>
              <a:t>애니메이션</a:t>
            </a:r>
            <a:endParaRPr lang="en-US" altLang="ko-KR" b="1" dirty="0"/>
          </a:p>
          <a:p>
            <a:r>
              <a:rPr lang="ko-KR" altLang="en-US" sz="1100" dirty="0"/>
              <a:t>해당 게임의 애니메이션은 </a:t>
            </a:r>
            <a:r>
              <a:rPr lang="en-US" altLang="ko-KR" sz="1100" dirty="0"/>
              <a:t>Humanoid</a:t>
            </a:r>
            <a:r>
              <a:rPr lang="ko-KR" altLang="en-US" sz="1100" dirty="0"/>
              <a:t> </a:t>
            </a:r>
            <a:r>
              <a:rPr lang="en-US" altLang="ko-KR" sz="1100" dirty="0"/>
              <a:t>Retargeting</a:t>
            </a:r>
            <a:r>
              <a:rPr lang="ko-KR" altLang="en-US" sz="1100" dirty="0"/>
              <a:t> 되어 모델로 들어가기 때문에</a:t>
            </a:r>
            <a:r>
              <a:rPr lang="en-US" altLang="ko-KR" sz="1100" dirty="0"/>
              <a:t>,</a:t>
            </a:r>
          </a:p>
          <a:p>
            <a:r>
              <a:rPr lang="en-US" altLang="ko-KR" sz="1100" dirty="0"/>
              <a:t>Animation </a:t>
            </a:r>
            <a:r>
              <a:rPr lang="ko-KR" altLang="en-US" sz="1100" dirty="0"/>
              <a:t>데이터가 </a:t>
            </a:r>
            <a:r>
              <a:rPr lang="en-US" altLang="ko-KR" sz="1100" dirty="0" err="1"/>
              <a:t>LocalMatrix</a:t>
            </a:r>
            <a:r>
              <a:rPr lang="ko-KR" altLang="en-US" sz="1100" dirty="0"/>
              <a:t>를 기준으로 구성될 필요가 있었고</a:t>
            </a:r>
            <a:r>
              <a:rPr lang="en-US" altLang="ko-KR" sz="1100" dirty="0"/>
              <a:t>,</a:t>
            </a:r>
          </a:p>
          <a:p>
            <a:r>
              <a:rPr lang="ko-KR" altLang="en-US" sz="1100" dirty="0"/>
              <a:t>그것은 애니메이션을 계산할 때 </a:t>
            </a:r>
            <a:r>
              <a:rPr lang="ko-KR" altLang="en-US" sz="1100" dirty="0" err="1"/>
              <a:t>부모노드와</a:t>
            </a:r>
            <a:r>
              <a:rPr lang="ko-KR" altLang="en-US" sz="1100" dirty="0"/>
              <a:t> </a:t>
            </a:r>
            <a:r>
              <a:rPr lang="ko-KR" altLang="en-US" sz="1100" dirty="0" err="1"/>
              <a:t>자식노드를</a:t>
            </a:r>
            <a:r>
              <a:rPr lang="ko-KR" altLang="en-US" sz="1100" dirty="0"/>
              <a:t> 탐색하며 각 </a:t>
            </a:r>
            <a:r>
              <a:rPr lang="en-US" altLang="ko-KR" sz="1100" dirty="0"/>
              <a:t>Bone</a:t>
            </a:r>
            <a:r>
              <a:rPr lang="ko-KR" altLang="en-US" sz="1100" dirty="0"/>
              <a:t>의 </a:t>
            </a:r>
            <a:r>
              <a:rPr lang="en-US" altLang="ko-KR" sz="1100" dirty="0" err="1"/>
              <a:t>WorldMatrix</a:t>
            </a:r>
            <a:r>
              <a:rPr lang="ko-KR" altLang="en-US" sz="1100" dirty="0"/>
              <a:t>를 보여줄 때마다 계산해야 하는 현상이 나타났다</a:t>
            </a:r>
            <a:r>
              <a:rPr lang="en-US" altLang="ko-KR" sz="1100" dirty="0"/>
              <a:t>.</a:t>
            </a:r>
          </a:p>
          <a:p>
            <a:r>
              <a:rPr lang="ko-KR" altLang="en-US" sz="1100" dirty="0"/>
              <a:t>그로 인해 </a:t>
            </a:r>
            <a:r>
              <a:rPr lang="en-US" altLang="ko-KR" sz="1100" dirty="0"/>
              <a:t>CPU</a:t>
            </a:r>
            <a:r>
              <a:rPr lang="ko-KR" altLang="en-US" sz="1100" dirty="0"/>
              <a:t> 애니메이션을 할 때 </a:t>
            </a:r>
            <a:r>
              <a:rPr lang="en-US" altLang="ko-KR" sz="1100" dirty="0"/>
              <a:t>CPU </a:t>
            </a:r>
            <a:r>
              <a:rPr lang="ko-KR" altLang="en-US" sz="1100" dirty="0" err="1"/>
              <a:t>연산량이</a:t>
            </a:r>
            <a:r>
              <a:rPr lang="ko-KR" altLang="en-US" sz="1100" dirty="0"/>
              <a:t> 많은 부분 소진되었고</a:t>
            </a:r>
            <a:r>
              <a:rPr lang="en-US" altLang="ko-KR" sz="1100" dirty="0"/>
              <a:t>, </a:t>
            </a:r>
          </a:p>
          <a:p>
            <a:r>
              <a:rPr lang="en-US" altLang="ko-KR" sz="1100" dirty="0"/>
              <a:t>fps</a:t>
            </a:r>
            <a:r>
              <a:rPr lang="ko-KR" altLang="en-US" sz="1100" dirty="0"/>
              <a:t>가 제대로 나오지 못했다</a:t>
            </a:r>
            <a:r>
              <a:rPr lang="en-US" altLang="ko-KR" sz="1100" dirty="0"/>
              <a:t>. </a:t>
            </a:r>
            <a:r>
              <a:rPr lang="ko-KR" altLang="en-US" sz="1100" dirty="0"/>
              <a:t>이를 해결하기 위해 </a:t>
            </a:r>
            <a:r>
              <a:rPr lang="en-US" altLang="ko-KR" sz="1100" dirty="0"/>
              <a:t>CPU </a:t>
            </a:r>
            <a:r>
              <a:rPr lang="ko-KR" altLang="en-US" sz="1100" dirty="0"/>
              <a:t>최적화를 통해 행렬의 곱셈을 줄여 보완했으나</a:t>
            </a:r>
            <a:r>
              <a:rPr lang="en-US" altLang="ko-KR" sz="1100" dirty="0"/>
              <a:t>, </a:t>
            </a:r>
            <a:r>
              <a:rPr lang="ko-KR" altLang="en-US" sz="1100" dirty="0"/>
              <a:t>여전히 느려서 </a:t>
            </a:r>
            <a:r>
              <a:rPr lang="en-US" altLang="ko-KR" sz="1100" dirty="0"/>
              <a:t>GPU </a:t>
            </a:r>
            <a:r>
              <a:rPr lang="ko-KR" altLang="en-US" sz="1100" dirty="0"/>
              <a:t>애니메이션을 만들기로 했다</a:t>
            </a:r>
            <a:r>
              <a:rPr lang="en-US" altLang="ko-KR" sz="1100" dirty="0"/>
              <a:t>.</a:t>
            </a:r>
          </a:p>
          <a:p>
            <a:r>
              <a:rPr lang="en-US" altLang="ko-KR" sz="1000" dirty="0">
                <a:solidFill>
                  <a:srgbClr val="FF0000"/>
                </a:solidFill>
              </a:rPr>
              <a:t>(</a:t>
            </a:r>
            <a:r>
              <a:rPr lang="ko-KR" altLang="en-US" sz="1000" dirty="0">
                <a:solidFill>
                  <a:srgbClr val="FF0000"/>
                </a:solidFill>
              </a:rPr>
              <a:t>당시 한번 하는데 </a:t>
            </a:r>
            <a:r>
              <a:rPr lang="en-US" altLang="ko-KR" sz="1000" dirty="0">
                <a:solidFill>
                  <a:srgbClr val="FF0000"/>
                </a:solidFill>
              </a:rPr>
              <a:t>1/60</a:t>
            </a:r>
            <a:r>
              <a:rPr lang="ko-KR" altLang="en-US" sz="1000" dirty="0">
                <a:solidFill>
                  <a:srgbClr val="FF0000"/>
                </a:solidFill>
              </a:rPr>
              <a:t>초의 </a:t>
            </a:r>
            <a:r>
              <a:rPr lang="en-US" altLang="ko-KR" sz="1000" dirty="0">
                <a:solidFill>
                  <a:srgbClr val="FF0000"/>
                </a:solidFill>
              </a:rPr>
              <a:t>0.029124 </a:t>
            </a:r>
            <a:r>
              <a:rPr lang="ko-KR" altLang="en-US" sz="1000" dirty="0">
                <a:solidFill>
                  <a:srgbClr val="FF0000"/>
                </a:solidFill>
              </a:rPr>
              <a:t>만큼 시간이 들었다</a:t>
            </a:r>
            <a:r>
              <a:rPr lang="en-US" altLang="ko-KR" sz="1000" dirty="0">
                <a:solidFill>
                  <a:srgbClr val="FF0000"/>
                </a:solidFill>
              </a:rPr>
              <a:t>. </a:t>
            </a:r>
            <a:r>
              <a:rPr lang="ko-KR" altLang="en-US" sz="1000" dirty="0">
                <a:solidFill>
                  <a:srgbClr val="FF0000"/>
                </a:solidFill>
              </a:rPr>
              <a:t>왜 이렇게 오래 걸렸는지를 교수님께서 나중에 지적해 주셔서 알아봤는데</a:t>
            </a:r>
            <a:r>
              <a:rPr lang="en-US" altLang="ko-KR" sz="1000" dirty="0">
                <a:solidFill>
                  <a:srgbClr val="FF0000"/>
                </a:solidFill>
              </a:rPr>
              <a:t>, </a:t>
            </a:r>
            <a:r>
              <a:rPr lang="ko-KR" altLang="en-US" sz="1000" dirty="0">
                <a:solidFill>
                  <a:srgbClr val="FF0000"/>
                </a:solidFill>
              </a:rPr>
              <a:t>확인 결과 알고리즘의 문제는 아니다</a:t>
            </a:r>
            <a:r>
              <a:rPr lang="en-US" altLang="ko-KR" sz="1000" dirty="0">
                <a:solidFill>
                  <a:srgbClr val="FF0000"/>
                </a:solidFill>
              </a:rPr>
              <a:t>. </a:t>
            </a:r>
            <a:r>
              <a:rPr lang="ko-KR" altLang="en-US" sz="1000" dirty="0">
                <a:solidFill>
                  <a:srgbClr val="FF0000"/>
                </a:solidFill>
              </a:rPr>
              <a:t>곱셈은 문제가 되지 않을 정도로 적게 일어나며</a:t>
            </a:r>
            <a:r>
              <a:rPr lang="en-US" altLang="ko-KR" sz="1000" dirty="0">
                <a:solidFill>
                  <a:srgbClr val="FF0000"/>
                </a:solidFill>
              </a:rPr>
              <a:t>, </a:t>
            </a:r>
            <a:r>
              <a:rPr lang="ko-KR" altLang="en-US" sz="1000" dirty="0">
                <a:solidFill>
                  <a:srgbClr val="FF0000"/>
                </a:solidFill>
              </a:rPr>
              <a:t>추정하기로는</a:t>
            </a:r>
            <a:r>
              <a:rPr lang="en-US" altLang="ko-KR" sz="1000" dirty="0">
                <a:solidFill>
                  <a:srgbClr val="FF0000"/>
                </a:solidFill>
              </a:rPr>
              <a:t>, </a:t>
            </a:r>
            <a:r>
              <a:rPr lang="ko-KR" altLang="en-US" sz="1000" dirty="0">
                <a:solidFill>
                  <a:srgbClr val="FF0000"/>
                </a:solidFill>
              </a:rPr>
              <a:t>캐시미스</a:t>
            </a:r>
            <a:r>
              <a:rPr lang="en-US" altLang="ko-KR" sz="1000" dirty="0">
                <a:solidFill>
                  <a:srgbClr val="FF0000"/>
                </a:solidFill>
              </a:rPr>
              <a:t>, </a:t>
            </a:r>
            <a:r>
              <a:rPr lang="ko-KR" altLang="en-US" sz="1000" dirty="0" err="1">
                <a:solidFill>
                  <a:srgbClr val="FF0000"/>
                </a:solidFill>
              </a:rPr>
              <a:t>페이지폴트</a:t>
            </a:r>
            <a:r>
              <a:rPr lang="en-US" altLang="ko-KR" sz="1000" dirty="0">
                <a:solidFill>
                  <a:srgbClr val="FF0000"/>
                </a:solidFill>
              </a:rPr>
              <a:t>, float</a:t>
            </a:r>
            <a:r>
              <a:rPr lang="ko-KR" altLang="en-US" sz="1000" dirty="0">
                <a:solidFill>
                  <a:srgbClr val="FF0000"/>
                </a:solidFill>
              </a:rPr>
              <a:t>의 </a:t>
            </a:r>
            <a:r>
              <a:rPr lang="ko-KR" altLang="en-US" sz="1000" dirty="0" err="1">
                <a:solidFill>
                  <a:srgbClr val="FF0000"/>
                </a:solidFill>
              </a:rPr>
              <a:t>디노멀연산이</a:t>
            </a:r>
            <a:r>
              <a:rPr lang="ko-KR" altLang="en-US" sz="1000" dirty="0">
                <a:solidFill>
                  <a:srgbClr val="FF0000"/>
                </a:solidFill>
              </a:rPr>
              <a:t> 부모 자식끼리 곱하면서 계속 일어난 문제인 것 같다</a:t>
            </a:r>
            <a:r>
              <a:rPr lang="en-US" altLang="ko-KR" sz="1000" dirty="0">
                <a:solidFill>
                  <a:srgbClr val="FF0000"/>
                </a:solidFill>
              </a:rPr>
              <a:t>.) - </a:t>
            </a:r>
            <a:r>
              <a:rPr lang="ko-KR" altLang="en-US" sz="1000" dirty="0">
                <a:solidFill>
                  <a:srgbClr val="FF0000"/>
                </a:solidFill>
              </a:rPr>
              <a:t>프로젝트를 시작할 때 </a:t>
            </a:r>
            <a:r>
              <a:rPr lang="en-US" altLang="ko-KR" sz="1000" dirty="0">
                <a:solidFill>
                  <a:srgbClr val="FF0000"/>
                </a:solidFill>
              </a:rPr>
              <a:t>float</a:t>
            </a:r>
            <a:r>
              <a:rPr lang="ko-KR" altLang="en-US" sz="1000" dirty="0">
                <a:solidFill>
                  <a:srgbClr val="FF0000"/>
                </a:solidFill>
              </a:rPr>
              <a:t>의 </a:t>
            </a:r>
            <a:r>
              <a:rPr lang="ko-KR" altLang="en-US" sz="1000" dirty="0" err="1">
                <a:solidFill>
                  <a:srgbClr val="FF0000"/>
                </a:solidFill>
              </a:rPr>
              <a:t>디노멀</a:t>
            </a:r>
            <a:r>
              <a:rPr lang="ko-KR" altLang="en-US" sz="1000" dirty="0">
                <a:solidFill>
                  <a:srgbClr val="FF0000"/>
                </a:solidFill>
              </a:rPr>
              <a:t> 연산에 대한 이해도가 아예 없었던 것이 큰 패착이 아닐까 </a:t>
            </a:r>
            <a:r>
              <a:rPr lang="ko-KR" altLang="en-US" sz="1000" dirty="0" err="1">
                <a:solidFill>
                  <a:srgbClr val="FF0000"/>
                </a:solidFill>
              </a:rPr>
              <a:t>생각중이다</a:t>
            </a:r>
            <a:r>
              <a:rPr lang="en-US" altLang="ko-KR" sz="1000" dirty="0">
                <a:solidFill>
                  <a:srgbClr val="FF0000"/>
                </a:solidFill>
              </a:rPr>
              <a:t>.</a:t>
            </a:r>
          </a:p>
          <a:p>
            <a:endParaRPr lang="en-US" altLang="ko-KR" sz="1100" dirty="0"/>
          </a:p>
          <a:p>
            <a:r>
              <a:rPr lang="ko-KR" altLang="en-US" sz="1100" dirty="0"/>
              <a:t>이를 해결하기 위해 </a:t>
            </a:r>
            <a:r>
              <a:rPr lang="en-US" altLang="ko-KR" sz="1100" dirty="0"/>
              <a:t>GPU </a:t>
            </a:r>
            <a:r>
              <a:rPr lang="ko-KR" altLang="en-US" sz="1100" dirty="0"/>
              <a:t>애니메이션을 수행하기로 했다</a:t>
            </a:r>
            <a:r>
              <a:rPr lang="en-US" altLang="ko-KR" sz="1100" dirty="0"/>
              <a:t>.</a:t>
            </a:r>
          </a:p>
          <a:p>
            <a:r>
              <a:rPr lang="en-US" altLang="ko-KR" sz="1100" dirty="0"/>
              <a:t>Humanoid Index, </a:t>
            </a:r>
            <a:r>
              <a:rPr lang="en-US" altLang="ko-KR" sz="1100" dirty="0" err="1"/>
              <a:t>ModelNodeIndex</a:t>
            </a:r>
            <a:r>
              <a:rPr lang="en-US" altLang="ko-KR" sz="1100" dirty="0"/>
              <a:t>, </a:t>
            </a:r>
            <a:r>
              <a:rPr lang="en-US" altLang="ko-KR" sz="1100" dirty="0" err="1"/>
              <a:t>BoneIndex</a:t>
            </a:r>
            <a:r>
              <a:rPr lang="en-US" altLang="ko-KR" sz="1100" dirty="0"/>
              <a:t> </a:t>
            </a:r>
            <a:r>
              <a:rPr lang="ko-KR" altLang="en-US" sz="1100" dirty="0"/>
              <a:t>간의 변환을 하면서 </a:t>
            </a:r>
            <a:endParaRPr lang="en-US" altLang="ko-KR" sz="1100" dirty="0"/>
          </a:p>
          <a:p>
            <a:r>
              <a:rPr lang="ko-KR" altLang="en-US" sz="1100" dirty="0"/>
              <a:t>트리의 </a:t>
            </a:r>
            <a:r>
              <a:rPr lang="ko-KR" altLang="en-US" sz="1100" dirty="0" err="1"/>
              <a:t>부모노드</a:t>
            </a:r>
            <a:r>
              <a:rPr lang="ko-KR" altLang="en-US" sz="1100" dirty="0"/>
              <a:t> 탐색을 통해 최종 </a:t>
            </a:r>
            <a:r>
              <a:rPr lang="en-US" altLang="ko-KR" sz="1100" dirty="0"/>
              <a:t>Bone</a:t>
            </a:r>
            <a:r>
              <a:rPr lang="ko-KR" altLang="en-US" sz="1100" dirty="0"/>
              <a:t>의 </a:t>
            </a:r>
            <a:r>
              <a:rPr lang="en-US" altLang="ko-KR" sz="1100" dirty="0"/>
              <a:t>World</a:t>
            </a:r>
            <a:r>
              <a:rPr lang="ko-KR" altLang="en-US" sz="1100" dirty="0"/>
              <a:t>를 구하는 과정과</a:t>
            </a:r>
            <a:endParaRPr lang="en-US" altLang="ko-KR" sz="1100" dirty="0"/>
          </a:p>
          <a:p>
            <a:r>
              <a:rPr lang="en-US" altLang="ko-KR" sz="1100" dirty="0"/>
              <a:t>GPU</a:t>
            </a:r>
            <a:r>
              <a:rPr lang="ko-KR" altLang="en-US" sz="1100" dirty="0"/>
              <a:t>로 애니메이션을 수행하고</a:t>
            </a:r>
            <a:r>
              <a:rPr lang="en-US" altLang="ko-KR" sz="1100" dirty="0"/>
              <a:t>, </a:t>
            </a:r>
            <a:r>
              <a:rPr lang="ko-KR" altLang="en-US" sz="1100" dirty="0"/>
              <a:t>보여주는 것이 꽤 나에게는 난이도가 있었다</a:t>
            </a:r>
            <a:r>
              <a:rPr lang="en-US" altLang="ko-KR" sz="1100" dirty="0"/>
              <a:t>.</a:t>
            </a:r>
          </a:p>
          <a:p>
            <a:r>
              <a:rPr lang="ko-KR" altLang="en-US" sz="1000" dirty="0">
                <a:solidFill>
                  <a:srgbClr val="FF0000"/>
                </a:solidFill>
              </a:rPr>
              <a:t>결과적으로 해결했지만 맞는 방향이었나</a:t>
            </a:r>
            <a:r>
              <a:rPr lang="en-US" altLang="ko-KR" sz="1000" dirty="0">
                <a:solidFill>
                  <a:srgbClr val="FF0000"/>
                </a:solidFill>
              </a:rPr>
              <a:t>?</a:t>
            </a:r>
            <a:r>
              <a:rPr lang="ko-KR" altLang="en-US" sz="1000" dirty="0">
                <a:solidFill>
                  <a:srgbClr val="FF0000"/>
                </a:solidFill>
              </a:rPr>
              <a:t> 생각이 든다</a:t>
            </a:r>
            <a:r>
              <a:rPr lang="en-US" altLang="ko-KR" sz="1000" dirty="0">
                <a:solidFill>
                  <a:srgbClr val="FF0000"/>
                </a:solidFill>
              </a:rPr>
              <a:t>. </a:t>
            </a:r>
            <a:r>
              <a:rPr lang="ko-KR" altLang="en-US" sz="1000" dirty="0">
                <a:solidFill>
                  <a:srgbClr val="FF0000"/>
                </a:solidFill>
              </a:rPr>
              <a:t>다만 애니메이션 </a:t>
            </a:r>
            <a:r>
              <a:rPr lang="ko-KR" altLang="en-US" sz="1000" dirty="0" err="1">
                <a:solidFill>
                  <a:srgbClr val="FF0000"/>
                </a:solidFill>
              </a:rPr>
              <a:t>블렌딩과</a:t>
            </a:r>
            <a:r>
              <a:rPr lang="ko-KR" altLang="en-US" sz="1000" dirty="0">
                <a:solidFill>
                  <a:srgbClr val="FF0000"/>
                </a:solidFill>
              </a:rPr>
              <a:t> </a:t>
            </a:r>
            <a:r>
              <a:rPr lang="ko-KR" altLang="en-US" sz="1000" dirty="0" err="1">
                <a:solidFill>
                  <a:srgbClr val="FF0000"/>
                </a:solidFill>
              </a:rPr>
              <a:t>마스킹</a:t>
            </a:r>
            <a:r>
              <a:rPr lang="en-US" altLang="ko-KR" sz="1000" dirty="0">
                <a:solidFill>
                  <a:srgbClr val="FF0000"/>
                </a:solidFill>
              </a:rPr>
              <a:t>, </a:t>
            </a:r>
            <a:r>
              <a:rPr lang="ko-KR" altLang="en-US" sz="1000" dirty="0">
                <a:solidFill>
                  <a:srgbClr val="FF0000"/>
                </a:solidFill>
              </a:rPr>
              <a:t>대규모의 애니메이션 처리를 위해서는 어차피 나중에 해야 할 일이었을까</a:t>
            </a:r>
            <a:r>
              <a:rPr lang="en-US" altLang="ko-KR" sz="1000" dirty="0">
                <a:solidFill>
                  <a:srgbClr val="FF0000"/>
                </a:solidFill>
              </a:rPr>
              <a:t>? </a:t>
            </a:r>
            <a:r>
              <a:rPr lang="ko-KR" altLang="en-US" sz="1000" dirty="0">
                <a:solidFill>
                  <a:srgbClr val="FF0000"/>
                </a:solidFill>
              </a:rPr>
              <a:t>아니면 애초에 </a:t>
            </a:r>
            <a:r>
              <a:rPr lang="en-US" altLang="ko-KR" sz="1000" dirty="0">
                <a:solidFill>
                  <a:srgbClr val="FF0000"/>
                </a:solidFill>
              </a:rPr>
              <a:t>CPU </a:t>
            </a:r>
            <a:r>
              <a:rPr lang="ko-KR" altLang="en-US" sz="1000" dirty="0">
                <a:solidFill>
                  <a:srgbClr val="FF0000"/>
                </a:solidFill>
              </a:rPr>
              <a:t>병목을 제대로 고려하지 못해 일어난 소모적인 노력인가</a:t>
            </a:r>
            <a:r>
              <a:rPr lang="en-US" altLang="ko-KR" sz="1000" dirty="0">
                <a:solidFill>
                  <a:srgbClr val="FF0000"/>
                </a:solidFill>
              </a:rPr>
              <a:t>?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BD5D243E-331C-3B97-11C7-DFBE7FEC775A}"/>
              </a:ext>
            </a:extLst>
          </p:cNvPr>
          <p:cNvSpPr txBox="1"/>
          <p:nvPr/>
        </p:nvSpPr>
        <p:spPr>
          <a:xfrm>
            <a:off x="723900" y="3856464"/>
            <a:ext cx="5067300" cy="290848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b="1"/>
              <a:t>7. TTF - SDF </a:t>
            </a:r>
            <a:r>
              <a:rPr lang="ko-KR" altLang="en-US" b="1"/>
              <a:t>텍스트 출력</a:t>
            </a:r>
            <a:endParaRPr lang="en-US" altLang="ko-KR" b="1"/>
          </a:p>
          <a:p>
            <a:r>
              <a:rPr lang="en-US" altLang="ko-KR" sz="1100"/>
              <a:t>TTF</a:t>
            </a:r>
            <a:r>
              <a:rPr lang="ko-KR" altLang="en-US" sz="1100"/>
              <a:t>에서 읽어온 텍스트의 데이터를 </a:t>
            </a:r>
            <a:r>
              <a:rPr lang="en-US" altLang="ko-KR" sz="1100"/>
              <a:t>SDF</a:t>
            </a:r>
            <a:r>
              <a:rPr lang="ko-KR" altLang="en-US" sz="1100"/>
              <a:t>로 재구성하여 화면에 출력할 수 있도록 한다</a:t>
            </a:r>
            <a:r>
              <a:rPr lang="en-US" altLang="ko-KR" sz="1100"/>
              <a:t>. SDF</a:t>
            </a:r>
            <a:r>
              <a:rPr lang="ko-KR" altLang="en-US" sz="1100"/>
              <a:t> 텍스쳐를 만드는 과정이 픽셀 하나를 찍을 때마다 모든 픽셀에 대해 거리 계산을 수행해 매우 느렸으나</a:t>
            </a:r>
            <a:r>
              <a:rPr lang="en-US" altLang="ko-KR" sz="1100"/>
              <a:t>, </a:t>
            </a:r>
            <a:r>
              <a:rPr lang="ko-KR" altLang="en-US" sz="1100" b="1"/>
              <a:t>원점에서 가장 가까운 픽셀 순서대로 순회할 수 있는 테이블을 만들어 빠르게 새로운 텍스트에 대한 </a:t>
            </a:r>
            <a:r>
              <a:rPr lang="en-US" altLang="ko-KR" sz="1100" b="1"/>
              <a:t>SDF </a:t>
            </a:r>
            <a:r>
              <a:rPr lang="ko-KR" altLang="en-US" sz="1100" b="1"/>
              <a:t>구성을 할 수 있었다</a:t>
            </a:r>
            <a:r>
              <a:rPr lang="en-US" altLang="ko-KR" sz="1100" b="1"/>
              <a:t>.</a:t>
            </a:r>
          </a:p>
          <a:p>
            <a:endParaRPr lang="en-US" altLang="ko-KR" sz="1100"/>
          </a:p>
          <a:p>
            <a:r>
              <a:rPr lang="ko-KR" altLang="en-US" sz="1100"/>
              <a:t>글자를 이루는 외곽선을 기준으로</a:t>
            </a:r>
            <a:r>
              <a:rPr lang="en-US" altLang="ko-KR" sz="1100"/>
              <a:t> </a:t>
            </a:r>
            <a:r>
              <a:rPr lang="ko-KR" altLang="en-US" sz="1100"/>
              <a:t>한 픽셀은 외곽선과의 최소거리를</a:t>
            </a:r>
            <a:endParaRPr lang="en-US" altLang="ko-KR" sz="1100"/>
          </a:p>
          <a:p>
            <a:r>
              <a:rPr lang="ko-KR" altLang="en-US" sz="1100"/>
              <a:t>저장한다</a:t>
            </a:r>
            <a:r>
              <a:rPr lang="en-US" altLang="ko-KR" sz="1100"/>
              <a:t>. </a:t>
            </a:r>
            <a:r>
              <a:rPr lang="ko-KR" altLang="en-US" sz="1100"/>
              <a:t>부호는 내부일 경우 음수</a:t>
            </a:r>
            <a:r>
              <a:rPr lang="en-US" altLang="ko-KR" sz="1100"/>
              <a:t> </a:t>
            </a:r>
            <a:r>
              <a:rPr lang="ko-KR" altLang="en-US" sz="1100"/>
              <a:t>외부일 경우 양수가 된다</a:t>
            </a:r>
            <a:r>
              <a:rPr lang="en-US" altLang="ko-KR" sz="1100"/>
              <a:t>.</a:t>
            </a:r>
          </a:p>
          <a:p>
            <a:r>
              <a:rPr lang="ko-KR" altLang="en-US" sz="1100"/>
              <a:t>이것을 활용해 다양한 글자의 효과를</a:t>
            </a:r>
            <a:r>
              <a:rPr lang="en-US" altLang="ko-KR" sz="1100"/>
              <a:t> </a:t>
            </a:r>
            <a:r>
              <a:rPr lang="ko-KR" altLang="en-US" sz="1100"/>
              <a:t>구현할 수 있다</a:t>
            </a:r>
            <a:r>
              <a:rPr lang="en-US" altLang="ko-KR" sz="1100"/>
              <a:t>.</a:t>
            </a:r>
          </a:p>
          <a:p>
            <a:r>
              <a:rPr lang="ko-KR" altLang="en-US" sz="1100"/>
              <a:t>기본적으로 출력할 픽셀의</a:t>
            </a:r>
            <a:r>
              <a:rPr lang="en-US" altLang="ko-KR" sz="1100"/>
              <a:t> </a:t>
            </a:r>
            <a:r>
              <a:rPr lang="ko-KR" altLang="en-US" sz="1100"/>
              <a:t>최솟값과 최댓값을 지정하면 된다</a:t>
            </a:r>
            <a:r>
              <a:rPr lang="en-US" altLang="ko-KR" sz="1100"/>
              <a:t>.</a:t>
            </a:r>
          </a:p>
          <a:p>
            <a:endParaRPr lang="en-US" altLang="ko-KR" sz="1100"/>
          </a:p>
          <a:p>
            <a:r>
              <a:rPr lang="en-US" altLang="ko-KR" sz="1100"/>
              <a:t>(-128 ~ 0) : </a:t>
            </a:r>
            <a:r>
              <a:rPr lang="ko-KR" altLang="en-US" sz="1100"/>
              <a:t>내부가 찬 글자</a:t>
            </a:r>
            <a:r>
              <a:rPr lang="en-US" altLang="ko-KR" sz="1100"/>
              <a:t>.</a:t>
            </a:r>
          </a:p>
          <a:p>
            <a:r>
              <a:rPr lang="en-US" altLang="ko-KR" sz="1100"/>
              <a:t>(0 ~ 127) : </a:t>
            </a:r>
            <a:r>
              <a:rPr lang="ko-KR" altLang="en-US" sz="1100"/>
              <a:t>외부만 차고 내부는 빈 글자</a:t>
            </a:r>
            <a:r>
              <a:rPr lang="en-US" altLang="ko-KR" sz="1100"/>
              <a:t>.</a:t>
            </a:r>
          </a:p>
          <a:p>
            <a:r>
              <a:rPr lang="en-US" altLang="ko-KR" sz="1100"/>
              <a:t>(-128 ~ 30) : </a:t>
            </a:r>
            <a:r>
              <a:rPr lang="ko-KR" altLang="en-US" sz="1100"/>
              <a:t>조금 굵은 글자</a:t>
            </a:r>
            <a:endParaRPr lang="en-US" altLang="ko-KR" sz="1100"/>
          </a:p>
          <a:p>
            <a:r>
              <a:rPr lang="en-US" altLang="ko-KR" sz="1100"/>
              <a:t>(0 ~ 0) : </a:t>
            </a:r>
            <a:r>
              <a:rPr lang="ko-KR" altLang="en-US" sz="1100"/>
              <a:t>외곽선</a:t>
            </a:r>
            <a:endParaRPr lang="en-US" altLang="ko-KR" sz="1100"/>
          </a:p>
        </p:txBody>
      </p:sp>
      <p:pic>
        <p:nvPicPr>
          <p:cNvPr id="4" name="그림 3">
            <a:extLst>
              <a:ext uri="{FF2B5EF4-FFF2-40B4-BE49-F238E27FC236}">
                <a16:creationId xmlns:a16="http://schemas.microsoft.com/office/drawing/2014/main" id="{5881645E-D35C-A573-94ED-D3D63B9B5880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949700" y="1506906"/>
            <a:ext cx="1955800" cy="263204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591139961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62AB213-773B-9E23-EA76-AD2A5CB15EA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5E105191-C322-56EC-8F42-0B796A9EA94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레이트레이싱</a:t>
            </a:r>
            <a:endParaRPr lang="en-US" altLang="ko-KR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763A61FE-428F-14D9-E241-DBEE66C7951C}"/>
              </a:ext>
            </a:extLst>
          </p:cNvPr>
          <p:cNvSpPr txBox="1"/>
          <p:nvPr/>
        </p:nvSpPr>
        <p:spPr>
          <a:xfrm>
            <a:off x="0" y="15544"/>
            <a:ext cx="134620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b="1"/>
              <a:t>PulseCity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10FC2CAA-C335-F529-FFFE-033C50C1B0EC}"/>
              </a:ext>
            </a:extLst>
          </p:cNvPr>
          <p:cNvSpPr txBox="1"/>
          <p:nvPr/>
        </p:nvSpPr>
        <p:spPr>
          <a:xfrm>
            <a:off x="723900" y="1389330"/>
            <a:ext cx="5372100" cy="290848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b="1" dirty="0"/>
              <a:t>1. </a:t>
            </a:r>
            <a:r>
              <a:rPr lang="ko-KR" altLang="en-US" b="1" dirty="0" err="1"/>
              <a:t>레이트레이싱과</a:t>
            </a:r>
            <a:r>
              <a:rPr lang="ko-KR" altLang="en-US" b="1" dirty="0"/>
              <a:t> </a:t>
            </a:r>
            <a:r>
              <a:rPr lang="ko-KR" altLang="en-US" b="1" dirty="0" err="1"/>
              <a:t>레스터에서</a:t>
            </a:r>
            <a:r>
              <a:rPr lang="ko-KR" altLang="en-US" b="1" dirty="0"/>
              <a:t> </a:t>
            </a:r>
            <a:r>
              <a:rPr lang="en-US" altLang="ko-KR" b="1" dirty="0"/>
              <a:t>Mesh </a:t>
            </a:r>
            <a:r>
              <a:rPr lang="ko-KR" altLang="en-US" b="1" dirty="0"/>
              <a:t>정보를 공유</a:t>
            </a:r>
            <a:endParaRPr lang="en-US" altLang="ko-KR" b="1" dirty="0"/>
          </a:p>
          <a:p>
            <a:r>
              <a:rPr lang="ko-KR" altLang="en-US" sz="1100" dirty="0" err="1"/>
              <a:t>레이트레이싱</a:t>
            </a:r>
            <a:r>
              <a:rPr lang="ko-KR" altLang="en-US" sz="1100" dirty="0"/>
              <a:t> 렌더링에서는 모든 </a:t>
            </a:r>
            <a:r>
              <a:rPr lang="ko-KR" altLang="en-US" sz="1100" dirty="0" err="1"/>
              <a:t>버택스</a:t>
            </a:r>
            <a:r>
              <a:rPr lang="en-US" altLang="ko-KR" sz="1100" dirty="0"/>
              <a:t>/</a:t>
            </a:r>
            <a:r>
              <a:rPr lang="ko-KR" altLang="en-US" sz="1100" dirty="0"/>
              <a:t>인덱스 데이터를 바인딩할 필요가 있었다</a:t>
            </a:r>
            <a:r>
              <a:rPr lang="en-US" altLang="ko-KR" sz="1100" dirty="0"/>
              <a:t>. </a:t>
            </a:r>
            <a:r>
              <a:rPr lang="ko-KR" altLang="en-US" sz="1100" dirty="0"/>
              <a:t>왜냐하면 </a:t>
            </a:r>
            <a:r>
              <a:rPr lang="ko-KR" altLang="en-US" sz="1100" dirty="0" err="1"/>
              <a:t>셰이더</a:t>
            </a:r>
            <a:r>
              <a:rPr lang="ko-KR" altLang="en-US" sz="1100" dirty="0"/>
              <a:t> </a:t>
            </a:r>
            <a:r>
              <a:rPr lang="en-US" altLang="ko-KR" sz="1100" dirty="0"/>
              <a:t>Ray</a:t>
            </a:r>
            <a:r>
              <a:rPr lang="ko-KR" altLang="en-US" sz="1100" dirty="0"/>
              <a:t>가 충돌한 지점의 평면의 </a:t>
            </a:r>
            <a:r>
              <a:rPr lang="ko-KR" altLang="en-US" sz="1100" dirty="0" err="1"/>
              <a:t>노멀과</a:t>
            </a:r>
            <a:r>
              <a:rPr lang="ko-KR" altLang="en-US" sz="1100" dirty="0"/>
              <a:t> 탄젠트</a:t>
            </a:r>
            <a:r>
              <a:rPr lang="en-US" altLang="ko-KR" sz="1100" dirty="0"/>
              <a:t>, </a:t>
            </a:r>
            <a:r>
              <a:rPr lang="en-US" altLang="ko-KR" sz="1100" dirty="0" err="1"/>
              <a:t>uv</a:t>
            </a:r>
            <a:r>
              <a:rPr lang="en-US" altLang="ko-KR" sz="1100" dirty="0"/>
              <a:t>, </a:t>
            </a:r>
            <a:r>
              <a:rPr lang="ko-KR" altLang="en-US" sz="1100" dirty="0" err="1"/>
              <a:t>머터리얼</a:t>
            </a:r>
            <a:r>
              <a:rPr lang="ko-KR" altLang="en-US" sz="1100" dirty="0"/>
              <a:t> 등의 </a:t>
            </a:r>
            <a:endParaRPr lang="en-US" altLang="ko-KR" sz="1100" dirty="0"/>
          </a:p>
          <a:p>
            <a:r>
              <a:rPr lang="ko-KR" altLang="en-US" sz="1100" dirty="0"/>
              <a:t>정보가</a:t>
            </a:r>
            <a:r>
              <a:rPr lang="en-US" altLang="ko-KR" sz="1100" dirty="0"/>
              <a:t> </a:t>
            </a:r>
            <a:r>
              <a:rPr lang="ko-KR" altLang="en-US" sz="1100" dirty="0"/>
              <a:t>필요했기 때문이다</a:t>
            </a:r>
            <a:r>
              <a:rPr lang="en-US" altLang="ko-KR" sz="1100" dirty="0"/>
              <a:t>.</a:t>
            </a:r>
          </a:p>
          <a:p>
            <a:r>
              <a:rPr lang="ko-KR" altLang="en-US" sz="1100" dirty="0"/>
              <a:t>하지만 그렇다고 </a:t>
            </a:r>
            <a:r>
              <a:rPr lang="ko-KR" altLang="en-US" sz="1100" dirty="0" err="1"/>
              <a:t>레스터와</a:t>
            </a:r>
            <a:r>
              <a:rPr lang="ko-KR" altLang="en-US" sz="1100" dirty="0"/>
              <a:t> </a:t>
            </a:r>
            <a:r>
              <a:rPr lang="ko-KR" altLang="en-US" sz="1100" dirty="0" err="1"/>
              <a:t>레이트레이싱용</a:t>
            </a:r>
            <a:r>
              <a:rPr lang="ko-KR" altLang="en-US" sz="1100" dirty="0"/>
              <a:t> </a:t>
            </a:r>
            <a:r>
              <a:rPr lang="en-US" altLang="ko-KR" sz="1100" dirty="0"/>
              <a:t>Mesh Res</a:t>
            </a:r>
            <a:r>
              <a:rPr lang="ko-KR" altLang="en-US" sz="1100" dirty="0"/>
              <a:t>를 따로 만드는 것은 </a:t>
            </a:r>
            <a:endParaRPr lang="en-US" altLang="ko-KR" sz="1100" dirty="0"/>
          </a:p>
          <a:p>
            <a:r>
              <a:rPr lang="ko-KR" altLang="en-US" sz="1100" dirty="0"/>
              <a:t>바람직하지 못했다</a:t>
            </a:r>
            <a:r>
              <a:rPr lang="en-US" altLang="ko-KR" sz="1100" dirty="0"/>
              <a:t>. </a:t>
            </a:r>
            <a:r>
              <a:rPr lang="ko-KR" altLang="en-US" sz="1100" dirty="0"/>
              <a:t>왜냐하면 요새 </a:t>
            </a:r>
            <a:r>
              <a:rPr lang="en-US" altLang="ko-KR" sz="1100" dirty="0"/>
              <a:t>GPU VRAM</a:t>
            </a:r>
            <a:r>
              <a:rPr lang="ko-KR" altLang="en-US" sz="1100" dirty="0"/>
              <a:t>이 감소하는 추세이기도 하고</a:t>
            </a:r>
            <a:r>
              <a:rPr lang="en-US" altLang="ko-KR" sz="1100" dirty="0"/>
              <a:t>, </a:t>
            </a:r>
          </a:p>
          <a:p>
            <a:r>
              <a:rPr lang="en-US" altLang="ko-KR" sz="1100" dirty="0"/>
              <a:t>BLAS </a:t>
            </a:r>
            <a:r>
              <a:rPr lang="ko-KR" altLang="en-US" sz="1100" dirty="0"/>
              <a:t>빌드를 하고 나면</a:t>
            </a:r>
            <a:r>
              <a:rPr lang="en-US" altLang="ko-KR" sz="1100" dirty="0"/>
              <a:t>, </a:t>
            </a:r>
            <a:r>
              <a:rPr lang="ko-KR" altLang="en-US" sz="1100" dirty="0"/>
              <a:t>남아 있는 </a:t>
            </a:r>
            <a:r>
              <a:rPr lang="en-US" altLang="ko-KR" sz="1100" dirty="0"/>
              <a:t>GPU </a:t>
            </a:r>
            <a:r>
              <a:rPr lang="ko-KR" altLang="en-US" sz="1100" dirty="0"/>
              <a:t>메모리가 부족할 것이기 때문이었다</a:t>
            </a:r>
            <a:r>
              <a:rPr lang="en-US" altLang="ko-KR" sz="1100" dirty="0"/>
              <a:t>.</a:t>
            </a:r>
          </a:p>
          <a:p>
            <a:r>
              <a:rPr lang="ko-KR" altLang="en-US" sz="1100" dirty="0"/>
              <a:t>그 때문에 </a:t>
            </a:r>
            <a:r>
              <a:rPr lang="ko-KR" altLang="en-US" sz="1100" dirty="0" err="1"/>
              <a:t>메쉬의</a:t>
            </a:r>
            <a:r>
              <a:rPr lang="ko-KR" altLang="en-US" sz="1100" dirty="0"/>
              <a:t> </a:t>
            </a:r>
            <a:r>
              <a:rPr lang="ko-KR" altLang="en-US" sz="1100" dirty="0" err="1"/>
              <a:t>버택스</a:t>
            </a:r>
            <a:r>
              <a:rPr lang="ko-KR" altLang="en-US" sz="1100" dirty="0"/>
              <a:t> 데이터는 </a:t>
            </a:r>
            <a:r>
              <a:rPr lang="ko-KR" altLang="en-US" sz="1100" dirty="0" err="1"/>
              <a:t>레스터와</a:t>
            </a:r>
            <a:r>
              <a:rPr lang="ko-KR" altLang="en-US" sz="1100" dirty="0"/>
              <a:t> </a:t>
            </a:r>
            <a:r>
              <a:rPr lang="ko-KR" altLang="en-US" sz="1100" dirty="0" err="1"/>
              <a:t>레이트레이싱에서</a:t>
            </a:r>
            <a:r>
              <a:rPr lang="ko-KR" altLang="en-US" sz="1100" dirty="0"/>
              <a:t> 같은 데이터를 사용해야 했다</a:t>
            </a:r>
            <a:r>
              <a:rPr lang="en-US" altLang="ko-KR" sz="1100" dirty="0"/>
              <a:t>. </a:t>
            </a:r>
            <a:r>
              <a:rPr lang="ko-KR" altLang="en-US" sz="1100" dirty="0"/>
              <a:t>게다가 그런 데이터는 </a:t>
            </a:r>
            <a:r>
              <a:rPr lang="ko-KR" altLang="en-US" sz="1100" dirty="0" err="1"/>
              <a:t>레스터에서의</a:t>
            </a:r>
            <a:r>
              <a:rPr lang="ko-KR" altLang="en-US" sz="1100" dirty="0"/>
              <a:t> </a:t>
            </a:r>
            <a:r>
              <a:rPr lang="en-US" altLang="ko-KR" sz="1100" dirty="0" err="1"/>
              <a:t>VertexBufferView</a:t>
            </a:r>
            <a:r>
              <a:rPr lang="ko-KR" altLang="en-US" sz="1100" dirty="0"/>
              <a:t>와 </a:t>
            </a:r>
            <a:r>
              <a:rPr lang="en-US" altLang="ko-KR" sz="1100" dirty="0" err="1"/>
              <a:t>IndexBufferView</a:t>
            </a:r>
            <a:r>
              <a:rPr lang="ko-KR" altLang="en-US" sz="1100" dirty="0"/>
              <a:t>를 만들 수 있도록 </a:t>
            </a:r>
            <a:r>
              <a:rPr lang="en-US" altLang="ko-KR" sz="1100" dirty="0"/>
              <a:t>GPUVA</a:t>
            </a:r>
            <a:r>
              <a:rPr lang="ko-KR" altLang="en-US" sz="1100" dirty="0"/>
              <a:t>가 정렬되어야 했기 때문에 새로운 </a:t>
            </a:r>
            <a:r>
              <a:rPr lang="ko-KR" altLang="en-US" sz="1100" dirty="0" err="1"/>
              <a:t>메쉬데이터가</a:t>
            </a:r>
            <a:r>
              <a:rPr lang="ko-KR" altLang="en-US" sz="1100" dirty="0"/>
              <a:t> </a:t>
            </a:r>
            <a:r>
              <a:rPr lang="ko-KR" altLang="en-US" sz="1100" dirty="0" err="1"/>
              <a:t>시작할때마다</a:t>
            </a:r>
            <a:r>
              <a:rPr lang="ko-KR" altLang="en-US" sz="1100" dirty="0"/>
              <a:t> 그 시작점을 정렬할 필요가 있었다</a:t>
            </a:r>
            <a:r>
              <a:rPr lang="en-US" altLang="ko-KR" sz="1100" dirty="0"/>
              <a:t>. </a:t>
            </a:r>
            <a:r>
              <a:rPr lang="ko-KR" altLang="en-US" sz="1100" dirty="0"/>
              <a:t>정렬의 기준은</a:t>
            </a:r>
            <a:endParaRPr lang="en-US" altLang="ko-KR" sz="1100" dirty="0"/>
          </a:p>
          <a:p>
            <a:r>
              <a:rPr lang="ko-KR" altLang="en-US" sz="1100" dirty="0"/>
              <a:t>단일 </a:t>
            </a:r>
            <a:r>
              <a:rPr lang="ko-KR" altLang="en-US" sz="1100" dirty="0" err="1"/>
              <a:t>버택스의</a:t>
            </a:r>
            <a:r>
              <a:rPr lang="ko-KR" altLang="en-US" sz="1100" dirty="0"/>
              <a:t> 사이즈와 </a:t>
            </a:r>
            <a:r>
              <a:rPr lang="en-US" altLang="ko-KR" sz="1100" dirty="0"/>
              <a:t>256</a:t>
            </a:r>
            <a:r>
              <a:rPr lang="ko-KR" altLang="en-US" sz="1100" dirty="0"/>
              <a:t>의 </a:t>
            </a:r>
            <a:r>
              <a:rPr lang="ko-KR" altLang="en-US" sz="1100" dirty="0" err="1"/>
              <a:t>최소공배수가</a:t>
            </a:r>
            <a:r>
              <a:rPr lang="ko-KR" altLang="en-US" sz="1100" dirty="0"/>
              <a:t> 되어야 하기 때문에 다음과 같이 </a:t>
            </a:r>
            <a:r>
              <a:rPr lang="ko-KR" altLang="en-US" sz="1100" dirty="0" err="1"/>
              <a:t>버택스</a:t>
            </a:r>
            <a:r>
              <a:rPr lang="ko-KR" altLang="en-US" sz="1100" dirty="0"/>
              <a:t> 데이터를 잡았다</a:t>
            </a:r>
            <a:r>
              <a:rPr lang="en-US" altLang="ko-KR" sz="1100" dirty="0"/>
              <a:t>.</a:t>
            </a:r>
          </a:p>
          <a:p>
            <a:r>
              <a:rPr lang="en-US" altLang="ko-KR" sz="1100" dirty="0"/>
              <a:t>48</a:t>
            </a:r>
            <a:r>
              <a:rPr lang="ko-KR" altLang="en-US" sz="1100" dirty="0"/>
              <a:t>이 바람직했다</a:t>
            </a:r>
            <a:r>
              <a:rPr lang="en-US" altLang="ko-KR" sz="1100" dirty="0"/>
              <a:t>. 768</a:t>
            </a:r>
            <a:r>
              <a:rPr lang="ko-KR" altLang="en-US" sz="1100" dirty="0"/>
              <a:t>바이트 단위로 정렬된다</a:t>
            </a:r>
            <a:r>
              <a:rPr lang="en-US" altLang="ko-KR" sz="1100" dirty="0"/>
              <a:t>.</a:t>
            </a:r>
          </a:p>
          <a:p>
            <a:r>
              <a:rPr lang="en-US" altLang="ko-KR" sz="1100" dirty="0"/>
              <a:t>extra</a:t>
            </a:r>
            <a:r>
              <a:rPr lang="ko-KR" altLang="en-US" sz="1100" dirty="0"/>
              <a:t> </a:t>
            </a:r>
            <a:r>
              <a:rPr lang="en-US" altLang="ko-KR" sz="1100" dirty="0"/>
              <a:t>+</a:t>
            </a:r>
            <a:r>
              <a:rPr lang="ko-KR" altLang="en-US" sz="1100" dirty="0"/>
              <a:t> </a:t>
            </a:r>
            <a:r>
              <a:rPr lang="en-US" altLang="ko-KR" sz="1100" dirty="0"/>
              <a:t>[</a:t>
            </a:r>
            <a:r>
              <a:rPr lang="en-US" altLang="ko-KR" sz="1100" dirty="0" err="1"/>
              <a:t>LocalRootSig</a:t>
            </a:r>
            <a:r>
              <a:rPr lang="ko-KR" altLang="en-US" sz="1100" dirty="0"/>
              <a:t>의 시작 </a:t>
            </a:r>
            <a:r>
              <a:rPr lang="ko-KR" altLang="en-US" sz="1100" dirty="0" err="1"/>
              <a:t>머터리얼</a:t>
            </a:r>
            <a:r>
              <a:rPr lang="ko-KR" altLang="en-US" sz="1100" dirty="0"/>
              <a:t> 인덱스</a:t>
            </a:r>
            <a:r>
              <a:rPr lang="en-US" altLang="ko-KR" sz="1100" dirty="0"/>
              <a:t>]</a:t>
            </a:r>
          </a:p>
          <a:p>
            <a:r>
              <a:rPr lang="ko-KR" altLang="en-US" sz="1100" dirty="0" err="1"/>
              <a:t>를</a:t>
            </a:r>
            <a:r>
              <a:rPr lang="ko-KR" altLang="en-US" sz="1100" dirty="0"/>
              <a:t> 하면 해당 점의 </a:t>
            </a:r>
            <a:r>
              <a:rPr lang="ko-KR" altLang="en-US" sz="1100" dirty="0" err="1"/>
              <a:t>머터리얼</a:t>
            </a:r>
            <a:r>
              <a:rPr lang="ko-KR" altLang="en-US" sz="1100" dirty="0"/>
              <a:t> 인덱스가 나온다</a:t>
            </a:r>
            <a:r>
              <a:rPr lang="en-US" altLang="ko-KR" sz="1100" dirty="0"/>
              <a:t>.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CB32E4F2-1737-1AED-EB99-01C6D66224B5}"/>
              </a:ext>
            </a:extLst>
          </p:cNvPr>
          <p:cNvSpPr txBox="1"/>
          <p:nvPr/>
        </p:nvSpPr>
        <p:spPr>
          <a:xfrm>
            <a:off x="6210300" y="1389330"/>
            <a:ext cx="5725026" cy="189282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b="1" dirty="0"/>
              <a:t>2. </a:t>
            </a:r>
            <a:r>
              <a:rPr lang="ko-KR" altLang="en-US" b="1" dirty="0" err="1"/>
              <a:t>레이트레이싱</a:t>
            </a:r>
            <a:r>
              <a:rPr lang="ko-KR" altLang="en-US" b="1" dirty="0"/>
              <a:t> </a:t>
            </a:r>
            <a:r>
              <a:rPr lang="ko-KR" altLang="en-US" b="1" dirty="0" err="1"/>
              <a:t>서브메쉬</a:t>
            </a:r>
            <a:r>
              <a:rPr lang="ko-KR" altLang="en-US" b="1" dirty="0"/>
              <a:t> 처리 방법</a:t>
            </a:r>
            <a:endParaRPr lang="en-US" altLang="ko-KR" b="1" dirty="0"/>
          </a:p>
          <a:p>
            <a:r>
              <a:rPr lang="ko-KR" altLang="en-US" sz="1100" dirty="0"/>
              <a:t>처음에 </a:t>
            </a:r>
            <a:r>
              <a:rPr lang="ko-KR" altLang="en-US" sz="1100" dirty="0" err="1"/>
              <a:t>서브메쉬의</a:t>
            </a:r>
            <a:r>
              <a:rPr lang="ko-KR" altLang="en-US" sz="1100" dirty="0"/>
              <a:t> 경우</a:t>
            </a:r>
            <a:r>
              <a:rPr lang="en-US" altLang="ko-KR" sz="1100" dirty="0"/>
              <a:t>, Geometry</a:t>
            </a:r>
            <a:r>
              <a:rPr lang="ko-KR" altLang="en-US" sz="1100" dirty="0"/>
              <a:t>와 </a:t>
            </a:r>
            <a:r>
              <a:rPr lang="en-US" altLang="ko-KR" sz="1100" dirty="0"/>
              <a:t>BLAS</a:t>
            </a:r>
            <a:r>
              <a:rPr lang="ko-KR" altLang="en-US" sz="1100" dirty="0"/>
              <a:t>를 </a:t>
            </a:r>
            <a:r>
              <a:rPr lang="ko-KR" altLang="en-US" sz="1100" dirty="0" err="1"/>
              <a:t>서브메쉬마다</a:t>
            </a:r>
            <a:r>
              <a:rPr lang="ko-KR" altLang="en-US" sz="1100" dirty="0"/>
              <a:t> 만들었었다</a:t>
            </a:r>
            <a:r>
              <a:rPr lang="en-US" altLang="ko-KR" sz="1100" dirty="0"/>
              <a:t>.</a:t>
            </a:r>
          </a:p>
          <a:p>
            <a:r>
              <a:rPr lang="ko-KR" altLang="en-US" sz="1100" dirty="0"/>
              <a:t>그렇게 한 이유는 서로 다른 </a:t>
            </a:r>
            <a:r>
              <a:rPr lang="en-US" altLang="ko-KR" sz="1100" dirty="0" err="1"/>
              <a:t>ShaderRecord</a:t>
            </a:r>
            <a:r>
              <a:rPr lang="ko-KR" altLang="en-US" sz="1100" dirty="0"/>
              <a:t>를 써서 다른 </a:t>
            </a:r>
            <a:r>
              <a:rPr lang="ko-KR" altLang="en-US" sz="1100" dirty="0" err="1"/>
              <a:t>머터리얼을</a:t>
            </a:r>
            <a:r>
              <a:rPr lang="ko-KR" altLang="en-US" sz="1100" dirty="0"/>
              <a:t> </a:t>
            </a:r>
            <a:endParaRPr lang="en-US" altLang="ko-KR" sz="1100" dirty="0"/>
          </a:p>
          <a:p>
            <a:r>
              <a:rPr lang="ko-KR" altLang="en-US" sz="1100" dirty="0"/>
              <a:t>바인딩해야 했기 때문인데</a:t>
            </a:r>
            <a:r>
              <a:rPr lang="en-US" altLang="ko-KR" sz="1100" dirty="0"/>
              <a:t>, </a:t>
            </a:r>
            <a:r>
              <a:rPr lang="ko-KR" altLang="en-US" sz="1100" dirty="0"/>
              <a:t>그렇게 했더니 </a:t>
            </a:r>
            <a:r>
              <a:rPr lang="en-US" altLang="ko-KR" sz="1100" dirty="0"/>
              <a:t>fps</a:t>
            </a:r>
            <a:r>
              <a:rPr lang="ko-KR" altLang="en-US" sz="1100" dirty="0"/>
              <a:t>가 아주 많이 떨어지는 사태가 발생했다</a:t>
            </a:r>
            <a:r>
              <a:rPr lang="en-US" altLang="ko-KR" sz="1100" dirty="0"/>
              <a:t>.</a:t>
            </a:r>
          </a:p>
          <a:p>
            <a:endParaRPr lang="en-US" altLang="ko-KR" sz="1100" dirty="0"/>
          </a:p>
          <a:p>
            <a:r>
              <a:rPr lang="ko-KR" altLang="en-US" sz="1100" dirty="0"/>
              <a:t>이유는 </a:t>
            </a:r>
            <a:r>
              <a:rPr lang="ko-KR" altLang="en-US" sz="1100" dirty="0" err="1"/>
              <a:t>서브메쉬들의</a:t>
            </a:r>
            <a:r>
              <a:rPr lang="ko-KR" altLang="en-US" sz="1100" dirty="0"/>
              <a:t> </a:t>
            </a:r>
            <a:r>
              <a:rPr lang="en-US" altLang="ko-KR" sz="1100" dirty="0"/>
              <a:t>BLAS</a:t>
            </a:r>
            <a:r>
              <a:rPr lang="ko-KR" altLang="en-US" sz="1100" dirty="0"/>
              <a:t>의 범위가 서로 겹쳐져서 </a:t>
            </a:r>
            <a:r>
              <a:rPr lang="en-US" altLang="ko-KR" sz="1100" dirty="0" err="1"/>
              <a:t>TraceRay</a:t>
            </a:r>
            <a:r>
              <a:rPr lang="ko-KR" altLang="en-US" sz="1100" dirty="0"/>
              <a:t>가 </a:t>
            </a:r>
            <a:r>
              <a:rPr lang="en-US" altLang="ko-KR" sz="1100" dirty="0" err="1"/>
              <a:t>ClosestHit</a:t>
            </a:r>
            <a:r>
              <a:rPr lang="ko-KR" altLang="en-US" sz="1100" dirty="0"/>
              <a:t>를 찾는데 시간이 많이 소진되었기 때문이었다</a:t>
            </a:r>
            <a:r>
              <a:rPr lang="en-US" altLang="ko-KR" sz="1100" dirty="0"/>
              <a:t>.</a:t>
            </a:r>
          </a:p>
          <a:p>
            <a:endParaRPr lang="en-US" altLang="ko-KR" sz="1100" dirty="0"/>
          </a:p>
          <a:p>
            <a:r>
              <a:rPr lang="ko-KR" altLang="en-US" sz="1100" dirty="0"/>
              <a:t>그래서 그것을 해결하기 위해 </a:t>
            </a:r>
            <a:r>
              <a:rPr lang="en-US" altLang="ko-KR" sz="1100" dirty="0" err="1"/>
              <a:t>ShaderRecord</a:t>
            </a:r>
            <a:r>
              <a:rPr lang="ko-KR" altLang="en-US" sz="1100" dirty="0"/>
              <a:t>에는 </a:t>
            </a:r>
            <a:r>
              <a:rPr lang="ko-KR" altLang="en-US" sz="1100" dirty="0" err="1"/>
              <a:t>머터리얼</a:t>
            </a:r>
            <a:r>
              <a:rPr lang="ko-KR" altLang="en-US" sz="1100" dirty="0"/>
              <a:t> 시작 인덱스만 부여하고</a:t>
            </a:r>
            <a:r>
              <a:rPr lang="en-US" altLang="ko-KR" sz="1100" dirty="0"/>
              <a:t>,</a:t>
            </a:r>
          </a:p>
          <a:p>
            <a:r>
              <a:rPr lang="ko-KR" altLang="en-US" sz="1100" dirty="0"/>
              <a:t>하나의 </a:t>
            </a:r>
            <a:r>
              <a:rPr lang="ko-KR" altLang="en-US" sz="1100" dirty="0" err="1"/>
              <a:t>메쉬속</a:t>
            </a:r>
            <a:r>
              <a:rPr lang="ko-KR" altLang="en-US" sz="1100" dirty="0"/>
              <a:t> </a:t>
            </a:r>
            <a:r>
              <a:rPr lang="ko-KR" altLang="en-US" sz="1100" dirty="0" err="1"/>
              <a:t>점들에서</a:t>
            </a:r>
            <a:r>
              <a:rPr lang="ko-KR" altLang="en-US" sz="1100" dirty="0"/>
              <a:t> 각각 다른 </a:t>
            </a:r>
            <a:r>
              <a:rPr lang="ko-KR" altLang="en-US" sz="1100" dirty="0" err="1"/>
              <a:t>머터리얼</a:t>
            </a:r>
            <a:r>
              <a:rPr lang="ko-KR" altLang="en-US" sz="1100" dirty="0"/>
              <a:t> 인덱스를 가질 수 있도록 조정했다</a:t>
            </a:r>
            <a:r>
              <a:rPr lang="en-US" altLang="ko-KR" sz="1100" dirty="0"/>
              <a:t>.</a:t>
            </a:r>
          </a:p>
        </p:txBody>
      </p:sp>
      <p:pic>
        <p:nvPicPr>
          <p:cNvPr id="15" name="그림 14">
            <a:extLst>
              <a:ext uri="{FF2B5EF4-FFF2-40B4-BE49-F238E27FC236}">
                <a16:creationId xmlns:a16="http://schemas.microsoft.com/office/drawing/2014/main" id="{3DE2F6D9-44ED-49F5-0BBD-5D9EAB0D60F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893127" y="3667113"/>
            <a:ext cx="1923473" cy="102260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848316668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2C6D140-CB3F-98CB-A8BA-56E0BB39A21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그림 3">
            <a:extLst>
              <a:ext uri="{FF2B5EF4-FFF2-40B4-BE49-F238E27FC236}">
                <a16:creationId xmlns:a16="http://schemas.microsoft.com/office/drawing/2014/main" id="{2762BFAA-2E5B-7E29-F64F-B363508418B2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08343" y="3467516"/>
            <a:ext cx="3970244" cy="3262046"/>
          </a:xfrm>
          <a:prstGeom prst="rect">
            <a:avLst/>
          </a:prstGeom>
        </p:spPr>
      </p:pic>
      <p:pic>
        <p:nvPicPr>
          <p:cNvPr id="8" name="그림 7">
            <a:extLst>
              <a:ext uri="{FF2B5EF4-FFF2-40B4-BE49-F238E27FC236}">
                <a16:creationId xmlns:a16="http://schemas.microsoft.com/office/drawing/2014/main" id="{8A450AB6-271F-68CB-4B20-09B6CC262CAC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726445" y="3015120"/>
            <a:ext cx="3173117" cy="3842880"/>
          </a:xfrm>
          <a:prstGeom prst="rect">
            <a:avLst/>
          </a:prstGeom>
        </p:spPr>
      </p:pic>
      <p:sp>
        <p:nvSpPr>
          <p:cNvPr id="2" name="제목 1">
            <a:extLst>
              <a:ext uri="{FF2B5EF4-FFF2-40B4-BE49-F238E27FC236}">
                <a16:creationId xmlns:a16="http://schemas.microsoft.com/office/drawing/2014/main" id="{5468428F-82AF-BF75-B5CD-ECF79CBD2C1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레이트레이싱</a:t>
            </a:r>
            <a:endParaRPr lang="en-US" altLang="ko-KR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4BD39EDE-575E-F3C3-BBFE-5CD5BCAEDD5D}"/>
              </a:ext>
            </a:extLst>
          </p:cNvPr>
          <p:cNvSpPr txBox="1"/>
          <p:nvPr/>
        </p:nvSpPr>
        <p:spPr>
          <a:xfrm>
            <a:off x="0" y="15544"/>
            <a:ext cx="134620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b="1"/>
              <a:t>PulseCity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B2FE3A0C-4B1C-5F64-40DB-62462B4DD5BD}"/>
              </a:ext>
            </a:extLst>
          </p:cNvPr>
          <p:cNvSpPr txBox="1"/>
          <p:nvPr/>
        </p:nvSpPr>
        <p:spPr>
          <a:xfrm>
            <a:off x="6146800" y="1649440"/>
            <a:ext cx="5372100" cy="3416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b="1" dirty="0"/>
              <a:t>4. Seamless Zone</a:t>
            </a:r>
            <a:r>
              <a:rPr lang="ko-KR" altLang="en-US" b="1" dirty="0"/>
              <a:t>을 </a:t>
            </a:r>
            <a:r>
              <a:rPr lang="en-US" altLang="ko-KR" b="1" dirty="0"/>
              <a:t>Client</a:t>
            </a:r>
            <a:r>
              <a:rPr lang="ko-KR" altLang="en-US" b="1" dirty="0"/>
              <a:t>에 적용하기</a:t>
            </a:r>
            <a:endParaRPr lang="en-US" altLang="ko-KR" b="1" dirty="0"/>
          </a:p>
          <a:p>
            <a:r>
              <a:rPr lang="ko-KR" altLang="en-US" sz="1100" dirty="0" err="1"/>
              <a:t>심리스</a:t>
            </a:r>
            <a:r>
              <a:rPr lang="ko-KR" altLang="en-US" sz="1100" dirty="0"/>
              <a:t> 존은 클라이언트가 어떤 </a:t>
            </a:r>
            <a:r>
              <a:rPr lang="ko-KR" altLang="en-US" sz="1100" dirty="0" err="1"/>
              <a:t>존에</a:t>
            </a:r>
            <a:r>
              <a:rPr lang="ko-KR" altLang="en-US" sz="1100" dirty="0"/>
              <a:t> 위치해 있으면</a:t>
            </a:r>
            <a:r>
              <a:rPr lang="en-US" altLang="ko-KR" sz="1100" dirty="0"/>
              <a:t>, </a:t>
            </a:r>
            <a:r>
              <a:rPr lang="ko-KR" altLang="en-US" sz="1100" dirty="0"/>
              <a:t>인접한 존의 맵 데이터를 모조리 가지고 있어야 한다</a:t>
            </a:r>
            <a:r>
              <a:rPr lang="en-US" altLang="ko-KR" sz="1100" dirty="0"/>
              <a:t>.</a:t>
            </a:r>
          </a:p>
          <a:p>
            <a:r>
              <a:rPr lang="ko-KR" altLang="en-US" sz="1100" dirty="0"/>
              <a:t>문제는 존 데이터</a:t>
            </a:r>
            <a:r>
              <a:rPr lang="en-US" altLang="ko-KR" sz="1100" dirty="0"/>
              <a:t>(</a:t>
            </a:r>
            <a:r>
              <a:rPr lang="ko-KR" altLang="en-US" sz="1100" dirty="0" err="1"/>
              <a:t>머터리얼</a:t>
            </a:r>
            <a:r>
              <a:rPr lang="en-US" altLang="ko-KR" sz="1100" dirty="0"/>
              <a:t>, </a:t>
            </a:r>
            <a:r>
              <a:rPr lang="ko-KR" altLang="en-US" sz="1100" dirty="0" err="1"/>
              <a:t>텍스쳐</a:t>
            </a:r>
            <a:r>
              <a:rPr lang="en-US" altLang="ko-KR" sz="1100" dirty="0"/>
              <a:t>, </a:t>
            </a:r>
            <a:r>
              <a:rPr lang="ko-KR" altLang="en-US" sz="1100" dirty="0" err="1"/>
              <a:t>메쉬의</a:t>
            </a:r>
            <a:r>
              <a:rPr lang="ko-KR" altLang="en-US" sz="1100" dirty="0"/>
              <a:t> </a:t>
            </a:r>
            <a:r>
              <a:rPr lang="en-US" altLang="ko-KR" sz="1100" dirty="0"/>
              <a:t>VB, IB, </a:t>
            </a:r>
            <a:r>
              <a:rPr lang="ko-KR" altLang="en-US" sz="1100" dirty="0" err="1"/>
              <a:t>스테틱</a:t>
            </a:r>
            <a:r>
              <a:rPr lang="ko-KR" altLang="en-US" sz="1100" dirty="0"/>
              <a:t> 라이트</a:t>
            </a:r>
            <a:r>
              <a:rPr lang="en-US" altLang="ko-KR" sz="1100" dirty="0"/>
              <a:t>, </a:t>
            </a:r>
            <a:r>
              <a:rPr lang="ko-KR" altLang="en-US" sz="1100" dirty="0" err="1"/>
              <a:t>청크와</a:t>
            </a:r>
            <a:r>
              <a:rPr lang="ko-KR" altLang="en-US" sz="1100" dirty="0"/>
              <a:t> </a:t>
            </a:r>
            <a:r>
              <a:rPr lang="en-US" altLang="ko-KR" sz="1100" dirty="0" err="1"/>
              <a:t>GameObject</a:t>
            </a:r>
            <a:r>
              <a:rPr lang="ko-KR" altLang="en-US" sz="1100" dirty="0"/>
              <a:t>들</a:t>
            </a:r>
            <a:r>
              <a:rPr lang="en-US" altLang="ko-KR" sz="1100" dirty="0"/>
              <a:t>, </a:t>
            </a:r>
            <a:r>
              <a:rPr lang="ko-KR" altLang="en-US" sz="1100" dirty="0" err="1"/>
              <a:t>셰이더에</a:t>
            </a:r>
            <a:r>
              <a:rPr lang="ko-KR" altLang="en-US" sz="1100" dirty="0"/>
              <a:t> 사용할 리소스 바인딩에 사용되는 </a:t>
            </a:r>
            <a:r>
              <a:rPr lang="en-US" altLang="ko-KR" sz="1100" dirty="0" err="1"/>
              <a:t>DescHeap</a:t>
            </a:r>
            <a:r>
              <a:rPr lang="en-US" altLang="ko-KR" sz="1100" dirty="0"/>
              <a:t>)</a:t>
            </a:r>
            <a:r>
              <a:rPr lang="ko-KR" altLang="en-US" sz="1100" dirty="0"/>
              <a:t>들을 모조리 로드가 가능해야 하며</a:t>
            </a:r>
            <a:r>
              <a:rPr lang="en-US" altLang="ko-KR" sz="1100" dirty="0"/>
              <a:t>, </a:t>
            </a:r>
            <a:r>
              <a:rPr lang="ko-KR" altLang="en-US" sz="1100" dirty="0"/>
              <a:t>이후 어떤 존으로 가도</a:t>
            </a:r>
            <a:r>
              <a:rPr lang="en-US" altLang="ko-KR" sz="1100" dirty="0"/>
              <a:t>, </a:t>
            </a:r>
            <a:r>
              <a:rPr lang="ko-KR" altLang="en-US" sz="1100" dirty="0"/>
              <a:t>이후 존의 인접 존의 이미 로드된 데이터는 유지를 해야 했다</a:t>
            </a:r>
            <a:r>
              <a:rPr lang="en-US" altLang="ko-KR" sz="1100" dirty="0"/>
              <a:t>. </a:t>
            </a:r>
            <a:r>
              <a:rPr lang="ko-KR" altLang="en-US" sz="1100" dirty="0"/>
              <a:t>이를 위해 각 </a:t>
            </a:r>
            <a:r>
              <a:rPr lang="en-US" altLang="ko-KR" sz="1100" dirty="0"/>
              <a:t>Zone</a:t>
            </a:r>
            <a:r>
              <a:rPr lang="ko-KR" altLang="en-US" sz="1100" dirty="0"/>
              <a:t>에 특수한 인덱스인 </a:t>
            </a:r>
            <a:r>
              <a:rPr lang="en-US" altLang="ko-KR" sz="1100" dirty="0" err="1"/>
              <a:t>AssetOffsetMul</a:t>
            </a:r>
            <a:r>
              <a:rPr lang="ko-KR" altLang="en-US" sz="1100" dirty="0"/>
              <a:t>을 만들었고</a:t>
            </a:r>
            <a:r>
              <a:rPr lang="en-US" altLang="ko-KR" sz="1100" dirty="0"/>
              <a:t>, </a:t>
            </a:r>
            <a:r>
              <a:rPr lang="ko-KR" altLang="en-US" sz="1100" dirty="0"/>
              <a:t>해당 값만큼 </a:t>
            </a:r>
            <a:r>
              <a:rPr lang="ko-KR" altLang="en-US" sz="1100" dirty="0" err="1"/>
              <a:t>이격된</a:t>
            </a:r>
            <a:r>
              <a:rPr lang="ko-KR" altLang="en-US" sz="1100" dirty="0"/>
              <a:t> 위치에 모든 리소스가 </a:t>
            </a:r>
            <a:r>
              <a:rPr lang="en-US" altLang="ko-KR" sz="1100" dirty="0"/>
              <a:t>GPU </a:t>
            </a:r>
            <a:r>
              <a:rPr lang="ko-KR" altLang="en-US" sz="1100" dirty="0"/>
              <a:t>에 존재하도록 만들었다</a:t>
            </a:r>
            <a:r>
              <a:rPr lang="en-US" altLang="ko-KR" sz="1100" dirty="0"/>
              <a:t>. </a:t>
            </a:r>
            <a:r>
              <a:rPr lang="ko-KR" altLang="en-US" sz="1100" dirty="0"/>
              <a:t>그래서 </a:t>
            </a:r>
            <a:r>
              <a:rPr lang="en-US" altLang="ko-KR" sz="1100" dirty="0"/>
              <a:t>Zone</a:t>
            </a:r>
            <a:r>
              <a:rPr lang="ko-KR" altLang="en-US" sz="1100" dirty="0"/>
              <a:t>을 이동하더라도</a:t>
            </a:r>
            <a:r>
              <a:rPr lang="en-US" altLang="ko-KR" sz="1100" dirty="0"/>
              <a:t>, </a:t>
            </a:r>
            <a:r>
              <a:rPr lang="ko-KR" altLang="en-US" sz="1100" dirty="0"/>
              <a:t>필요한 </a:t>
            </a:r>
            <a:r>
              <a:rPr lang="en-US" altLang="ko-KR" sz="1100" dirty="0"/>
              <a:t>Zone</a:t>
            </a:r>
            <a:r>
              <a:rPr lang="ko-KR" altLang="en-US" sz="1100" dirty="0"/>
              <a:t>의 리소스만 </a:t>
            </a:r>
            <a:r>
              <a:rPr lang="ko-KR" altLang="en-US" sz="1100" dirty="0" err="1"/>
              <a:t>로드하게</a:t>
            </a:r>
            <a:r>
              <a:rPr lang="ko-KR" altLang="en-US" sz="1100" dirty="0"/>
              <a:t> 만들었다</a:t>
            </a:r>
            <a:r>
              <a:rPr lang="en-US" altLang="ko-KR" sz="1100" dirty="0"/>
              <a:t>.</a:t>
            </a:r>
          </a:p>
          <a:p>
            <a:r>
              <a:rPr lang="en-US" altLang="ko-KR" sz="1100" dirty="0"/>
              <a:t>TLAS Instance</a:t>
            </a:r>
            <a:r>
              <a:rPr lang="ko-KR" altLang="en-US" sz="1100" dirty="0"/>
              <a:t> 또한 그냥 배열에 요소를 추가하는 방식이 아니라</a:t>
            </a:r>
            <a:r>
              <a:rPr lang="en-US" altLang="ko-KR" sz="1100" dirty="0"/>
              <a:t>, </a:t>
            </a:r>
          </a:p>
          <a:p>
            <a:r>
              <a:rPr lang="ko-KR" altLang="en-US" sz="1100" dirty="0"/>
              <a:t>이전에 만들었던 </a:t>
            </a:r>
            <a:r>
              <a:rPr lang="en-US" altLang="ko-KR" sz="1100" dirty="0" err="1"/>
              <a:t>BitAlloter</a:t>
            </a:r>
            <a:r>
              <a:rPr lang="ko-KR" altLang="en-US" sz="1100" dirty="0"/>
              <a:t>를 사용하여 할당과 비할당처리를 해야 했다</a:t>
            </a:r>
            <a:r>
              <a:rPr lang="en-US" altLang="ko-KR" sz="1100" dirty="0"/>
              <a:t>.</a:t>
            </a:r>
          </a:p>
          <a:p>
            <a:endParaRPr lang="en-US" altLang="ko-KR" sz="1100" dirty="0"/>
          </a:p>
          <a:p>
            <a:r>
              <a:rPr lang="ko-KR" altLang="en-US" sz="1100" dirty="0"/>
              <a:t>단순히 포인터로 이 작업을 할 수 없었던 이유는</a:t>
            </a:r>
            <a:r>
              <a:rPr lang="en-US" altLang="ko-KR" sz="1100" dirty="0"/>
              <a:t>, Raytracing</a:t>
            </a:r>
            <a:r>
              <a:rPr lang="ko-KR" altLang="en-US" sz="1100" dirty="0"/>
              <a:t>이나 </a:t>
            </a:r>
            <a:r>
              <a:rPr lang="en-US" altLang="ko-KR" sz="1100" dirty="0"/>
              <a:t>Render</a:t>
            </a:r>
            <a:r>
              <a:rPr lang="ko-KR" altLang="en-US" sz="1100" dirty="0"/>
              <a:t>에 사용되는 많은 자료가 배열의 형태로만 저장될 수 있었기 때문이다</a:t>
            </a:r>
            <a:r>
              <a:rPr lang="en-US" altLang="ko-KR" sz="1100" dirty="0"/>
              <a:t>.</a:t>
            </a:r>
          </a:p>
          <a:p>
            <a:r>
              <a:rPr lang="ko-KR" altLang="en-US" sz="1100" dirty="0"/>
              <a:t>예를 들어 </a:t>
            </a:r>
            <a:r>
              <a:rPr lang="en-US" altLang="ko-KR" sz="1100" dirty="0"/>
              <a:t>Mesh</a:t>
            </a:r>
            <a:r>
              <a:rPr lang="ko-KR" altLang="en-US" sz="1100" dirty="0"/>
              <a:t>의 </a:t>
            </a:r>
            <a:r>
              <a:rPr lang="en-US" altLang="ko-KR" sz="1100" dirty="0"/>
              <a:t>VB, IB, Texture, Material</a:t>
            </a:r>
            <a:r>
              <a:rPr lang="ko-KR" altLang="en-US" sz="1100" dirty="0"/>
              <a:t>의 </a:t>
            </a:r>
            <a:r>
              <a:rPr lang="en-US" altLang="ko-KR" sz="1100" dirty="0" err="1"/>
              <a:t>DescHeap</a:t>
            </a:r>
            <a:r>
              <a:rPr lang="en-US" altLang="ko-KR" sz="1100" dirty="0"/>
              <a:t> </a:t>
            </a:r>
            <a:r>
              <a:rPr lang="ko-KR" altLang="en-US" sz="1100" dirty="0"/>
              <a:t>내부의 </a:t>
            </a:r>
            <a:r>
              <a:rPr lang="en-US" altLang="ko-KR" sz="1100" dirty="0"/>
              <a:t>View, </a:t>
            </a:r>
            <a:r>
              <a:rPr lang="ko-KR" altLang="en-US" sz="1100" dirty="0" err="1"/>
              <a:t>스킨메쉬버택스</a:t>
            </a:r>
            <a:r>
              <a:rPr lang="en-US" altLang="ko-KR" sz="1100" dirty="0"/>
              <a:t> </a:t>
            </a:r>
            <a:r>
              <a:rPr lang="ko-KR" altLang="en-US" sz="1100" dirty="0"/>
              <a:t>등등</a:t>
            </a:r>
            <a:r>
              <a:rPr lang="en-US" altLang="ko-KR" sz="1100" dirty="0"/>
              <a:t>..</a:t>
            </a:r>
          </a:p>
          <a:p>
            <a:endParaRPr lang="en-US" altLang="ko-KR" sz="1100" dirty="0"/>
          </a:p>
          <a:p>
            <a:r>
              <a:rPr lang="ko-KR" altLang="en-US" sz="1100" dirty="0"/>
              <a:t>존을 이동했을 때 유지되어야 할 데이터는 놔두고</a:t>
            </a:r>
            <a:r>
              <a:rPr lang="en-US" altLang="ko-KR" sz="1100" dirty="0"/>
              <a:t>, </a:t>
            </a:r>
            <a:r>
              <a:rPr lang="ko-KR" altLang="en-US" sz="1100" dirty="0"/>
              <a:t>업데이트할 데이터만 골라서 업데이트 할 수 있게 했다</a:t>
            </a:r>
            <a:r>
              <a:rPr lang="en-US" altLang="ko-KR" sz="1100" dirty="0"/>
              <a:t>.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5EF21E8E-8F99-7368-071F-BF0E369E0D62}"/>
              </a:ext>
            </a:extLst>
          </p:cNvPr>
          <p:cNvSpPr txBox="1"/>
          <p:nvPr/>
        </p:nvSpPr>
        <p:spPr>
          <a:xfrm>
            <a:off x="673100" y="1660672"/>
            <a:ext cx="5201228" cy="15542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b="1" dirty="0"/>
              <a:t>3. </a:t>
            </a:r>
            <a:r>
              <a:rPr lang="ko-KR" altLang="en-US" b="1" dirty="0" err="1"/>
              <a:t>스킨메쉬</a:t>
            </a:r>
            <a:r>
              <a:rPr lang="ko-KR" altLang="en-US" b="1" dirty="0"/>
              <a:t> </a:t>
            </a:r>
            <a:r>
              <a:rPr lang="ko-KR" altLang="en-US" b="1" dirty="0" err="1"/>
              <a:t>버택스</a:t>
            </a:r>
            <a:r>
              <a:rPr lang="ko-KR" altLang="en-US" b="1" dirty="0"/>
              <a:t> </a:t>
            </a:r>
            <a:r>
              <a:rPr lang="ko-KR" altLang="en-US" b="1" dirty="0" err="1"/>
              <a:t>모디파이</a:t>
            </a:r>
            <a:r>
              <a:rPr lang="ko-KR" altLang="en-US" b="1" dirty="0"/>
              <a:t> </a:t>
            </a:r>
            <a:r>
              <a:rPr lang="ko-KR" altLang="en-US" b="1" dirty="0" err="1"/>
              <a:t>셰이더</a:t>
            </a:r>
            <a:r>
              <a:rPr lang="en-US" altLang="ko-KR" b="1" dirty="0"/>
              <a:t>/BLAS</a:t>
            </a:r>
            <a:r>
              <a:rPr lang="ko-KR" altLang="en-US" b="1" dirty="0"/>
              <a:t> </a:t>
            </a:r>
            <a:r>
              <a:rPr lang="en-US" altLang="ko-KR" b="1" dirty="0"/>
              <a:t>Refit</a:t>
            </a:r>
          </a:p>
          <a:p>
            <a:r>
              <a:rPr lang="ko-KR" altLang="en-US" sz="1100" dirty="0" err="1"/>
              <a:t>레이트레이싱에서는</a:t>
            </a:r>
            <a:r>
              <a:rPr lang="ko-KR" altLang="en-US" sz="1100" dirty="0"/>
              <a:t> </a:t>
            </a:r>
            <a:r>
              <a:rPr lang="en-US" altLang="ko-KR" sz="1100" dirty="0"/>
              <a:t>Ray</a:t>
            </a:r>
            <a:r>
              <a:rPr lang="ko-KR" altLang="en-US" sz="1100" dirty="0"/>
              <a:t>의</a:t>
            </a:r>
            <a:r>
              <a:rPr lang="en-US" altLang="ko-KR" sz="1100" dirty="0"/>
              <a:t> </a:t>
            </a:r>
            <a:r>
              <a:rPr lang="ko-KR" altLang="en-US" sz="1100" dirty="0"/>
              <a:t>충돌여부를 </a:t>
            </a:r>
            <a:r>
              <a:rPr lang="en-US" altLang="ko-KR" sz="1100" dirty="0"/>
              <a:t>BLAS</a:t>
            </a:r>
            <a:r>
              <a:rPr lang="ko-KR" altLang="en-US" sz="1100" dirty="0"/>
              <a:t>가 관여하기 때문에</a:t>
            </a:r>
            <a:r>
              <a:rPr lang="en-US" altLang="ko-KR" sz="1100" dirty="0"/>
              <a:t>., </a:t>
            </a:r>
            <a:r>
              <a:rPr lang="ko-KR" altLang="en-US" sz="1100" dirty="0" err="1"/>
              <a:t>스킨메쉬는</a:t>
            </a:r>
            <a:r>
              <a:rPr lang="ko-KR" altLang="en-US" sz="1100" dirty="0"/>
              <a:t> 계속 </a:t>
            </a:r>
            <a:r>
              <a:rPr lang="en-US" altLang="ko-KR" sz="1100" dirty="0"/>
              <a:t>BLAS</a:t>
            </a:r>
            <a:r>
              <a:rPr lang="ko-KR" altLang="en-US" sz="1100" dirty="0"/>
              <a:t>를 수정해야 했다</a:t>
            </a:r>
            <a:r>
              <a:rPr lang="en-US" altLang="ko-KR" sz="1100" dirty="0"/>
              <a:t>.</a:t>
            </a:r>
            <a:r>
              <a:rPr lang="ko-KR" altLang="en-US" sz="1100" dirty="0"/>
              <a:t> </a:t>
            </a:r>
            <a:r>
              <a:rPr lang="ko-KR" altLang="en-US" sz="1100" dirty="0" err="1"/>
              <a:t>스킨메쉬를</a:t>
            </a:r>
            <a:r>
              <a:rPr lang="ko-KR" altLang="en-US" sz="1100" dirty="0"/>
              <a:t> 가진 오브젝트마다 실시간으로 변경될 </a:t>
            </a:r>
            <a:r>
              <a:rPr lang="ko-KR" altLang="en-US" sz="1100" dirty="0" err="1"/>
              <a:t>버택스의</a:t>
            </a:r>
            <a:r>
              <a:rPr lang="ko-KR" altLang="en-US" sz="1100" dirty="0"/>
              <a:t> 데이터가 필요했고</a:t>
            </a:r>
            <a:r>
              <a:rPr lang="en-US" altLang="ko-KR" sz="1100" dirty="0"/>
              <a:t>, </a:t>
            </a:r>
            <a:r>
              <a:rPr lang="ko-KR" altLang="en-US" sz="1100" dirty="0"/>
              <a:t>때문에 </a:t>
            </a:r>
            <a:r>
              <a:rPr lang="ko-KR" altLang="en-US" sz="1100" dirty="0" err="1"/>
              <a:t>스킨메쉬를</a:t>
            </a:r>
            <a:r>
              <a:rPr lang="ko-KR" altLang="en-US" sz="1100" dirty="0"/>
              <a:t> 가진 오브젝트 하나당 </a:t>
            </a:r>
            <a:r>
              <a:rPr lang="ko-KR" altLang="en-US" sz="1100" dirty="0" err="1"/>
              <a:t>스킨메쉬버택스들을</a:t>
            </a:r>
            <a:r>
              <a:rPr lang="ko-KR" altLang="en-US" sz="1100" dirty="0"/>
              <a:t> 따로 저장해야 했다</a:t>
            </a:r>
            <a:r>
              <a:rPr lang="en-US" altLang="ko-KR" sz="1100" dirty="0"/>
              <a:t>.</a:t>
            </a:r>
          </a:p>
          <a:p>
            <a:r>
              <a:rPr lang="ko-KR" altLang="en-US" sz="1100" dirty="0"/>
              <a:t>때문에 </a:t>
            </a:r>
            <a:r>
              <a:rPr lang="en-US" altLang="ko-KR" sz="1100" dirty="0" err="1"/>
              <a:t>UAV_VertexBuffer</a:t>
            </a:r>
            <a:r>
              <a:rPr lang="ko-KR" altLang="en-US" sz="1100" dirty="0"/>
              <a:t>에 그런 </a:t>
            </a:r>
            <a:r>
              <a:rPr lang="ko-KR" altLang="en-US" sz="1100" dirty="0" err="1"/>
              <a:t>스킨메쉬의</a:t>
            </a:r>
            <a:r>
              <a:rPr lang="ko-KR" altLang="en-US" sz="1100" dirty="0"/>
              <a:t> </a:t>
            </a:r>
            <a:r>
              <a:rPr lang="ko-KR" altLang="en-US" sz="1100" dirty="0" err="1"/>
              <a:t>버택스들을</a:t>
            </a:r>
            <a:r>
              <a:rPr lang="ko-KR" altLang="en-US" sz="1100" dirty="0"/>
              <a:t> 모두 저장 후</a:t>
            </a:r>
            <a:endParaRPr lang="en-US" altLang="ko-KR" sz="1100" dirty="0"/>
          </a:p>
          <a:p>
            <a:r>
              <a:rPr lang="ko-KR" altLang="en-US" sz="1100" dirty="0" err="1"/>
              <a:t>스킨메쉬</a:t>
            </a:r>
            <a:r>
              <a:rPr lang="ko-KR" altLang="en-US" sz="1100" dirty="0"/>
              <a:t> </a:t>
            </a:r>
            <a:r>
              <a:rPr lang="ko-KR" altLang="en-US" sz="1100" dirty="0" err="1"/>
              <a:t>모디파이</a:t>
            </a:r>
            <a:r>
              <a:rPr lang="ko-KR" altLang="en-US" sz="1100" dirty="0"/>
              <a:t> </a:t>
            </a:r>
            <a:r>
              <a:rPr lang="ko-KR" altLang="en-US" sz="1100" dirty="0" err="1"/>
              <a:t>셰이더를</a:t>
            </a:r>
            <a:r>
              <a:rPr lang="ko-KR" altLang="en-US" sz="1100" dirty="0"/>
              <a:t> 사용해 </a:t>
            </a:r>
            <a:r>
              <a:rPr lang="ko-KR" altLang="en-US" sz="1100" dirty="0" err="1"/>
              <a:t>버택스</a:t>
            </a:r>
            <a:r>
              <a:rPr lang="ko-KR" altLang="en-US" sz="1100" dirty="0"/>
              <a:t> 데이터를 수정하고</a:t>
            </a:r>
            <a:r>
              <a:rPr lang="en-US" altLang="ko-KR" sz="1100" dirty="0"/>
              <a:t>,</a:t>
            </a:r>
          </a:p>
          <a:p>
            <a:r>
              <a:rPr lang="ko-KR" altLang="en-US" sz="1100" dirty="0"/>
              <a:t>수정된 </a:t>
            </a:r>
            <a:r>
              <a:rPr lang="ko-KR" altLang="en-US" sz="1100" dirty="0" err="1"/>
              <a:t>버택스</a:t>
            </a:r>
            <a:r>
              <a:rPr lang="ko-KR" altLang="en-US" sz="1100" dirty="0"/>
              <a:t> 데이터를 이용해 </a:t>
            </a:r>
            <a:r>
              <a:rPr lang="en-US" altLang="ko-KR" sz="1100" dirty="0"/>
              <a:t>BLAS</a:t>
            </a:r>
            <a:r>
              <a:rPr lang="ko-KR" altLang="en-US" sz="1100" dirty="0"/>
              <a:t>를 </a:t>
            </a:r>
            <a:r>
              <a:rPr lang="en-US" altLang="ko-KR" sz="1100" dirty="0"/>
              <a:t>Refit </a:t>
            </a:r>
            <a:r>
              <a:rPr lang="ko-KR" altLang="en-US" sz="1100" dirty="0"/>
              <a:t>했다</a:t>
            </a:r>
            <a:r>
              <a:rPr lang="en-US" altLang="ko-KR" sz="1100" dirty="0"/>
              <a:t>.</a:t>
            </a:r>
          </a:p>
        </p:txBody>
      </p:sp>
    </p:spTree>
    <p:extLst>
      <p:ext uri="{BB962C8B-B14F-4D97-AF65-F5344CB8AC3E}">
        <p14:creationId xmlns:p14="http://schemas.microsoft.com/office/powerpoint/2010/main" val="329379427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6DF75CE-D798-7458-8E47-22B2E87790D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FD951044-ED24-B8C4-712D-8A56E649756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그 외의 기여</a:t>
            </a:r>
            <a:endParaRPr lang="en-US" altLang="ko-KR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824144E6-A12A-1DA1-3D5F-1411024E1FB8}"/>
              </a:ext>
            </a:extLst>
          </p:cNvPr>
          <p:cNvSpPr txBox="1"/>
          <p:nvPr/>
        </p:nvSpPr>
        <p:spPr>
          <a:xfrm>
            <a:off x="294716" y="1690688"/>
            <a:ext cx="12027652" cy="230832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dirty="0"/>
              <a:t>1.</a:t>
            </a:r>
            <a:r>
              <a:rPr lang="ko-KR" altLang="en-US" dirty="0"/>
              <a:t> 필드의 모든 </a:t>
            </a:r>
            <a:r>
              <a:rPr lang="en-US" altLang="ko-KR" dirty="0"/>
              <a:t>Zone</a:t>
            </a:r>
            <a:r>
              <a:rPr lang="ko-KR" altLang="en-US" dirty="0"/>
              <a:t> </a:t>
            </a:r>
            <a:r>
              <a:rPr lang="ko-KR" altLang="en-US" dirty="0" err="1"/>
              <a:t>맵을</a:t>
            </a:r>
            <a:r>
              <a:rPr lang="ko-KR" altLang="en-US" dirty="0"/>
              <a:t> 제작</a:t>
            </a:r>
            <a:r>
              <a:rPr lang="en-US" altLang="ko-KR" dirty="0"/>
              <a:t>, </a:t>
            </a:r>
            <a:r>
              <a:rPr lang="ko-KR" altLang="en-US" dirty="0" err="1"/>
              <a:t>비주얼적으로</a:t>
            </a:r>
            <a:r>
              <a:rPr lang="ko-KR" altLang="en-US" dirty="0"/>
              <a:t> 자연스럽게 연결함</a:t>
            </a:r>
            <a:endParaRPr lang="en-US" altLang="ko-KR" dirty="0"/>
          </a:p>
          <a:p>
            <a:r>
              <a:rPr lang="en-US" altLang="ko-KR" dirty="0"/>
              <a:t>2. </a:t>
            </a:r>
            <a:r>
              <a:rPr lang="ko-KR" altLang="en-US" dirty="0"/>
              <a:t>퀘스트 시스템과 퀘스트 데이터</a:t>
            </a:r>
            <a:r>
              <a:rPr lang="en-US" altLang="ko-KR" dirty="0"/>
              <a:t>,</a:t>
            </a:r>
            <a:r>
              <a:rPr lang="ko-KR" altLang="en-US" dirty="0"/>
              <a:t> 게임의 흐름을 구현</a:t>
            </a:r>
            <a:r>
              <a:rPr lang="en-US" altLang="ko-KR" dirty="0"/>
              <a:t>.</a:t>
            </a:r>
          </a:p>
          <a:p>
            <a:r>
              <a:rPr lang="en-US" altLang="ko-KR" dirty="0"/>
              <a:t>3. </a:t>
            </a:r>
            <a:r>
              <a:rPr lang="ko-KR" altLang="en-US" dirty="0"/>
              <a:t>프로젝트가 추가적인 요구사항으로 변할 때마다 합치거나 프로젝트 설계 자체를 다시 짜는 일을 모두</a:t>
            </a:r>
            <a:r>
              <a:rPr lang="en-US" altLang="ko-KR" dirty="0"/>
              <a:t>, </a:t>
            </a:r>
            <a:r>
              <a:rPr lang="ko-KR" altLang="en-US" dirty="0"/>
              <a:t>다수 수행</a:t>
            </a:r>
            <a:endParaRPr lang="en-US" altLang="ko-KR" dirty="0"/>
          </a:p>
          <a:p>
            <a:r>
              <a:rPr lang="en-US" altLang="ko-KR" dirty="0"/>
              <a:t>4. NPC</a:t>
            </a:r>
            <a:r>
              <a:rPr lang="ko-KR" altLang="en-US" dirty="0"/>
              <a:t>의 움직임을 만들었다</a:t>
            </a:r>
            <a:r>
              <a:rPr lang="en-US" altLang="ko-KR" dirty="0"/>
              <a:t>. NPC</a:t>
            </a:r>
            <a:r>
              <a:rPr lang="ko-KR" altLang="en-US" dirty="0"/>
              <a:t>가 플레이어를 따라갈 수 있도록</a:t>
            </a:r>
            <a:endParaRPr lang="en-US" altLang="ko-KR" dirty="0"/>
          </a:p>
          <a:p>
            <a:r>
              <a:rPr lang="en-US" altLang="ko-KR" dirty="0"/>
              <a:t>	</a:t>
            </a:r>
            <a:r>
              <a:rPr lang="ko-KR" altLang="en-US" sz="1100" dirty="0"/>
              <a:t>원래 </a:t>
            </a:r>
            <a:r>
              <a:rPr lang="en-US" altLang="ko-KR" sz="1100" dirty="0"/>
              <a:t>A*</a:t>
            </a:r>
            <a:r>
              <a:rPr lang="ko-KR" altLang="en-US" sz="1100" dirty="0"/>
              <a:t>로 다른 팀원이 만든 것이 있었는데</a:t>
            </a:r>
            <a:r>
              <a:rPr lang="en-US" altLang="ko-KR" sz="1100" dirty="0"/>
              <a:t>, </a:t>
            </a:r>
            <a:r>
              <a:rPr lang="ko-KR" altLang="en-US" sz="1100" dirty="0"/>
              <a:t>너무 느려서 일단 비활성화하고</a:t>
            </a:r>
            <a:r>
              <a:rPr lang="en-US" altLang="ko-KR" sz="1100" dirty="0"/>
              <a:t>, </a:t>
            </a:r>
            <a:r>
              <a:rPr lang="ko-KR" altLang="en-US" sz="1100" dirty="0"/>
              <a:t>새로 만들었다</a:t>
            </a:r>
            <a:r>
              <a:rPr lang="en-US" altLang="ko-KR" sz="1100" dirty="0"/>
              <a:t>.</a:t>
            </a:r>
          </a:p>
          <a:p>
            <a:r>
              <a:rPr lang="en-US" altLang="ko-KR" dirty="0"/>
              <a:t>5. </a:t>
            </a:r>
            <a:r>
              <a:rPr lang="ko-KR" altLang="en-US" dirty="0"/>
              <a:t>소통이나 정리를 위해 다수의 문서화를 진행했다</a:t>
            </a:r>
            <a:r>
              <a:rPr lang="en-US" altLang="ko-KR" dirty="0"/>
              <a:t>.</a:t>
            </a:r>
          </a:p>
          <a:p>
            <a:r>
              <a:rPr lang="en-US" altLang="ko-KR" dirty="0"/>
              <a:t>	 </a:t>
            </a:r>
            <a:r>
              <a:rPr lang="en-US" altLang="ko-KR" sz="1100" dirty="0"/>
              <a:t>ex&gt; </a:t>
            </a:r>
            <a:r>
              <a:rPr lang="ko-KR" altLang="en-US" sz="1100" dirty="0"/>
              <a:t>우리 코드는 왜 더러운가</a:t>
            </a:r>
            <a:r>
              <a:rPr lang="en-US" altLang="ko-KR" sz="1100" dirty="0"/>
              <a:t>, </a:t>
            </a:r>
            <a:r>
              <a:rPr lang="ko-KR" altLang="en-US" sz="1100" dirty="0"/>
              <a:t>그래픽스 </a:t>
            </a:r>
            <a:r>
              <a:rPr lang="ko-KR" altLang="en-US" sz="1100" dirty="0" err="1"/>
              <a:t>하이레벨</a:t>
            </a:r>
            <a:r>
              <a:rPr lang="ko-KR" altLang="en-US" sz="1100" dirty="0"/>
              <a:t> 디자인</a:t>
            </a:r>
            <a:r>
              <a:rPr lang="en-US" altLang="ko-KR" sz="1100" dirty="0"/>
              <a:t>, </a:t>
            </a:r>
            <a:r>
              <a:rPr lang="ko-KR" altLang="en-US" sz="1100" dirty="0"/>
              <a:t>맵 제작 가이드라인</a:t>
            </a:r>
            <a:r>
              <a:rPr lang="en-US" altLang="ko-KR" sz="1100" dirty="0"/>
              <a:t>, </a:t>
            </a:r>
            <a:r>
              <a:rPr lang="ko-KR" altLang="en-US" sz="1100" dirty="0"/>
              <a:t>모델 </a:t>
            </a:r>
            <a:r>
              <a:rPr lang="ko-KR" altLang="en-US" sz="1100" dirty="0" err="1"/>
              <a:t>익스포트</a:t>
            </a:r>
            <a:r>
              <a:rPr lang="ko-KR" altLang="en-US" sz="1100" dirty="0"/>
              <a:t> 가이드라인</a:t>
            </a:r>
            <a:r>
              <a:rPr lang="en-US" altLang="ko-KR" sz="1100" dirty="0"/>
              <a:t> </a:t>
            </a:r>
            <a:r>
              <a:rPr lang="ko-KR" altLang="en-US" sz="1100" dirty="0"/>
              <a:t>등등</a:t>
            </a:r>
            <a:r>
              <a:rPr lang="en-US" altLang="ko-KR" sz="1100" dirty="0"/>
              <a:t>..</a:t>
            </a:r>
          </a:p>
          <a:p>
            <a:r>
              <a:rPr lang="en-US" altLang="ko-KR" dirty="0"/>
              <a:t>6. </a:t>
            </a:r>
            <a:r>
              <a:rPr lang="en-US" altLang="ko-KR" dirty="0" err="1"/>
              <a:t>FLStudio</a:t>
            </a:r>
            <a:r>
              <a:rPr lang="ko-KR" altLang="en-US" dirty="0"/>
              <a:t>로 배경음악을 제작했다</a:t>
            </a:r>
            <a:r>
              <a:rPr lang="en-US" altLang="ko-KR" dirty="0"/>
              <a:t>.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B4574D19-4270-7D36-E003-28DD74EDC34F}"/>
              </a:ext>
            </a:extLst>
          </p:cNvPr>
          <p:cNvSpPr txBox="1"/>
          <p:nvPr/>
        </p:nvSpPr>
        <p:spPr>
          <a:xfrm>
            <a:off x="0" y="15544"/>
            <a:ext cx="134620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b="1"/>
              <a:t>PulseCity</a:t>
            </a:r>
          </a:p>
        </p:txBody>
      </p:sp>
    </p:spTree>
    <p:extLst>
      <p:ext uri="{BB962C8B-B14F-4D97-AF65-F5344CB8AC3E}">
        <p14:creationId xmlns:p14="http://schemas.microsoft.com/office/powerpoint/2010/main" val="2082735783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그림 6">
            <a:extLst>
              <a:ext uri="{FF2B5EF4-FFF2-40B4-BE49-F238E27FC236}">
                <a16:creationId xmlns:a16="http://schemas.microsoft.com/office/drawing/2014/main" id="{5A276BF5-B1B2-1114-60AF-B1BA8F8CE2E1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658558" y="946727"/>
            <a:ext cx="2701683" cy="5689600"/>
          </a:xfrm>
          <a:prstGeom prst="rect">
            <a:avLst/>
          </a:prstGeom>
          <a:ln>
            <a:solidFill>
              <a:schemeClr val="accent1"/>
            </a:solidFill>
          </a:ln>
        </p:spPr>
      </p:pic>
      <p:pic>
        <p:nvPicPr>
          <p:cNvPr id="9" name="그림 8">
            <a:extLst>
              <a:ext uri="{FF2B5EF4-FFF2-40B4-BE49-F238E27FC236}">
                <a16:creationId xmlns:a16="http://schemas.microsoft.com/office/drawing/2014/main" id="{0D1B0F55-EA74-3EB4-6F50-89C0E12FB9F8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719751" y="0"/>
            <a:ext cx="3472249" cy="6858000"/>
          </a:xfrm>
          <a:prstGeom prst="rect">
            <a:avLst/>
          </a:prstGeom>
          <a:ln>
            <a:solidFill>
              <a:schemeClr val="accent1"/>
            </a:solidFill>
          </a:ln>
        </p:spPr>
      </p:pic>
      <p:pic>
        <p:nvPicPr>
          <p:cNvPr id="11" name="그림 10">
            <a:extLst>
              <a:ext uri="{FF2B5EF4-FFF2-40B4-BE49-F238E27FC236}">
                <a16:creationId xmlns:a16="http://schemas.microsoft.com/office/drawing/2014/main" id="{09A6FFFB-040D-93D9-6511-7478DAFD60BC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2490739" cy="6858000"/>
          </a:xfrm>
          <a:prstGeom prst="rect">
            <a:avLst/>
          </a:prstGeom>
          <a:ln>
            <a:solidFill>
              <a:schemeClr val="accent1"/>
            </a:solidFill>
          </a:ln>
        </p:spPr>
      </p:pic>
      <p:sp>
        <p:nvSpPr>
          <p:cNvPr id="2" name="제목 1">
            <a:extLst>
              <a:ext uri="{FF2B5EF4-FFF2-40B4-BE49-F238E27FC236}">
                <a16:creationId xmlns:a16="http://schemas.microsoft.com/office/drawing/2014/main" id="{7BA2373C-C7AB-17E9-D7CC-969D23F5299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부록 </a:t>
            </a:r>
            <a:r>
              <a:rPr lang="en-US" altLang="ko-KR"/>
              <a:t>- </a:t>
            </a:r>
            <a:r>
              <a:rPr lang="ko-KR" altLang="en-US"/>
              <a:t>서버의 충돌계산 고민 메모</a:t>
            </a:r>
          </a:p>
        </p:txBody>
      </p:sp>
      <p:pic>
        <p:nvPicPr>
          <p:cNvPr id="5" name="그림 4">
            <a:extLst>
              <a:ext uri="{FF2B5EF4-FFF2-40B4-BE49-F238E27FC236}">
                <a16:creationId xmlns:a16="http://schemas.microsoft.com/office/drawing/2014/main" id="{5057B3D8-03D3-231A-6992-ACB9AD50C7F0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277152" y="4320597"/>
            <a:ext cx="5339435" cy="2327275"/>
          </a:xfrm>
          <a:prstGeom prst="rect">
            <a:avLst/>
          </a:prstGeom>
          <a:ln>
            <a:solidFill>
              <a:schemeClr val="accent1"/>
            </a:solidFill>
          </a:ln>
        </p:spPr>
      </p:pic>
    </p:spTree>
    <p:extLst>
      <p:ext uri="{BB962C8B-B14F-4D97-AF65-F5344CB8AC3E}">
        <p14:creationId xmlns:p14="http://schemas.microsoft.com/office/powerpoint/2010/main" val="342975209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EE3C16FF-AEF8-4CC1-51C1-6BE0C81A1C9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부록 </a:t>
            </a:r>
            <a:r>
              <a:rPr lang="en-US" altLang="ko-KR"/>
              <a:t>- </a:t>
            </a:r>
            <a:r>
              <a:rPr lang="ko-KR" altLang="en-US"/>
              <a:t>청크에 들어가기 위한 게임오브젝트 구조 설계</a:t>
            </a:r>
          </a:p>
        </p:txBody>
      </p:sp>
      <p:pic>
        <p:nvPicPr>
          <p:cNvPr id="5" name="그림 4">
            <a:extLst>
              <a:ext uri="{FF2B5EF4-FFF2-40B4-BE49-F238E27FC236}">
                <a16:creationId xmlns:a16="http://schemas.microsoft.com/office/drawing/2014/main" id="{52879EDB-D2CA-BA8A-7D0E-F21A1C611D3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257300" y="1649270"/>
            <a:ext cx="9264650" cy="520873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431998978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E477BA8-6B4F-BC41-FF55-E4A289C020F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C498C62D-6021-DD66-6B3D-2B3FBA7B62D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/>
              <a:t>Otornait</a:t>
            </a:r>
            <a:endParaRPr lang="ko-KR" altLang="en-US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58646D92-FF06-E94E-318F-6224430A15F5}"/>
              </a:ext>
            </a:extLst>
          </p:cNvPr>
          <p:cNvSpPr txBox="1"/>
          <p:nvPr/>
        </p:nvSpPr>
        <p:spPr>
          <a:xfrm>
            <a:off x="838200" y="1353804"/>
            <a:ext cx="7785100" cy="403187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600"/>
              <a:t>프로젝트 이름 </a:t>
            </a:r>
            <a:r>
              <a:rPr lang="en-US" altLang="ko-KR" sz="1600"/>
              <a:t>: Otornait</a:t>
            </a:r>
          </a:p>
          <a:p>
            <a:r>
              <a:rPr lang="ko-KR" altLang="en-US" sz="1600"/>
              <a:t>장르 </a:t>
            </a:r>
            <a:r>
              <a:rPr lang="en-US" altLang="ko-KR" sz="1600"/>
              <a:t>: </a:t>
            </a:r>
            <a:r>
              <a:rPr lang="ko-KR" altLang="en-US" sz="1600"/>
              <a:t>리듬게임</a:t>
            </a:r>
            <a:endParaRPr lang="en-US" altLang="ko-KR" sz="1600"/>
          </a:p>
          <a:p>
            <a:r>
              <a:rPr lang="ko-KR" altLang="en-US" sz="1600"/>
              <a:t>개발인원 </a:t>
            </a:r>
            <a:r>
              <a:rPr lang="en-US" altLang="ko-KR" sz="1600"/>
              <a:t>: 2</a:t>
            </a:r>
            <a:r>
              <a:rPr lang="ko-KR" altLang="en-US" sz="1600"/>
              <a:t>명 </a:t>
            </a:r>
            <a:r>
              <a:rPr lang="en-US" altLang="ko-KR" sz="1600"/>
              <a:t>/ </a:t>
            </a:r>
            <a:r>
              <a:rPr lang="ko-KR" altLang="en-US" sz="1600"/>
              <a:t>개발 기간 </a:t>
            </a:r>
            <a:r>
              <a:rPr lang="en-US" altLang="ko-KR" sz="1600"/>
              <a:t>(2022-06 ~ 2026-07)</a:t>
            </a:r>
          </a:p>
          <a:p>
            <a:r>
              <a:rPr lang="ko-KR" altLang="en-US" sz="1600"/>
              <a:t>개발 환경 </a:t>
            </a:r>
            <a:r>
              <a:rPr lang="en-US" altLang="ko-KR" sz="1600"/>
              <a:t>: </a:t>
            </a:r>
          </a:p>
          <a:p>
            <a:r>
              <a:rPr lang="en-US" altLang="ko-KR" sz="1600"/>
              <a:t>	IDE/Debugger : VisualStudio2022</a:t>
            </a:r>
          </a:p>
          <a:p>
            <a:r>
              <a:rPr lang="en-US" altLang="ko-KR" sz="1600"/>
              <a:t>	Language : c++</a:t>
            </a:r>
          </a:p>
          <a:p>
            <a:r>
              <a:rPr lang="en-US" altLang="ko-KR" sz="1600"/>
              <a:t>	System API / Rendering : Windows API</a:t>
            </a:r>
          </a:p>
          <a:p>
            <a:r>
              <a:rPr lang="en-US" altLang="ko-KR" sz="1600"/>
              <a:t>	Sound : Fmod</a:t>
            </a:r>
          </a:p>
          <a:p>
            <a:r>
              <a:rPr lang="en-US" altLang="ko-KR" sz="1600"/>
              <a:t>	</a:t>
            </a:r>
          </a:p>
          <a:p>
            <a:r>
              <a:rPr lang="ko-KR" altLang="en-US" sz="1600"/>
              <a:t>내가 당담한 역할 </a:t>
            </a:r>
            <a:r>
              <a:rPr lang="en-US" altLang="ko-KR" sz="1600"/>
              <a:t>/ </a:t>
            </a:r>
            <a:r>
              <a:rPr lang="ko-KR" altLang="en-US" sz="1600"/>
              <a:t>수행한 과제 요약</a:t>
            </a:r>
            <a:endParaRPr lang="en-US" altLang="ko-KR" sz="1600"/>
          </a:p>
          <a:p>
            <a:r>
              <a:rPr lang="en-US" altLang="ko-KR" sz="1600"/>
              <a:t>	1. </a:t>
            </a:r>
            <a:r>
              <a:rPr lang="ko-KR" altLang="en-US" sz="1600"/>
              <a:t>게임 전체 프로그래밍 당담</a:t>
            </a:r>
            <a:r>
              <a:rPr lang="en-US" altLang="ko-KR" sz="1600"/>
              <a:t>.</a:t>
            </a:r>
          </a:p>
          <a:p>
            <a:r>
              <a:rPr lang="en-US" altLang="ko-KR" sz="1600"/>
              <a:t>	2. </a:t>
            </a:r>
            <a:r>
              <a:rPr lang="ko-KR" altLang="en-US" sz="1600"/>
              <a:t>게임플레이 화면</a:t>
            </a:r>
            <a:r>
              <a:rPr lang="en-US" altLang="ko-KR" sz="1600"/>
              <a:t>, </a:t>
            </a:r>
            <a:r>
              <a:rPr lang="ko-KR" altLang="en-US" sz="1600"/>
              <a:t>타이틀화면</a:t>
            </a:r>
            <a:r>
              <a:rPr lang="en-US" altLang="ko-KR" sz="1600"/>
              <a:t>, </a:t>
            </a:r>
            <a:r>
              <a:rPr lang="ko-KR" altLang="en-US" sz="1600"/>
              <a:t>평가화면</a:t>
            </a:r>
            <a:r>
              <a:rPr lang="en-US" altLang="ko-KR" sz="1600"/>
              <a:t>, </a:t>
            </a:r>
            <a:r>
              <a:rPr lang="ko-KR" altLang="en-US" sz="1600"/>
              <a:t>크레딧</a:t>
            </a:r>
            <a:r>
              <a:rPr lang="en-US" altLang="ko-KR" sz="1600"/>
              <a:t>, </a:t>
            </a:r>
            <a:r>
              <a:rPr lang="ko-KR" altLang="en-US" sz="1600"/>
              <a:t>레벨 에디터 등등</a:t>
            </a:r>
            <a:endParaRPr lang="en-US" altLang="ko-KR" sz="1600"/>
          </a:p>
          <a:p>
            <a:r>
              <a:rPr lang="en-US" altLang="ko-KR" sz="1600"/>
              <a:t>	3. </a:t>
            </a:r>
            <a:r>
              <a:rPr lang="ko-KR" altLang="en-US" sz="1600"/>
              <a:t>리듬게임에 들어갈 곡 </a:t>
            </a:r>
            <a:r>
              <a:rPr lang="en-US" altLang="ko-KR" sz="1600"/>
              <a:t>2</a:t>
            </a:r>
            <a:r>
              <a:rPr lang="ko-KR" altLang="en-US" sz="1600"/>
              <a:t>개 제작</a:t>
            </a:r>
            <a:r>
              <a:rPr lang="en-US" altLang="ko-KR" sz="1600"/>
              <a:t>, </a:t>
            </a:r>
            <a:r>
              <a:rPr lang="ko-KR" altLang="en-US" sz="1600"/>
              <a:t>레벨 </a:t>
            </a:r>
            <a:r>
              <a:rPr lang="en-US" altLang="ko-KR" sz="1600"/>
              <a:t>2</a:t>
            </a:r>
            <a:r>
              <a:rPr lang="ko-KR" altLang="en-US" sz="1600"/>
              <a:t>개 제작</a:t>
            </a:r>
            <a:endParaRPr lang="en-US" altLang="ko-KR" sz="1600"/>
          </a:p>
          <a:p>
            <a:endParaRPr lang="en-US" altLang="ko-KR" sz="1600"/>
          </a:p>
          <a:p>
            <a:endParaRPr lang="en-US" altLang="ko-KR" sz="1600"/>
          </a:p>
          <a:p>
            <a:r>
              <a:rPr lang="ko-KR" altLang="en-US" sz="1600"/>
              <a:t>게임 플레이 영상</a:t>
            </a:r>
            <a:endParaRPr lang="en-US" altLang="ko-KR" sz="1600"/>
          </a:p>
        </p:txBody>
      </p:sp>
      <p:pic>
        <p:nvPicPr>
          <p:cNvPr id="5" name="그림 4">
            <a:extLst>
              <a:ext uri="{FF2B5EF4-FFF2-40B4-BE49-F238E27FC236}">
                <a16:creationId xmlns:a16="http://schemas.microsoft.com/office/drawing/2014/main" id="{F029AC70-6228-0399-AD96-426DCC193616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809072" y="1"/>
            <a:ext cx="5382927" cy="3648364"/>
          </a:xfrm>
          <a:prstGeom prst="rect">
            <a:avLst/>
          </a:prstGeom>
        </p:spPr>
      </p:pic>
      <p:sp>
        <p:nvSpPr>
          <p:cNvPr id="7" name="TextBox 6">
            <a:extLst>
              <a:ext uri="{FF2B5EF4-FFF2-40B4-BE49-F238E27FC236}">
                <a16:creationId xmlns:a16="http://schemas.microsoft.com/office/drawing/2014/main" id="{909F19A4-4E45-F15C-1BB9-04D112D1BF10}"/>
              </a:ext>
            </a:extLst>
          </p:cNvPr>
          <p:cNvSpPr txBox="1"/>
          <p:nvPr/>
        </p:nvSpPr>
        <p:spPr>
          <a:xfrm>
            <a:off x="844550" y="5385677"/>
            <a:ext cx="6096000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ko-KR" altLang="en-US">
                <a:hlinkClick r:id="rId3"/>
              </a:rPr>
              <a:t>https://www.youtube.com/playlist?list=PLjFfL6iibssVuoxZ-uO_7KU551bWSrDeT</a:t>
            </a:r>
            <a:endParaRPr lang="ko-KR" altLang="en-US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93465846-DCB7-1A63-C3FB-6DE4387E44B2}"/>
              </a:ext>
            </a:extLst>
          </p:cNvPr>
          <p:cNvSpPr txBox="1"/>
          <p:nvPr/>
        </p:nvSpPr>
        <p:spPr>
          <a:xfrm>
            <a:off x="0" y="15544"/>
            <a:ext cx="134620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ko-KR" altLang="en-US" b="1"/>
              <a:t>개발영역</a:t>
            </a:r>
            <a:endParaRPr lang="en-US" altLang="ko-KR" b="1"/>
          </a:p>
        </p:txBody>
      </p:sp>
    </p:spTree>
    <p:extLst>
      <p:ext uri="{BB962C8B-B14F-4D97-AF65-F5344CB8AC3E}">
        <p14:creationId xmlns:p14="http://schemas.microsoft.com/office/powerpoint/2010/main" val="2195908952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0E17027-7C6A-DE05-6104-CB07B2E4A0E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414CA5B2-9B2C-42C8-09B9-E4E62AD6781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그래픽스 기말과제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1FCD5907-F1CE-D9C8-D8CA-15E0C6395DEF}"/>
              </a:ext>
            </a:extLst>
          </p:cNvPr>
          <p:cNvSpPr txBox="1"/>
          <p:nvPr/>
        </p:nvSpPr>
        <p:spPr>
          <a:xfrm>
            <a:off x="838200" y="1353804"/>
            <a:ext cx="7785100" cy="403187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600" dirty="0"/>
              <a:t>프로젝트 이름 </a:t>
            </a:r>
            <a:r>
              <a:rPr lang="en-US" altLang="ko-KR" sz="1600" dirty="0"/>
              <a:t>: </a:t>
            </a:r>
            <a:r>
              <a:rPr lang="ko-KR" altLang="en-US" sz="1600" dirty="0"/>
              <a:t>그래픽스 기말과제</a:t>
            </a:r>
            <a:endParaRPr lang="en-US" altLang="ko-KR" sz="1600" dirty="0"/>
          </a:p>
          <a:p>
            <a:r>
              <a:rPr lang="ko-KR" altLang="en-US" sz="1600" dirty="0"/>
              <a:t>장르 </a:t>
            </a:r>
            <a:r>
              <a:rPr lang="en-US" altLang="ko-KR" sz="1600" dirty="0"/>
              <a:t>: </a:t>
            </a:r>
            <a:r>
              <a:rPr lang="ko-KR" altLang="en-US" sz="1600" dirty="0" err="1"/>
              <a:t>어드벤쳐</a:t>
            </a:r>
            <a:endParaRPr lang="en-US" altLang="ko-KR" sz="1600" dirty="0"/>
          </a:p>
          <a:p>
            <a:r>
              <a:rPr lang="ko-KR" altLang="en-US" sz="1600" dirty="0"/>
              <a:t>개발인원 </a:t>
            </a:r>
            <a:r>
              <a:rPr lang="en-US" altLang="ko-KR" sz="1600" dirty="0"/>
              <a:t>: 1</a:t>
            </a:r>
            <a:r>
              <a:rPr lang="ko-KR" altLang="en-US" sz="1600" dirty="0"/>
              <a:t>명 </a:t>
            </a:r>
            <a:r>
              <a:rPr lang="en-US" altLang="ko-KR" sz="1600" dirty="0"/>
              <a:t>/ </a:t>
            </a:r>
            <a:r>
              <a:rPr lang="ko-KR" altLang="en-US" sz="1600" dirty="0"/>
              <a:t>개발 기간 </a:t>
            </a:r>
            <a:r>
              <a:rPr lang="en-US" altLang="ko-KR" sz="1600" dirty="0"/>
              <a:t>(2022-11 ~ 2026-12)</a:t>
            </a:r>
          </a:p>
          <a:p>
            <a:r>
              <a:rPr lang="ko-KR" altLang="en-US" sz="1600" dirty="0"/>
              <a:t>개발 환경 </a:t>
            </a:r>
            <a:r>
              <a:rPr lang="en-US" altLang="ko-KR" sz="1600" dirty="0"/>
              <a:t>: </a:t>
            </a:r>
          </a:p>
          <a:p>
            <a:r>
              <a:rPr lang="en-US" altLang="ko-KR" sz="1600" dirty="0"/>
              <a:t>	IDE/Debugger : VisualStudio2022</a:t>
            </a:r>
          </a:p>
          <a:p>
            <a:r>
              <a:rPr lang="en-US" altLang="ko-KR" sz="1600" dirty="0"/>
              <a:t>	Render : OpenGL, </a:t>
            </a:r>
            <a:r>
              <a:rPr lang="en-US" altLang="ko-KR" sz="1600" dirty="0" err="1"/>
              <a:t>glsl</a:t>
            </a:r>
            <a:endParaRPr lang="en-US" altLang="ko-KR" sz="1600" dirty="0"/>
          </a:p>
          <a:p>
            <a:r>
              <a:rPr lang="en-US" altLang="ko-KR" sz="1600" dirty="0"/>
              <a:t>	Language : </a:t>
            </a:r>
            <a:r>
              <a:rPr lang="en-US" altLang="ko-KR" sz="1600" dirty="0" err="1"/>
              <a:t>c++</a:t>
            </a:r>
            <a:r>
              <a:rPr lang="en-US" altLang="ko-KR" sz="1600" dirty="0"/>
              <a:t> 14</a:t>
            </a:r>
          </a:p>
          <a:p>
            <a:r>
              <a:rPr lang="en-US" altLang="ko-KR" sz="1600" dirty="0"/>
              <a:t>	System API : Windows API</a:t>
            </a:r>
          </a:p>
          <a:p>
            <a:r>
              <a:rPr lang="en-US" altLang="ko-KR" sz="1600" dirty="0"/>
              <a:t>	Sound : </a:t>
            </a:r>
            <a:r>
              <a:rPr lang="en-US" altLang="ko-KR" sz="1600" dirty="0" err="1"/>
              <a:t>Fmod</a:t>
            </a:r>
            <a:endParaRPr lang="en-US" altLang="ko-KR" sz="1600" dirty="0"/>
          </a:p>
          <a:p>
            <a:r>
              <a:rPr lang="en-US" altLang="ko-KR" sz="1600" dirty="0"/>
              <a:t>	Resource Making</a:t>
            </a:r>
            <a:r>
              <a:rPr lang="ko-KR" altLang="en-US" sz="1600" dirty="0"/>
              <a:t> </a:t>
            </a:r>
            <a:r>
              <a:rPr lang="en-US" altLang="ko-KR" sz="1600" dirty="0"/>
              <a:t>: FL Studio, 3dsMax</a:t>
            </a:r>
          </a:p>
          <a:p>
            <a:r>
              <a:rPr lang="en-US" altLang="ko-KR" sz="1600" dirty="0"/>
              <a:t>	Resource Finding : </a:t>
            </a:r>
            <a:r>
              <a:rPr lang="en-US" altLang="ko-KR" sz="1600" dirty="0" err="1"/>
              <a:t>Sketchfab</a:t>
            </a:r>
            <a:r>
              <a:rPr lang="en-US" altLang="ko-KR" sz="1600" dirty="0"/>
              <a:t>, </a:t>
            </a:r>
            <a:r>
              <a:rPr lang="en-US" altLang="ko-KR" sz="1600" dirty="0" err="1"/>
              <a:t>IconFinder</a:t>
            </a:r>
            <a:endParaRPr lang="en-US" altLang="ko-KR" sz="1600" dirty="0"/>
          </a:p>
          <a:p>
            <a:r>
              <a:rPr lang="en-US" altLang="ko-KR" sz="1600" dirty="0"/>
              <a:t>	Text Render : </a:t>
            </a:r>
            <a:r>
              <a:rPr lang="en-US" altLang="ko-KR" sz="1600" dirty="0" err="1"/>
              <a:t>Freetype</a:t>
            </a:r>
            <a:endParaRPr lang="en-US" altLang="ko-KR" sz="1600" dirty="0"/>
          </a:p>
          <a:p>
            <a:endParaRPr lang="en-US" altLang="ko-KR" sz="1600" dirty="0"/>
          </a:p>
          <a:p>
            <a:r>
              <a:rPr lang="ko-KR" altLang="en-US" sz="1600" dirty="0"/>
              <a:t>본인이 과제를 모두 수행함</a:t>
            </a:r>
            <a:r>
              <a:rPr lang="en-US" altLang="ko-KR" sz="1600" dirty="0"/>
              <a:t>.</a:t>
            </a:r>
          </a:p>
          <a:p>
            <a:endParaRPr lang="en-US" altLang="ko-KR" sz="1600" dirty="0"/>
          </a:p>
          <a:p>
            <a:r>
              <a:rPr lang="ko-KR" altLang="en-US" sz="1600" dirty="0"/>
              <a:t>과제 설명 영상</a:t>
            </a:r>
            <a:endParaRPr lang="en-US" altLang="ko-KR" sz="1600" dirty="0"/>
          </a:p>
        </p:txBody>
      </p:sp>
      <p:pic>
        <p:nvPicPr>
          <p:cNvPr id="6" name="그림 5">
            <a:extLst>
              <a:ext uri="{FF2B5EF4-FFF2-40B4-BE49-F238E27FC236}">
                <a16:creationId xmlns:a16="http://schemas.microsoft.com/office/drawing/2014/main" id="{78EABDB1-65E6-10EB-AAAB-A3AC04DA607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816436" y="0"/>
            <a:ext cx="5375564" cy="3706592"/>
          </a:xfrm>
          <a:prstGeom prst="rect">
            <a:avLst/>
          </a:prstGeom>
        </p:spPr>
      </p:pic>
      <p:sp>
        <p:nvSpPr>
          <p:cNvPr id="9" name="TextBox 8">
            <a:extLst>
              <a:ext uri="{FF2B5EF4-FFF2-40B4-BE49-F238E27FC236}">
                <a16:creationId xmlns:a16="http://schemas.microsoft.com/office/drawing/2014/main" id="{5267953C-1986-B732-760A-B0DA418EFE30}"/>
              </a:ext>
            </a:extLst>
          </p:cNvPr>
          <p:cNvSpPr txBox="1"/>
          <p:nvPr/>
        </p:nvSpPr>
        <p:spPr>
          <a:xfrm>
            <a:off x="838200" y="5319530"/>
            <a:ext cx="609600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ko-KR" altLang="en-US">
                <a:hlinkClick r:id="rId3"/>
              </a:rPr>
              <a:t>https://youtu.be/XZY9EVAGHlk?si=QXp5YU6lOEM0dtPO</a:t>
            </a:r>
            <a:endParaRPr lang="ko-KR" altLang="en-US"/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1103BD6C-81B8-4C29-6CB6-F6D11F4BB686}"/>
              </a:ext>
            </a:extLst>
          </p:cNvPr>
          <p:cNvSpPr txBox="1"/>
          <p:nvPr/>
        </p:nvSpPr>
        <p:spPr>
          <a:xfrm>
            <a:off x="0" y="15544"/>
            <a:ext cx="134620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ko-KR" altLang="en-US" b="1"/>
              <a:t>개발영역</a:t>
            </a:r>
            <a:endParaRPr lang="en-US" altLang="ko-KR" b="1"/>
          </a:p>
        </p:txBody>
      </p:sp>
    </p:spTree>
    <p:extLst>
      <p:ext uri="{BB962C8B-B14F-4D97-AF65-F5344CB8AC3E}">
        <p14:creationId xmlns:p14="http://schemas.microsoft.com/office/powerpoint/2010/main" val="3816443562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EF863EC-B8A3-3D5F-698E-7F68F702FBF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AB38E97D-8843-19A6-B2EA-DABBEAD181E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1446164" cy="1325563"/>
          </a:xfrm>
        </p:spPr>
        <p:txBody>
          <a:bodyPr/>
          <a:lstStyle/>
          <a:p>
            <a:r>
              <a:rPr lang="en-US" altLang="ko-KR"/>
              <a:t>GMTK GameJam </a:t>
            </a:r>
            <a:r>
              <a:rPr lang="ko-KR" altLang="en-US"/>
              <a:t>참여작 </a:t>
            </a:r>
            <a:r>
              <a:rPr lang="en-US" altLang="ko-KR"/>
              <a:t>- InverseProportion</a:t>
            </a:r>
            <a:endParaRPr lang="ko-KR" altLang="en-US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41CC83EE-DE1B-8713-719D-2D02ED318115}"/>
              </a:ext>
            </a:extLst>
          </p:cNvPr>
          <p:cNvSpPr txBox="1"/>
          <p:nvPr/>
        </p:nvSpPr>
        <p:spPr>
          <a:xfrm>
            <a:off x="838199" y="1353804"/>
            <a:ext cx="10005292" cy="329320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600"/>
              <a:t>프로젝트 이름 </a:t>
            </a:r>
            <a:r>
              <a:rPr lang="en-US" altLang="ko-KR" sz="1600"/>
              <a:t>: InverseProportion</a:t>
            </a:r>
          </a:p>
          <a:p>
            <a:r>
              <a:rPr lang="ko-KR" altLang="en-US" sz="1600"/>
              <a:t>장르 </a:t>
            </a:r>
            <a:r>
              <a:rPr lang="en-US" altLang="ko-KR" sz="1600"/>
              <a:t>: </a:t>
            </a:r>
            <a:r>
              <a:rPr lang="ko-KR" altLang="en-US" sz="1600"/>
              <a:t>플랫포머</a:t>
            </a:r>
            <a:endParaRPr lang="en-US" altLang="ko-KR" sz="1600"/>
          </a:p>
          <a:p>
            <a:r>
              <a:rPr lang="ko-KR" altLang="en-US" sz="1600"/>
              <a:t>개발인원 </a:t>
            </a:r>
            <a:r>
              <a:rPr lang="en-US" altLang="ko-KR" sz="1600"/>
              <a:t>: 1</a:t>
            </a:r>
            <a:r>
              <a:rPr lang="ko-KR" altLang="en-US" sz="1600"/>
              <a:t>명 </a:t>
            </a:r>
            <a:r>
              <a:rPr lang="en-US" altLang="ko-KR" sz="1600"/>
              <a:t>/ </a:t>
            </a:r>
            <a:r>
              <a:rPr lang="ko-KR" altLang="en-US" sz="1600"/>
              <a:t>개발 기간 </a:t>
            </a:r>
            <a:r>
              <a:rPr lang="en-US" altLang="ko-KR" sz="1600"/>
              <a:t>(2</a:t>
            </a:r>
            <a:r>
              <a:rPr lang="ko-KR" altLang="en-US" sz="1600"/>
              <a:t>일</a:t>
            </a:r>
            <a:r>
              <a:rPr lang="en-US" altLang="ko-KR" sz="1600"/>
              <a:t>)</a:t>
            </a:r>
          </a:p>
          <a:p>
            <a:r>
              <a:rPr lang="ko-KR" altLang="en-US" sz="1600"/>
              <a:t>개발 환경 </a:t>
            </a:r>
            <a:r>
              <a:rPr lang="en-US" altLang="ko-KR" sz="1600"/>
              <a:t>: </a:t>
            </a:r>
          </a:p>
          <a:p>
            <a:r>
              <a:rPr lang="en-US" altLang="ko-KR" sz="1600"/>
              <a:t>	IDE/Debugger : Unity, VisualStudio2019</a:t>
            </a:r>
          </a:p>
          <a:p>
            <a:r>
              <a:rPr lang="ko-KR" altLang="en-US" sz="1600"/>
              <a:t>본인이 과제를 모두 수행함</a:t>
            </a:r>
            <a:r>
              <a:rPr lang="en-US" altLang="ko-KR" sz="1600"/>
              <a:t>.</a:t>
            </a:r>
          </a:p>
          <a:p>
            <a:endParaRPr lang="en-US" altLang="ko-KR" sz="1600"/>
          </a:p>
          <a:p>
            <a:r>
              <a:rPr lang="ko-KR" altLang="en-US" sz="1600"/>
              <a:t>게임 잼의 주제 </a:t>
            </a:r>
            <a:r>
              <a:rPr lang="en-US" altLang="ko-KR" sz="1600"/>
              <a:t>: "Join Together" - </a:t>
            </a:r>
            <a:r>
              <a:rPr lang="ko-KR" altLang="en-US" sz="1600"/>
              <a:t>각기 다른 두가지 것이 연결되어 만들어지는 재미</a:t>
            </a:r>
            <a:endParaRPr lang="en-US" altLang="ko-KR" sz="1600"/>
          </a:p>
          <a:p>
            <a:r>
              <a:rPr lang="en-US" altLang="ko-KR" sz="1600"/>
              <a:t>&gt;&gt; </a:t>
            </a:r>
            <a:r>
              <a:rPr lang="ko-KR" altLang="en-US" sz="1600"/>
              <a:t>나의 기획 </a:t>
            </a:r>
            <a:r>
              <a:rPr lang="en-US" altLang="ko-KR" sz="1600"/>
              <a:t>: </a:t>
            </a:r>
            <a:r>
              <a:rPr lang="ko-KR" altLang="en-US" sz="1600"/>
              <a:t>어떤 능력치의 반비례 관계를 활용한 플랫포머 게임</a:t>
            </a:r>
            <a:r>
              <a:rPr lang="en-US" altLang="ko-KR" sz="1600"/>
              <a:t>.</a:t>
            </a:r>
          </a:p>
          <a:p>
            <a:r>
              <a:rPr lang="en-US" altLang="ko-KR" sz="1600"/>
              <a:t>	ex&gt; </a:t>
            </a:r>
            <a:r>
              <a:rPr lang="ko-KR" altLang="en-US" sz="1600"/>
              <a:t>채력이 떨어지면 점프력이 올라간다</a:t>
            </a:r>
            <a:r>
              <a:rPr lang="en-US" altLang="ko-KR" sz="1600"/>
              <a:t>! -&gt; </a:t>
            </a:r>
            <a:r>
              <a:rPr lang="ko-KR" altLang="en-US" sz="1600"/>
              <a:t>닿지 않는 곳에 가기 위해 일부로 가시에 돌진</a:t>
            </a:r>
            <a:endParaRPr lang="en-US" altLang="ko-KR" sz="1600"/>
          </a:p>
          <a:p>
            <a:endParaRPr lang="en-US" altLang="ko-KR" sz="1600"/>
          </a:p>
          <a:p>
            <a:r>
              <a:rPr lang="ko-KR" altLang="en-US" sz="1600"/>
              <a:t>게임 플레이 </a:t>
            </a:r>
            <a:r>
              <a:rPr lang="en-US" altLang="ko-KR" sz="1600"/>
              <a:t>: </a:t>
            </a:r>
            <a:r>
              <a:rPr lang="en-US" altLang="ko-KR" sz="1600">
                <a:hlinkClick r:id="rId2"/>
              </a:rPr>
              <a:t>https://nohc2001.itch.io/inverseproportion</a:t>
            </a:r>
            <a:endParaRPr lang="en-US" altLang="ko-KR" sz="1600"/>
          </a:p>
          <a:p>
            <a:r>
              <a:rPr lang="en-US" altLang="ko-KR" sz="1600"/>
              <a:t>&lt;</a:t>
            </a:r>
            <a:r>
              <a:rPr lang="ko-KR" altLang="en-US" sz="1600"/>
              <a:t>웹에서 플레이하면 오류가 있습니다</a:t>
            </a:r>
            <a:r>
              <a:rPr lang="en-US" altLang="ko-KR" sz="1600"/>
              <a:t>! exe</a:t>
            </a:r>
            <a:r>
              <a:rPr lang="ko-KR" altLang="en-US" sz="1600"/>
              <a:t>로 다운받아 플레이를 해주세요</a:t>
            </a:r>
            <a:r>
              <a:rPr lang="en-US" altLang="ko-KR" sz="1600"/>
              <a:t>!&gt;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59509D44-42FF-A7EF-2BBA-8CC2926C7209}"/>
              </a:ext>
            </a:extLst>
          </p:cNvPr>
          <p:cNvSpPr txBox="1"/>
          <p:nvPr/>
        </p:nvSpPr>
        <p:spPr>
          <a:xfrm>
            <a:off x="0" y="15544"/>
            <a:ext cx="134620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ko-KR" altLang="en-US" b="1"/>
              <a:t>기획영역</a:t>
            </a:r>
            <a:endParaRPr lang="en-US" altLang="ko-KR" b="1"/>
          </a:p>
        </p:txBody>
      </p:sp>
      <p:pic>
        <p:nvPicPr>
          <p:cNvPr id="5" name="그림 4">
            <a:extLst>
              <a:ext uri="{FF2B5EF4-FFF2-40B4-BE49-F238E27FC236}">
                <a16:creationId xmlns:a16="http://schemas.microsoft.com/office/drawing/2014/main" id="{BFF6648B-1CE5-8D1E-3204-22E0B43F099B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671128" y="1479428"/>
            <a:ext cx="2362198" cy="1446051"/>
          </a:xfrm>
          <a:prstGeom prst="rect">
            <a:avLst/>
          </a:prstGeom>
        </p:spPr>
      </p:pic>
      <p:sp>
        <p:nvSpPr>
          <p:cNvPr id="8" name="TextBox 7">
            <a:extLst>
              <a:ext uri="{FF2B5EF4-FFF2-40B4-BE49-F238E27FC236}">
                <a16:creationId xmlns:a16="http://schemas.microsoft.com/office/drawing/2014/main" id="{F3195EE0-B508-3FE8-5D69-CD5524B42E5B}"/>
              </a:ext>
            </a:extLst>
          </p:cNvPr>
          <p:cNvSpPr txBox="1"/>
          <p:nvPr/>
        </p:nvSpPr>
        <p:spPr>
          <a:xfrm>
            <a:off x="838199" y="4793797"/>
            <a:ext cx="6253018" cy="5847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sz="1600" dirty="0"/>
              <a:t>GMTKGameJam2021</a:t>
            </a:r>
          </a:p>
          <a:p>
            <a:r>
              <a:rPr lang="ko-KR" altLang="en-US" sz="1600" dirty="0">
                <a:hlinkClick r:id="rId4"/>
              </a:rPr>
              <a:t>https://www.youtube.com/watch?v=9U4Zoagd_40</a:t>
            </a:r>
            <a:endParaRPr lang="ko-KR" altLang="en-US" sz="1600" dirty="0"/>
          </a:p>
        </p:txBody>
      </p:sp>
    </p:spTree>
    <p:extLst>
      <p:ext uri="{BB962C8B-B14F-4D97-AF65-F5344CB8AC3E}">
        <p14:creationId xmlns:p14="http://schemas.microsoft.com/office/powerpoint/2010/main" val="436196203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7BB3909-C278-9CF3-7A25-5F01D6C29BE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B343B705-543B-981A-A4BB-CA7AF004C50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1446164" cy="1325563"/>
          </a:xfrm>
        </p:spPr>
        <p:txBody>
          <a:bodyPr/>
          <a:lstStyle/>
          <a:p>
            <a:r>
              <a:rPr lang="en-US" altLang="ko-KR"/>
              <a:t>GMTK GameJam </a:t>
            </a:r>
            <a:r>
              <a:rPr lang="ko-KR" altLang="en-US"/>
              <a:t>참여작 </a:t>
            </a:r>
            <a:r>
              <a:rPr lang="en-US" altLang="ko-KR"/>
              <a:t>- GodChoice</a:t>
            </a:r>
            <a:endParaRPr lang="ko-KR" altLang="en-US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6FEF444F-64B4-7A2B-8840-C907EA7E9445}"/>
              </a:ext>
            </a:extLst>
          </p:cNvPr>
          <p:cNvSpPr txBox="1"/>
          <p:nvPr/>
        </p:nvSpPr>
        <p:spPr>
          <a:xfrm>
            <a:off x="838199" y="1353804"/>
            <a:ext cx="10005292" cy="452431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600"/>
              <a:t>프로젝트 이름 </a:t>
            </a:r>
            <a:r>
              <a:rPr lang="en-US" altLang="ko-KR" sz="1600"/>
              <a:t>: GodChoice</a:t>
            </a:r>
          </a:p>
          <a:p>
            <a:r>
              <a:rPr lang="ko-KR" altLang="en-US" sz="1600"/>
              <a:t>장르 </a:t>
            </a:r>
            <a:r>
              <a:rPr lang="en-US" altLang="ko-KR" sz="1600"/>
              <a:t>: </a:t>
            </a:r>
            <a:r>
              <a:rPr lang="ko-KR" altLang="en-US" sz="1600"/>
              <a:t>보드게임</a:t>
            </a:r>
            <a:r>
              <a:rPr lang="en-US" altLang="ko-KR" sz="1600"/>
              <a:t>/</a:t>
            </a:r>
            <a:r>
              <a:rPr lang="ko-KR" altLang="en-US" sz="1600"/>
              <a:t>전략</a:t>
            </a:r>
            <a:endParaRPr lang="en-US" altLang="ko-KR" sz="1600"/>
          </a:p>
          <a:p>
            <a:r>
              <a:rPr lang="ko-KR" altLang="en-US" sz="1600"/>
              <a:t>개발인원 </a:t>
            </a:r>
            <a:r>
              <a:rPr lang="en-US" altLang="ko-KR" sz="1600"/>
              <a:t>: 1</a:t>
            </a:r>
            <a:r>
              <a:rPr lang="ko-KR" altLang="en-US" sz="1600"/>
              <a:t>명 </a:t>
            </a:r>
            <a:r>
              <a:rPr lang="en-US" altLang="ko-KR" sz="1600"/>
              <a:t>/ </a:t>
            </a:r>
            <a:r>
              <a:rPr lang="ko-KR" altLang="en-US" sz="1600"/>
              <a:t>개발 기간 </a:t>
            </a:r>
            <a:r>
              <a:rPr lang="en-US" altLang="ko-KR" sz="1600"/>
              <a:t>(2</a:t>
            </a:r>
            <a:r>
              <a:rPr lang="ko-KR" altLang="en-US" sz="1600"/>
              <a:t>일</a:t>
            </a:r>
            <a:r>
              <a:rPr lang="en-US" altLang="ko-KR" sz="1600"/>
              <a:t>)</a:t>
            </a:r>
          </a:p>
          <a:p>
            <a:r>
              <a:rPr lang="ko-KR" altLang="en-US" sz="1600"/>
              <a:t>개발 환경 </a:t>
            </a:r>
            <a:r>
              <a:rPr lang="en-US" altLang="ko-KR" sz="1600"/>
              <a:t>: </a:t>
            </a:r>
          </a:p>
          <a:p>
            <a:r>
              <a:rPr lang="en-US" altLang="ko-KR" sz="1600"/>
              <a:t>	IDE/Debugger : Unity, VisualStudio2019</a:t>
            </a:r>
          </a:p>
          <a:p>
            <a:r>
              <a:rPr lang="ko-KR" altLang="en-US" sz="1600"/>
              <a:t>본인이 과제를 모두 수행함</a:t>
            </a:r>
            <a:r>
              <a:rPr lang="en-US" altLang="ko-KR" sz="1600"/>
              <a:t>.</a:t>
            </a:r>
          </a:p>
          <a:p>
            <a:endParaRPr lang="en-US" altLang="ko-KR" sz="1600"/>
          </a:p>
          <a:p>
            <a:r>
              <a:rPr lang="ko-KR" altLang="en-US" sz="1600"/>
              <a:t>게임 잼의 주제 </a:t>
            </a:r>
            <a:r>
              <a:rPr lang="en-US" altLang="ko-KR" sz="1600"/>
              <a:t>: "Roll of the Dice" </a:t>
            </a:r>
          </a:p>
          <a:p>
            <a:r>
              <a:rPr lang="en-US" altLang="ko-KR" sz="1600"/>
              <a:t>	- </a:t>
            </a:r>
            <a:r>
              <a:rPr lang="ko-KR" altLang="en-US" sz="1600"/>
              <a:t>운</a:t>
            </a:r>
            <a:r>
              <a:rPr lang="en-US" altLang="ko-KR" sz="1600"/>
              <a:t>, </a:t>
            </a:r>
            <a:r>
              <a:rPr lang="ko-KR" altLang="en-US" sz="1600"/>
              <a:t>그리고 렌덤이 게임의 주요한 메카닉이 되어야 하지만</a:t>
            </a:r>
            <a:r>
              <a:rPr lang="en-US" altLang="ko-KR" sz="1600"/>
              <a:t>, </a:t>
            </a:r>
            <a:r>
              <a:rPr lang="ko-KR" altLang="en-US" sz="1600"/>
              <a:t>운으로 결과가 결정되는 도박같은 </a:t>
            </a:r>
            <a:endParaRPr lang="en-US" altLang="ko-KR" sz="1600"/>
          </a:p>
          <a:p>
            <a:r>
              <a:rPr lang="ko-KR" altLang="en-US" sz="1600"/>
              <a:t>게임이 되어서는 안된다</a:t>
            </a:r>
            <a:r>
              <a:rPr lang="en-US" altLang="ko-KR" sz="1600"/>
              <a:t>. </a:t>
            </a:r>
            <a:r>
              <a:rPr lang="ko-KR" altLang="en-US" sz="1600"/>
              <a:t>운은 플레이의 다양성과 지루함 극복을 위해 사용되어야 한다</a:t>
            </a:r>
            <a:r>
              <a:rPr lang="en-US" altLang="ko-KR" sz="1600"/>
              <a:t>.</a:t>
            </a:r>
          </a:p>
          <a:p>
            <a:endParaRPr lang="en-US" altLang="ko-KR" sz="1600"/>
          </a:p>
          <a:p>
            <a:r>
              <a:rPr lang="en-US" altLang="ko-KR" sz="1600"/>
              <a:t>&gt;&gt; </a:t>
            </a:r>
            <a:r>
              <a:rPr lang="ko-KR" altLang="en-US" sz="1600"/>
              <a:t>나의 기획 </a:t>
            </a:r>
            <a:r>
              <a:rPr lang="en-US" altLang="ko-KR" sz="1600"/>
              <a:t>: 1~6</a:t>
            </a:r>
            <a:r>
              <a:rPr lang="ko-KR" altLang="en-US" sz="1600"/>
              <a:t>의 주사위를 굴려서 더 높은 사람이 공격을 함</a:t>
            </a:r>
            <a:r>
              <a:rPr lang="en-US" altLang="ko-KR" sz="1600"/>
              <a:t>.</a:t>
            </a:r>
          </a:p>
          <a:p>
            <a:r>
              <a:rPr lang="ko-KR" altLang="en-US" sz="1600"/>
              <a:t>다만 매턴이 지날때마다 특정 차례의 주사위 눈 하나를 교환할 수 있다</a:t>
            </a:r>
            <a:r>
              <a:rPr lang="en-US" altLang="ko-KR" sz="1600"/>
              <a:t>.</a:t>
            </a:r>
          </a:p>
          <a:p>
            <a:r>
              <a:rPr lang="ko-KR" altLang="en-US" sz="1600"/>
              <a:t>여기에 연속으로 같은 눈이 나오거나</a:t>
            </a:r>
            <a:r>
              <a:rPr lang="en-US" altLang="ko-KR" sz="1600"/>
              <a:t>, </a:t>
            </a:r>
            <a:r>
              <a:rPr lang="ko-KR" altLang="en-US" sz="1600"/>
              <a:t>스트레이트가 될 경우</a:t>
            </a:r>
            <a:endParaRPr lang="en-US" altLang="ko-KR" sz="1600"/>
          </a:p>
          <a:p>
            <a:r>
              <a:rPr lang="ko-KR" altLang="en-US" sz="1600"/>
              <a:t>더 좋은 효과를 부여하는 것으로 전략을 짤 수 있도록 구성</a:t>
            </a:r>
            <a:r>
              <a:rPr lang="en-US" altLang="ko-KR" sz="1600"/>
              <a:t>.</a:t>
            </a:r>
          </a:p>
          <a:p>
            <a:endParaRPr lang="en-US" altLang="ko-KR" sz="1600"/>
          </a:p>
          <a:p>
            <a:r>
              <a:rPr lang="ko-KR" altLang="en-US" sz="1600"/>
              <a:t>게임 소개 영상 </a:t>
            </a:r>
            <a:r>
              <a:rPr lang="en-US" altLang="ko-KR" sz="1600"/>
              <a:t>: </a:t>
            </a:r>
            <a:r>
              <a:rPr lang="en-US" altLang="ko-KR" sz="1600">
                <a:hlinkClick r:id="rId2"/>
              </a:rPr>
              <a:t>https://youtu.be/qeZcDBkHkvw</a:t>
            </a:r>
            <a:endParaRPr lang="en-US" altLang="ko-KR" sz="1600"/>
          </a:p>
          <a:p>
            <a:r>
              <a:rPr lang="ko-KR" altLang="en-US" sz="1600"/>
              <a:t>게임 플레이 </a:t>
            </a:r>
            <a:r>
              <a:rPr lang="en-US" altLang="ko-KR" sz="1600"/>
              <a:t>: </a:t>
            </a:r>
            <a:r>
              <a:rPr lang="en-US" altLang="ko-KR" sz="1600">
                <a:hlinkClick r:id="rId3"/>
              </a:rPr>
              <a:t>https://nohc2001.itch.io/godchoice</a:t>
            </a:r>
            <a:endParaRPr lang="en-US" altLang="ko-KR" sz="1600"/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6F9FC529-70C5-2F3D-2B51-867D94602B83}"/>
              </a:ext>
            </a:extLst>
          </p:cNvPr>
          <p:cNvSpPr txBox="1"/>
          <p:nvPr/>
        </p:nvSpPr>
        <p:spPr>
          <a:xfrm>
            <a:off x="0" y="15544"/>
            <a:ext cx="134620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ko-KR" altLang="en-US" b="1"/>
              <a:t>기획영역</a:t>
            </a:r>
            <a:endParaRPr lang="en-US" altLang="ko-KR" b="1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A311204C-235D-A75E-73E7-F43E18C684BC}"/>
              </a:ext>
            </a:extLst>
          </p:cNvPr>
          <p:cNvSpPr txBox="1"/>
          <p:nvPr/>
        </p:nvSpPr>
        <p:spPr>
          <a:xfrm>
            <a:off x="838199" y="5944995"/>
            <a:ext cx="6253018" cy="5847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sz="1600" dirty="0"/>
              <a:t>GMTKGameJam2022 </a:t>
            </a:r>
            <a:r>
              <a:rPr lang="ko-KR" altLang="en-US" sz="1600" dirty="0">
                <a:hlinkClick r:id="rId4"/>
              </a:rPr>
              <a:t>https://www.youtube.com/watch?v=9U4Zoagd_40</a:t>
            </a:r>
            <a:endParaRPr lang="ko-KR" altLang="en-US" sz="1600" dirty="0"/>
          </a:p>
        </p:txBody>
      </p:sp>
      <p:pic>
        <p:nvPicPr>
          <p:cNvPr id="6" name="그림 5">
            <a:extLst>
              <a:ext uri="{FF2B5EF4-FFF2-40B4-BE49-F238E27FC236}">
                <a16:creationId xmlns:a16="http://schemas.microsoft.com/office/drawing/2014/main" id="{C149F61D-01FA-4C0F-EA88-5369AC8DA69D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674033" y="1353804"/>
            <a:ext cx="2250767" cy="1626487"/>
          </a:xfrm>
          <a:prstGeom prst="rect">
            <a:avLst/>
          </a:prstGeom>
        </p:spPr>
      </p:pic>
      <p:pic>
        <p:nvPicPr>
          <p:cNvPr id="9" name="그림 8">
            <a:extLst>
              <a:ext uri="{FF2B5EF4-FFF2-40B4-BE49-F238E27FC236}">
                <a16:creationId xmlns:a16="http://schemas.microsoft.com/office/drawing/2014/main" id="{CDA4C1F4-DA53-16F3-58A6-CF81EBD317AE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7840221" y="4058427"/>
            <a:ext cx="4351779" cy="242193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759003817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맑은 고딕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맑은 고딕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맑은 고딕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맑은 고딕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2526</TotalTime>
  <Words>2926</Words>
  <Application>Microsoft Office PowerPoint</Application>
  <PresentationFormat>와이드스크린</PresentationFormat>
  <Paragraphs>357</Paragraphs>
  <Slides>20</Slides>
  <Notes>0</Notes>
  <HiddenSlides>0</HiddenSlides>
  <MMClips>0</MMClips>
  <ScaleCrop>false</ScaleCrop>
  <HeadingPairs>
    <vt:vector size="6" baseType="variant">
      <vt:variant>
        <vt:lpstr>사용한 글꼴</vt:lpstr>
      </vt:variant>
      <vt:variant>
        <vt:i4>2</vt:i4>
      </vt:variant>
      <vt:variant>
        <vt:lpstr>테마</vt:lpstr>
      </vt:variant>
      <vt:variant>
        <vt:i4>1</vt:i4>
      </vt:variant>
      <vt:variant>
        <vt:lpstr>슬라이드 제목</vt:lpstr>
      </vt:variant>
      <vt:variant>
        <vt:i4>20</vt:i4>
      </vt:variant>
    </vt:vector>
  </HeadingPairs>
  <TitlesOfParts>
    <vt:vector size="23" baseType="lpstr">
      <vt:lpstr>맑은 고딕</vt:lpstr>
      <vt:lpstr>Arial</vt:lpstr>
      <vt:lpstr>Office 테마</vt:lpstr>
      <vt:lpstr>게임 개발자 포트폴리오</vt:lpstr>
      <vt:lpstr>소개</vt:lpstr>
      <vt:lpstr>프로젝트</vt:lpstr>
      <vt:lpstr>Pulse City</vt:lpstr>
      <vt:lpstr>AI 사용</vt:lpstr>
      <vt:lpstr>유니티 바이너리 익스포터 제작</vt:lpstr>
      <vt:lpstr>서버 프로그래머</vt:lpstr>
      <vt:lpstr>핵심 서버 코드</vt:lpstr>
      <vt:lpstr>클라이언트 프레임워크 제작</vt:lpstr>
      <vt:lpstr>렌더링</vt:lpstr>
      <vt:lpstr>렌더링</vt:lpstr>
      <vt:lpstr>레이트레이싱</vt:lpstr>
      <vt:lpstr>레이트레이싱</vt:lpstr>
      <vt:lpstr>그 외의 기여</vt:lpstr>
      <vt:lpstr>부록 - 서버의 충돌계산 고민 메모</vt:lpstr>
      <vt:lpstr>부록 - 청크에 들어가기 위한 게임오브젝트 구조 설계</vt:lpstr>
      <vt:lpstr>Otornait</vt:lpstr>
      <vt:lpstr>그래픽스 기말과제</vt:lpstr>
      <vt:lpstr>GMTK GameJam 참여작 - InverseProportion</vt:lpstr>
      <vt:lpstr>GMTK GameJam 참여작 - GodChoice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훈철 노</dc:creator>
  <cp:lastModifiedBy>Nai Hoon Jung</cp:lastModifiedBy>
  <cp:revision>43</cp:revision>
  <dcterms:created xsi:type="dcterms:W3CDTF">2026-07-04T17:16:13Z</dcterms:created>
  <dcterms:modified xsi:type="dcterms:W3CDTF">2026-07-20T06:30:44Z</dcterms:modified>
</cp:coreProperties>
</file>