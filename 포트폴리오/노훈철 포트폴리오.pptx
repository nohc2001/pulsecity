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6" r:id="rId3"/>
    <p:sldId id="257" r:id="rId4"/>
    <p:sldId id="258" r:id="rId5"/>
    <p:sldId id="275" r:id="rId6"/>
    <p:sldId id="259" r:id="rId7"/>
    <p:sldId id="260" r:id="rId8"/>
    <p:sldId id="261" r:id="rId9"/>
    <p:sldId id="262" r:id="rId10"/>
    <p:sldId id="267" r:id="rId11"/>
    <p:sldId id="263" r:id="rId12"/>
    <p:sldId id="268" r:id="rId13"/>
    <p:sldId id="264" r:id="rId14"/>
    <p:sldId id="265" r:id="rId15"/>
    <p:sldId id="266" r:id="rId16"/>
    <p:sldId id="269" r:id="rId17"/>
    <p:sldId id="270" r:id="rId18"/>
    <p:sldId id="273" r:id="rId19"/>
    <p:sldId id="27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728B-280E-4D26-BDBC-ECF6F5D07DAF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37EFF-673F-41F3-AB98-855B3A982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002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C1C69-B3CA-AD84-2C61-16F89D910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E994F5-3265-C602-4319-F4BDE4CBF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ACB83-15BA-6C74-5744-2DBCA58FF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6C41C3-9BB5-493A-EB68-2AD8BB078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BFB979-FB05-93D1-8133-4F35020C8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598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4340B-DBA7-5766-60EB-DB597C9D7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0FC742-9A5D-E3D7-5DFA-3479FC864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1E3773-2589-30D6-3546-904A77C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C29026-190C-CDAD-DE9C-1E832F2F4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0E35F3-3E09-363E-1E05-5B6F24B78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007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C2477-7101-E920-3939-F0E5EE139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945EFD-EFBE-72A3-0D23-41EE80CF9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46D24-9F9E-518B-BB23-68F3BF2F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DD0C7F-6378-4CCC-A902-4EADB8B3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76167B-835D-7012-AA01-C54499B90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200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9437CF-AC04-F3D4-0114-1BD0F3A32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783F4C-3378-21E4-3134-C7BBA79AF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9D6347-B208-4996-FEB2-4413B10C8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29D06B-10A8-BCBB-33E0-D8BB3CE0C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B9973A-16B8-EE79-1E38-D5E7A764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6D43F4-3D8F-74F3-D732-858204C9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59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2934C-09E0-E494-0072-C5E31FBE1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EA2AE6-6D89-786E-6396-896C932B3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F2A896-0A40-242C-F75A-003DEC050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D98418C-E2BC-C361-29CE-3CBE834107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0F5626-0A5E-3484-9B9B-D0F944E938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659AAC-ECB9-37B0-FF5D-BB0FF5A34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2D56A28-E34A-EA0B-1FF9-A2496E78C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7CF3DDD-B1B2-69DA-E8A1-0303C7F3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725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FCA82-BC18-29BC-1DE8-E255558D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7A9D64-C3AF-391D-391A-72DAA5779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194070-3001-24CA-1326-828CA319B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1D6C85-4B67-D86F-5DFC-3E32B37E7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31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86ED65-90D5-BCDF-2A01-FE8D2DEC7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7FF562-AA78-D896-8F16-B5385FD1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EF7DC4-358D-6CBF-AA4A-03BF4882C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71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DA98A-C1E7-9E00-9470-2BDB2B34B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AB5E2F-B7DC-0CEF-01D0-F98D479A1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A0E5A2-432E-04B9-C29E-0A81BF784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F447E6-24DC-17BE-F683-A6C6EF68D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3FF625-87E4-3193-B8F6-81FC023BB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BAFFE1-232F-DE06-9E0A-1F8CA5F5F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294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E8A8DF-7116-EB81-E085-E5B399393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9687148-6844-F47D-F9EE-4A659B95B6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9B2365-D3B3-385A-DC47-FC7E8BC38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55A41B-2768-7D1B-32F1-551DC4530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A55D96-4899-C9EC-CC6F-6C72155C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18DA1A-6B87-611B-2680-F60E282AA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15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04DE4-2931-1678-64C7-5C6EDEE1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802B50-66A9-77CF-F443-8537EC4B7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CAC27B-E4FF-3FEF-3BA8-DFFCC9F22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393B49-75C5-DBFF-18B2-BFC4CB75F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BBAE72-1884-A7B0-1BB4-6336406E2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13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937FC3-AE10-6F29-607E-5D85947869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C5294D-02FE-83A2-588A-2B0CC9D4A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8FDB6E-2970-4075-BD87-97C056972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BCAA37-F5BC-E052-B8B7-C784EA3B7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FA6825-97BA-0A94-7573-98931A8B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301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D598ECD-6140-1A71-A275-0BED705D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AE03E1-FECE-B35E-B5DF-FA120EC2F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D99D8E-E248-5073-6880-D474AEFC2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32F47-332D-4D66-97A1-FB8F822F5083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2FE860-2E63-8438-B8F6-909F6C7710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7F97FC-24A2-634F-E48B-D2D6099C0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50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youtu.be/kb8ucLNXPk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jFfL6iibssVuoxZ-uO_7KU551bWSrDeT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XZY9EVAGHlk?si=QXp5YU6lOEM0dtPO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nohc2001.itch.io/inversepropor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9U4Zoagd_40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nohc2001.itch.io/godchoice" TargetMode="External"/><Relationship Id="rId2" Type="http://schemas.openxmlformats.org/officeDocument/2006/relationships/hyperlink" Target="https://youtu.be/qeZcDBkHkvw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hyperlink" Target="https://www.youtube.com/watch?v=9U4Zoagd_4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70E6EF-EBBD-9857-71B1-70EE06D76A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게임 개발자 포트폴리오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AE12C4-9EF1-7A12-C3C1-9AA1905FDE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ko-KR" altLang="en-US"/>
              <a:t>노훈철</a:t>
            </a:r>
            <a:endParaRPr lang="en-US" altLang="ko-KR"/>
          </a:p>
          <a:p>
            <a:pPr algn="l"/>
            <a:r>
              <a:rPr lang="en-US" altLang="ko-KR"/>
              <a:t>Tel. 010 - 2365 - 6395</a:t>
            </a:r>
          </a:p>
          <a:p>
            <a:pPr algn="l"/>
            <a:r>
              <a:rPr lang="en-US" altLang="ko-KR"/>
              <a:t>Email : nohc2001@naver.com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8A15A5-00FF-8A04-B91A-1FEAF6EF23BF}"/>
              </a:ext>
            </a:extLst>
          </p:cNvPr>
          <p:cNvSpPr txBox="1"/>
          <p:nvPr/>
        </p:nvSpPr>
        <p:spPr>
          <a:xfrm>
            <a:off x="92365" y="6253017"/>
            <a:ext cx="5317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본 문서의 저작자는 </a:t>
            </a:r>
            <a:endParaRPr lang="en-US" altLang="ko-KR" sz="1400"/>
          </a:p>
          <a:p>
            <a:r>
              <a:rPr lang="en-US" altLang="ko-KR" sz="1400"/>
              <a:t>AI</a:t>
            </a:r>
            <a:r>
              <a:rPr lang="ko-KR" altLang="en-US" sz="1400"/>
              <a:t>를 통해 해당 문서를 읽거나 학습하는것을 금지하고 있습니다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393949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6D6B3B-B109-9C32-F999-9819ABB56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소개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C098E-40EA-B32C-1F87-49DE8650D89E}"/>
              </a:ext>
            </a:extLst>
          </p:cNvPr>
          <p:cNvSpPr txBox="1"/>
          <p:nvPr/>
        </p:nvSpPr>
        <p:spPr>
          <a:xfrm>
            <a:off x="838200" y="4704755"/>
            <a:ext cx="26003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노훈철</a:t>
            </a:r>
            <a:r>
              <a:rPr lang="en-US" altLang="ko-KR"/>
              <a:t> / No hun Cheul</a:t>
            </a:r>
          </a:p>
          <a:p>
            <a:r>
              <a:rPr lang="ko-KR" altLang="en-US"/>
              <a:t>예술가</a:t>
            </a:r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4BB018-E809-3420-1891-06AB68C4CE01}"/>
              </a:ext>
            </a:extLst>
          </p:cNvPr>
          <p:cNvSpPr txBox="1"/>
          <p:nvPr/>
        </p:nvSpPr>
        <p:spPr>
          <a:xfrm>
            <a:off x="4705350" y="1506022"/>
            <a:ext cx="588815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프로필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생년월일</a:t>
            </a:r>
            <a:r>
              <a:rPr lang="en-US" altLang="ko-KR"/>
              <a:t>	2001.06.18</a:t>
            </a:r>
          </a:p>
          <a:p>
            <a:r>
              <a:rPr lang="ko-KR" altLang="en-US"/>
              <a:t>연락처</a:t>
            </a:r>
            <a:r>
              <a:rPr lang="en-US" altLang="ko-KR"/>
              <a:t>		010-2365-6395</a:t>
            </a:r>
          </a:p>
          <a:p>
            <a:r>
              <a:rPr lang="ko-KR" altLang="en-US"/>
              <a:t>메일</a:t>
            </a:r>
            <a:r>
              <a:rPr lang="en-US" altLang="ko-KR"/>
              <a:t>		nohc2001@naver.com</a:t>
            </a:r>
          </a:p>
          <a:p>
            <a:r>
              <a:rPr lang="ko-KR" altLang="en-US"/>
              <a:t>주소</a:t>
            </a:r>
            <a:r>
              <a:rPr lang="en-US" altLang="ko-KR"/>
              <a:t>		</a:t>
            </a:r>
            <a:r>
              <a:rPr lang="ko-KR" altLang="en-US"/>
              <a:t>대전광역시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최종학력</a:t>
            </a:r>
            <a:endParaRPr lang="en-US" altLang="ko-KR"/>
          </a:p>
          <a:p>
            <a:r>
              <a:rPr lang="en-US" altLang="ko-KR"/>
              <a:t>2020.02		</a:t>
            </a:r>
            <a:r>
              <a:rPr lang="ko-KR" altLang="en-US"/>
              <a:t>대전광역시 노은고등학교 졸업</a:t>
            </a:r>
            <a:endParaRPr lang="en-US" altLang="ko-KR"/>
          </a:p>
          <a:p>
            <a:r>
              <a:rPr lang="en-US" altLang="ko-KR"/>
              <a:t>2027.02		</a:t>
            </a:r>
            <a:r>
              <a:rPr lang="ko-KR" altLang="en-US"/>
              <a:t>한국공학대학교 게임공학과 졸업예정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E398A3-578C-D7A7-9CAD-5388A5A71592}"/>
              </a:ext>
            </a:extLst>
          </p:cNvPr>
          <p:cNvSpPr txBox="1"/>
          <p:nvPr/>
        </p:nvSpPr>
        <p:spPr>
          <a:xfrm>
            <a:off x="4705350" y="4587359"/>
            <a:ext cx="216437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기술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C/C++</a:t>
            </a:r>
          </a:p>
          <a:p>
            <a:r>
              <a:rPr lang="en-US" altLang="ko-KR"/>
              <a:t>Unity/C#</a:t>
            </a:r>
          </a:p>
          <a:p>
            <a:r>
              <a:rPr lang="en-US" altLang="ko-KR"/>
              <a:t>DirectX/PIX</a:t>
            </a:r>
          </a:p>
          <a:p>
            <a:r>
              <a:rPr lang="ko-KR" altLang="en-US"/>
              <a:t>게임서버</a:t>
            </a:r>
            <a:endParaRPr lang="en-US" altLang="ko-KR"/>
          </a:p>
          <a:p>
            <a:r>
              <a:rPr lang="en-US" altLang="ko-KR"/>
              <a:t>FL Studio/Auducity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84BF7A-1CA5-2007-79B8-372444D1CB53}"/>
              </a:ext>
            </a:extLst>
          </p:cNvPr>
          <p:cNvSpPr txBox="1"/>
          <p:nvPr/>
        </p:nvSpPr>
        <p:spPr>
          <a:xfrm>
            <a:off x="8254704" y="4587359"/>
            <a:ext cx="3758850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수상</a:t>
            </a:r>
            <a:endParaRPr lang="en-US" altLang="ko-KR"/>
          </a:p>
          <a:p>
            <a:endParaRPr lang="en-US" altLang="ko-KR"/>
          </a:p>
          <a:p>
            <a:r>
              <a:rPr lang="en-US" altLang="ko-KR" sz="1600"/>
              <a:t>2022 </a:t>
            </a:r>
            <a:r>
              <a:rPr lang="ko-KR" altLang="en-US" sz="1600"/>
              <a:t>한국공학대학교 과제전 준우승</a:t>
            </a:r>
            <a:endParaRPr lang="en-US" altLang="ko-KR" sz="1600"/>
          </a:p>
          <a:p>
            <a:r>
              <a:rPr lang="en-US" altLang="ko-KR" sz="1600"/>
              <a:t>(</a:t>
            </a:r>
            <a:r>
              <a:rPr lang="ko-KR" altLang="en-US" sz="1600"/>
              <a:t>윈도우 프로그래밍 기말과제 </a:t>
            </a:r>
            <a:r>
              <a:rPr lang="en-US" altLang="ko-KR" sz="1600"/>
              <a:t>Otornait)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65385B2-6002-DFD3-F901-13F392492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34" y="1573081"/>
            <a:ext cx="2426080" cy="287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41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3F099-0824-2A1E-8299-9505B059E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E9B868-4E8C-B7A1-0686-4DD2F1A6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351"/>
            <a:ext cx="10515600" cy="480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/>
              <a:t>1. </a:t>
            </a:r>
            <a:r>
              <a:rPr lang="ko-KR" altLang="en-US" sz="2000"/>
              <a:t>개발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	1. PulseCity (</a:t>
            </a:r>
            <a:r>
              <a:rPr lang="ko-KR" altLang="en-US" sz="2000"/>
              <a:t>게임공학과 졸업작품</a:t>
            </a:r>
            <a:r>
              <a:rPr lang="en-US" altLang="ko-KR" sz="2000"/>
              <a:t>)</a:t>
            </a:r>
          </a:p>
          <a:p>
            <a:pPr marL="0" indent="0">
              <a:buNone/>
            </a:pPr>
            <a:r>
              <a:rPr lang="en-US" altLang="ko-KR" sz="2000"/>
              <a:t>	2. Otornait (</a:t>
            </a:r>
            <a:r>
              <a:rPr lang="ko-KR" altLang="en-US" sz="2000"/>
              <a:t>윈도우 프로그래밍 기말과제</a:t>
            </a:r>
            <a:r>
              <a:rPr lang="en-US" altLang="ko-KR" sz="2000"/>
              <a:t>, </a:t>
            </a:r>
            <a:r>
              <a:rPr lang="ko-KR" altLang="en-US" sz="2000"/>
              <a:t>교내 과제전 </a:t>
            </a:r>
            <a:r>
              <a:rPr lang="en-US" altLang="ko-KR" sz="2000"/>
              <a:t>2</a:t>
            </a:r>
            <a:r>
              <a:rPr lang="ko-KR" altLang="en-US" sz="2000"/>
              <a:t>등 수상</a:t>
            </a:r>
            <a:r>
              <a:rPr lang="en-US" altLang="ko-KR" sz="2000"/>
              <a:t>)</a:t>
            </a:r>
          </a:p>
          <a:p>
            <a:pPr marL="0" indent="0">
              <a:buNone/>
            </a:pPr>
            <a:r>
              <a:rPr lang="en-US" altLang="ko-KR" sz="2000"/>
              <a:t>	3. </a:t>
            </a:r>
            <a:r>
              <a:rPr lang="ko-KR" altLang="en-US" sz="2000"/>
              <a:t>그래픽스 기말과제 </a:t>
            </a:r>
            <a:r>
              <a:rPr lang="en-US" altLang="ko-KR" sz="2000"/>
              <a:t>(</a:t>
            </a:r>
            <a:r>
              <a:rPr lang="ko-KR" altLang="en-US" sz="2000"/>
              <a:t>게임그래픽스 기말과제</a:t>
            </a:r>
            <a:r>
              <a:rPr lang="en-US" altLang="ko-KR" sz="2000"/>
              <a:t>)</a:t>
            </a:r>
          </a:p>
          <a:p>
            <a:pPr marL="0" indent="0">
              <a:buNone/>
            </a:pPr>
            <a:r>
              <a:rPr lang="en-US" altLang="ko-KR" sz="2000"/>
              <a:t>2. </a:t>
            </a:r>
            <a:r>
              <a:rPr lang="ko-KR" altLang="en-US" sz="2000"/>
              <a:t>기획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	1. GMTK </a:t>
            </a:r>
            <a:r>
              <a:rPr lang="ko-KR" altLang="en-US" sz="2000"/>
              <a:t>게임잼 참여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		1. Inverse</a:t>
            </a:r>
            <a:r>
              <a:rPr lang="ko-KR" altLang="en-US" sz="2000"/>
              <a:t> </a:t>
            </a:r>
            <a:r>
              <a:rPr lang="en-US" altLang="ko-KR" sz="2000"/>
              <a:t>Proportion</a:t>
            </a:r>
          </a:p>
          <a:p>
            <a:pPr marL="0" indent="0">
              <a:buNone/>
            </a:pPr>
            <a:r>
              <a:rPr lang="en-US" altLang="ko-KR" sz="2000"/>
              <a:t>		2. God Choice</a:t>
            </a:r>
          </a:p>
          <a:p>
            <a:pPr marL="0" indent="0">
              <a:buNone/>
            </a:pPr>
            <a:r>
              <a:rPr lang="en-US" altLang="ko-KR" sz="200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61130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72D462-C573-C46F-5AD0-83B11613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Pulse</a:t>
            </a:r>
            <a:r>
              <a:rPr lang="ko-KR" altLang="en-US"/>
              <a:t> </a:t>
            </a:r>
            <a:r>
              <a:rPr lang="en-US" altLang="ko-KR"/>
              <a:t>City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E6C90E-9845-4D7E-EB24-2910163EAEEC}"/>
              </a:ext>
            </a:extLst>
          </p:cNvPr>
          <p:cNvSpPr txBox="1"/>
          <p:nvPr/>
        </p:nvSpPr>
        <p:spPr>
          <a:xfrm>
            <a:off x="838200" y="1353804"/>
            <a:ext cx="77851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프로젝트 이름 </a:t>
            </a:r>
            <a:r>
              <a:rPr lang="en-US" altLang="ko-KR" sz="1600"/>
              <a:t>: Pulse City</a:t>
            </a:r>
          </a:p>
          <a:p>
            <a:r>
              <a:rPr lang="ko-KR" altLang="en-US" sz="1600"/>
              <a:t>장르 </a:t>
            </a:r>
            <a:r>
              <a:rPr lang="en-US" altLang="ko-KR" sz="1600"/>
              <a:t>: </a:t>
            </a:r>
            <a:r>
              <a:rPr lang="ko-KR" altLang="en-US" sz="1600"/>
              <a:t>오픈월드 </a:t>
            </a:r>
            <a:r>
              <a:rPr lang="en-US" altLang="ko-KR" sz="1600"/>
              <a:t>FPS </a:t>
            </a:r>
            <a:r>
              <a:rPr lang="ko-KR" altLang="en-US" sz="1600"/>
              <a:t>다중접속 </a:t>
            </a:r>
            <a:r>
              <a:rPr lang="en-US" altLang="ko-KR" sz="1600"/>
              <a:t>RPG</a:t>
            </a:r>
          </a:p>
          <a:p>
            <a:r>
              <a:rPr lang="ko-KR" altLang="en-US" sz="1600"/>
              <a:t>개발인원 </a:t>
            </a:r>
            <a:r>
              <a:rPr lang="en-US" altLang="ko-KR" sz="1600"/>
              <a:t>: 3</a:t>
            </a:r>
            <a:r>
              <a:rPr lang="ko-KR" altLang="en-US" sz="1600"/>
              <a:t>명 </a:t>
            </a:r>
            <a:r>
              <a:rPr lang="en-US" altLang="ko-KR" sz="1600"/>
              <a:t>/ </a:t>
            </a:r>
            <a:r>
              <a:rPr lang="ko-KR" altLang="en-US" sz="1600"/>
              <a:t>개발 기간 </a:t>
            </a:r>
            <a:r>
              <a:rPr lang="en-US" altLang="ko-KR" sz="1600"/>
              <a:t>(2025-06-12 ~ 2026-06-22)</a:t>
            </a:r>
          </a:p>
          <a:p>
            <a:r>
              <a:rPr lang="ko-KR" altLang="en-US" sz="1600"/>
              <a:t>개발 환경 </a:t>
            </a:r>
            <a:r>
              <a:rPr lang="en-US" altLang="ko-KR" sz="1600"/>
              <a:t>: </a:t>
            </a:r>
          </a:p>
          <a:p>
            <a:r>
              <a:rPr lang="en-US" altLang="ko-KR" sz="1600"/>
              <a:t>	</a:t>
            </a:r>
            <a:r>
              <a:rPr lang="en-US" altLang="ko-KR" sz="1400"/>
              <a:t>IDE/Debugger : VisualStudio2022, PIX(GPU</a:t>
            </a:r>
            <a:r>
              <a:rPr lang="ko-KR" altLang="en-US" sz="1400"/>
              <a:t> 디버깅</a:t>
            </a:r>
            <a:r>
              <a:rPr lang="en-US" altLang="ko-KR" sz="1400"/>
              <a:t>)</a:t>
            </a:r>
          </a:p>
          <a:p>
            <a:r>
              <a:rPr lang="en-US" altLang="ko-KR" sz="1400"/>
              <a:t>	Language : c++20</a:t>
            </a:r>
          </a:p>
          <a:p>
            <a:r>
              <a:rPr lang="en-US" altLang="ko-KR" sz="1400"/>
              <a:t>	System API : Windows API, DXGI</a:t>
            </a:r>
          </a:p>
          <a:p>
            <a:r>
              <a:rPr lang="en-US" altLang="ko-KR" sz="1400"/>
              <a:t>	Rendering : DirectX 12 Raster/Raytracing, hlsl</a:t>
            </a:r>
          </a:p>
          <a:p>
            <a:r>
              <a:rPr lang="en-US" altLang="ko-KR" sz="1400"/>
              <a:t>	GameData Making : Unity + C#, Blender</a:t>
            </a:r>
          </a:p>
          <a:p>
            <a:r>
              <a:rPr lang="en-US" altLang="ko-KR" sz="1400"/>
              <a:t>	GameData Finding : SketchFab, AmbientPBR, cgtrader</a:t>
            </a:r>
          </a:p>
          <a:p>
            <a:r>
              <a:rPr lang="en-US" altLang="ko-KR" sz="1400"/>
              <a:t>	TTF</a:t>
            </a:r>
            <a:r>
              <a:rPr lang="ko-KR" altLang="en-US" sz="1400"/>
              <a:t> </a:t>
            </a:r>
            <a:r>
              <a:rPr lang="en-US" altLang="ko-KR" sz="1400"/>
              <a:t>Parsing</a:t>
            </a:r>
            <a:r>
              <a:rPr lang="ko-KR" altLang="en-US" sz="1400"/>
              <a:t> </a:t>
            </a:r>
            <a:r>
              <a:rPr lang="en-US" altLang="ko-KR" sz="1400"/>
              <a:t>:</a:t>
            </a:r>
            <a:r>
              <a:rPr lang="ko-KR" altLang="en-US" sz="1400"/>
              <a:t> </a:t>
            </a:r>
            <a:r>
              <a:rPr lang="en-US" altLang="ko-KR" sz="1400"/>
              <a:t>ttfParser.h (https://github.com/kv01/ttf-parser)</a:t>
            </a:r>
          </a:p>
          <a:p>
            <a:r>
              <a:rPr lang="en-US" altLang="ko-KR" sz="1400"/>
              <a:t>	Sound : Window WASAPI</a:t>
            </a:r>
          </a:p>
          <a:p>
            <a:r>
              <a:rPr lang="en-US" altLang="ko-KR" sz="1400"/>
              <a:t>	AI </a:t>
            </a:r>
            <a:r>
              <a:rPr lang="ko-KR" altLang="en-US" sz="1400"/>
              <a:t>활용 </a:t>
            </a:r>
            <a:r>
              <a:rPr lang="en-US" altLang="ko-KR" sz="1400"/>
              <a:t>: Microsoft Copliot + Gemini 4.5</a:t>
            </a:r>
          </a:p>
          <a:p>
            <a:r>
              <a:rPr lang="en-US" altLang="ko-KR" sz="1600"/>
              <a:t>	</a:t>
            </a:r>
          </a:p>
          <a:p>
            <a:r>
              <a:rPr lang="ko-KR" altLang="en-US" sz="1600"/>
              <a:t>내가 당담한 역할 </a:t>
            </a:r>
            <a:r>
              <a:rPr lang="en-US" altLang="ko-KR" sz="1600"/>
              <a:t>/ </a:t>
            </a:r>
            <a:r>
              <a:rPr lang="ko-KR" altLang="en-US" sz="1600"/>
              <a:t>수행한 과제 요약</a:t>
            </a:r>
            <a:endParaRPr lang="en-US" altLang="ko-KR" sz="1600"/>
          </a:p>
          <a:p>
            <a:r>
              <a:rPr lang="en-US" altLang="ko-KR" sz="1600"/>
              <a:t>	</a:t>
            </a:r>
            <a:r>
              <a:rPr lang="ko-KR" altLang="en-US" sz="1100"/>
              <a:t>일단 중요했던 과제들을 먼저 나열하고</a:t>
            </a:r>
            <a:r>
              <a:rPr lang="en-US" altLang="ko-KR" sz="1100"/>
              <a:t>, 6</a:t>
            </a:r>
            <a:r>
              <a:rPr lang="ko-KR" altLang="en-US" sz="1100"/>
              <a:t>번에서 나머지 소소한 것들을 소개한다</a:t>
            </a:r>
            <a:r>
              <a:rPr lang="en-US" altLang="ko-KR" sz="1600"/>
              <a:t>.</a:t>
            </a:r>
          </a:p>
          <a:p>
            <a:r>
              <a:rPr lang="en-US" altLang="ko-KR" sz="1600"/>
              <a:t>	</a:t>
            </a:r>
            <a:r>
              <a:rPr lang="en-US" altLang="ko-KR" sz="1400"/>
              <a:t>0. AI </a:t>
            </a:r>
            <a:r>
              <a:rPr lang="ko-KR" altLang="en-US" sz="1400"/>
              <a:t>사용</a:t>
            </a:r>
            <a:endParaRPr lang="en-US" altLang="ko-KR" sz="1400"/>
          </a:p>
          <a:p>
            <a:r>
              <a:rPr lang="en-US" altLang="ko-KR" sz="1400"/>
              <a:t>	1. </a:t>
            </a:r>
            <a:r>
              <a:rPr lang="ko-KR" altLang="en-US" sz="1400"/>
              <a:t>유니티 바이너리 익스포터 제작</a:t>
            </a:r>
            <a:endParaRPr lang="en-US" altLang="ko-KR" sz="1400"/>
          </a:p>
          <a:p>
            <a:r>
              <a:rPr lang="en-US" altLang="ko-KR" sz="1400"/>
              <a:t>	2. </a:t>
            </a:r>
            <a:r>
              <a:rPr lang="ko-KR" altLang="en-US" sz="1400"/>
              <a:t>서버 프레임워크 제작</a:t>
            </a:r>
            <a:endParaRPr lang="en-US" altLang="ko-KR" sz="1400"/>
          </a:p>
          <a:p>
            <a:r>
              <a:rPr lang="en-US" altLang="ko-KR" sz="1400"/>
              <a:t>	3. </a:t>
            </a:r>
            <a:r>
              <a:rPr lang="ko-KR" altLang="en-US" sz="1400"/>
              <a:t>게임 프레임워크 제작</a:t>
            </a:r>
            <a:endParaRPr lang="en-US" altLang="ko-KR" sz="1400"/>
          </a:p>
          <a:p>
            <a:r>
              <a:rPr lang="en-US" altLang="ko-KR" sz="1400"/>
              <a:t>	4. </a:t>
            </a:r>
            <a:r>
              <a:rPr lang="ko-KR" altLang="en-US" sz="1400"/>
              <a:t>렌더링</a:t>
            </a:r>
            <a:endParaRPr lang="en-US" altLang="ko-KR" sz="1400"/>
          </a:p>
          <a:p>
            <a:r>
              <a:rPr lang="en-US" altLang="ko-KR" sz="1400"/>
              <a:t>	5. </a:t>
            </a:r>
            <a:r>
              <a:rPr lang="ko-KR" altLang="en-US" sz="1400"/>
              <a:t>레이트레이싱</a:t>
            </a:r>
            <a:endParaRPr lang="en-US" altLang="ko-KR" sz="1400"/>
          </a:p>
          <a:p>
            <a:r>
              <a:rPr lang="en-US" altLang="ko-KR" sz="1400"/>
              <a:t>	6. </a:t>
            </a:r>
            <a:r>
              <a:rPr lang="ko-KR" altLang="en-US" sz="1400"/>
              <a:t>그 외의 기여</a:t>
            </a:r>
            <a:endParaRPr lang="en-US" altLang="ko-KR" sz="1400"/>
          </a:p>
          <a:p>
            <a:r>
              <a:rPr lang="en-US" altLang="ko-KR" sz="1400"/>
              <a:t>	7. </a:t>
            </a:r>
            <a:r>
              <a:rPr lang="ko-KR" altLang="en-US" sz="1400"/>
              <a:t>부록</a:t>
            </a:r>
            <a:endParaRPr lang="en-US" altLang="ko-KR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C605F4-3198-5900-9408-3A8C1ED8B521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개발영역</a:t>
            </a:r>
            <a:endParaRPr lang="en-US" altLang="ko-KR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60205-0536-AD37-4A7D-64B3F0096577}"/>
              </a:ext>
            </a:extLst>
          </p:cNvPr>
          <p:cNvSpPr txBox="1"/>
          <p:nvPr/>
        </p:nvSpPr>
        <p:spPr>
          <a:xfrm>
            <a:off x="8289636" y="852522"/>
            <a:ext cx="35421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플레이 및 소개영상</a:t>
            </a:r>
            <a:r>
              <a:rPr lang="en-US" altLang="ko-KR">
                <a:hlinkClick r:id="rId2"/>
              </a:rPr>
              <a:t>https://youtu.be/kb8ucLNXPk4</a:t>
            </a:r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DC0137-3215-8A53-453F-9F0DB7E7D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929" y="1690688"/>
            <a:ext cx="2896081" cy="96802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FAB3971-2C0B-25AF-F92D-004AB6608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4929" y="2679367"/>
            <a:ext cx="3248660" cy="119891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B3C362D-70A6-D701-865F-6DFF7762D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4929" y="3839229"/>
            <a:ext cx="1254414" cy="129501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CE78222-6CD5-5B9C-2847-E9D1F66913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9344" y="3862206"/>
            <a:ext cx="2377618" cy="117593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74A7F14-49E2-5485-3F28-2F2A7F1939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4599" y="5134239"/>
            <a:ext cx="1483446" cy="132194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754A64A-E5DB-DA32-5DBA-E080462A49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0779" y="5102046"/>
            <a:ext cx="859621" cy="135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428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8B3E7-174D-CFEB-5F2F-D65D929A0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8043D-DF74-8837-1C6F-B5967FBC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AI </a:t>
            </a:r>
            <a:r>
              <a:rPr lang="ko-KR" altLang="en-US"/>
              <a:t>사용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78876BC-2B09-B31F-F064-2BD54468585D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C9594-A949-4D67-4957-148634FEB8A0}"/>
              </a:ext>
            </a:extLst>
          </p:cNvPr>
          <p:cNvSpPr txBox="1"/>
          <p:nvPr/>
        </p:nvSpPr>
        <p:spPr>
          <a:xfrm>
            <a:off x="838201" y="1550864"/>
            <a:ext cx="482675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내가 사용한 </a:t>
            </a:r>
            <a:r>
              <a:rPr lang="en-US" altLang="ko-KR"/>
              <a:t>AI </a:t>
            </a:r>
            <a:r>
              <a:rPr lang="ko-KR" altLang="en-US"/>
              <a:t>사용 코드</a:t>
            </a:r>
            <a:endParaRPr lang="en-US" altLang="ko-KR"/>
          </a:p>
          <a:p>
            <a:r>
              <a:rPr lang="en-US" altLang="ko-KR" sz="1200"/>
              <a:t>1. </a:t>
            </a:r>
            <a:r>
              <a:rPr lang="ko-KR" altLang="en-US" sz="1200"/>
              <a:t>전체화면 모드가 가능한 해상도들을 뽑아내는 코드 </a:t>
            </a:r>
            <a:r>
              <a:rPr lang="en-US" altLang="ko-KR" sz="1200"/>
              <a:t>- c++ Microsoft Copilot</a:t>
            </a:r>
          </a:p>
          <a:p>
            <a:r>
              <a:rPr lang="en-US" altLang="ko-KR" sz="1200"/>
              <a:t>2. DXGI_FORMAT</a:t>
            </a:r>
            <a:r>
              <a:rPr lang="ko-KR" altLang="en-US" sz="1200"/>
              <a:t>을 받아 픽셀 사이즈를 반환하는 함수 </a:t>
            </a:r>
            <a:r>
              <a:rPr lang="en-US" altLang="ko-KR" sz="1200"/>
              <a:t>- c++ Microsoft Copilot</a:t>
            </a:r>
          </a:p>
          <a:p>
            <a:r>
              <a:rPr lang="en-US" altLang="ko-KR" sz="1200"/>
              <a:t>3. FPS</a:t>
            </a:r>
            <a:r>
              <a:rPr lang="ko-KR" altLang="en-US" sz="1200"/>
              <a:t> 카메라 움직임을 위한 </a:t>
            </a:r>
            <a:r>
              <a:rPr lang="en-US" altLang="ko-KR" sz="1200"/>
              <a:t>WM_INPUT</a:t>
            </a:r>
            <a:r>
              <a:rPr lang="ko-KR" altLang="en-US" sz="1200"/>
              <a:t>을 통해 커서의 </a:t>
            </a:r>
            <a:r>
              <a:rPr lang="en-US" altLang="ko-KR" sz="1200"/>
              <a:t>DeltaX, DeltaY</a:t>
            </a:r>
            <a:r>
              <a:rPr lang="ko-KR" altLang="en-US" sz="1200"/>
              <a:t>를 뽑아내는 코드 </a:t>
            </a:r>
            <a:endParaRPr lang="en-US" altLang="ko-KR" sz="1200"/>
          </a:p>
          <a:p>
            <a:r>
              <a:rPr lang="en-US" altLang="ko-KR" sz="1200"/>
              <a:t>	- c++ Microsoft Copilot</a:t>
            </a:r>
          </a:p>
          <a:p>
            <a:r>
              <a:rPr lang="en-US" altLang="ko-KR" sz="1200"/>
              <a:t>4. </a:t>
            </a:r>
            <a:r>
              <a:rPr lang="ko-KR" altLang="en-US" sz="1200"/>
              <a:t>쿼터니언을 통해 벡터를 회전시키는 코드 </a:t>
            </a:r>
            <a:r>
              <a:rPr lang="en-US" altLang="ko-KR" sz="1200"/>
              <a:t>- hlsl Gemini</a:t>
            </a:r>
            <a:br>
              <a:rPr lang="en-US" altLang="ko-KR" sz="1200"/>
            </a:br>
            <a:r>
              <a:rPr lang="en-US" altLang="ko-KR" sz="1200"/>
              <a:t>5. 4</a:t>
            </a:r>
            <a:r>
              <a:rPr lang="ko-KR" altLang="en-US" sz="1200"/>
              <a:t>개의 쿼터니언 보간 코드 </a:t>
            </a:r>
            <a:r>
              <a:rPr lang="en-US" altLang="ko-KR" sz="1200"/>
              <a:t>- hlsl, c++ Gemini</a:t>
            </a:r>
          </a:p>
          <a:p>
            <a:r>
              <a:rPr lang="en-US" altLang="ko-KR" sz="1200"/>
              <a:t>6. </a:t>
            </a:r>
            <a:r>
              <a:rPr lang="ko-KR" altLang="en-US" sz="1200"/>
              <a:t>벡터를 쿼터니언으로 변환하는 코드 </a:t>
            </a:r>
            <a:r>
              <a:rPr lang="en-US" altLang="ko-KR" sz="1200"/>
              <a:t>- hlsl Gemini</a:t>
            </a:r>
          </a:p>
          <a:p>
            <a:endParaRPr lang="en-US" altLang="ko-KR" sz="1200"/>
          </a:p>
          <a:p>
            <a:r>
              <a:rPr lang="ko-KR" altLang="en-US"/>
              <a:t>내가 주로 </a:t>
            </a:r>
            <a:r>
              <a:rPr lang="en-US" altLang="ko-KR"/>
              <a:t>AI</a:t>
            </a:r>
            <a:r>
              <a:rPr lang="ko-KR" altLang="en-US"/>
              <a:t>를 사용한 방법</a:t>
            </a:r>
            <a:endParaRPr lang="en-US" altLang="ko-KR"/>
          </a:p>
          <a:p>
            <a:r>
              <a:rPr lang="en-US" altLang="ko-KR" sz="1200"/>
              <a:t>1. </a:t>
            </a:r>
            <a:r>
              <a:rPr lang="ko-KR" altLang="en-US" sz="1200"/>
              <a:t>그래픽 에러 로그를 번역 </a:t>
            </a:r>
            <a:endParaRPr lang="en-US" altLang="ko-KR" sz="1200"/>
          </a:p>
          <a:p>
            <a:r>
              <a:rPr lang="en-US" altLang="ko-KR" sz="1200"/>
              <a:t>	- </a:t>
            </a:r>
            <a:r>
              <a:rPr lang="ko-KR" altLang="en-US" sz="1200"/>
              <a:t>영어 문장이었으나</a:t>
            </a:r>
            <a:r>
              <a:rPr lang="en-US" altLang="ko-KR" sz="1200"/>
              <a:t>, </a:t>
            </a:r>
            <a:r>
              <a:rPr lang="ko-KR" altLang="en-US" sz="1200"/>
              <a:t>너무 길고</a:t>
            </a:r>
            <a:r>
              <a:rPr lang="en-US" altLang="ko-KR" sz="1200"/>
              <a:t>, </a:t>
            </a:r>
            <a:r>
              <a:rPr lang="ko-KR" altLang="en-US" sz="1200"/>
              <a:t>부가 설명이 많고</a:t>
            </a:r>
            <a:r>
              <a:rPr lang="en-US" altLang="ko-KR" sz="1200"/>
              <a:t>, ENUM </a:t>
            </a:r>
            <a:r>
              <a:rPr lang="ko-KR" altLang="en-US" sz="1200"/>
              <a:t>같은게 좀 길어서 한눈에 보기가 어려웠음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2. </a:t>
            </a:r>
            <a:r>
              <a:rPr lang="ko-KR" altLang="en-US" sz="1200"/>
              <a:t>문제 해결을 위한 검색엔진 중 하나</a:t>
            </a:r>
            <a:r>
              <a:rPr lang="en-US" altLang="ko-KR" sz="1200"/>
              <a:t> </a:t>
            </a:r>
          </a:p>
          <a:p>
            <a:r>
              <a:rPr lang="en-US" altLang="ko-KR" sz="1200"/>
              <a:t>	- </a:t>
            </a:r>
            <a:r>
              <a:rPr lang="ko-KR" altLang="en-US" sz="1200"/>
              <a:t>이 경우 자신이나 남의 코드를 보여주지 않고</a:t>
            </a:r>
            <a:r>
              <a:rPr lang="en-US" altLang="ko-KR" sz="1200"/>
              <a:t>, </a:t>
            </a:r>
            <a:r>
              <a:rPr lang="ko-KR" altLang="en-US" sz="1200"/>
              <a:t>말로만 검색 혹은 예제 코드 작성 후 설명 </a:t>
            </a:r>
            <a:r>
              <a:rPr lang="en-US" altLang="ko-KR" sz="1200"/>
              <a:t>(</a:t>
            </a:r>
            <a:r>
              <a:rPr lang="ko-KR" altLang="en-US" sz="1200"/>
              <a:t>남의 코드를 보여주지 말라고 당부함</a:t>
            </a:r>
            <a:r>
              <a:rPr lang="en-US" altLang="ko-KR" sz="1200"/>
              <a:t>)</a:t>
            </a:r>
          </a:p>
          <a:p>
            <a:endParaRPr lang="en-US" altLang="ko-KR"/>
          </a:p>
          <a:p>
            <a:r>
              <a:rPr lang="ko-KR" altLang="en-US"/>
              <a:t>다른 팀원이 사용한 </a:t>
            </a:r>
            <a:r>
              <a:rPr lang="en-US" altLang="ko-KR"/>
              <a:t>AI Code.</a:t>
            </a:r>
          </a:p>
          <a:p>
            <a:r>
              <a:rPr lang="en-US" altLang="ko-KR"/>
              <a:t>	</a:t>
            </a:r>
            <a:r>
              <a:rPr lang="en-US" altLang="ko-KR" sz="1200"/>
              <a:t>- </a:t>
            </a:r>
            <a:r>
              <a:rPr lang="ko-KR" altLang="en-US" sz="1200"/>
              <a:t>초반 프로젝트에 </a:t>
            </a:r>
            <a:r>
              <a:rPr lang="en-US" altLang="ko-KR" sz="1200"/>
              <a:t>A* </a:t>
            </a:r>
            <a:r>
              <a:rPr lang="ko-KR" altLang="en-US" sz="1200"/>
              <a:t>길찾기 알고리즘 구현에 </a:t>
            </a:r>
            <a:r>
              <a:rPr lang="en-US" altLang="ko-KR" sz="1200"/>
              <a:t>AI</a:t>
            </a:r>
            <a:r>
              <a:rPr lang="ko-KR" altLang="en-US" sz="1200"/>
              <a:t>활용</a:t>
            </a:r>
            <a:r>
              <a:rPr lang="en-US" altLang="ko-KR" sz="1200"/>
              <a:t>. (</a:t>
            </a:r>
            <a:r>
              <a:rPr lang="ko-KR" altLang="en-US" sz="1200"/>
              <a:t>공간의 한계</a:t>
            </a:r>
            <a:r>
              <a:rPr lang="en-US" altLang="ko-KR" sz="1200"/>
              <a:t>(Grid</a:t>
            </a:r>
            <a:r>
              <a:rPr lang="ko-KR" altLang="en-US" sz="1200"/>
              <a:t>라 </a:t>
            </a:r>
            <a:r>
              <a:rPr lang="en-US" altLang="ko-KR" sz="1200"/>
              <a:t>3</a:t>
            </a:r>
            <a:r>
              <a:rPr lang="ko-KR" altLang="en-US" sz="1200"/>
              <a:t>차원 움직임에 제한</a:t>
            </a:r>
            <a:r>
              <a:rPr lang="en-US" altLang="ko-KR" sz="1200"/>
              <a:t>)</a:t>
            </a:r>
            <a:r>
              <a:rPr lang="ko-KR" altLang="en-US" sz="1200"/>
              <a:t>과 느린 문제 때문에 최종적으로 프로젝트에 포함되지 못함</a:t>
            </a:r>
            <a:r>
              <a:rPr lang="en-US" altLang="ko-KR" sz="1200"/>
              <a:t>.) - c++ chatgpt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B66E76-2A69-0D65-26E1-56BCF4813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561" y="1690688"/>
            <a:ext cx="6099058" cy="416468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2EA306-EC89-730C-AD82-C8146291B1D8}"/>
              </a:ext>
            </a:extLst>
          </p:cNvPr>
          <p:cNvSpPr txBox="1"/>
          <p:nvPr/>
        </p:nvSpPr>
        <p:spPr>
          <a:xfrm>
            <a:off x="5843561" y="5825602"/>
            <a:ext cx="50129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/>
              <a:t>&lt;</a:t>
            </a:r>
            <a:r>
              <a:rPr lang="ko-KR" altLang="en-US" sz="1200" b="1"/>
              <a:t>우리 코드는 왜 더러운가</a:t>
            </a:r>
            <a:r>
              <a:rPr lang="en-US" altLang="ko-KR" sz="1200" b="1"/>
              <a:t>.pdf </a:t>
            </a:r>
            <a:r>
              <a:rPr lang="ko-KR" altLang="en-US" sz="1200" b="1"/>
              <a:t>중 </a:t>
            </a:r>
            <a:r>
              <a:rPr lang="en-US" altLang="ko-KR" sz="1200" b="1"/>
              <a:t>AI </a:t>
            </a:r>
            <a:r>
              <a:rPr lang="ko-KR" altLang="en-US" sz="1200" b="1"/>
              <a:t>코드를 쓸 때의 가이드라인</a:t>
            </a:r>
            <a:r>
              <a:rPr lang="en-US" altLang="ko-KR" sz="1200" b="1"/>
              <a:t>&gt;</a:t>
            </a:r>
          </a:p>
          <a:p>
            <a:r>
              <a:rPr lang="en-US" altLang="ko-KR" sz="1200"/>
              <a:t>- </a:t>
            </a:r>
            <a:r>
              <a:rPr lang="ko-KR" altLang="en-US" sz="1200"/>
              <a:t>작성했기 때문에 </a:t>
            </a:r>
            <a:r>
              <a:rPr lang="en-US" altLang="ko-KR" sz="1200"/>
              <a:t>AI</a:t>
            </a:r>
            <a:r>
              <a:rPr lang="ko-KR" altLang="en-US" sz="1200"/>
              <a:t>를 나중에 어떤 부분이 </a:t>
            </a:r>
            <a:r>
              <a:rPr lang="en-US" altLang="ko-KR" sz="1200"/>
              <a:t>AI</a:t>
            </a:r>
            <a:r>
              <a:rPr lang="ko-KR" altLang="en-US" sz="1200"/>
              <a:t>를 썼는지 알 수 있었다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- </a:t>
            </a:r>
            <a:r>
              <a:rPr lang="ko-KR" altLang="en-US" sz="1200"/>
              <a:t>다만 다른 팀원이 한 작업 중 이것을 간과하거나 </a:t>
            </a:r>
            <a:endParaRPr lang="en-US" altLang="ko-KR" sz="1200"/>
          </a:p>
          <a:p>
            <a:r>
              <a:rPr lang="en-US" altLang="ko-KR" sz="1200"/>
              <a:t>	</a:t>
            </a:r>
            <a:r>
              <a:rPr lang="ko-KR" altLang="en-US" sz="1200"/>
              <a:t>따르지 않아서 생긴 코드가 있을 수는 있다</a:t>
            </a:r>
            <a:r>
              <a:rPr lang="en-US" altLang="ko-KR" sz="1200"/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38078BE-B476-8642-746B-CC082EC06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279" y="571500"/>
            <a:ext cx="2047950" cy="2675480"/>
          </a:xfrm>
          <a:prstGeom prst="rect">
            <a:avLst/>
          </a:prstGeom>
          <a:ln w="317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41417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45081-D09D-B38B-3FA9-980F1449C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유니티 바이너리 익스포터 제작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E06C305-99E5-CE0B-8758-2EED38A395C7}"/>
              </a:ext>
            </a:extLst>
          </p:cNvPr>
          <p:cNvSpPr txBox="1"/>
          <p:nvPr/>
        </p:nvSpPr>
        <p:spPr>
          <a:xfrm>
            <a:off x="177800" y="1386068"/>
            <a:ext cx="10892726" cy="2154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유니티와 </a:t>
            </a:r>
            <a:r>
              <a:rPr lang="en-US" altLang="ko-KR"/>
              <a:t>C# </a:t>
            </a:r>
            <a:r>
              <a:rPr lang="ko-KR" altLang="en-US"/>
              <a:t>스크립트를 활용한 </a:t>
            </a:r>
            <a:r>
              <a:rPr lang="en-US" altLang="ko-KR"/>
              <a:t>[</a:t>
            </a:r>
            <a:r>
              <a:rPr lang="ko-KR" altLang="en-US"/>
              <a:t>맵 </a:t>
            </a:r>
            <a:r>
              <a:rPr lang="en-US" altLang="ko-KR"/>
              <a:t>- </a:t>
            </a:r>
            <a:r>
              <a:rPr lang="ko-KR" altLang="en-US"/>
              <a:t>모델 </a:t>
            </a:r>
            <a:r>
              <a:rPr lang="en-US" altLang="ko-KR"/>
              <a:t>- </a:t>
            </a:r>
            <a:r>
              <a:rPr lang="ko-KR" altLang="en-US"/>
              <a:t>스킨메쉬 포함 모델 </a:t>
            </a:r>
            <a:r>
              <a:rPr lang="en-US" altLang="ko-KR"/>
              <a:t>- </a:t>
            </a:r>
            <a:r>
              <a:rPr lang="ko-KR" altLang="en-US"/>
              <a:t>애니메이션 바이너리 익스포터</a:t>
            </a:r>
            <a:r>
              <a:rPr lang="en-US" altLang="ko-KR"/>
              <a:t>]</a:t>
            </a:r>
            <a:r>
              <a:rPr lang="ko-KR" altLang="en-US"/>
              <a:t> 제작</a:t>
            </a:r>
            <a:endParaRPr lang="en-US" altLang="ko-KR"/>
          </a:p>
          <a:p>
            <a:r>
              <a:rPr lang="en-US" altLang="ko-KR"/>
              <a:t>c++</a:t>
            </a:r>
            <a:r>
              <a:rPr lang="ko-KR" altLang="en-US"/>
              <a:t>로 바이너리 임포터 제작</a:t>
            </a:r>
            <a:r>
              <a:rPr lang="en-US" altLang="ko-KR"/>
              <a:t>.</a:t>
            </a:r>
          </a:p>
          <a:p>
            <a:r>
              <a:rPr lang="ko-KR" altLang="en-US"/>
              <a:t>여러 존 맵을 하나의 </a:t>
            </a:r>
            <a:r>
              <a:rPr lang="en-US" altLang="ko-KR"/>
              <a:t>Scene</a:t>
            </a:r>
            <a:r>
              <a:rPr lang="ko-KR" altLang="en-US"/>
              <a:t>에서 만들어 볼 수 있고</a:t>
            </a:r>
            <a:r>
              <a:rPr lang="en-US" altLang="ko-KR"/>
              <a:t>, </a:t>
            </a:r>
            <a:r>
              <a:rPr lang="ko-KR" altLang="en-US"/>
              <a:t>그래서 자연스럽게 연결되게 할 수 있다</a:t>
            </a:r>
            <a:r>
              <a:rPr lang="en-US" altLang="ko-KR"/>
              <a:t>.</a:t>
            </a:r>
            <a:br>
              <a:rPr lang="en-US" altLang="ko-KR"/>
            </a:br>
            <a:endParaRPr lang="en-US" altLang="ko-KR"/>
          </a:p>
          <a:p>
            <a:r>
              <a:rPr lang="ko-KR" altLang="en-US"/>
              <a:t>익스포터 스크립트뿐 아니라</a:t>
            </a:r>
            <a:r>
              <a:rPr lang="en-US" altLang="ko-KR"/>
              <a:t>, </a:t>
            </a:r>
            <a:r>
              <a:rPr lang="ko-KR" altLang="en-US"/>
              <a:t>익스포트에 걸림돌이 되는 요소들을 정리하는 </a:t>
            </a:r>
            <a:r>
              <a:rPr lang="en-US" altLang="ko-KR"/>
              <a:t>Editor </a:t>
            </a:r>
            <a:r>
              <a:rPr lang="ko-KR" altLang="en-US"/>
              <a:t>스크립트 또한 제작</a:t>
            </a:r>
            <a:r>
              <a:rPr lang="en-US" altLang="ko-KR"/>
              <a:t>.</a:t>
            </a:r>
          </a:p>
          <a:p>
            <a:r>
              <a:rPr lang="ko-KR" altLang="en-US" sz="1100"/>
              <a:t>이름에서 특수문자와 띄어쓰기를 제외하는 스크립트 </a:t>
            </a:r>
            <a:r>
              <a:rPr lang="en-US" altLang="ko-KR" sz="1100"/>
              <a:t>-&gt; DDS </a:t>
            </a:r>
            <a:r>
              <a:rPr lang="ko-KR" altLang="en-US" sz="1100"/>
              <a:t>변환을 위해서</a:t>
            </a:r>
            <a:endParaRPr lang="en-US" altLang="ko-KR" sz="1100"/>
          </a:p>
          <a:p>
            <a:r>
              <a:rPr lang="ko-KR" altLang="en-US" sz="1100"/>
              <a:t>모든 에셋을 </a:t>
            </a:r>
            <a:r>
              <a:rPr lang="en-US" altLang="ko-KR" sz="1100"/>
              <a:t>Read/Write Enable</a:t>
            </a:r>
            <a:r>
              <a:rPr lang="ko-KR" altLang="en-US" sz="1100"/>
              <a:t>로 만드는 스크립트 </a:t>
            </a:r>
            <a:r>
              <a:rPr lang="en-US" altLang="ko-KR" sz="1100"/>
              <a:t>-&gt; </a:t>
            </a:r>
            <a:r>
              <a:rPr lang="ko-KR" altLang="en-US" sz="1100"/>
              <a:t>익스포트를 위해서</a:t>
            </a:r>
            <a:endParaRPr lang="en-US" altLang="ko-KR" sz="1100"/>
          </a:p>
          <a:p>
            <a:r>
              <a:rPr lang="ko-KR" altLang="en-US" sz="1100"/>
              <a:t>메쉬의 </a:t>
            </a:r>
            <a:r>
              <a:rPr lang="en-US" altLang="ko-KR" sz="1100"/>
              <a:t>pivot</a:t>
            </a:r>
            <a:r>
              <a:rPr lang="ko-KR" altLang="en-US" sz="1100"/>
              <a:t>을 자신의 중심점으로 만드는 스크립트 </a:t>
            </a:r>
            <a:r>
              <a:rPr lang="en-US" altLang="ko-KR" sz="1100"/>
              <a:t>-&gt; </a:t>
            </a:r>
            <a:r>
              <a:rPr lang="ko-KR" altLang="en-US" sz="1100"/>
              <a:t>원할한 맵 제작을 위해서</a:t>
            </a:r>
            <a:endParaRPr lang="en-US" altLang="ko-KR" sz="1100"/>
          </a:p>
          <a:p>
            <a:r>
              <a:rPr lang="ko-KR" altLang="en-US" sz="1100"/>
              <a:t>등등</a:t>
            </a:r>
            <a:r>
              <a:rPr lang="en-US" altLang="ko-KR" sz="1100"/>
              <a:t>..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1EB5018-3AD4-2ECC-00A6-2944EC6E96AA}"/>
              </a:ext>
            </a:extLst>
          </p:cNvPr>
          <p:cNvSpPr txBox="1"/>
          <p:nvPr/>
        </p:nvSpPr>
        <p:spPr>
          <a:xfrm>
            <a:off x="6096000" y="4541696"/>
            <a:ext cx="3289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또한 팀원과의 원할한 소통을 위해 </a:t>
            </a:r>
            <a:endParaRPr lang="en-US" altLang="ko-KR"/>
          </a:p>
          <a:p>
            <a:r>
              <a:rPr lang="ko-KR" altLang="en-US"/>
              <a:t>맵 제작 가이드라인을 업데이트하고</a:t>
            </a:r>
            <a:r>
              <a:rPr lang="en-US" altLang="ko-KR"/>
              <a:t>, </a:t>
            </a:r>
            <a:r>
              <a:rPr lang="ko-KR" altLang="en-US"/>
              <a:t>공유했다</a:t>
            </a:r>
            <a:r>
              <a:rPr lang="en-US" altLang="ko-KR"/>
              <a:t>.</a:t>
            </a:r>
          </a:p>
        </p:txBody>
      </p:sp>
      <p:pic>
        <p:nvPicPr>
          <p:cNvPr id="116" name="그림 115">
            <a:extLst>
              <a:ext uri="{FF2B5EF4-FFF2-40B4-BE49-F238E27FC236}">
                <a16:creationId xmlns:a16="http://schemas.microsoft.com/office/drawing/2014/main" id="{D1B6A473-F275-4E70-6730-E24A8C273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500" y="2861158"/>
            <a:ext cx="2984500" cy="399684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0F54350C-2024-1E8C-A13C-7D0E6EA14449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E43158-DF14-4021-01F1-C76B97CCE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25" y="3932410"/>
            <a:ext cx="5596348" cy="246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5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03438-6757-E686-CC40-61A776B43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EB37DAE5-6E6F-2D47-CDA1-81CE046E0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900" y="2828949"/>
            <a:ext cx="2142600" cy="1146626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EFDD742-6158-7C35-2BAE-150047BEC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21004"/>
            <a:ext cx="3762900" cy="173379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8DA6A47-24F6-9E82-C65F-55C0B01DC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서버 프레임워크 제작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12AD45-F134-19AA-D173-5A8AFF954337}"/>
              </a:ext>
            </a:extLst>
          </p:cNvPr>
          <p:cNvSpPr txBox="1"/>
          <p:nvPr/>
        </p:nvSpPr>
        <p:spPr>
          <a:xfrm>
            <a:off x="711200" y="1523137"/>
            <a:ext cx="8851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서버 프레임워크의 핵심적 내용</a:t>
            </a:r>
            <a:r>
              <a:rPr lang="en-US" altLang="ko-KR"/>
              <a:t>. - </a:t>
            </a:r>
            <a:r>
              <a:rPr lang="ko-KR" altLang="en-US"/>
              <a:t>서버를 만들긴 했지만 사실 한 건 별로 없다</a:t>
            </a:r>
            <a:r>
              <a:rPr lang="en-US" altLang="ko-KR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286D1B-7EE7-81DC-AA30-147EB24F42CC}"/>
              </a:ext>
            </a:extLst>
          </p:cNvPr>
          <p:cNvSpPr txBox="1"/>
          <p:nvPr/>
        </p:nvSpPr>
        <p:spPr>
          <a:xfrm>
            <a:off x="711200" y="1971537"/>
            <a:ext cx="519430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1.</a:t>
            </a:r>
            <a:r>
              <a:rPr lang="ko-KR" altLang="en-US" b="1"/>
              <a:t>xyz로 이동할 수 있게 OBB 서버 충돌 계산</a:t>
            </a:r>
            <a:endParaRPr lang="en-US" altLang="ko-KR" b="1"/>
          </a:p>
          <a:p>
            <a:r>
              <a:rPr lang="ko-KR" altLang="en-US" sz="1100"/>
              <a:t>서버에서 </a:t>
            </a:r>
            <a:r>
              <a:rPr lang="en-US" altLang="ko-KR" sz="1100"/>
              <a:t>3D</a:t>
            </a:r>
            <a:r>
              <a:rPr lang="ko-KR" altLang="en-US" sz="1100"/>
              <a:t>로 움직여야 할 게임 오브젝트 간 충돌을 계산하기 위해 많이 고민했다</a:t>
            </a:r>
            <a:r>
              <a:rPr lang="en-US" altLang="ko-KR" sz="1100"/>
              <a:t>. </a:t>
            </a:r>
            <a:r>
              <a:rPr lang="ko-KR" altLang="en-US" sz="1100"/>
              <a:t>그리고 특별한 오류 없이 </a:t>
            </a:r>
            <a:r>
              <a:rPr lang="en-US" altLang="ko-KR" sz="1100"/>
              <a:t>OBB </a:t>
            </a:r>
            <a:r>
              <a:rPr lang="ko-KR" altLang="en-US" sz="1100"/>
              <a:t>충돌을 수행하는 서버를 만들었다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ko-KR" altLang="en-US" sz="1100"/>
              <a:t>해당 기록의 일부는 </a:t>
            </a:r>
            <a:r>
              <a:rPr lang="en-US" altLang="ko-KR" sz="1100"/>
              <a:t>&lt;</a:t>
            </a:r>
            <a:r>
              <a:rPr lang="ko-KR" altLang="en-US" sz="1100"/>
              <a:t>부록 </a:t>
            </a:r>
            <a:r>
              <a:rPr lang="en-US" altLang="ko-KR" sz="1100"/>
              <a:t>- </a:t>
            </a:r>
            <a:r>
              <a:rPr lang="ko-KR" altLang="en-US" sz="1100"/>
              <a:t>서버의 충돌 계산 고민 메모</a:t>
            </a:r>
            <a:r>
              <a:rPr lang="en-US" altLang="ko-KR" sz="1100"/>
              <a:t>&gt;</a:t>
            </a:r>
            <a:r>
              <a:rPr lang="ko-KR" altLang="en-US" sz="1100"/>
              <a:t>를 참고하자</a:t>
            </a:r>
            <a:r>
              <a:rPr lang="en-US" altLang="ko-KR" sz="1100"/>
              <a:t>.</a:t>
            </a:r>
            <a:endParaRPr lang="ko-KR" altLang="en-US"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930600-B6AB-CD91-7D2D-01A85545A558}"/>
              </a:ext>
            </a:extLst>
          </p:cNvPr>
          <p:cNvSpPr txBox="1"/>
          <p:nvPr/>
        </p:nvSpPr>
        <p:spPr>
          <a:xfrm>
            <a:off x="6096000" y="1951672"/>
            <a:ext cx="60960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2. ImaysNet Lib</a:t>
            </a:r>
            <a:r>
              <a:rPr lang="ko-KR" altLang="en-US" b="1"/>
              <a:t>를 수정하여 </a:t>
            </a:r>
            <a:r>
              <a:rPr lang="en-US" altLang="ko-KR" b="1"/>
              <a:t>nonblocking recv </a:t>
            </a:r>
            <a:r>
              <a:rPr lang="ko-KR" altLang="en-US" b="1"/>
              <a:t>구현</a:t>
            </a:r>
            <a:r>
              <a:rPr lang="en-US" altLang="ko-KR" b="1"/>
              <a:t>,</a:t>
            </a:r>
          </a:p>
          <a:p>
            <a:r>
              <a:rPr lang="en-US" altLang="ko-KR" b="1"/>
              <a:t>WSASend, </a:t>
            </a:r>
            <a:r>
              <a:rPr lang="ko-KR" altLang="en-US" b="1"/>
              <a:t>SendDataSaver활용해 패킷 크기 줄이기</a:t>
            </a:r>
            <a:endParaRPr lang="en-US" altLang="ko-KR" b="1"/>
          </a:p>
          <a:p>
            <a:r>
              <a:rPr lang="ko-KR" altLang="en-US" sz="1100"/>
              <a:t>논 블록킹 소켓을 활용해 서버는 </a:t>
            </a:r>
            <a:r>
              <a:rPr lang="en-US" altLang="ko-KR" sz="1100"/>
              <a:t>recv(WSAPoll)</a:t>
            </a:r>
            <a:r>
              <a:rPr lang="ko-KR" altLang="en-US" sz="1100"/>
              <a:t>를 받게 된다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 Server</a:t>
            </a:r>
            <a:r>
              <a:rPr lang="ko-KR" altLang="en-US" sz="1100"/>
              <a:t>의 </a:t>
            </a:r>
            <a:r>
              <a:rPr lang="en-US" altLang="ko-KR" sz="1100"/>
              <a:t>send</a:t>
            </a:r>
            <a:r>
              <a:rPr lang="ko-KR" altLang="en-US" sz="1100"/>
              <a:t>는</a:t>
            </a:r>
            <a:r>
              <a:rPr lang="en-US" altLang="ko-KR" sz="1100"/>
              <a:t>, </a:t>
            </a:r>
            <a:r>
              <a:rPr lang="ko-KR" altLang="en-US" sz="1100"/>
              <a:t>게임 루프에서 </a:t>
            </a:r>
            <a:r>
              <a:rPr lang="en-US" altLang="ko-KR" sz="1100"/>
              <a:t>SendDataSaver</a:t>
            </a:r>
            <a:r>
              <a:rPr lang="ko-KR" altLang="en-US" sz="1100"/>
              <a:t>에</a:t>
            </a:r>
            <a:endParaRPr lang="en-US" altLang="ko-KR" sz="1100"/>
          </a:p>
          <a:p>
            <a:r>
              <a:rPr lang="ko-KR" altLang="en-US" sz="1100"/>
              <a:t>패킷을 먼저 저장해놓고</a:t>
            </a:r>
            <a:r>
              <a:rPr lang="en-US" altLang="ko-KR" sz="1100"/>
              <a:t> </a:t>
            </a:r>
            <a:r>
              <a:rPr lang="ko-KR" altLang="en-US" sz="1100"/>
              <a:t>나중에 </a:t>
            </a:r>
            <a:r>
              <a:rPr lang="en-US" altLang="ko-KR" sz="1100"/>
              <a:t>send</a:t>
            </a:r>
            <a:r>
              <a:rPr lang="ko-KR" altLang="en-US" sz="1100"/>
              <a:t>를 하게 되는데</a:t>
            </a:r>
            <a:r>
              <a:rPr lang="en-US" altLang="ko-KR" sz="1100"/>
              <a:t>,</a:t>
            </a:r>
          </a:p>
          <a:p>
            <a:r>
              <a:rPr lang="ko-KR" altLang="en-US" sz="1100"/>
              <a:t>특정 클라에게만 보내줄 데이터는 </a:t>
            </a:r>
            <a:r>
              <a:rPr lang="en-US" altLang="ko-KR" sz="1100"/>
              <a:t>PersonalSDS</a:t>
            </a:r>
            <a:r>
              <a:rPr lang="ko-KR" altLang="en-US" sz="1100"/>
              <a:t>에</a:t>
            </a:r>
            <a:r>
              <a:rPr lang="en-US" altLang="ko-KR" sz="1100"/>
              <a:t>,</a:t>
            </a:r>
          </a:p>
          <a:p>
            <a:r>
              <a:rPr lang="ko-KR" altLang="en-US" sz="1100"/>
              <a:t>해당 </a:t>
            </a:r>
            <a:r>
              <a:rPr lang="en-US" altLang="ko-KR" sz="1100"/>
              <a:t>Zone</a:t>
            </a:r>
            <a:r>
              <a:rPr lang="ko-KR" altLang="en-US" sz="1100"/>
              <a:t>의 모두에게 보내줄 데이터는 </a:t>
            </a:r>
            <a:r>
              <a:rPr lang="en-US" altLang="ko-KR" sz="1100"/>
              <a:t>CommonSDS</a:t>
            </a:r>
            <a:r>
              <a:rPr lang="ko-KR" altLang="en-US" sz="1100"/>
              <a:t>에 담는다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CommonSDS</a:t>
            </a:r>
            <a:r>
              <a:rPr lang="ko-KR" altLang="en-US" sz="1100"/>
              <a:t>에는 한 번만 데이터를 담고</a:t>
            </a:r>
            <a:r>
              <a:rPr lang="en-US" altLang="ko-KR" sz="1100"/>
              <a:t>, </a:t>
            </a:r>
            <a:r>
              <a:rPr lang="ko-KR" altLang="en-US" sz="1100"/>
              <a:t>모두가 공유하기 때문에</a:t>
            </a:r>
            <a:r>
              <a:rPr lang="en-US" altLang="ko-KR" sz="1100"/>
              <a:t> </a:t>
            </a:r>
            <a:r>
              <a:rPr lang="ko-KR" altLang="en-US" sz="1100"/>
              <a:t>데이터 복사가 줄어들며</a:t>
            </a:r>
            <a:r>
              <a:rPr lang="en-US" altLang="ko-KR" sz="1100"/>
              <a:t>, WSASend</a:t>
            </a:r>
            <a:r>
              <a:rPr lang="ko-KR" altLang="en-US" sz="1100"/>
              <a:t>로 </a:t>
            </a:r>
            <a:r>
              <a:rPr lang="en-US" altLang="ko-KR" sz="1100"/>
              <a:t>PersonalSDS</a:t>
            </a:r>
            <a:r>
              <a:rPr lang="ko-KR" altLang="en-US" sz="1100"/>
              <a:t>와 </a:t>
            </a:r>
            <a:r>
              <a:rPr lang="en-US" altLang="ko-KR" sz="1100"/>
              <a:t>CommonSDS</a:t>
            </a:r>
            <a:r>
              <a:rPr lang="ko-KR" altLang="en-US" sz="1100"/>
              <a:t>를 한 번의 호출로 전송한다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그렇게 되면 데이터를 보낼 때마다 한 번에 보내게 되어서</a:t>
            </a:r>
            <a:r>
              <a:rPr lang="en-US" altLang="ko-KR" sz="1100"/>
              <a:t>, </a:t>
            </a:r>
            <a:r>
              <a:rPr lang="ko-KR" altLang="en-US" sz="1100"/>
              <a:t>보내는 패킷의 양이 줄어들 것으로 생각하고 설계했다</a:t>
            </a:r>
            <a:r>
              <a:rPr lang="en-US" altLang="ko-KR" sz="1100"/>
              <a:t>.</a:t>
            </a:r>
          </a:p>
          <a:p>
            <a:r>
              <a:rPr lang="ko-KR" altLang="en-US" sz="1100">
                <a:solidFill>
                  <a:srgbClr val="FF0000"/>
                </a:solidFill>
              </a:rPr>
              <a:t>프로토콜의 제작법은 게임 서버 프로그래밍 과목에서 배운 프로토콜 구성을 그대로 따왔다</a:t>
            </a:r>
            <a:r>
              <a:rPr lang="en-US" altLang="ko-KR" sz="110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4ED087-B2A7-D6FC-E821-9CB1A911A631}"/>
              </a:ext>
            </a:extLst>
          </p:cNvPr>
          <p:cNvSpPr txBox="1"/>
          <p:nvPr/>
        </p:nvSpPr>
        <p:spPr>
          <a:xfrm>
            <a:off x="711200" y="4082947"/>
            <a:ext cx="47879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3.</a:t>
            </a:r>
            <a:r>
              <a:rPr lang="ko-KR" altLang="en-US"/>
              <a:t>Recv 시에 잘리는 데이터 복구 로직</a:t>
            </a:r>
            <a:endParaRPr lang="en-US" altLang="ko-KR"/>
          </a:p>
          <a:p>
            <a:r>
              <a:rPr lang="ko-KR" altLang="en-US" sz="1200"/>
              <a:t>이건 그냥 필수적인 로직이다</a:t>
            </a:r>
            <a:r>
              <a:rPr lang="en-US" altLang="ko-KR" sz="1200"/>
              <a:t>. </a:t>
            </a:r>
            <a:r>
              <a:rPr lang="ko-KR" altLang="en-US" sz="1200"/>
              <a:t>그걸 썼다</a:t>
            </a:r>
            <a:r>
              <a:rPr lang="en-US" altLang="ko-KR" sz="1200"/>
              <a:t>. </a:t>
            </a:r>
            <a:r>
              <a:rPr lang="ko-KR" altLang="en-US" sz="1200"/>
              <a:t>할 말이 없다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22AD10-06C6-1DB4-4406-B93E762DF0E1}"/>
              </a:ext>
            </a:extLst>
          </p:cNvPr>
          <p:cNvSpPr txBox="1"/>
          <p:nvPr/>
        </p:nvSpPr>
        <p:spPr>
          <a:xfrm>
            <a:off x="711200" y="4849762"/>
            <a:ext cx="67183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4.</a:t>
            </a:r>
            <a:r>
              <a:rPr lang="ko-KR" altLang="en-US" b="1"/>
              <a:t>STC 변수 동기화</a:t>
            </a:r>
            <a:endParaRPr lang="en-US" altLang="ko-KR" sz="1100" b="1"/>
          </a:p>
          <a:p>
            <a:r>
              <a:rPr lang="ko-KR" altLang="en-US" sz="1100"/>
              <a:t>게임오브젝트의 동기화할 필요가 있는 모든 멤버를 위해 일일이 프로토콜을 만드는 대신</a:t>
            </a:r>
            <a:r>
              <a:rPr lang="en-US" altLang="ko-KR" sz="1100"/>
              <a:t>,</a:t>
            </a:r>
          </a:p>
          <a:p>
            <a:r>
              <a:rPr lang="en-US" altLang="ko-KR" sz="1100"/>
              <a:t>ChangeMemberGameObject </a:t>
            </a:r>
            <a:r>
              <a:rPr lang="ko-KR" altLang="en-US" sz="1100"/>
              <a:t>프로토콜 하나로 게임 오브젝트의 모든 </a:t>
            </a:r>
            <a:r>
              <a:rPr lang="en-US" altLang="ko-KR" sz="1100"/>
              <a:t>STC </a:t>
            </a:r>
            <a:r>
              <a:rPr lang="ko-KR" altLang="en-US" sz="1100"/>
              <a:t>멤버를 동기화할 수 있게 하기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ko-KR" altLang="en-US" sz="1100"/>
              <a:t>매크로를 활용해서 만들었다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STC</a:t>
            </a:r>
            <a:r>
              <a:rPr lang="ko-KR" altLang="en-US" sz="1100"/>
              <a:t>는 </a:t>
            </a:r>
            <a:r>
              <a:rPr lang="en-US" altLang="ko-KR" sz="1100"/>
              <a:t>Server To Client</a:t>
            </a:r>
            <a:r>
              <a:rPr lang="ko-KR" altLang="en-US" sz="1100"/>
              <a:t>의 약자이며</a:t>
            </a:r>
            <a:r>
              <a:rPr lang="en-US" altLang="ko-KR" sz="1100"/>
              <a:t>, STCDef(type, name); </a:t>
            </a:r>
            <a:r>
              <a:rPr lang="ko-KR" altLang="en-US" sz="1100"/>
              <a:t>으로 선언할 수 있다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STC</a:t>
            </a:r>
            <a:r>
              <a:rPr lang="ko-KR" altLang="en-US" sz="1100"/>
              <a:t>로 선언된 멤버 변수는 </a:t>
            </a:r>
            <a:r>
              <a:rPr lang="en-US" altLang="ko-KR" sz="1100"/>
              <a:t>ChangeMemberGameObject </a:t>
            </a:r>
            <a:r>
              <a:rPr lang="ko-KR" altLang="en-US" sz="1100"/>
              <a:t>프로토콜을 보내서 </a:t>
            </a:r>
            <a:endParaRPr lang="en-US" altLang="ko-KR" sz="1100"/>
          </a:p>
          <a:p>
            <a:r>
              <a:rPr lang="ko-KR" altLang="en-US" sz="1100"/>
              <a:t>클라이언트에 있는 같은 멤버를 수정할 수 있다</a:t>
            </a:r>
            <a:r>
              <a:rPr lang="en-US" altLang="ko-KR" sz="110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15C6E2-095D-7A95-06BD-1D40983A9EC9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4C1D301-59DD-9EA5-3FD6-A59E1815F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0" y="4452279"/>
            <a:ext cx="3568700" cy="242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40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E5C3A-8383-F2EC-AE61-9C0469C14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FF5C4D-7257-9734-9035-B37370720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게임 프레임워크 제작</a:t>
            </a:r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F3B83-E377-C3F6-8D71-6DDCF0B9ED00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5A619C-92FB-DE0C-746B-BA0906671B0F}"/>
              </a:ext>
            </a:extLst>
          </p:cNvPr>
          <p:cNvSpPr txBox="1"/>
          <p:nvPr/>
        </p:nvSpPr>
        <p:spPr>
          <a:xfrm>
            <a:off x="673100" y="4065885"/>
            <a:ext cx="61214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3.</a:t>
            </a:r>
            <a:r>
              <a:rPr lang="ko-KR" altLang="en-US" b="1"/>
              <a:t> UI system 제작</a:t>
            </a:r>
            <a:endParaRPr lang="en-US" altLang="ko-KR" b="1"/>
          </a:p>
          <a:p>
            <a:r>
              <a:rPr lang="ko-KR" altLang="en-US" sz="1100"/>
              <a:t>게임에 제대로 된 </a:t>
            </a:r>
            <a:r>
              <a:rPr lang="en-US" altLang="ko-KR" sz="1100"/>
              <a:t>UI</a:t>
            </a:r>
            <a:r>
              <a:rPr lang="ko-KR" altLang="en-US" sz="1100"/>
              <a:t>가 들어갈 수 있게 하고 싶었다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총 </a:t>
            </a:r>
            <a:r>
              <a:rPr lang="en-US" altLang="ko-KR" sz="1100"/>
              <a:t>Window, Slider, Btn, EditBox, Slot UI</a:t>
            </a:r>
            <a:r>
              <a:rPr lang="ko-KR" altLang="en-US" sz="1100"/>
              <a:t>를 제작했고</a:t>
            </a:r>
            <a:r>
              <a:rPr lang="en-US" altLang="ko-KR" sz="1100"/>
              <a:t>,</a:t>
            </a:r>
          </a:p>
          <a:p>
            <a:r>
              <a:rPr lang="en-US" altLang="ko-KR" sz="1100"/>
              <a:t>Page</a:t>
            </a:r>
            <a:r>
              <a:rPr lang="ko-KR" altLang="en-US" sz="1100"/>
              <a:t>에 해당 </a:t>
            </a:r>
            <a:r>
              <a:rPr lang="en-US" altLang="ko-KR" sz="1100"/>
              <a:t>UI</a:t>
            </a:r>
            <a:r>
              <a:rPr lang="ko-KR" altLang="en-US" sz="1100"/>
              <a:t>들이 포함 가능하며</a:t>
            </a:r>
            <a:r>
              <a:rPr lang="en-US" altLang="ko-KR" sz="1100"/>
              <a:t>, Window</a:t>
            </a:r>
            <a:r>
              <a:rPr lang="ko-KR" altLang="en-US" sz="1100"/>
              <a:t>는 여러 </a:t>
            </a:r>
            <a:r>
              <a:rPr lang="en-US" altLang="ko-KR" sz="1100"/>
              <a:t>Page</a:t>
            </a:r>
            <a:r>
              <a:rPr lang="ko-KR" altLang="en-US" sz="1100"/>
              <a:t>를 포함 가능하다</a:t>
            </a:r>
            <a:r>
              <a:rPr lang="en-US" altLang="ko-KR" sz="1100"/>
              <a:t>. </a:t>
            </a:r>
          </a:p>
          <a:p>
            <a:r>
              <a:rPr lang="ko-KR" altLang="en-US" sz="1100"/>
              <a:t>게임에서 상호작용이 가능</a:t>
            </a:r>
            <a:r>
              <a:rPr lang="en-US" altLang="ko-KR" sz="110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0D9B57-68EF-6749-5FE4-BCE61EDAA38D}"/>
              </a:ext>
            </a:extLst>
          </p:cNvPr>
          <p:cNvSpPr txBox="1"/>
          <p:nvPr/>
        </p:nvSpPr>
        <p:spPr>
          <a:xfrm>
            <a:off x="673100" y="1690688"/>
            <a:ext cx="54229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1. </a:t>
            </a:r>
            <a:r>
              <a:rPr lang="ko-KR" altLang="en-US" b="1"/>
              <a:t>청크시스템과 Static-Dynamic Object 처리</a:t>
            </a:r>
            <a:endParaRPr lang="en-US" altLang="ko-KR" b="1"/>
          </a:p>
          <a:p>
            <a:r>
              <a:rPr lang="ko-KR" altLang="en-US" sz="1100"/>
              <a:t>클라이언트에서의 </a:t>
            </a:r>
            <a:r>
              <a:rPr lang="en-US" altLang="ko-KR" sz="1100"/>
              <a:t>ViewFrustumCulling</a:t>
            </a:r>
            <a:r>
              <a:rPr lang="ko-KR" altLang="en-US" sz="1100"/>
              <a:t>이나</a:t>
            </a:r>
            <a:r>
              <a:rPr lang="en-US" altLang="ko-KR" sz="1100"/>
              <a:t>, </a:t>
            </a:r>
            <a:r>
              <a:rPr lang="ko-KR" altLang="en-US" sz="1100"/>
              <a:t>보이는 스킨 메쉬만 업데이트하기 위해서 하나의 존을 나누는 청크가 필요했고</a:t>
            </a:r>
            <a:r>
              <a:rPr lang="en-US" altLang="ko-KR" sz="1100"/>
              <a:t>, </a:t>
            </a:r>
          </a:p>
          <a:p>
            <a:r>
              <a:rPr lang="ko-KR" altLang="en-US" sz="1100"/>
              <a:t>서버 쪽에서는 충돌 처리에 고려되는 오브젝트 개수를 줄이기 위해 청크가 필요했다</a:t>
            </a:r>
            <a:r>
              <a:rPr lang="en-US" altLang="ko-KR" sz="1100"/>
              <a:t>. </a:t>
            </a:r>
            <a:r>
              <a:rPr lang="ko-KR" altLang="en-US" sz="1100"/>
              <a:t>그래서 청크 시스템을 만들고</a:t>
            </a:r>
            <a:r>
              <a:rPr lang="en-US" altLang="ko-KR" sz="1100"/>
              <a:t>, </a:t>
            </a:r>
          </a:p>
          <a:p>
            <a:r>
              <a:rPr lang="en-US" altLang="ko-KR" sz="1100"/>
              <a:t>Object</a:t>
            </a:r>
            <a:r>
              <a:rPr lang="ko-KR" altLang="en-US" sz="1100"/>
              <a:t>를 움직이지 않는 </a:t>
            </a:r>
            <a:r>
              <a:rPr lang="en-US" altLang="ko-KR" sz="1100"/>
              <a:t>StaticObject</a:t>
            </a:r>
            <a:r>
              <a:rPr lang="ko-KR" altLang="en-US" sz="1100"/>
              <a:t>와 움직이는 </a:t>
            </a:r>
            <a:r>
              <a:rPr lang="en-US" altLang="ko-KR" sz="1100"/>
              <a:t>DynamicObject</a:t>
            </a:r>
            <a:r>
              <a:rPr lang="ko-KR" altLang="en-US" sz="1100"/>
              <a:t>로 나누었다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DynamicObject</a:t>
            </a:r>
            <a:r>
              <a:rPr lang="ko-KR" altLang="en-US" sz="1100"/>
              <a:t>가 청크 위에서 계산되기 위해 구조를 수정했다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더 자세한 내용은 </a:t>
            </a:r>
            <a:endParaRPr lang="en-US" altLang="ko-KR" sz="1100"/>
          </a:p>
          <a:p>
            <a:r>
              <a:rPr lang="en-US" altLang="ko-KR" sz="1100"/>
              <a:t>&lt;</a:t>
            </a:r>
            <a:r>
              <a:rPr lang="ko-KR" altLang="en-US" sz="1100"/>
              <a:t>부록 </a:t>
            </a:r>
            <a:r>
              <a:rPr lang="en-US" altLang="ko-KR" sz="1100"/>
              <a:t>- </a:t>
            </a:r>
            <a:r>
              <a:rPr lang="ko-KR" altLang="en-US" sz="1100"/>
              <a:t>청크에 들어가기 위한 게임오브젝트 구조 설계</a:t>
            </a:r>
            <a:r>
              <a:rPr lang="en-US" altLang="ko-KR" sz="1100"/>
              <a:t>&gt;</a:t>
            </a:r>
            <a:r>
              <a:rPr lang="ko-KR" altLang="en-US" sz="1100"/>
              <a:t>를 참고하자</a:t>
            </a:r>
            <a:r>
              <a:rPr lang="en-US" altLang="ko-KR" sz="110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B8D91C-2819-B192-C2FC-5F6891C60DBD}"/>
              </a:ext>
            </a:extLst>
          </p:cNvPr>
          <p:cNvSpPr txBox="1"/>
          <p:nvPr/>
        </p:nvSpPr>
        <p:spPr>
          <a:xfrm>
            <a:off x="6502400" y="1670937"/>
            <a:ext cx="612140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2.</a:t>
            </a:r>
            <a:r>
              <a:rPr lang="ko-KR" altLang="en-US" b="1"/>
              <a:t> Window WASAPI을 활용한 사운드 시스템 제작</a:t>
            </a:r>
            <a:endParaRPr lang="en-US" altLang="ko-KR" b="1"/>
          </a:p>
          <a:p>
            <a:r>
              <a:rPr lang="en-US" altLang="ko-KR" sz="1100"/>
              <a:t>Fmod</a:t>
            </a:r>
            <a:r>
              <a:rPr lang="ko-KR" altLang="en-US" sz="1100"/>
              <a:t> 같은 걸 쓰지 않은 이유는</a:t>
            </a:r>
            <a:endParaRPr lang="en-US" altLang="ko-KR" sz="1100"/>
          </a:p>
          <a:p>
            <a:r>
              <a:rPr lang="ko-KR" altLang="en-US" sz="1100"/>
              <a:t>프로젝트가 너무 무거워질 것 같기도 하고</a:t>
            </a:r>
            <a:r>
              <a:rPr lang="en-US" altLang="ko-KR" sz="1100"/>
              <a:t>, </a:t>
            </a:r>
          </a:p>
          <a:p>
            <a:r>
              <a:rPr lang="ko-KR" altLang="en-US" sz="1100"/>
              <a:t>또 새로운 라이브러리를 배운다는 건 버겁다고 생각되었다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사운드 작업은 </a:t>
            </a:r>
            <a:r>
              <a:rPr lang="en-US" altLang="ko-KR" sz="1100"/>
              <a:t>CPU</a:t>
            </a:r>
            <a:r>
              <a:rPr lang="ko-KR" altLang="en-US" sz="1100"/>
              <a:t>작업이라 내가 통제하고 싶었다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통제 불가한 익명의 스레드에 사운드 작업을 맡기고 싶지는 않았던 것 같다</a:t>
            </a:r>
            <a:r>
              <a:rPr lang="en-US" altLang="ko-KR" sz="1100"/>
              <a:t>. </a:t>
            </a:r>
          </a:p>
          <a:p>
            <a:r>
              <a:rPr lang="en-US" altLang="ko-KR" sz="1100"/>
              <a:t>Fmod</a:t>
            </a:r>
            <a:r>
              <a:rPr lang="ko-KR" altLang="en-US" sz="1100"/>
              <a:t>같은 라이브러리를 쓰지 않은 이유다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사실 개인적 욕심이고 그럴 필요는 없었다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ko-KR" altLang="en-US" sz="1100"/>
              <a:t>마스터 채널과 채널들을 연결할 수 있고</a:t>
            </a:r>
            <a:r>
              <a:rPr lang="en-US" altLang="ko-KR" sz="1100"/>
              <a:t>, </a:t>
            </a:r>
            <a:r>
              <a:rPr lang="ko-KR" altLang="en-US" sz="1100"/>
              <a:t>채널의 볼륨을 줄이거나 높일 수 있다</a:t>
            </a:r>
            <a:r>
              <a:rPr lang="en-US" altLang="ko-KR" sz="1100"/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40D5101-0D6D-8A68-3EA6-46219768F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0" y="3888599"/>
            <a:ext cx="5295900" cy="296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0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9605B-C3E8-5401-CF4B-A26BFFD5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2F2F19-E01D-F645-1186-B4FA91B4B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렌더링</a:t>
            </a:r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DC0685-484A-735F-1B72-AF08FCB60FA6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FEC1B-1F66-65C4-60EA-9A714AFF4A95}"/>
              </a:ext>
            </a:extLst>
          </p:cNvPr>
          <p:cNvSpPr txBox="1"/>
          <p:nvPr/>
        </p:nvSpPr>
        <p:spPr>
          <a:xfrm>
            <a:off x="6096000" y="4138950"/>
            <a:ext cx="5257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4. CascadeShadowMap (3</a:t>
            </a:r>
            <a:r>
              <a:rPr lang="ko-KR" altLang="en-US" b="1"/>
              <a:t>단계</a:t>
            </a:r>
            <a:r>
              <a:rPr lang="en-US" altLang="ko-KR" b="1"/>
              <a:t>)</a:t>
            </a:r>
          </a:p>
          <a:p>
            <a:r>
              <a:rPr lang="en-US" altLang="ko-KR" sz="1100"/>
              <a:t>3</a:t>
            </a:r>
            <a:r>
              <a:rPr lang="ko-KR" altLang="en-US" sz="1100"/>
              <a:t>단계의 </a:t>
            </a:r>
            <a:r>
              <a:rPr lang="en-US" altLang="ko-KR" sz="1100"/>
              <a:t>CascadeShadowMapping</a:t>
            </a:r>
            <a:r>
              <a:rPr lang="ko-KR" altLang="en-US" sz="1100"/>
              <a:t>을 진행한다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AE8D09-E078-3184-9F52-4DAD084763CC}"/>
              </a:ext>
            </a:extLst>
          </p:cNvPr>
          <p:cNvSpPr txBox="1"/>
          <p:nvPr/>
        </p:nvSpPr>
        <p:spPr>
          <a:xfrm>
            <a:off x="838200" y="1670937"/>
            <a:ext cx="525780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1. </a:t>
            </a:r>
            <a:r>
              <a:rPr lang="ko-KR" altLang="en-US" b="1"/>
              <a:t>간단한 PBR 셰이딩 구현</a:t>
            </a:r>
            <a:endParaRPr lang="en-US" altLang="ko-KR" b="1"/>
          </a:p>
          <a:p>
            <a:r>
              <a:rPr lang="en-US" altLang="ko-KR" sz="1100"/>
              <a:t>PBR </a:t>
            </a:r>
            <a:r>
              <a:rPr lang="ko-KR" altLang="en-US" sz="1100"/>
              <a:t>셰이딩을 </a:t>
            </a:r>
            <a:r>
              <a:rPr lang="en-US" altLang="ko-KR" sz="1100"/>
              <a:t>LearnOpenGL </a:t>
            </a:r>
            <a:r>
              <a:rPr lang="ko-KR" altLang="en-US" sz="1100"/>
              <a:t>문서를 보고 배운 후</a:t>
            </a:r>
            <a:r>
              <a:rPr lang="en-US" altLang="ko-KR" sz="1100"/>
              <a:t>, PBR </a:t>
            </a:r>
            <a:r>
              <a:rPr lang="ko-KR" altLang="en-US" sz="1100"/>
              <a:t>셰이더를 제작했다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첫 시도에 잘되지 않아서 여러 번 시도했다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지금은 메탈릭 맵과 러프니스 맵이 잘 반영되는 모습</a:t>
            </a:r>
            <a:r>
              <a:rPr lang="en-US" altLang="ko-KR" sz="1100"/>
              <a:t>, </a:t>
            </a:r>
          </a:p>
          <a:p>
            <a:r>
              <a:rPr lang="en-US" altLang="ko-KR" sz="1100"/>
              <a:t>IBL </a:t>
            </a:r>
            <a:r>
              <a:rPr lang="ko-KR" altLang="en-US" sz="1100"/>
              <a:t>반사가 되는 모습을 확인할 수 있다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다만 </a:t>
            </a:r>
            <a:r>
              <a:rPr lang="en-US" altLang="ko-KR" sz="1100"/>
              <a:t>PBR</a:t>
            </a:r>
            <a:r>
              <a:rPr lang="ko-KR" altLang="en-US" sz="1100"/>
              <a:t>의 모든 특징을 담아냈다고 보기는 어려울 것 같다</a:t>
            </a:r>
            <a:r>
              <a:rPr lang="en-US" altLang="ko-KR" sz="1100"/>
              <a:t>.</a:t>
            </a:r>
          </a:p>
          <a:p>
            <a:r>
              <a:rPr lang="ko-KR" altLang="en-US" sz="1100">
                <a:solidFill>
                  <a:srgbClr val="FF0000"/>
                </a:solidFill>
              </a:rPr>
              <a:t>러프니스가 올라가면 반사가 흐려져야 하는데</a:t>
            </a:r>
            <a:r>
              <a:rPr lang="en-US" altLang="ko-KR" sz="1100">
                <a:solidFill>
                  <a:srgbClr val="FF0000"/>
                </a:solidFill>
              </a:rPr>
              <a:t>,</a:t>
            </a:r>
          </a:p>
          <a:p>
            <a:r>
              <a:rPr lang="ko-KR" altLang="en-US" sz="1100">
                <a:solidFill>
                  <a:srgbClr val="FF0000"/>
                </a:solidFill>
              </a:rPr>
              <a:t>그 부분은 제대로 구현이 안 되었다</a:t>
            </a:r>
            <a:r>
              <a:rPr lang="en-US" altLang="ko-KR" sz="1100">
                <a:solidFill>
                  <a:srgbClr val="FF0000"/>
                </a:solidFill>
              </a:rPr>
              <a:t>. </a:t>
            </a:r>
          </a:p>
          <a:p>
            <a:r>
              <a:rPr lang="ko-KR" altLang="en-US" sz="1100">
                <a:solidFill>
                  <a:srgbClr val="FF0000"/>
                </a:solidFill>
              </a:rPr>
              <a:t>또한 </a:t>
            </a:r>
            <a:r>
              <a:rPr lang="en-US" altLang="ko-KR" sz="1100">
                <a:solidFill>
                  <a:srgbClr val="FF0000"/>
                </a:solidFill>
              </a:rPr>
              <a:t>EmisionLightMaterial</a:t>
            </a:r>
            <a:r>
              <a:rPr lang="ko-KR" altLang="en-US" sz="1100">
                <a:solidFill>
                  <a:srgbClr val="FF0000"/>
                </a:solidFill>
              </a:rPr>
              <a:t>이 처리가 안 된다</a:t>
            </a:r>
            <a:r>
              <a:rPr lang="en-US" altLang="ko-KR" sz="110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100">
                <a:solidFill>
                  <a:srgbClr val="FF0000"/>
                </a:solidFill>
              </a:rPr>
              <a:t>추후 수정할 예정이다</a:t>
            </a:r>
            <a:r>
              <a:rPr lang="en-US" altLang="ko-KR" sz="110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774F32-6839-48EE-3BA7-C7C2AED2F69B}"/>
              </a:ext>
            </a:extLst>
          </p:cNvPr>
          <p:cNvSpPr txBox="1"/>
          <p:nvPr/>
        </p:nvSpPr>
        <p:spPr>
          <a:xfrm>
            <a:off x="6096000" y="1666506"/>
            <a:ext cx="58420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2. </a:t>
            </a:r>
            <a:r>
              <a:rPr lang="ko-KR" altLang="en-US" b="1"/>
              <a:t>Static 다중 라이팅</a:t>
            </a:r>
            <a:endParaRPr lang="en-US" altLang="ko-KR" b="1"/>
          </a:p>
          <a:p>
            <a:r>
              <a:rPr lang="ko-KR" altLang="en-US" sz="1100"/>
              <a:t>다중 라이팅이 작동한다</a:t>
            </a:r>
            <a:r>
              <a:rPr lang="en-US" altLang="ko-KR" sz="1100"/>
              <a:t>.</a:t>
            </a:r>
            <a:r>
              <a:rPr lang="ko-KR" altLang="en-US" sz="1100"/>
              <a:t> </a:t>
            </a:r>
            <a:r>
              <a:rPr lang="en-US" altLang="ko-KR" sz="1100"/>
              <a:t>StructuredBuffer</a:t>
            </a:r>
            <a:r>
              <a:rPr lang="ko-KR" altLang="en-US" sz="1100"/>
              <a:t>를 사용해 모든 청크의 라이트 데이터를 담아서 </a:t>
            </a:r>
            <a:endParaRPr lang="en-US" altLang="ko-KR" sz="1100"/>
          </a:p>
          <a:p>
            <a:r>
              <a:rPr lang="ko-KR" altLang="en-US" sz="1100"/>
              <a:t>셰이더에서 위치 정보를 통해 주변의 라이트에 접근할 수 있게 했다</a:t>
            </a:r>
            <a:r>
              <a:rPr lang="en-US" altLang="ko-KR" sz="1100"/>
              <a:t>.</a:t>
            </a:r>
          </a:p>
          <a:p>
            <a:r>
              <a:rPr lang="ko-KR" altLang="en-US" sz="1100">
                <a:solidFill>
                  <a:srgbClr val="FF0000"/>
                </a:solidFill>
              </a:rPr>
              <a:t>그 때문에 만약 </a:t>
            </a:r>
            <a:r>
              <a:rPr lang="en-US" altLang="ko-KR" sz="1100">
                <a:solidFill>
                  <a:srgbClr val="FF0000"/>
                </a:solidFill>
              </a:rPr>
              <a:t>DynamicLight </a:t>
            </a:r>
            <a:r>
              <a:rPr lang="ko-KR" altLang="en-US" sz="1100">
                <a:solidFill>
                  <a:srgbClr val="FF0000"/>
                </a:solidFill>
              </a:rPr>
              <a:t>또한 여기에 담고 움직이다 라이트 없어질 때 해제하면 돼서 추후에 구현할 수 있어 보인다</a:t>
            </a:r>
            <a:r>
              <a:rPr lang="en-US" altLang="ko-KR" sz="110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100"/>
              <a:t>다만 </a:t>
            </a:r>
            <a:r>
              <a:rPr lang="en-US" altLang="ko-KR" sz="1100"/>
              <a:t>StructuredBuffer</a:t>
            </a:r>
            <a:r>
              <a:rPr lang="ko-KR" altLang="en-US" sz="1100"/>
              <a:t>를 통해 라이트 데이터를 모두 바인딩하므로 한 청크당 라이트 수가 제한된 점은 단점이다</a:t>
            </a:r>
            <a:r>
              <a:rPr lang="en-US" altLang="ko-KR" sz="1100"/>
              <a:t>. 32</a:t>
            </a:r>
            <a:r>
              <a:rPr lang="ko-KR" altLang="en-US" sz="1100"/>
              <a:t>개다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또한 </a:t>
            </a:r>
            <a:r>
              <a:rPr lang="en-US" altLang="ko-KR" sz="1100"/>
              <a:t>Light</a:t>
            </a:r>
            <a:r>
              <a:rPr lang="ko-KR" altLang="en-US" sz="1100"/>
              <a:t>는 </a:t>
            </a:r>
            <a:r>
              <a:rPr lang="en-US" altLang="ko-KR" sz="1100"/>
              <a:t>Point, Spot </a:t>
            </a:r>
            <a:r>
              <a:rPr lang="ko-KR" altLang="en-US" sz="1100"/>
              <a:t>두 개 종류의 라이트 모두 구현했다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DirLight </a:t>
            </a:r>
            <a:r>
              <a:rPr lang="ko-KR" altLang="en-US" sz="1100"/>
              <a:t>정보는 따로 바인딩한다</a:t>
            </a:r>
            <a:r>
              <a:rPr lang="en-US" altLang="ko-KR" sz="110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485E29-85FF-6B2B-8997-D8F5EC790818}"/>
              </a:ext>
            </a:extLst>
          </p:cNvPr>
          <p:cNvSpPr txBox="1"/>
          <p:nvPr/>
        </p:nvSpPr>
        <p:spPr>
          <a:xfrm>
            <a:off x="838200" y="4138950"/>
            <a:ext cx="42291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3. </a:t>
            </a:r>
            <a:r>
              <a:rPr lang="ko-KR" altLang="en-US" b="1"/>
              <a:t>청크를 활용한 뷰 프러스텀 컬링</a:t>
            </a:r>
            <a:endParaRPr lang="en-US" altLang="ko-KR" b="1"/>
          </a:p>
          <a:p>
            <a:r>
              <a:rPr lang="en-US" altLang="ko-KR" sz="1100"/>
              <a:t>RenderTour </a:t>
            </a:r>
            <a:r>
              <a:rPr lang="ko-KR" altLang="en-US" sz="1100"/>
              <a:t>함수를 통해 선택된 </a:t>
            </a:r>
            <a:r>
              <a:rPr lang="en-US" altLang="ko-KR" sz="1100"/>
              <a:t>viewport</a:t>
            </a:r>
            <a:r>
              <a:rPr lang="ko-KR" altLang="en-US" sz="1100"/>
              <a:t>에 대해 프러스텀 컬링을 한 오브젝트를 뽑거나</a:t>
            </a:r>
            <a:r>
              <a:rPr lang="en-US" altLang="ko-KR" sz="1100"/>
              <a:t>, </a:t>
            </a:r>
            <a:r>
              <a:rPr lang="ko-KR" altLang="en-US" sz="1100"/>
              <a:t>렌더를 해서 </a:t>
            </a:r>
            <a:r>
              <a:rPr lang="en-US" altLang="ko-KR" sz="1100"/>
              <a:t>DrawCall</a:t>
            </a:r>
            <a:r>
              <a:rPr lang="ko-KR" altLang="en-US" sz="1100"/>
              <a:t>을 줄이고</a:t>
            </a:r>
            <a:r>
              <a:rPr lang="en-US" altLang="ko-KR" sz="1100"/>
              <a:t>, GPU</a:t>
            </a:r>
            <a:r>
              <a:rPr lang="ko-KR" altLang="en-US" sz="1100"/>
              <a:t>가 할 일을 줄인다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ko-KR" altLang="en-US" sz="1100"/>
              <a:t>이는 셰도우 맵핑을 할 때도 </a:t>
            </a:r>
            <a:r>
              <a:rPr lang="en-US" altLang="ko-KR" sz="1100"/>
              <a:t>viewport</a:t>
            </a:r>
            <a:r>
              <a:rPr lang="ko-KR" altLang="en-US" sz="1100"/>
              <a:t>를 직교 투영으로 설정하여</a:t>
            </a:r>
            <a:endParaRPr lang="en-US" altLang="ko-KR" sz="1100"/>
          </a:p>
          <a:p>
            <a:r>
              <a:rPr lang="ko-KR" altLang="en-US" sz="1100"/>
              <a:t>오브젝트를 추린다</a:t>
            </a:r>
            <a:r>
              <a:rPr lang="en-US" altLang="ko-KR" sz="1100"/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641885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63DC4-5EA1-E3FE-F43A-44C3E0DEC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C92CE56F-D301-05EA-0603-148116171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863250"/>
            <a:ext cx="5325859" cy="2994750"/>
          </a:xfrm>
          <a:prstGeom prst="rect">
            <a:avLst/>
          </a:prstGeom>
        </p:spPr>
      </p:pic>
      <p:pic>
        <p:nvPicPr>
          <p:cNvPr id="18" name="그림 17" descr="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42C7A0-6362-9146-919C-9339254A7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501573" y="5280731"/>
            <a:ext cx="1499177" cy="15758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15F2DC0-4EBD-8A95-DD47-9E566032E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렌더링</a:t>
            </a:r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8FA71-D4E2-C1F9-E2AA-072C07F1C48D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AD1AB2-D393-D945-06DC-7459706C343E}"/>
              </a:ext>
            </a:extLst>
          </p:cNvPr>
          <p:cNvSpPr txBox="1"/>
          <p:nvPr/>
        </p:nvSpPr>
        <p:spPr>
          <a:xfrm>
            <a:off x="723900" y="1472525"/>
            <a:ext cx="34290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5. </a:t>
            </a:r>
            <a:r>
              <a:rPr lang="ko-KR" altLang="en-US" b="1"/>
              <a:t>대부분의 셰이더와 </a:t>
            </a:r>
            <a:r>
              <a:rPr lang="en-US" altLang="ko-KR" b="1"/>
              <a:t>Render</a:t>
            </a:r>
            <a:r>
              <a:rPr lang="ko-KR" altLang="en-US" b="1"/>
              <a:t>함수 작성</a:t>
            </a:r>
            <a:endParaRPr lang="en-US" altLang="ko-KR" b="1"/>
          </a:p>
          <a:p>
            <a:r>
              <a:rPr lang="en-US" altLang="ko-KR" sz="1100"/>
              <a:t>Particle.hlsl</a:t>
            </a:r>
            <a:r>
              <a:rPr lang="ko-KR" altLang="en-US" sz="1100"/>
              <a:t>을 제외한 모든 셰이더를 </a:t>
            </a:r>
            <a:endParaRPr lang="en-US" altLang="ko-KR" sz="1100"/>
          </a:p>
          <a:p>
            <a:r>
              <a:rPr lang="ko-KR" altLang="en-US" sz="1100"/>
              <a:t>작성했다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ko-KR" altLang="en-US" sz="1100"/>
              <a:t>레스터 </a:t>
            </a:r>
            <a:r>
              <a:rPr lang="en-US" altLang="ko-KR" sz="1100"/>
              <a:t>PBR </a:t>
            </a:r>
            <a:r>
              <a:rPr lang="ko-KR" altLang="en-US" sz="1100"/>
              <a:t>셰이더</a:t>
            </a:r>
            <a:r>
              <a:rPr lang="en-US" altLang="ko-KR" sz="1100"/>
              <a:t>, </a:t>
            </a:r>
            <a:r>
              <a:rPr lang="ko-KR" altLang="en-US" sz="1100"/>
              <a:t>스카이박스 셰이더</a:t>
            </a:r>
            <a:r>
              <a:rPr lang="en-US" altLang="ko-KR" sz="1100"/>
              <a:t>,</a:t>
            </a:r>
          </a:p>
          <a:p>
            <a:r>
              <a:rPr lang="ko-KR" altLang="en-US" sz="1100"/>
              <a:t>모션블러와 거리에 따른 합성곱 수행 셰이더</a:t>
            </a:r>
            <a:r>
              <a:rPr lang="en-US" altLang="ko-KR" sz="1100"/>
              <a:t>,</a:t>
            </a:r>
          </a:p>
          <a:p>
            <a:r>
              <a:rPr lang="en-US" altLang="ko-KR" sz="1100"/>
              <a:t>SDFText</a:t>
            </a:r>
            <a:r>
              <a:rPr lang="ko-KR" altLang="en-US" sz="1100"/>
              <a:t>를 출력하기 위한 셰이더와</a:t>
            </a:r>
            <a:endParaRPr lang="en-US" altLang="ko-KR" sz="1100"/>
          </a:p>
          <a:p>
            <a:r>
              <a:rPr lang="ko-KR" altLang="en-US" sz="1100"/>
              <a:t>레이트레이싱 렌더링을 위한 셰이더</a:t>
            </a:r>
            <a:r>
              <a:rPr lang="en-US" altLang="ko-KR" sz="1100"/>
              <a:t>,</a:t>
            </a:r>
          </a:p>
          <a:p>
            <a:r>
              <a:rPr lang="ko-KR" altLang="en-US" sz="1100"/>
              <a:t>애니메이션 작동을 위한 </a:t>
            </a:r>
            <a:r>
              <a:rPr lang="en-US" altLang="ko-KR" sz="1100"/>
              <a:t>3</a:t>
            </a:r>
            <a:r>
              <a:rPr lang="ko-KR" altLang="en-US" sz="1100"/>
              <a:t>개의 셰이더등</a:t>
            </a:r>
            <a:endParaRPr lang="en-US" altLang="ko-KR" sz="1100"/>
          </a:p>
          <a:p>
            <a:r>
              <a:rPr lang="ko-KR" altLang="en-US" sz="1100"/>
              <a:t>렌더의 대부분을 작성함</a:t>
            </a:r>
            <a:r>
              <a:rPr lang="en-US" altLang="ko-KR" sz="110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EC1B80-4404-4267-747B-B01E5EAE6DAB}"/>
              </a:ext>
            </a:extLst>
          </p:cNvPr>
          <p:cNvSpPr txBox="1"/>
          <p:nvPr/>
        </p:nvSpPr>
        <p:spPr>
          <a:xfrm>
            <a:off x="6145009" y="129844"/>
            <a:ext cx="53721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6. </a:t>
            </a:r>
            <a:r>
              <a:rPr lang="ko-KR" altLang="en-US" b="1"/>
              <a:t>컴퓨트 셰이더를 활용한 </a:t>
            </a:r>
            <a:r>
              <a:rPr lang="en-US" altLang="ko-KR" b="1"/>
              <a:t>GPU </a:t>
            </a:r>
            <a:r>
              <a:rPr lang="ko-KR" altLang="en-US" b="1"/>
              <a:t>애니메이션</a:t>
            </a:r>
            <a:endParaRPr lang="en-US" altLang="ko-KR" b="1"/>
          </a:p>
          <a:p>
            <a:r>
              <a:rPr lang="ko-KR" altLang="en-US" sz="1100"/>
              <a:t>해당 게임의 애니메이션은 </a:t>
            </a:r>
            <a:r>
              <a:rPr lang="en-US" altLang="ko-KR" sz="1100"/>
              <a:t>Humanoid</a:t>
            </a:r>
            <a:r>
              <a:rPr lang="ko-KR" altLang="en-US" sz="1100"/>
              <a:t> </a:t>
            </a:r>
            <a:r>
              <a:rPr lang="en-US" altLang="ko-KR" sz="1100"/>
              <a:t>Retargeting</a:t>
            </a:r>
            <a:r>
              <a:rPr lang="ko-KR" altLang="en-US" sz="1100"/>
              <a:t> 되어 모델로 들어가기 때문에</a:t>
            </a:r>
            <a:r>
              <a:rPr lang="en-US" altLang="ko-KR" sz="1100"/>
              <a:t>,</a:t>
            </a:r>
          </a:p>
          <a:p>
            <a:r>
              <a:rPr lang="en-US" altLang="ko-KR" sz="1100"/>
              <a:t>Animation </a:t>
            </a:r>
            <a:r>
              <a:rPr lang="ko-KR" altLang="en-US" sz="1100"/>
              <a:t>데이터가 </a:t>
            </a:r>
            <a:r>
              <a:rPr lang="en-US" altLang="ko-KR" sz="1100"/>
              <a:t>LocalMatrix</a:t>
            </a:r>
            <a:r>
              <a:rPr lang="ko-KR" altLang="en-US" sz="1100"/>
              <a:t>를 기준으로 구성될 필요가 있었고</a:t>
            </a:r>
            <a:r>
              <a:rPr lang="en-US" altLang="ko-KR" sz="1100"/>
              <a:t>,</a:t>
            </a:r>
          </a:p>
          <a:p>
            <a:r>
              <a:rPr lang="ko-KR" altLang="en-US" sz="1100"/>
              <a:t>그것은 애니메이션을 계산할 때 부모노드와 자식노드를 탐색하며 각 </a:t>
            </a:r>
            <a:r>
              <a:rPr lang="en-US" altLang="ko-KR" sz="1100"/>
              <a:t>Bone</a:t>
            </a:r>
            <a:r>
              <a:rPr lang="ko-KR" altLang="en-US" sz="1100"/>
              <a:t>의 </a:t>
            </a:r>
            <a:r>
              <a:rPr lang="en-US" altLang="ko-KR" sz="1100"/>
              <a:t>WorldMatrix</a:t>
            </a:r>
            <a:r>
              <a:rPr lang="ko-KR" altLang="en-US" sz="1100"/>
              <a:t>를 보여줄 때마다 계산해야 하는 현상이 나타났다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그로 인해 </a:t>
            </a:r>
            <a:r>
              <a:rPr lang="en-US" altLang="ko-KR" sz="1100"/>
              <a:t>CPU</a:t>
            </a:r>
            <a:r>
              <a:rPr lang="ko-KR" altLang="en-US" sz="1100"/>
              <a:t> 애니메이션을 할 때 </a:t>
            </a:r>
            <a:r>
              <a:rPr lang="en-US" altLang="ko-KR" sz="1100"/>
              <a:t>CPU </a:t>
            </a:r>
            <a:r>
              <a:rPr lang="ko-KR" altLang="en-US" sz="1100"/>
              <a:t>연산량이 많은 부분 소진되었고</a:t>
            </a:r>
            <a:r>
              <a:rPr lang="en-US" altLang="ko-KR" sz="1100"/>
              <a:t>, </a:t>
            </a:r>
          </a:p>
          <a:p>
            <a:r>
              <a:rPr lang="en-US" altLang="ko-KR" sz="1100"/>
              <a:t>fps</a:t>
            </a:r>
            <a:r>
              <a:rPr lang="ko-KR" altLang="en-US" sz="1100"/>
              <a:t>가 제대로 나오지 못했다</a:t>
            </a:r>
            <a:r>
              <a:rPr lang="en-US" altLang="ko-KR" sz="1100"/>
              <a:t>. </a:t>
            </a:r>
            <a:r>
              <a:rPr lang="ko-KR" altLang="en-US" sz="1100"/>
              <a:t>이를 해결하기 위해 </a:t>
            </a:r>
            <a:r>
              <a:rPr lang="en-US" altLang="ko-KR" sz="1100"/>
              <a:t>CPU </a:t>
            </a:r>
            <a:r>
              <a:rPr lang="ko-KR" altLang="en-US" sz="1100"/>
              <a:t>최적화를 통해 행렬의 곱셈을 줄여 보완했으나</a:t>
            </a:r>
            <a:r>
              <a:rPr lang="en-US" altLang="ko-KR" sz="1100"/>
              <a:t>, </a:t>
            </a:r>
            <a:r>
              <a:rPr lang="ko-KR" altLang="en-US" sz="1100"/>
              <a:t>여전히 느려서 </a:t>
            </a:r>
            <a:r>
              <a:rPr lang="en-US" altLang="ko-KR" sz="1100"/>
              <a:t>GPU </a:t>
            </a:r>
            <a:r>
              <a:rPr lang="ko-KR" altLang="en-US" sz="1100"/>
              <a:t>애니메이션을 만들기로 했다</a:t>
            </a:r>
            <a:r>
              <a:rPr lang="en-US" altLang="ko-KR" sz="1100"/>
              <a:t>.</a:t>
            </a:r>
          </a:p>
          <a:p>
            <a:r>
              <a:rPr lang="en-US" altLang="ko-KR" sz="1000">
                <a:solidFill>
                  <a:srgbClr val="FF0000"/>
                </a:solidFill>
              </a:rPr>
              <a:t>(</a:t>
            </a:r>
            <a:r>
              <a:rPr lang="ko-KR" altLang="en-US" sz="1000">
                <a:solidFill>
                  <a:srgbClr val="FF0000"/>
                </a:solidFill>
              </a:rPr>
              <a:t>당시 한번 하는데 </a:t>
            </a:r>
            <a:r>
              <a:rPr lang="en-US" altLang="ko-KR" sz="1000">
                <a:solidFill>
                  <a:srgbClr val="FF0000"/>
                </a:solidFill>
              </a:rPr>
              <a:t>1/60</a:t>
            </a:r>
            <a:r>
              <a:rPr lang="ko-KR" altLang="en-US" sz="1000">
                <a:solidFill>
                  <a:srgbClr val="FF0000"/>
                </a:solidFill>
              </a:rPr>
              <a:t>초의 </a:t>
            </a:r>
            <a:r>
              <a:rPr lang="en-US" altLang="ko-KR" sz="1000">
                <a:solidFill>
                  <a:srgbClr val="FF0000"/>
                </a:solidFill>
              </a:rPr>
              <a:t>0.029124 </a:t>
            </a:r>
            <a:r>
              <a:rPr lang="ko-KR" altLang="en-US" sz="1000">
                <a:solidFill>
                  <a:srgbClr val="FF0000"/>
                </a:solidFill>
              </a:rPr>
              <a:t>만큼 시간이 들었다</a:t>
            </a:r>
            <a:r>
              <a:rPr lang="en-US" altLang="ko-KR" sz="1000">
                <a:solidFill>
                  <a:srgbClr val="FF0000"/>
                </a:solidFill>
              </a:rPr>
              <a:t>. </a:t>
            </a:r>
            <a:r>
              <a:rPr lang="ko-KR" altLang="en-US" sz="1000">
                <a:solidFill>
                  <a:srgbClr val="FF0000"/>
                </a:solidFill>
              </a:rPr>
              <a:t>왜 이렇게 오래 걸렸는지를 교수님께서 나중에 지적해 주셔서 알아봤는데</a:t>
            </a:r>
            <a:r>
              <a:rPr lang="en-US" altLang="ko-KR" sz="1000">
                <a:solidFill>
                  <a:srgbClr val="FF0000"/>
                </a:solidFill>
              </a:rPr>
              <a:t>, </a:t>
            </a:r>
            <a:r>
              <a:rPr lang="ko-KR" altLang="en-US" sz="1000">
                <a:solidFill>
                  <a:srgbClr val="FF0000"/>
                </a:solidFill>
              </a:rPr>
              <a:t>확인 결과 알고리즘의 문제는 아니다</a:t>
            </a:r>
            <a:r>
              <a:rPr lang="en-US" altLang="ko-KR" sz="1000">
                <a:solidFill>
                  <a:srgbClr val="FF0000"/>
                </a:solidFill>
              </a:rPr>
              <a:t>. </a:t>
            </a:r>
            <a:r>
              <a:rPr lang="ko-KR" altLang="en-US" sz="1000">
                <a:solidFill>
                  <a:srgbClr val="FF0000"/>
                </a:solidFill>
              </a:rPr>
              <a:t>곱셈은 문제가 되지 않을 정도로 적게 일어나며</a:t>
            </a:r>
            <a:r>
              <a:rPr lang="en-US" altLang="ko-KR" sz="1000">
                <a:solidFill>
                  <a:srgbClr val="FF0000"/>
                </a:solidFill>
              </a:rPr>
              <a:t>, </a:t>
            </a:r>
            <a:r>
              <a:rPr lang="ko-KR" altLang="en-US" sz="1000">
                <a:solidFill>
                  <a:srgbClr val="FF0000"/>
                </a:solidFill>
              </a:rPr>
              <a:t>추정하기로는</a:t>
            </a:r>
            <a:r>
              <a:rPr lang="en-US" altLang="ko-KR" sz="1000">
                <a:solidFill>
                  <a:srgbClr val="FF0000"/>
                </a:solidFill>
              </a:rPr>
              <a:t>, </a:t>
            </a:r>
            <a:r>
              <a:rPr lang="ko-KR" altLang="en-US" sz="1000">
                <a:solidFill>
                  <a:srgbClr val="FF0000"/>
                </a:solidFill>
              </a:rPr>
              <a:t>캐시미스</a:t>
            </a:r>
            <a:r>
              <a:rPr lang="en-US" altLang="ko-KR" sz="1000">
                <a:solidFill>
                  <a:srgbClr val="FF0000"/>
                </a:solidFill>
              </a:rPr>
              <a:t>, </a:t>
            </a:r>
            <a:r>
              <a:rPr lang="ko-KR" altLang="en-US" sz="1000">
                <a:solidFill>
                  <a:srgbClr val="FF0000"/>
                </a:solidFill>
              </a:rPr>
              <a:t>페이지폴트</a:t>
            </a:r>
            <a:r>
              <a:rPr lang="en-US" altLang="ko-KR" sz="1000">
                <a:solidFill>
                  <a:srgbClr val="FF0000"/>
                </a:solidFill>
              </a:rPr>
              <a:t>, float</a:t>
            </a:r>
            <a:r>
              <a:rPr lang="ko-KR" altLang="en-US" sz="1000">
                <a:solidFill>
                  <a:srgbClr val="FF0000"/>
                </a:solidFill>
              </a:rPr>
              <a:t>의 디노멀연산이 부모 자식끼리 곱하면서 계속 일어난 문제인 것 같다</a:t>
            </a:r>
            <a:r>
              <a:rPr lang="en-US" altLang="ko-KR" sz="1000">
                <a:solidFill>
                  <a:srgbClr val="FF0000"/>
                </a:solidFill>
              </a:rPr>
              <a:t>.) - </a:t>
            </a:r>
            <a:r>
              <a:rPr lang="ko-KR" altLang="en-US" sz="1000">
                <a:solidFill>
                  <a:srgbClr val="FF0000"/>
                </a:solidFill>
              </a:rPr>
              <a:t>프로젝트를 시작할 때 </a:t>
            </a:r>
            <a:r>
              <a:rPr lang="en-US" altLang="ko-KR" sz="1000">
                <a:solidFill>
                  <a:srgbClr val="FF0000"/>
                </a:solidFill>
              </a:rPr>
              <a:t>float</a:t>
            </a:r>
            <a:r>
              <a:rPr lang="ko-KR" altLang="en-US" sz="1000">
                <a:solidFill>
                  <a:srgbClr val="FF0000"/>
                </a:solidFill>
              </a:rPr>
              <a:t>의 디노멀 연산에 대한 이해도가 아예 없었던 것이 큰 패착이 아닐까 생각중이다</a:t>
            </a:r>
            <a:r>
              <a:rPr lang="en-US" altLang="ko-KR" sz="1000">
                <a:solidFill>
                  <a:srgbClr val="FF0000"/>
                </a:solidFill>
              </a:rPr>
              <a:t>.</a:t>
            </a:r>
          </a:p>
          <a:p>
            <a:endParaRPr lang="en-US" altLang="ko-KR" sz="1100"/>
          </a:p>
          <a:p>
            <a:r>
              <a:rPr lang="ko-KR" altLang="en-US" sz="1100"/>
              <a:t>이를 해결하기 위해 </a:t>
            </a:r>
            <a:r>
              <a:rPr lang="en-US" altLang="ko-KR" sz="1100"/>
              <a:t>GPU </a:t>
            </a:r>
            <a:r>
              <a:rPr lang="ko-KR" altLang="en-US" sz="1100"/>
              <a:t>애니메이션을 수행하기로 했다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Humanoid Index, ModelNodeIndex, BoneIndex </a:t>
            </a:r>
            <a:r>
              <a:rPr lang="ko-KR" altLang="en-US" sz="1100"/>
              <a:t>간의 변환을 하면서 </a:t>
            </a:r>
            <a:endParaRPr lang="en-US" altLang="ko-KR" sz="1100"/>
          </a:p>
          <a:p>
            <a:r>
              <a:rPr lang="ko-KR" altLang="en-US" sz="1100"/>
              <a:t>트리의 부모노드 탐색을 통해 최종 </a:t>
            </a:r>
            <a:r>
              <a:rPr lang="en-US" altLang="ko-KR" sz="1100"/>
              <a:t>Bone</a:t>
            </a:r>
            <a:r>
              <a:rPr lang="ko-KR" altLang="en-US" sz="1100"/>
              <a:t>의 </a:t>
            </a:r>
            <a:r>
              <a:rPr lang="en-US" altLang="ko-KR" sz="1100"/>
              <a:t>World</a:t>
            </a:r>
            <a:r>
              <a:rPr lang="ko-KR" altLang="en-US" sz="1100"/>
              <a:t>를 구하는 과정과</a:t>
            </a:r>
            <a:endParaRPr lang="en-US" altLang="ko-KR" sz="1100"/>
          </a:p>
          <a:p>
            <a:r>
              <a:rPr lang="en-US" altLang="ko-KR" sz="1100"/>
              <a:t>GPU</a:t>
            </a:r>
            <a:r>
              <a:rPr lang="ko-KR" altLang="en-US" sz="1100"/>
              <a:t>로 애니메이션을 수행하고</a:t>
            </a:r>
            <a:r>
              <a:rPr lang="en-US" altLang="ko-KR" sz="1100"/>
              <a:t>, </a:t>
            </a:r>
            <a:r>
              <a:rPr lang="ko-KR" altLang="en-US" sz="1100"/>
              <a:t>보여주는 것이 꽤 나에게는 난이도가 있었다</a:t>
            </a:r>
            <a:r>
              <a:rPr lang="en-US" altLang="ko-KR" sz="1100"/>
              <a:t>.</a:t>
            </a:r>
          </a:p>
          <a:p>
            <a:r>
              <a:rPr lang="ko-KR" altLang="en-US" sz="1000">
                <a:solidFill>
                  <a:srgbClr val="FF0000"/>
                </a:solidFill>
              </a:rPr>
              <a:t>결과적으로 해결했지만 맞는 방향이었나</a:t>
            </a:r>
            <a:r>
              <a:rPr lang="en-US" altLang="ko-KR" sz="1000">
                <a:solidFill>
                  <a:srgbClr val="FF0000"/>
                </a:solidFill>
              </a:rPr>
              <a:t>?</a:t>
            </a:r>
            <a:r>
              <a:rPr lang="ko-KR" altLang="en-US" sz="1000">
                <a:solidFill>
                  <a:srgbClr val="FF0000"/>
                </a:solidFill>
              </a:rPr>
              <a:t> 생각이 든다</a:t>
            </a:r>
            <a:r>
              <a:rPr lang="en-US" altLang="ko-KR" sz="1000">
                <a:solidFill>
                  <a:srgbClr val="FF0000"/>
                </a:solidFill>
              </a:rPr>
              <a:t>. </a:t>
            </a:r>
            <a:r>
              <a:rPr lang="ko-KR" altLang="en-US" sz="1000">
                <a:solidFill>
                  <a:srgbClr val="FF0000"/>
                </a:solidFill>
              </a:rPr>
              <a:t>다만 애니메이션 블렌딩과 마스킹</a:t>
            </a:r>
            <a:r>
              <a:rPr lang="en-US" altLang="ko-KR" sz="1000">
                <a:solidFill>
                  <a:srgbClr val="FF0000"/>
                </a:solidFill>
              </a:rPr>
              <a:t>, </a:t>
            </a:r>
            <a:r>
              <a:rPr lang="ko-KR" altLang="en-US" sz="1000">
                <a:solidFill>
                  <a:srgbClr val="FF0000"/>
                </a:solidFill>
              </a:rPr>
              <a:t>대규모의 애니메이션 처리를 위해서는 어차피 나중에 해야 할 일이었을까</a:t>
            </a:r>
            <a:r>
              <a:rPr lang="en-US" altLang="ko-KR" sz="1000">
                <a:solidFill>
                  <a:srgbClr val="FF0000"/>
                </a:solidFill>
              </a:rPr>
              <a:t>? </a:t>
            </a:r>
            <a:r>
              <a:rPr lang="ko-KR" altLang="en-US" sz="1000">
                <a:solidFill>
                  <a:srgbClr val="FF0000"/>
                </a:solidFill>
              </a:rPr>
              <a:t>아니면 애초에 </a:t>
            </a:r>
            <a:r>
              <a:rPr lang="en-US" altLang="ko-KR" sz="1000">
                <a:solidFill>
                  <a:srgbClr val="FF0000"/>
                </a:solidFill>
              </a:rPr>
              <a:t>CPU </a:t>
            </a:r>
            <a:r>
              <a:rPr lang="ko-KR" altLang="en-US" sz="1000">
                <a:solidFill>
                  <a:srgbClr val="FF0000"/>
                </a:solidFill>
              </a:rPr>
              <a:t>병목을 제대로 고려하지 못해 일어난 소모적인 노력인가</a:t>
            </a:r>
            <a:r>
              <a:rPr lang="en-US" altLang="ko-KR" sz="100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5D243E-331C-3B97-11C7-DFBE7FEC775A}"/>
              </a:ext>
            </a:extLst>
          </p:cNvPr>
          <p:cNvSpPr txBox="1"/>
          <p:nvPr/>
        </p:nvSpPr>
        <p:spPr>
          <a:xfrm>
            <a:off x="723900" y="3856464"/>
            <a:ext cx="506730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7. TTF - SDF </a:t>
            </a:r>
            <a:r>
              <a:rPr lang="ko-KR" altLang="en-US" b="1"/>
              <a:t>텍스트 출력</a:t>
            </a:r>
            <a:endParaRPr lang="en-US" altLang="ko-KR" b="1"/>
          </a:p>
          <a:p>
            <a:r>
              <a:rPr lang="en-US" altLang="ko-KR" sz="1100"/>
              <a:t>TTF</a:t>
            </a:r>
            <a:r>
              <a:rPr lang="ko-KR" altLang="en-US" sz="1100"/>
              <a:t>에서 읽어온 텍스트의 데이터를 </a:t>
            </a:r>
            <a:r>
              <a:rPr lang="en-US" altLang="ko-KR" sz="1100"/>
              <a:t>SDF</a:t>
            </a:r>
            <a:r>
              <a:rPr lang="ko-KR" altLang="en-US" sz="1100"/>
              <a:t>로 재구성하여 화면에 출력할 수 있도록 한다</a:t>
            </a:r>
            <a:r>
              <a:rPr lang="en-US" altLang="ko-KR" sz="1100"/>
              <a:t>. SDF</a:t>
            </a:r>
            <a:r>
              <a:rPr lang="ko-KR" altLang="en-US" sz="1100"/>
              <a:t> 텍스쳐를 만드는 과정이 픽셀 하나를 찍을 때마다 모든 픽셀에 대해 거리 계산을 수행해 매우 느렸으나</a:t>
            </a:r>
            <a:r>
              <a:rPr lang="en-US" altLang="ko-KR" sz="1100"/>
              <a:t>, </a:t>
            </a:r>
            <a:r>
              <a:rPr lang="ko-KR" altLang="en-US" sz="1100" b="1"/>
              <a:t>원점에서 가장 가까운 픽셀 순서대로 순회할 수 있는 테이블을 만들어 빠르게 새로운 텍스트에 대한 </a:t>
            </a:r>
            <a:r>
              <a:rPr lang="en-US" altLang="ko-KR" sz="1100" b="1"/>
              <a:t>SDF </a:t>
            </a:r>
            <a:r>
              <a:rPr lang="ko-KR" altLang="en-US" sz="1100" b="1"/>
              <a:t>구성을 할 수 있었다</a:t>
            </a:r>
            <a:r>
              <a:rPr lang="en-US" altLang="ko-KR" sz="1100" b="1"/>
              <a:t>.</a:t>
            </a:r>
          </a:p>
          <a:p>
            <a:endParaRPr lang="en-US" altLang="ko-KR" sz="1100"/>
          </a:p>
          <a:p>
            <a:r>
              <a:rPr lang="ko-KR" altLang="en-US" sz="1100"/>
              <a:t>글자를 이루는 외곽선을 기준으로</a:t>
            </a:r>
            <a:r>
              <a:rPr lang="en-US" altLang="ko-KR" sz="1100"/>
              <a:t> </a:t>
            </a:r>
            <a:r>
              <a:rPr lang="ko-KR" altLang="en-US" sz="1100"/>
              <a:t>한 픽셀은 외곽선과의 최소거리를</a:t>
            </a:r>
            <a:endParaRPr lang="en-US" altLang="ko-KR" sz="1100"/>
          </a:p>
          <a:p>
            <a:r>
              <a:rPr lang="ko-KR" altLang="en-US" sz="1100"/>
              <a:t>저장한다</a:t>
            </a:r>
            <a:r>
              <a:rPr lang="en-US" altLang="ko-KR" sz="1100"/>
              <a:t>. </a:t>
            </a:r>
            <a:r>
              <a:rPr lang="ko-KR" altLang="en-US" sz="1100"/>
              <a:t>부호는 내부일 경우 음수</a:t>
            </a:r>
            <a:r>
              <a:rPr lang="en-US" altLang="ko-KR" sz="1100"/>
              <a:t> </a:t>
            </a:r>
            <a:r>
              <a:rPr lang="ko-KR" altLang="en-US" sz="1100"/>
              <a:t>외부일 경우 양수가 된다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이것을 활용해 다양한 글자의 효과를</a:t>
            </a:r>
            <a:r>
              <a:rPr lang="en-US" altLang="ko-KR" sz="1100"/>
              <a:t> </a:t>
            </a:r>
            <a:r>
              <a:rPr lang="ko-KR" altLang="en-US" sz="1100"/>
              <a:t>구현할 수 있다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기본적으로 출력할 픽셀의</a:t>
            </a:r>
            <a:r>
              <a:rPr lang="en-US" altLang="ko-KR" sz="1100"/>
              <a:t> </a:t>
            </a:r>
            <a:r>
              <a:rPr lang="ko-KR" altLang="en-US" sz="1100"/>
              <a:t>최솟값과 최댓값을 지정하면 된다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en-US" altLang="ko-KR" sz="1100"/>
              <a:t>(-128 ~ 0) : </a:t>
            </a:r>
            <a:r>
              <a:rPr lang="ko-KR" altLang="en-US" sz="1100"/>
              <a:t>내부가 찬 글자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(0 ~ 127) : </a:t>
            </a:r>
            <a:r>
              <a:rPr lang="ko-KR" altLang="en-US" sz="1100"/>
              <a:t>외부만 차고 내부는 빈 글자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(-128 ~ 30) : </a:t>
            </a:r>
            <a:r>
              <a:rPr lang="ko-KR" altLang="en-US" sz="1100"/>
              <a:t>조금 굵은 글자</a:t>
            </a:r>
            <a:endParaRPr lang="en-US" altLang="ko-KR" sz="1100"/>
          </a:p>
          <a:p>
            <a:r>
              <a:rPr lang="en-US" altLang="ko-KR" sz="1100"/>
              <a:t>(0 ~ 0) : </a:t>
            </a:r>
            <a:r>
              <a:rPr lang="ko-KR" altLang="en-US" sz="1100"/>
              <a:t>외곽선</a:t>
            </a:r>
            <a:endParaRPr lang="en-US" altLang="ko-KR" sz="11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881645E-D35C-A573-94ED-D3D63B9B5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700" y="1506906"/>
            <a:ext cx="1955800" cy="263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139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AB213-773B-9E23-EA76-AD2A5CB15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105191-C322-56EC-8F42-0B796A9EA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레이트레이싱</a:t>
            </a:r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3A61FE-428F-14D9-E241-DBEE66C7951C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FC2CAA-C335-F529-FFFE-033C50C1B0EC}"/>
              </a:ext>
            </a:extLst>
          </p:cNvPr>
          <p:cNvSpPr txBox="1"/>
          <p:nvPr/>
        </p:nvSpPr>
        <p:spPr>
          <a:xfrm>
            <a:off x="723900" y="1389330"/>
            <a:ext cx="537210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1. </a:t>
            </a:r>
            <a:r>
              <a:rPr lang="ko-KR" altLang="en-US" b="1"/>
              <a:t>레이트레이싱과 레스터에서 </a:t>
            </a:r>
            <a:r>
              <a:rPr lang="en-US" altLang="ko-KR" b="1"/>
              <a:t>Mesh </a:t>
            </a:r>
            <a:r>
              <a:rPr lang="ko-KR" altLang="en-US" b="1"/>
              <a:t>정보를 공유</a:t>
            </a:r>
            <a:endParaRPr lang="en-US" altLang="ko-KR" b="1"/>
          </a:p>
          <a:p>
            <a:r>
              <a:rPr lang="ko-KR" altLang="en-US" sz="1100"/>
              <a:t>레이트레이싱 렌더링에서는 모든 버택스</a:t>
            </a:r>
            <a:r>
              <a:rPr lang="en-US" altLang="ko-KR" sz="1100"/>
              <a:t>/</a:t>
            </a:r>
            <a:r>
              <a:rPr lang="ko-KR" altLang="en-US" sz="1100"/>
              <a:t>인덱스 데이터를 바인딩할 필요가 있었다</a:t>
            </a:r>
            <a:r>
              <a:rPr lang="en-US" altLang="ko-KR" sz="1100"/>
              <a:t>. </a:t>
            </a:r>
            <a:r>
              <a:rPr lang="ko-KR" altLang="en-US" sz="1100"/>
              <a:t>왜냐하면 셰이더 </a:t>
            </a:r>
            <a:r>
              <a:rPr lang="en-US" altLang="ko-KR" sz="1100"/>
              <a:t>Ray</a:t>
            </a:r>
            <a:r>
              <a:rPr lang="ko-KR" altLang="en-US" sz="1100"/>
              <a:t>가 충돌한 지점의 평면의 노멀과 탄젠트</a:t>
            </a:r>
            <a:r>
              <a:rPr lang="en-US" altLang="ko-KR" sz="1100"/>
              <a:t>, uv, </a:t>
            </a:r>
            <a:r>
              <a:rPr lang="ko-KR" altLang="en-US" sz="1100"/>
              <a:t>머터리얼 등의 </a:t>
            </a:r>
            <a:endParaRPr lang="en-US" altLang="ko-KR" sz="1100"/>
          </a:p>
          <a:p>
            <a:r>
              <a:rPr lang="ko-KR" altLang="en-US" sz="1100"/>
              <a:t>정보가</a:t>
            </a:r>
            <a:r>
              <a:rPr lang="en-US" altLang="ko-KR" sz="1100"/>
              <a:t> </a:t>
            </a:r>
            <a:r>
              <a:rPr lang="ko-KR" altLang="en-US" sz="1100"/>
              <a:t>필요했기 때문이다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하지만 그렇다고 레스터와 레이트레이싱용 </a:t>
            </a:r>
            <a:r>
              <a:rPr lang="en-US" altLang="ko-KR" sz="1100"/>
              <a:t>Mesh Res</a:t>
            </a:r>
            <a:r>
              <a:rPr lang="ko-KR" altLang="en-US" sz="1100"/>
              <a:t>를 따로 만드는 것은 </a:t>
            </a:r>
            <a:endParaRPr lang="en-US" altLang="ko-KR" sz="1100"/>
          </a:p>
          <a:p>
            <a:r>
              <a:rPr lang="ko-KR" altLang="en-US" sz="1100"/>
              <a:t>바람직하지 못했다</a:t>
            </a:r>
            <a:r>
              <a:rPr lang="en-US" altLang="ko-KR" sz="1100"/>
              <a:t>. </a:t>
            </a:r>
            <a:r>
              <a:rPr lang="ko-KR" altLang="en-US" sz="1100"/>
              <a:t>왜냐하면 요새 </a:t>
            </a:r>
            <a:r>
              <a:rPr lang="en-US" altLang="ko-KR" sz="1100"/>
              <a:t>GPU VRAM</a:t>
            </a:r>
            <a:r>
              <a:rPr lang="ko-KR" altLang="en-US" sz="1100"/>
              <a:t>이 감소하는 추세이기도 하고</a:t>
            </a:r>
            <a:r>
              <a:rPr lang="en-US" altLang="ko-KR" sz="1100"/>
              <a:t>, </a:t>
            </a:r>
          </a:p>
          <a:p>
            <a:r>
              <a:rPr lang="en-US" altLang="ko-KR" sz="1100"/>
              <a:t>BLAS </a:t>
            </a:r>
            <a:r>
              <a:rPr lang="ko-KR" altLang="en-US" sz="1100"/>
              <a:t>빌드를 하고 나면</a:t>
            </a:r>
            <a:r>
              <a:rPr lang="en-US" altLang="ko-KR" sz="1100"/>
              <a:t>, </a:t>
            </a:r>
            <a:r>
              <a:rPr lang="ko-KR" altLang="en-US" sz="1100"/>
              <a:t>남아 있는 </a:t>
            </a:r>
            <a:r>
              <a:rPr lang="en-US" altLang="ko-KR" sz="1100"/>
              <a:t>GPU </a:t>
            </a:r>
            <a:r>
              <a:rPr lang="ko-KR" altLang="en-US" sz="1100"/>
              <a:t>메모리가 부족할 것이기 때문이었다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그 때문에 메쉬의 버택스 데이터는 레스터와 레이트레이싱에서 같은 데이터를 사용해야 했다</a:t>
            </a:r>
            <a:r>
              <a:rPr lang="en-US" altLang="ko-KR" sz="1100"/>
              <a:t>. </a:t>
            </a:r>
            <a:r>
              <a:rPr lang="ko-KR" altLang="en-US" sz="1100"/>
              <a:t>게다가 그런 데이터는 레스터에서의 </a:t>
            </a:r>
            <a:r>
              <a:rPr lang="en-US" altLang="ko-KR" sz="1100"/>
              <a:t>VertexBufferView</a:t>
            </a:r>
            <a:r>
              <a:rPr lang="ko-KR" altLang="en-US" sz="1100"/>
              <a:t>와 </a:t>
            </a:r>
            <a:r>
              <a:rPr lang="en-US" altLang="ko-KR" sz="1100"/>
              <a:t>IndexBufferView</a:t>
            </a:r>
            <a:r>
              <a:rPr lang="ko-KR" altLang="en-US" sz="1100"/>
              <a:t>를 만들 수 있도록 </a:t>
            </a:r>
            <a:r>
              <a:rPr lang="en-US" altLang="ko-KR" sz="1100"/>
              <a:t>GPUVA</a:t>
            </a:r>
            <a:r>
              <a:rPr lang="ko-KR" altLang="en-US" sz="1100"/>
              <a:t>가 정렬되어야 했기 때문에 새로운 메쉬데이터가 시작할때마다 그 시작점을 정렬할 필요가 있었다</a:t>
            </a:r>
            <a:r>
              <a:rPr lang="en-US" altLang="ko-KR" sz="1100"/>
              <a:t>. </a:t>
            </a:r>
            <a:r>
              <a:rPr lang="ko-KR" altLang="en-US" sz="1100"/>
              <a:t>정렬의 기준은</a:t>
            </a:r>
            <a:endParaRPr lang="en-US" altLang="ko-KR" sz="1100"/>
          </a:p>
          <a:p>
            <a:r>
              <a:rPr lang="ko-KR" altLang="en-US" sz="1100"/>
              <a:t>단일 버택스의 사이즈와 </a:t>
            </a:r>
            <a:r>
              <a:rPr lang="en-US" altLang="ko-KR" sz="1100"/>
              <a:t>256</a:t>
            </a:r>
            <a:r>
              <a:rPr lang="ko-KR" altLang="en-US" sz="1100"/>
              <a:t>의 최소공배수가 되어야 하기 때문에 다음과 같이 버택스 데이터를 잡았다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48</a:t>
            </a:r>
            <a:r>
              <a:rPr lang="ko-KR" altLang="en-US" sz="1100"/>
              <a:t>이 바람직했다</a:t>
            </a:r>
            <a:r>
              <a:rPr lang="en-US" altLang="ko-KR" sz="1100"/>
              <a:t>. 768</a:t>
            </a:r>
            <a:r>
              <a:rPr lang="ko-KR" altLang="en-US" sz="1100"/>
              <a:t>바이트 단위로 정렬된다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extra</a:t>
            </a:r>
            <a:r>
              <a:rPr lang="ko-KR" altLang="en-US" sz="1100"/>
              <a:t> </a:t>
            </a:r>
            <a:r>
              <a:rPr lang="en-US" altLang="ko-KR" sz="1100"/>
              <a:t>+</a:t>
            </a:r>
            <a:r>
              <a:rPr lang="ko-KR" altLang="en-US" sz="1100"/>
              <a:t> </a:t>
            </a:r>
            <a:r>
              <a:rPr lang="en-US" altLang="ko-KR" sz="1100"/>
              <a:t>[LocalRootSig</a:t>
            </a:r>
            <a:r>
              <a:rPr lang="ko-KR" altLang="en-US" sz="1100"/>
              <a:t>의 시작 머터리얼 인덱스</a:t>
            </a:r>
            <a:r>
              <a:rPr lang="en-US" altLang="ko-KR" sz="1100"/>
              <a:t>]</a:t>
            </a:r>
          </a:p>
          <a:p>
            <a:r>
              <a:rPr lang="ko-KR" altLang="en-US" sz="1100"/>
              <a:t>를 하면 해당 점의 머터리얼 인덱스가 나온다</a:t>
            </a:r>
            <a:r>
              <a:rPr lang="en-US" altLang="ko-KR" sz="110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32E4F2-1737-1AED-EB99-01C6D66224B5}"/>
              </a:ext>
            </a:extLst>
          </p:cNvPr>
          <p:cNvSpPr txBox="1"/>
          <p:nvPr/>
        </p:nvSpPr>
        <p:spPr>
          <a:xfrm>
            <a:off x="6210300" y="1389330"/>
            <a:ext cx="5725026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2. </a:t>
            </a:r>
            <a:r>
              <a:rPr lang="ko-KR" altLang="en-US" b="1"/>
              <a:t>레이트레이싱 서브메쉬 처리 방법</a:t>
            </a:r>
            <a:endParaRPr lang="en-US" altLang="ko-KR" b="1"/>
          </a:p>
          <a:p>
            <a:r>
              <a:rPr lang="ko-KR" altLang="en-US" sz="1100"/>
              <a:t>처음에 서브메쉬의 경우</a:t>
            </a:r>
            <a:r>
              <a:rPr lang="en-US" altLang="ko-KR" sz="1100"/>
              <a:t>, Geometry</a:t>
            </a:r>
            <a:r>
              <a:rPr lang="ko-KR" altLang="en-US" sz="1100"/>
              <a:t>와 </a:t>
            </a:r>
            <a:r>
              <a:rPr lang="en-US" altLang="ko-KR" sz="1100"/>
              <a:t>BLAS</a:t>
            </a:r>
            <a:r>
              <a:rPr lang="ko-KR" altLang="en-US" sz="1100"/>
              <a:t>를 서브메쉬마다 만들었었다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그렇게 한 이유는 서로 다른 </a:t>
            </a:r>
            <a:r>
              <a:rPr lang="en-US" altLang="ko-KR" sz="1100"/>
              <a:t>ShaderRecord</a:t>
            </a:r>
            <a:r>
              <a:rPr lang="ko-KR" altLang="en-US" sz="1100"/>
              <a:t>를 써서 다른 머터리얼을 </a:t>
            </a:r>
            <a:endParaRPr lang="en-US" altLang="ko-KR" sz="1100"/>
          </a:p>
          <a:p>
            <a:r>
              <a:rPr lang="ko-KR" altLang="en-US" sz="1100"/>
              <a:t>바인딩해야 했기 때문인데</a:t>
            </a:r>
            <a:r>
              <a:rPr lang="en-US" altLang="ko-KR" sz="1100"/>
              <a:t>, </a:t>
            </a:r>
            <a:r>
              <a:rPr lang="ko-KR" altLang="en-US" sz="1100"/>
              <a:t>그렇게 했더니 </a:t>
            </a:r>
            <a:r>
              <a:rPr lang="en-US" altLang="ko-KR" sz="1100"/>
              <a:t>fps</a:t>
            </a:r>
            <a:r>
              <a:rPr lang="ko-KR" altLang="en-US" sz="1100"/>
              <a:t>가 아주 많이 떨어지는 사태가 발생했다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ko-KR" altLang="en-US" sz="1100"/>
              <a:t>이유는 서브메쉬들의 </a:t>
            </a:r>
            <a:r>
              <a:rPr lang="en-US" altLang="ko-KR" sz="1100"/>
              <a:t>BLAS</a:t>
            </a:r>
            <a:r>
              <a:rPr lang="ko-KR" altLang="en-US" sz="1100"/>
              <a:t>의 범위가 서로 곂쳐져서 </a:t>
            </a:r>
            <a:r>
              <a:rPr lang="en-US" altLang="ko-KR" sz="1100"/>
              <a:t>TraceRay</a:t>
            </a:r>
            <a:r>
              <a:rPr lang="ko-KR" altLang="en-US" sz="1100"/>
              <a:t>가 </a:t>
            </a:r>
            <a:r>
              <a:rPr lang="en-US" altLang="ko-KR" sz="1100"/>
              <a:t>ClosestHit</a:t>
            </a:r>
            <a:r>
              <a:rPr lang="ko-KR" altLang="en-US" sz="1100"/>
              <a:t>를 찾는데 시간이 많이 소진되었기 때문이었다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ko-KR" altLang="en-US" sz="1100"/>
              <a:t>그래서 그것을 해결하기 위해 </a:t>
            </a:r>
            <a:r>
              <a:rPr lang="en-US" altLang="ko-KR" sz="1100"/>
              <a:t>ShaderRecord</a:t>
            </a:r>
            <a:r>
              <a:rPr lang="ko-KR" altLang="en-US" sz="1100"/>
              <a:t>에는 머터리얼 시작 인덱스만 부여하고</a:t>
            </a:r>
            <a:r>
              <a:rPr lang="en-US" altLang="ko-KR" sz="1100"/>
              <a:t>,</a:t>
            </a:r>
          </a:p>
          <a:p>
            <a:r>
              <a:rPr lang="ko-KR" altLang="en-US" sz="1100"/>
              <a:t>하나의 메쉬속 점들에서 각각 다른 머터리얼 인덱스를 가질 수 있도록 조정했다</a:t>
            </a:r>
            <a:r>
              <a:rPr lang="en-US" altLang="ko-KR" sz="1100"/>
              <a:t>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DE2F6D9-44ED-49F5-0BBD-5D9EAB0D6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654" y="3537804"/>
            <a:ext cx="1923473" cy="102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316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6D140-CB3F-98CB-A8BA-56E0BB39A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762BFAA-2E5B-7E29-F64F-B36350841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43" y="3467516"/>
            <a:ext cx="3970244" cy="326204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A450AB6-271F-68CB-4B20-09B6CC262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445" y="3015120"/>
            <a:ext cx="3173117" cy="38428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468428F-82AF-BF75-B5CD-ECF79CBD2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레이트레이싱</a:t>
            </a:r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39EDE-575E-F3C3-BBFE-5CD5BCAEDD5D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E3A0C-4B1C-5F64-40DB-62462B4DD5BD}"/>
              </a:ext>
            </a:extLst>
          </p:cNvPr>
          <p:cNvSpPr txBox="1"/>
          <p:nvPr/>
        </p:nvSpPr>
        <p:spPr>
          <a:xfrm>
            <a:off x="6146800" y="1649440"/>
            <a:ext cx="53721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4. Seamless Zone</a:t>
            </a:r>
            <a:r>
              <a:rPr lang="ko-KR" altLang="en-US" b="1"/>
              <a:t>을 </a:t>
            </a:r>
            <a:r>
              <a:rPr lang="en-US" altLang="ko-KR" b="1"/>
              <a:t>Client</a:t>
            </a:r>
            <a:r>
              <a:rPr lang="ko-KR" altLang="en-US" b="1"/>
              <a:t>에 적용하기</a:t>
            </a:r>
            <a:endParaRPr lang="en-US" altLang="ko-KR" b="1"/>
          </a:p>
          <a:p>
            <a:r>
              <a:rPr lang="ko-KR" altLang="en-US" sz="1100"/>
              <a:t>심리스 존은 클라이언트가 어떤 존에 위치해 있으면</a:t>
            </a:r>
            <a:r>
              <a:rPr lang="en-US" altLang="ko-KR" sz="1100"/>
              <a:t>, </a:t>
            </a:r>
            <a:r>
              <a:rPr lang="ko-KR" altLang="en-US" sz="1100"/>
              <a:t>인접한 존의 맵 데이터를 모조리 가지고 있어야 한다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문제는 존 데이터</a:t>
            </a:r>
            <a:r>
              <a:rPr lang="en-US" altLang="ko-KR" sz="1100"/>
              <a:t>(</a:t>
            </a:r>
            <a:r>
              <a:rPr lang="ko-KR" altLang="en-US" sz="1100"/>
              <a:t>머터리얼</a:t>
            </a:r>
            <a:r>
              <a:rPr lang="en-US" altLang="ko-KR" sz="1100"/>
              <a:t>, </a:t>
            </a:r>
            <a:r>
              <a:rPr lang="ko-KR" altLang="en-US" sz="1100"/>
              <a:t>텍스쳐</a:t>
            </a:r>
            <a:r>
              <a:rPr lang="en-US" altLang="ko-KR" sz="1100"/>
              <a:t>, </a:t>
            </a:r>
            <a:r>
              <a:rPr lang="ko-KR" altLang="en-US" sz="1100"/>
              <a:t>메쉬의 </a:t>
            </a:r>
            <a:r>
              <a:rPr lang="en-US" altLang="ko-KR" sz="1100"/>
              <a:t>VB, IB, </a:t>
            </a:r>
            <a:r>
              <a:rPr lang="ko-KR" altLang="en-US" sz="1100"/>
              <a:t>스테틱 라이트</a:t>
            </a:r>
            <a:r>
              <a:rPr lang="en-US" altLang="ko-KR" sz="1100"/>
              <a:t>, </a:t>
            </a:r>
            <a:r>
              <a:rPr lang="ko-KR" altLang="en-US" sz="1100"/>
              <a:t>청크와 </a:t>
            </a:r>
            <a:r>
              <a:rPr lang="en-US" altLang="ko-KR" sz="1100"/>
              <a:t>GameObject</a:t>
            </a:r>
            <a:r>
              <a:rPr lang="ko-KR" altLang="en-US" sz="1100"/>
              <a:t>들</a:t>
            </a:r>
            <a:r>
              <a:rPr lang="en-US" altLang="ko-KR" sz="1100"/>
              <a:t>, </a:t>
            </a:r>
            <a:r>
              <a:rPr lang="ko-KR" altLang="en-US" sz="1100"/>
              <a:t>셰이더에 사용할 리소스 바인딩에 사용되는 </a:t>
            </a:r>
            <a:r>
              <a:rPr lang="en-US" altLang="ko-KR" sz="1100"/>
              <a:t>DescHeap)</a:t>
            </a:r>
            <a:r>
              <a:rPr lang="ko-KR" altLang="en-US" sz="1100"/>
              <a:t>들을 모조리 로드가 가능해야 하며</a:t>
            </a:r>
            <a:r>
              <a:rPr lang="en-US" altLang="ko-KR" sz="1100"/>
              <a:t>, </a:t>
            </a:r>
            <a:r>
              <a:rPr lang="ko-KR" altLang="en-US" sz="1100"/>
              <a:t>이후 어떤 존으로 가도</a:t>
            </a:r>
            <a:r>
              <a:rPr lang="en-US" altLang="ko-KR" sz="1100"/>
              <a:t>, </a:t>
            </a:r>
            <a:r>
              <a:rPr lang="ko-KR" altLang="en-US" sz="1100"/>
              <a:t>이후 존의 인접 존의 이미 로드된 데이터는 유지를 해야 했다</a:t>
            </a:r>
            <a:r>
              <a:rPr lang="en-US" altLang="ko-KR" sz="1100"/>
              <a:t>. </a:t>
            </a:r>
            <a:r>
              <a:rPr lang="ko-KR" altLang="en-US" sz="1100"/>
              <a:t>이를 위해 각 </a:t>
            </a:r>
            <a:r>
              <a:rPr lang="en-US" altLang="ko-KR" sz="1100"/>
              <a:t>Zone</a:t>
            </a:r>
            <a:r>
              <a:rPr lang="ko-KR" altLang="en-US" sz="1100"/>
              <a:t>에 특수한 인덱스인 </a:t>
            </a:r>
            <a:r>
              <a:rPr lang="en-US" altLang="ko-KR" sz="1100"/>
              <a:t>AssetOffsetMul</a:t>
            </a:r>
            <a:r>
              <a:rPr lang="ko-KR" altLang="en-US" sz="1100"/>
              <a:t>을 만들었고</a:t>
            </a:r>
            <a:r>
              <a:rPr lang="en-US" altLang="ko-KR" sz="1100"/>
              <a:t>, </a:t>
            </a:r>
            <a:r>
              <a:rPr lang="ko-KR" altLang="en-US" sz="1100"/>
              <a:t>해당 값만큼 이격된 위치에 모든 리소스가 </a:t>
            </a:r>
            <a:r>
              <a:rPr lang="en-US" altLang="ko-KR" sz="1100"/>
              <a:t>GPU </a:t>
            </a:r>
            <a:r>
              <a:rPr lang="ko-KR" altLang="en-US" sz="1100"/>
              <a:t>에 존재하도록 만들었다</a:t>
            </a:r>
            <a:r>
              <a:rPr lang="en-US" altLang="ko-KR" sz="1100"/>
              <a:t>. </a:t>
            </a:r>
            <a:r>
              <a:rPr lang="ko-KR" altLang="en-US" sz="1100"/>
              <a:t>그래서 </a:t>
            </a:r>
            <a:r>
              <a:rPr lang="en-US" altLang="ko-KR" sz="1100"/>
              <a:t>Zone</a:t>
            </a:r>
            <a:r>
              <a:rPr lang="ko-KR" altLang="en-US" sz="1100"/>
              <a:t>을 이동하더라도</a:t>
            </a:r>
            <a:r>
              <a:rPr lang="en-US" altLang="ko-KR" sz="1100"/>
              <a:t>, </a:t>
            </a:r>
            <a:r>
              <a:rPr lang="ko-KR" altLang="en-US" sz="1100"/>
              <a:t>필요한 </a:t>
            </a:r>
            <a:r>
              <a:rPr lang="en-US" altLang="ko-KR" sz="1100"/>
              <a:t>Zone</a:t>
            </a:r>
            <a:r>
              <a:rPr lang="ko-KR" altLang="en-US" sz="1100"/>
              <a:t>의 리소스만 로드하게 만들었다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TLAS Instance</a:t>
            </a:r>
            <a:r>
              <a:rPr lang="ko-KR" altLang="en-US" sz="1100"/>
              <a:t> 또한 그냥 배열에 요소를 추가하는 방식이 아니라</a:t>
            </a:r>
            <a:r>
              <a:rPr lang="en-US" altLang="ko-KR" sz="1100"/>
              <a:t>, </a:t>
            </a:r>
          </a:p>
          <a:p>
            <a:r>
              <a:rPr lang="ko-KR" altLang="en-US" sz="1100"/>
              <a:t>이전에 만들었던 </a:t>
            </a:r>
            <a:r>
              <a:rPr lang="en-US" altLang="ko-KR" sz="1100"/>
              <a:t>BitAlloter</a:t>
            </a:r>
            <a:r>
              <a:rPr lang="ko-KR" altLang="en-US" sz="1100"/>
              <a:t>를 사용하여 할당과 비할당처리를 해야 했다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ko-KR" altLang="en-US" sz="1100"/>
              <a:t>단순히 포인터로 이 작업을 할 수 없었던 이유는</a:t>
            </a:r>
            <a:r>
              <a:rPr lang="en-US" altLang="ko-KR" sz="1100"/>
              <a:t>, Raytracing</a:t>
            </a:r>
            <a:r>
              <a:rPr lang="ko-KR" altLang="en-US" sz="1100"/>
              <a:t>이나 </a:t>
            </a:r>
            <a:r>
              <a:rPr lang="en-US" altLang="ko-KR" sz="1100"/>
              <a:t>Render</a:t>
            </a:r>
            <a:r>
              <a:rPr lang="ko-KR" altLang="en-US" sz="1100"/>
              <a:t>에 사용되는 많은 자료가 배열의 형태로만 저장될 수 있었기 때문이다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예를 들어 </a:t>
            </a:r>
            <a:r>
              <a:rPr lang="en-US" altLang="ko-KR" sz="1100"/>
              <a:t>Mesh</a:t>
            </a:r>
            <a:r>
              <a:rPr lang="ko-KR" altLang="en-US" sz="1100"/>
              <a:t>의 </a:t>
            </a:r>
            <a:r>
              <a:rPr lang="en-US" altLang="ko-KR" sz="1100"/>
              <a:t>VB, IB, Texture, Material</a:t>
            </a:r>
            <a:r>
              <a:rPr lang="ko-KR" altLang="en-US" sz="1100"/>
              <a:t>의 </a:t>
            </a:r>
            <a:r>
              <a:rPr lang="en-US" altLang="ko-KR" sz="1100"/>
              <a:t>DescHeap </a:t>
            </a:r>
            <a:r>
              <a:rPr lang="ko-KR" altLang="en-US" sz="1100"/>
              <a:t>내부의 </a:t>
            </a:r>
            <a:r>
              <a:rPr lang="en-US" altLang="ko-KR" sz="1100"/>
              <a:t>View, </a:t>
            </a:r>
            <a:r>
              <a:rPr lang="ko-KR" altLang="en-US" sz="1100"/>
              <a:t>스킨메쉬버택스</a:t>
            </a:r>
            <a:r>
              <a:rPr lang="en-US" altLang="ko-KR" sz="1100"/>
              <a:t> </a:t>
            </a:r>
            <a:r>
              <a:rPr lang="ko-KR" altLang="en-US" sz="1100"/>
              <a:t>등등</a:t>
            </a:r>
            <a:r>
              <a:rPr lang="en-US" altLang="ko-KR" sz="1100"/>
              <a:t>..</a:t>
            </a:r>
          </a:p>
          <a:p>
            <a:endParaRPr lang="en-US" altLang="ko-KR" sz="1100"/>
          </a:p>
          <a:p>
            <a:r>
              <a:rPr lang="ko-KR" altLang="en-US" sz="1100"/>
              <a:t>존을 이동했을때 유지되어야할 데이터는 놔두고</a:t>
            </a:r>
            <a:r>
              <a:rPr lang="en-US" altLang="ko-KR" sz="1100"/>
              <a:t>, </a:t>
            </a:r>
            <a:r>
              <a:rPr lang="ko-KR" altLang="en-US" sz="1100"/>
              <a:t>업데이트할 데이터만 골라서 업데이트 할 수 있게 했다</a:t>
            </a:r>
            <a:r>
              <a:rPr lang="en-US" altLang="ko-KR" sz="110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F21E8E-8F99-7368-071F-BF0E369E0D62}"/>
              </a:ext>
            </a:extLst>
          </p:cNvPr>
          <p:cNvSpPr txBox="1"/>
          <p:nvPr/>
        </p:nvSpPr>
        <p:spPr>
          <a:xfrm>
            <a:off x="673100" y="1660672"/>
            <a:ext cx="5201228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3. </a:t>
            </a:r>
            <a:r>
              <a:rPr lang="ko-KR" altLang="en-US" b="1"/>
              <a:t>스킨메쉬 버택스 모디파이 셰이더</a:t>
            </a:r>
            <a:r>
              <a:rPr lang="en-US" altLang="ko-KR" b="1"/>
              <a:t>/BLAS</a:t>
            </a:r>
            <a:r>
              <a:rPr lang="ko-KR" altLang="en-US" b="1"/>
              <a:t> </a:t>
            </a:r>
            <a:r>
              <a:rPr lang="en-US" altLang="ko-KR" b="1"/>
              <a:t>Refit</a:t>
            </a:r>
          </a:p>
          <a:p>
            <a:r>
              <a:rPr lang="ko-KR" altLang="en-US" sz="1100"/>
              <a:t>레이트레이싱에서는 </a:t>
            </a:r>
            <a:r>
              <a:rPr lang="en-US" altLang="ko-KR" sz="1100"/>
              <a:t>Ray</a:t>
            </a:r>
            <a:r>
              <a:rPr lang="ko-KR" altLang="en-US" sz="1100"/>
              <a:t>의</a:t>
            </a:r>
            <a:r>
              <a:rPr lang="en-US" altLang="ko-KR" sz="1100"/>
              <a:t> </a:t>
            </a:r>
            <a:r>
              <a:rPr lang="ko-KR" altLang="en-US" sz="1100"/>
              <a:t>충돌여부를 </a:t>
            </a:r>
            <a:r>
              <a:rPr lang="en-US" altLang="ko-KR" sz="1100"/>
              <a:t>BLAS</a:t>
            </a:r>
            <a:r>
              <a:rPr lang="ko-KR" altLang="en-US" sz="1100"/>
              <a:t>가 관여하기 때문에</a:t>
            </a:r>
            <a:r>
              <a:rPr lang="en-US" altLang="ko-KR" sz="1100"/>
              <a:t>., </a:t>
            </a:r>
            <a:r>
              <a:rPr lang="ko-KR" altLang="en-US" sz="1100"/>
              <a:t>스킨메쉬는 계속 </a:t>
            </a:r>
            <a:r>
              <a:rPr lang="en-US" altLang="ko-KR" sz="1100"/>
              <a:t>BLAS</a:t>
            </a:r>
            <a:r>
              <a:rPr lang="ko-KR" altLang="en-US" sz="1100"/>
              <a:t>를 수정해야 했다</a:t>
            </a:r>
            <a:r>
              <a:rPr lang="en-US" altLang="ko-KR" sz="1100"/>
              <a:t>.</a:t>
            </a:r>
            <a:r>
              <a:rPr lang="ko-KR" altLang="en-US" sz="1100"/>
              <a:t> 스킨메쉬를 가진 오브젝트마다 실시간으로 변경될 버택스의 데이터가 필요했고</a:t>
            </a:r>
            <a:r>
              <a:rPr lang="en-US" altLang="ko-KR" sz="1100"/>
              <a:t>, </a:t>
            </a:r>
            <a:r>
              <a:rPr lang="ko-KR" altLang="en-US" sz="1100"/>
              <a:t>때문에 스킨메쉬를 가진 오브젝트 하나당 스킨메쉬버택스들을 따로 저장해야 했다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때문에 </a:t>
            </a:r>
            <a:r>
              <a:rPr lang="en-US" altLang="ko-KR" sz="1100"/>
              <a:t>UAV_VertexBuffer</a:t>
            </a:r>
            <a:r>
              <a:rPr lang="ko-KR" altLang="en-US" sz="1100"/>
              <a:t>에 그런 스킨메쉬의 버택스들을 모두 저장 후</a:t>
            </a:r>
            <a:endParaRPr lang="en-US" altLang="ko-KR" sz="1100"/>
          </a:p>
          <a:p>
            <a:r>
              <a:rPr lang="ko-KR" altLang="en-US" sz="1100"/>
              <a:t>스킨메쉬 모디파이 셰이더를 사용해 버택스 데이터를 수정하고</a:t>
            </a:r>
            <a:r>
              <a:rPr lang="en-US" altLang="ko-KR" sz="1100"/>
              <a:t>,</a:t>
            </a:r>
          </a:p>
          <a:p>
            <a:r>
              <a:rPr lang="ko-KR" altLang="en-US" sz="1100"/>
              <a:t>수정된 버택스 데이터를 이용해 </a:t>
            </a:r>
            <a:r>
              <a:rPr lang="en-US" altLang="ko-KR" sz="1100"/>
              <a:t>BLAS</a:t>
            </a:r>
            <a:r>
              <a:rPr lang="ko-KR" altLang="en-US" sz="1100"/>
              <a:t>를 </a:t>
            </a:r>
            <a:r>
              <a:rPr lang="en-US" altLang="ko-KR" sz="1100"/>
              <a:t>Refit </a:t>
            </a:r>
            <a:r>
              <a:rPr lang="ko-KR" altLang="en-US" sz="1100"/>
              <a:t>했다</a:t>
            </a:r>
            <a:r>
              <a:rPr lang="en-US" altLang="ko-KR" sz="11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379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F75CE-D798-7458-8E47-22B2E8779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51044-ED24-B8C4-712D-8A56E6497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그 외의 기여</a:t>
            </a:r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144E6-A12A-1DA1-3D5F-1411024E1FB8}"/>
              </a:ext>
            </a:extLst>
          </p:cNvPr>
          <p:cNvSpPr txBox="1"/>
          <p:nvPr/>
        </p:nvSpPr>
        <p:spPr>
          <a:xfrm>
            <a:off x="294716" y="1690688"/>
            <a:ext cx="1202765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1.</a:t>
            </a:r>
            <a:r>
              <a:rPr lang="ko-KR" altLang="en-US"/>
              <a:t> 필드의 모든 </a:t>
            </a:r>
            <a:r>
              <a:rPr lang="en-US" altLang="ko-KR"/>
              <a:t>Zone</a:t>
            </a:r>
            <a:r>
              <a:rPr lang="ko-KR" altLang="en-US"/>
              <a:t> 맵을 제작</a:t>
            </a:r>
            <a:r>
              <a:rPr lang="en-US" altLang="ko-KR"/>
              <a:t>, </a:t>
            </a:r>
            <a:r>
              <a:rPr lang="ko-KR" altLang="en-US"/>
              <a:t>비주얼적으로 자연스럽게 연결함</a:t>
            </a:r>
            <a:endParaRPr lang="en-US" altLang="ko-KR"/>
          </a:p>
          <a:p>
            <a:r>
              <a:rPr lang="en-US" altLang="ko-KR"/>
              <a:t>2. </a:t>
            </a:r>
            <a:r>
              <a:rPr lang="ko-KR" altLang="en-US"/>
              <a:t>퀘스트 시스템과 퀘스트 데이터</a:t>
            </a:r>
            <a:r>
              <a:rPr lang="en-US" altLang="ko-KR"/>
              <a:t>,</a:t>
            </a:r>
            <a:r>
              <a:rPr lang="ko-KR" altLang="en-US"/>
              <a:t> 게임의 흐름을 구현</a:t>
            </a:r>
            <a:r>
              <a:rPr lang="en-US" altLang="ko-KR"/>
              <a:t>.</a:t>
            </a:r>
          </a:p>
          <a:p>
            <a:r>
              <a:rPr lang="en-US" altLang="ko-KR"/>
              <a:t>3. </a:t>
            </a:r>
            <a:r>
              <a:rPr lang="ko-KR" altLang="en-US"/>
              <a:t>프로젝트가 추가적인 요구사항으로 변할 때마다 합치거나 프로젝트 설계 자체를 다시 짜는 일을 모두</a:t>
            </a:r>
            <a:r>
              <a:rPr lang="en-US" altLang="ko-KR"/>
              <a:t>, </a:t>
            </a:r>
            <a:r>
              <a:rPr lang="ko-KR" altLang="en-US"/>
              <a:t>다수 수행</a:t>
            </a:r>
            <a:endParaRPr lang="en-US" altLang="ko-KR"/>
          </a:p>
          <a:p>
            <a:r>
              <a:rPr lang="en-US" altLang="ko-KR"/>
              <a:t>4. NPC</a:t>
            </a:r>
            <a:r>
              <a:rPr lang="ko-KR" altLang="en-US"/>
              <a:t>의 움직임을 만들었다</a:t>
            </a:r>
            <a:r>
              <a:rPr lang="en-US" altLang="ko-KR"/>
              <a:t>. NPC</a:t>
            </a:r>
            <a:r>
              <a:rPr lang="ko-KR" altLang="en-US"/>
              <a:t>가 플레이어를 따라갈 수 있도록</a:t>
            </a:r>
            <a:endParaRPr lang="en-US" altLang="ko-KR"/>
          </a:p>
          <a:p>
            <a:r>
              <a:rPr lang="en-US" altLang="ko-KR"/>
              <a:t>	</a:t>
            </a:r>
            <a:r>
              <a:rPr lang="ko-KR" altLang="en-US" sz="1100"/>
              <a:t>원래 </a:t>
            </a:r>
            <a:r>
              <a:rPr lang="en-US" altLang="ko-KR" sz="1100"/>
              <a:t>A*</a:t>
            </a:r>
            <a:r>
              <a:rPr lang="ko-KR" altLang="en-US" sz="1100"/>
              <a:t>로 다른 팀원이 만든 것이 있었는데</a:t>
            </a:r>
            <a:r>
              <a:rPr lang="en-US" altLang="ko-KR" sz="1100"/>
              <a:t>, </a:t>
            </a:r>
            <a:r>
              <a:rPr lang="ko-KR" altLang="en-US" sz="1100"/>
              <a:t>너무 느려서 일단 비활성화하고</a:t>
            </a:r>
            <a:r>
              <a:rPr lang="en-US" altLang="ko-KR" sz="1100"/>
              <a:t>, </a:t>
            </a:r>
            <a:r>
              <a:rPr lang="ko-KR" altLang="en-US" sz="1100"/>
              <a:t>새로 만들었다</a:t>
            </a:r>
            <a:r>
              <a:rPr lang="en-US" altLang="ko-KR" sz="1100"/>
              <a:t>.</a:t>
            </a:r>
          </a:p>
          <a:p>
            <a:r>
              <a:rPr lang="en-US" altLang="ko-KR"/>
              <a:t>5. </a:t>
            </a:r>
            <a:r>
              <a:rPr lang="ko-KR" altLang="en-US"/>
              <a:t>소통이나 정리를 위해 다수의 문서화를 진행했다</a:t>
            </a:r>
            <a:r>
              <a:rPr lang="en-US" altLang="ko-KR"/>
              <a:t>.</a:t>
            </a:r>
          </a:p>
          <a:p>
            <a:r>
              <a:rPr lang="en-US" altLang="ko-KR"/>
              <a:t>	 </a:t>
            </a:r>
            <a:r>
              <a:rPr lang="en-US" altLang="ko-KR" sz="1100"/>
              <a:t>ex&gt; </a:t>
            </a:r>
            <a:r>
              <a:rPr lang="ko-KR" altLang="en-US" sz="1100"/>
              <a:t>우리 코드는 왜 더러운가</a:t>
            </a:r>
            <a:r>
              <a:rPr lang="en-US" altLang="ko-KR" sz="1100"/>
              <a:t>, </a:t>
            </a:r>
            <a:r>
              <a:rPr lang="ko-KR" altLang="en-US" sz="1100"/>
              <a:t>그래픽스 하이레벨 디자인</a:t>
            </a:r>
            <a:r>
              <a:rPr lang="en-US" altLang="ko-KR" sz="1100"/>
              <a:t>, </a:t>
            </a:r>
            <a:r>
              <a:rPr lang="ko-KR" altLang="en-US" sz="1100"/>
              <a:t>맵 제작 가이드라인</a:t>
            </a:r>
            <a:r>
              <a:rPr lang="en-US" altLang="ko-KR" sz="1100"/>
              <a:t>, </a:t>
            </a:r>
            <a:r>
              <a:rPr lang="ko-KR" altLang="en-US" sz="1100"/>
              <a:t>모델 익스포트 가이드라인</a:t>
            </a:r>
            <a:r>
              <a:rPr lang="en-US" altLang="ko-KR" sz="1100"/>
              <a:t> </a:t>
            </a:r>
            <a:r>
              <a:rPr lang="ko-KR" altLang="en-US" sz="1100"/>
              <a:t>등등</a:t>
            </a:r>
            <a:r>
              <a:rPr lang="en-US" altLang="ko-KR" sz="1100"/>
              <a:t>..</a:t>
            </a:r>
          </a:p>
          <a:p>
            <a:r>
              <a:rPr lang="en-US" altLang="ko-KR"/>
              <a:t>6. FLStudio</a:t>
            </a:r>
            <a:r>
              <a:rPr lang="ko-KR" altLang="en-US"/>
              <a:t>로 배경음악을 손수 제작했다</a:t>
            </a:r>
            <a:r>
              <a:rPr lang="en-US" altLang="ko-KR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74D19-4270-7D36-E003-28DD74EDC34F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</p:spTree>
    <p:extLst>
      <p:ext uri="{BB962C8B-B14F-4D97-AF65-F5344CB8AC3E}">
        <p14:creationId xmlns:p14="http://schemas.microsoft.com/office/powerpoint/2010/main" val="2082735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276BF5-B1B2-1114-60AF-B1BA8F8CE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739" y="3648075"/>
            <a:ext cx="2701683" cy="56896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D1B0F55-EA74-3EB4-6F50-89C0E12FB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751" y="0"/>
            <a:ext cx="3472249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9A6FFFB-040D-93D9-6511-7478DAFD6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0739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BA2373C-C7AB-17E9-D7CC-969D23F52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- </a:t>
            </a:r>
            <a:r>
              <a:rPr lang="ko-KR" altLang="en-US"/>
              <a:t>서버의 충돌계산 고민 메모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57B3D8-03D3-231A-6992-ACB9AD50C7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037" y="1330325"/>
            <a:ext cx="5339435" cy="232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5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C16FF-AEF8-4CC1-51C1-6BE0C81A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- </a:t>
            </a:r>
            <a:r>
              <a:rPr lang="ko-KR" altLang="en-US"/>
              <a:t>청크에 들어가기 위한 게임오브젝트 구조 설계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879EDB-D2CA-BA8A-7D0E-F21A1C611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649270"/>
            <a:ext cx="9264650" cy="520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98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77BA8-6B4F-BC41-FF55-E4A289C02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98C62D-6021-DD66-6B3D-2B3FBA7B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Otornait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46D92-FF06-E94E-318F-6224430A15F5}"/>
              </a:ext>
            </a:extLst>
          </p:cNvPr>
          <p:cNvSpPr txBox="1"/>
          <p:nvPr/>
        </p:nvSpPr>
        <p:spPr>
          <a:xfrm>
            <a:off x="838200" y="1353804"/>
            <a:ext cx="77851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프로젝트 이름 </a:t>
            </a:r>
            <a:r>
              <a:rPr lang="en-US" altLang="ko-KR" sz="1600"/>
              <a:t>: Otornait</a:t>
            </a:r>
          </a:p>
          <a:p>
            <a:r>
              <a:rPr lang="ko-KR" altLang="en-US" sz="1600"/>
              <a:t>장르 </a:t>
            </a:r>
            <a:r>
              <a:rPr lang="en-US" altLang="ko-KR" sz="1600"/>
              <a:t>: </a:t>
            </a:r>
            <a:r>
              <a:rPr lang="ko-KR" altLang="en-US" sz="1600"/>
              <a:t>리듬게임</a:t>
            </a:r>
            <a:endParaRPr lang="en-US" altLang="ko-KR" sz="1600"/>
          </a:p>
          <a:p>
            <a:r>
              <a:rPr lang="ko-KR" altLang="en-US" sz="1600"/>
              <a:t>개발인원 </a:t>
            </a:r>
            <a:r>
              <a:rPr lang="en-US" altLang="ko-KR" sz="1600"/>
              <a:t>: 2</a:t>
            </a:r>
            <a:r>
              <a:rPr lang="ko-KR" altLang="en-US" sz="1600"/>
              <a:t>명 </a:t>
            </a:r>
            <a:r>
              <a:rPr lang="en-US" altLang="ko-KR" sz="1600"/>
              <a:t>/ </a:t>
            </a:r>
            <a:r>
              <a:rPr lang="ko-KR" altLang="en-US" sz="1600"/>
              <a:t>개발 기간 </a:t>
            </a:r>
            <a:r>
              <a:rPr lang="en-US" altLang="ko-KR" sz="1600"/>
              <a:t>(2022-06 ~ 2026-07)</a:t>
            </a:r>
          </a:p>
          <a:p>
            <a:r>
              <a:rPr lang="ko-KR" altLang="en-US" sz="1600"/>
              <a:t>개발 환경 </a:t>
            </a:r>
            <a:r>
              <a:rPr lang="en-US" altLang="ko-KR" sz="1600"/>
              <a:t>: </a:t>
            </a:r>
          </a:p>
          <a:p>
            <a:r>
              <a:rPr lang="en-US" altLang="ko-KR" sz="1600"/>
              <a:t>	IDE/Debugger : VisualStudio2022</a:t>
            </a:r>
          </a:p>
          <a:p>
            <a:r>
              <a:rPr lang="en-US" altLang="ko-KR" sz="1600"/>
              <a:t>	Language : c++</a:t>
            </a:r>
          </a:p>
          <a:p>
            <a:r>
              <a:rPr lang="en-US" altLang="ko-KR" sz="1600"/>
              <a:t>	System API / Rendering : Windows API</a:t>
            </a:r>
          </a:p>
          <a:p>
            <a:r>
              <a:rPr lang="en-US" altLang="ko-KR" sz="1600"/>
              <a:t>	Sound : Fmod</a:t>
            </a:r>
          </a:p>
          <a:p>
            <a:r>
              <a:rPr lang="en-US" altLang="ko-KR" sz="1600"/>
              <a:t>	</a:t>
            </a:r>
          </a:p>
          <a:p>
            <a:r>
              <a:rPr lang="ko-KR" altLang="en-US" sz="1600"/>
              <a:t>내가 당담한 역할 </a:t>
            </a:r>
            <a:r>
              <a:rPr lang="en-US" altLang="ko-KR" sz="1600"/>
              <a:t>/ </a:t>
            </a:r>
            <a:r>
              <a:rPr lang="ko-KR" altLang="en-US" sz="1600"/>
              <a:t>수행한 과제 요약</a:t>
            </a:r>
            <a:endParaRPr lang="en-US" altLang="ko-KR" sz="1600"/>
          </a:p>
          <a:p>
            <a:r>
              <a:rPr lang="en-US" altLang="ko-KR" sz="1600"/>
              <a:t>	1. </a:t>
            </a:r>
            <a:r>
              <a:rPr lang="ko-KR" altLang="en-US" sz="1600"/>
              <a:t>게임 전체 프로그래밍 당담</a:t>
            </a:r>
            <a:r>
              <a:rPr lang="en-US" altLang="ko-KR" sz="1600"/>
              <a:t>.</a:t>
            </a:r>
          </a:p>
          <a:p>
            <a:r>
              <a:rPr lang="en-US" altLang="ko-KR" sz="1600"/>
              <a:t>	2. </a:t>
            </a:r>
            <a:r>
              <a:rPr lang="ko-KR" altLang="en-US" sz="1600"/>
              <a:t>게임플레이 화면</a:t>
            </a:r>
            <a:r>
              <a:rPr lang="en-US" altLang="ko-KR" sz="1600"/>
              <a:t>, </a:t>
            </a:r>
            <a:r>
              <a:rPr lang="ko-KR" altLang="en-US" sz="1600"/>
              <a:t>타이틀화면</a:t>
            </a:r>
            <a:r>
              <a:rPr lang="en-US" altLang="ko-KR" sz="1600"/>
              <a:t>, </a:t>
            </a:r>
            <a:r>
              <a:rPr lang="ko-KR" altLang="en-US" sz="1600"/>
              <a:t>평가화면</a:t>
            </a:r>
            <a:r>
              <a:rPr lang="en-US" altLang="ko-KR" sz="1600"/>
              <a:t>, </a:t>
            </a:r>
            <a:r>
              <a:rPr lang="ko-KR" altLang="en-US" sz="1600"/>
              <a:t>크레딧</a:t>
            </a:r>
            <a:r>
              <a:rPr lang="en-US" altLang="ko-KR" sz="1600"/>
              <a:t>, </a:t>
            </a:r>
            <a:r>
              <a:rPr lang="ko-KR" altLang="en-US" sz="1600"/>
              <a:t>레벨 에디터 등등</a:t>
            </a:r>
            <a:endParaRPr lang="en-US" altLang="ko-KR" sz="1600"/>
          </a:p>
          <a:p>
            <a:r>
              <a:rPr lang="en-US" altLang="ko-KR" sz="1600"/>
              <a:t>	3. </a:t>
            </a:r>
            <a:r>
              <a:rPr lang="ko-KR" altLang="en-US" sz="1600"/>
              <a:t>리듬게임에 들어갈 곡 </a:t>
            </a:r>
            <a:r>
              <a:rPr lang="en-US" altLang="ko-KR" sz="1600"/>
              <a:t>2</a:t>
            </a:r>
            <a:r>
              <a:rPr lang="ko-KR" altLang="en-US" sz="1600"/>
              <a:t>개 제작</a:t>
            </a:r>
            <a:r>
              <a:rPr lang="en-US" altLang="ko-KR" sz="1600"/>
              <a:t>, </a:t>
            </a:r>
            <a:r>
              <a:rPr lang="ko-KR" altLang="en-US" sz="1600"/>
              <a:t>레벨 </a:t>
            </a:r>
            <a:r>
              <a:rPr lang="en-US" altLang="ko-KR" sz="1600"/>
              <a:t>2</a:t>
            </a:r>
            <a:r>
              <a:rPr lang="ko-KR" altLang="en-US" sz="1600"/>
              <a:t>개 제작</a:t>
            </a:r>
            <a:endParaRPr lang="en-US" altLang="ko-KR" sz="1600"/>
          </a:p>
          <a:p>
            <a:endParaRPr lang="en-US" altLang="ko-KR" sz="1600"/>
          </a:p>
          <a:p>
            <a:endParaRPr lang="en-US" altLang="ko-KR" sz="1600"/>
          </a:p>
          <a:p>
            <a:r>
              <a:rPr lang="ko-KR" altLang="en-US" sz="1600"/>
              <a:t>게임 플레이 영상</a:t>
            </a:r>
            <a:endParaRPr lang="en-US" altLang="ko-KR" sz="16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29AC70-6228-0399-AD96-426DCC193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072" y="1"/>
            <a:ext cx="5382927" cy="36483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9F19A4-4E45-F15C-1BB9-04D112D1BF10}"/>
              </a:ext>
            </a:extLst>
          </p:cNvPr>
          <p:cNvSpPr txBox="1"/>
          <p:nvPr/>
        </p:nvSpPr>
        <p:spPr>
          <a:xfrm>
            <a:off x="844550" y="538567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hlinkClick r:id="rId3"/>
              </a:rPr>
              <a:t>https://www.youtube.com/playlist?list=PLjFfL6iibssVuoxZ-uO_7KU551bWSrDeT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465846-DCB7-1A63-C3FB-6DE4387E44B2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개발영역</a:t>
            </a:r>
            <a:endParaRPr lang="en-US" altLang="ko-KR" b="1"/>
          </a:p>
        </p:txBody>
      </p:sp>
    </p:spTree>
    <p:extLst>
      <p:ext uri="{BB962C8B-B14F-4D97-AF65-F5344CB8AC3E}">
        <p14:creationId xmlns:p14="http://schemas.microsoft.com/office/powerpoint/2010/main" val="2195908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17027-7C6A-DE05-6104-CB07B2E4A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4CA5B2-9B2C-42C8-09B9-E4E62AD67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그래픽스 기말과제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D5907-F1CE-D9C8-D8CA-15E0C6395DEF}"/>
              </a:ext>
            </a:extLst>
          </p:cNvPr>
          <p:cNvSpPr txBox="1"/>
          <p:nvPr/>
        </p:nvSpPr>
        <p:spPr>
          <a:xfrm>
            <a:off x="838200" y="1353804"/>
            <a:ext cx="77851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프로젝트 이름 </a:t>
            </a:r>
            <a:r>
              <a:rPr lang="en-US" altLang="ko-KR" sz="1600"/>
              <a:t>: </a:t>
            </a:r>
            <a:r>
              <a:rPr lang="ko-KR" altLang="en-US" sz="1600"/>
              <a:t>그래픽스 기말과제</a:t>
            </a:r>
            <a:endParaRPr lang="en-US" altLang="ko-KR" sz="1600"/>
          </a:p>
          <a:p>
            <a:r>
              <a:rPr lang="ko-KR" altLang="en-US" sz="1600"/>
              <a:t>장르 </a:t>
            </a:r>
            <a:r>
              <a:rPr lang="en-US" altLang="ko-KR" sz="1600"/>
              <a:t>: </a:t>
            </a:r>
            <a:r>
              <a:rPr lang="ko-KR" altLang="en-US" sz="1600"/>
              <a:t>어드벤쳐</a:t>
            </a:r>
            <a:endParaRPr lang="en-US" altLang="ko-KR" sz="1600"/>
          </a:p>
          <a:p>
            <a:r>
              <a:rPr lang="ko-KR" altLang="en-US" sz="1600"/>
              <a:t>개발인원 </a:t>
            </a:r>
            <a:r>
              <a:rPr lang="en-US" altLang="ko-KR" sz="1600"/>
              <a:t>: 1</a:t>
            </a:r>
            <a:r>
              <a:rPr lang="ko-KR" altLang="en-US" sz="1600"/>
              <a:t>명 </a:t>
            </a:r>
            <a:r>
              <a:rPr lang="en-US" altLang="ko-KR" sz="1600"/>
              <a:t>/ </a:t>
            </a:r>
            <a:r>
              <a:rPr lang="ko-KR" altLang="en-US" sz="1600"/>
              <a:t>개발 기간 </a:t>
            </a:r>
            <a:r>
              <a:rPr lang="en-US" altLang="ko-KR" sz="1600"/>
              <a:t>(2022-11 ~ 2026-12)</a:t>
            </a:r>
          </a:p>
          <a:p>
            <a:r>
              <a:rPr lang="ko-KR" altLang="en-US" sz="1600"/>
              <a:t>개발 환경 </a:t>
            </a:r>
            <a:r>
              <a:rPr lang="en-US" altLang="ko-KR" sz="1600"/>
              <a:t>: </a:t>
            </a:r>
          </a:p>
          <a:p>
            <a:r>
              <a:rPr lang="en-US" altLang="ko-KR" sz="1600"/>
              <a:t>	IDE/Debugger : VisualStudio2022</a:t>
            </a:r>
          </a:p>
          <a:p>
            <a:r>
              <a:rPr lang="en-US" altLang="ko-KR" sz="1600"/>
              <a:t>	Render : OpenGL, glsl</a:t>
            </a:r>
          </a:p>
          <a:p>
            <a:r>
              <a:rPr lang="en-US" altLang="ko-KR" sz="1600"/>
              <a:t>	Language : c++ 14</a:t>
            </a:r>
          </a:p>
          <a:p>
            <a:r>
              <a:rPr lang="en-US" altLang="ko-KR" sz="1600"/>
              <a:t>	System API : Windows API</a:t>
            </a:r>
          </a:p>
          <a:p>
            <a:r>
              <a:rPr lang="en-US" altLang="ko-KR" sz="1600"/>
              <a:t>	Sound : Fmod</a:t>
            </a:r>
          </a:p>
          <a:p>
            <a:r>
              <a:rPr lang="en-US" altLang="ko-KR" sz="1600"/>
              <a:t>	Resource Making</a:t>
            </a:r>
            <a:r>
              <a:rPr lang="ko-KR" altLang="en-US" sz="1600"/>
              <a:t> </a:t>
            </a:r>
            <a:r>
              <a:rPr lang="en-US" altLang="ko-KR" sz="1600"/>
              <a:t>: FL Studio, 3dsMax</a:t>
            </a:r>
          </a:p>
          <a:p>
            <a:r>
              <a:rPr lang="en-US" altLang="ko-KR" sz="1600"/>
              <a:t>	Resource Finding : Sketchfab, IconFinder</a:t>
            </a:r>
          </a:p>
          <a:p>
            <a:r>
              <a:rPr lang="en-US" altLang="ko-KR" sz="1600"/>
              <a:t>	Text Render : Freetype</a:t>
            </a:r>
          </a:p>
          <a:p>
            <a:endParaRPr lang="en-US" altLang="ko-KR" sz="1600"/>
          </a:p>
          <a:p>
            <a:r>
              <a:rPr lang="ko-KR" altLang="en-US" sz="1600"/>
              <a:t>본인이 과제를 모두 수행함</a:t>
            </a:r>
            <a:r>
              <a:rPr lang="en-US" altLang="ko-KR" sz="1600"/>
              <a:t>.</a:t>
            </a:r>
          </a:p>
          <a:p>
            <a:endParaRPr lang="en-US" altLang="ko-KR" sz="1600"/>
          </a:p>
          <a:p>
            <a:r>
              <a:rPr lang="ko-KR" altLang="en-US" sz="1600"/>
              <a:t>과제 설명 영상</a:t>
            </a:r>
            <a:endParaRPr lang="en-US" altLang="ko-KR" sz="16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8EABDB1-65E6-10EB-AAAB-A3AC04DA6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436" y="0"/>
            <a:ext cx="5375564" cy="37065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67953C-1986-B732-760A-B0DA418EFE30}"/>
              </a:ext>
            </a:extLst>
          </p:cNvPr>
          <p:cNvSpPr txBox="1"/>
          <p:nvPr/>
        </p:nvSpPr>
        <p:spPr>
          <a:xfrm>
            <a:off x="838200" y="53195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hlinkClick r:id="rId3"/>
              </a:rPr>
              <a:t>https://youtu.be/XZY9EVAGHlk?si=QXp5YU6lOEM0dtPO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3BD6C-81B8-4C29-6CB6-F6D11F4BB686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개발영역</a:t>
            </a:r>
            <a:endParaRPr lang="en-US" altLang="ko-KR" b="1"/>
          </a:p>
        </p:txBody>
      </p:sp>
    </p:spTree>
    <p:extLst>
      <p:ext uri="{BB962C8B-B14F-4D97-AF65-F5344CB8AC3E}">
        <p14:creationId xmlns:p14="http://schemas.microsoft.com/office/powerpoint/2010/main" val="3816443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863EC-B8A3-3D5F-698E-7F68F702F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38E97D-8843-19A6-B2EA-DABBEAD18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446164" cy="1325563"/>
          </a:xfrm>
        </p:spPr>
        <p:txBody>
          <a:bodyPr/>
          <a:lstStyle/>
          <a:p>
            <a:r>
              <a:rPr lang="en-US" altLang="ko-KR"/>
              <a:t>GMTK GameJam </a:t>
            </a:r>
            <a:r>
              <a:rPr lang="ko-KR" altLang="en-US"/>
              <a:t>참여작 </a:t>
            </a:r>
            <a:r>
              <a:rPr lang="en-US" altLang="ko-KR"/>
              <a:t>- InverseProportion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C83EE-DE1B-8713-719D-2D02ED318115}"/>
              </a:ext>
            </a:extLst>
          </p:cNvPr>
          <p:cNvSpPr txBox="1"/>
          <p:nvPr/>
        </p:nvSpPr>
        <p:spPr>
          <a:xfrm>
            <a:off x="838199" y="1353804"/>
            <a:ext cx="1000529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프로젝트 이름 </a:t>
            </a:r>
            <a:r>
              <a:rPr lang="en-US" altLang="ko-KR" sz="1600"/>
              <a:t>: InverseProportion</a:t>
            </a:r>
          </a:p>
          <a:p>
            <a:r>
              <a:rPr lang="ko-KR" altLang="en-US" sz="1600"/>
              <a:t>장르 </a:t>
            </a:r>
            <a:r>
              <a:rPr lang="en-US" altLang="ko-KR" sz="1600"/>
              <a:t>: </a:t>
            </a:r>
            <a:r>
              <a:rPr lang="ko-KR" altLang="en-US" sz="1600"/>
              <a:t>플랫포머</a:t>
            </a:r>
            <a:endParaRPr lang="en-US" altLang="ko-KR" sz="1600"/>
          </a:p>
          <a:p>
            <a:r>
              <a:rPr lang="ko-KR" altLang="en-US" sz="1600"/>
              <a:t>개발인원 </a:t>
            </a:r>
            <a:r>
              <a:rPr lang="en-US" altLang="ko-KR" sz="1600"/>
              <a:t>: 1</a:t>
            </a:r>
            <a:r>
              <a:rPr lang="ko-KR" altLang="en-US" sz="1600"/>
              <a:t>명 </a:t>
            </a:r>
            <a:r>
              <a:rPr lang="en-US" altLang="ko-KR" sz="1600"/>
              <a:t>/ </a:t>
            </a:r>
            <a:r>
              <a:rPr lang="ko-KR" altLang="en-US" sz="1600"/>
              <a:t>개발 기간 </a:t>
            </a:r>
            <a:r>
              <a:rPr lang="en-US" altLang="ko-KR" sz="1600"/>
              <a:t>(2</a:t>
            </a:r>
            <a:r>
              <a:rPr lang="ko-KR" altLang="en-US" sz="1600"/>
              <a:t>일</a:t>
            </a:r>
            <a:r>
              <a:rPr lang="en-US" altLang="ko-KR" sz="1600"/>
              <a:t>)</a:t>
            </a:r>
          </a:p>
          <a:p>
            <a:r>
              <a:rPr lang="ko-KR" altLang="en-US" sz="1600"/>
              <a:t>개발 환경 </a:t>
            </a:r>
            <a:r>
              <a:rPr lang="en-US" altLang="ko-KR" sz="1600"/>
              <a:t>: </a:t>
            </a:r>
          </a:p>
          <a:p>
            <a:r>
              <a:rPr lang="en-US" altLang="ko-KR" sz="1600"/>
              <a:t>	IDE/Debugger : Unity, VisualStudio2019</a:t>
            </a:r>
          </a:p>
          <a:p>
            <a:r>
              <a:rPr lang="ko-KR" altLang="en-US" sz="1600"/>
              <a:t>본인이 과제를 모두 수행함</a:t>
            </a:r>
            <a:r>
              <a:rPr lang="en-US" altLang="ko-KR" sz="1600"/>
              <a:t>.</a:t>
            </a:r>
          </a:p>
          <a:p>
            <a:endParaRPr lang="en-US" altLang="ko-KR" sz="1600"/>
          </a:p>
          <a:p>
            <a:r>
              <a:rPr lang="ko-KR" altLang="en-US" sz="1600"/>
              <a:t>게임 잼의 주제 </a:t>
            </a:r>
            <a:r>
              <a:rPr lang="en-US" altLang="ko-KR" sz="1600"/>
              <a:t>: "Join Together" - </a:t>
            </a:r>
            <a:r>
              <a:rPr lang="ko-KR" altLang="en-US" sz="1600"/>
              <a:t>각기 다른 두가지 것이 연결되어 만들어지는 재미</a:t>
            </a:r>
            <a:endParaRPr lang="en-US" altLang="ko-KR" sz="1600"/>
          </a:p>
          <a:p>
            <a:r>
              <a:rPr lang="en-US" altLang="ko-KR" sz="1600"/>
              <a:t>&gt;&gt; </a:t>
            </a:r>
            <a:r>
              <a:rPr lang="ko-KR" altLang="en-US" sz="1600"/>
              <a:t>나의 기획 </a:t>
            </a:r>
            <a:r>
              <a:rPr lang="en-US" altLang="ko-KR" sz="1600"/>
              <a:t>: </a:t>
            </a:r>
            <a:r>
              <a:rPr lang="ko-KR" altLang="en-US" sz="1600"/>
              <a:t>어떤 능력치의 반비례 관계를 활용한 플랫포머 게임</a:t>
            </a:r>
            <a:r>
              <a:rPr lang="en-US" altLang="ko-KR" sz="1600"/>
              <a:t>.</a:t>
            </a:r>
          </a:p>
          <a:p>
            <a:r>
              <a:rPr lang="en-US" altLang="ko-KR" sz="1600"/>
              <a:t>	ex&gt; </a:t>
            </a:r>
            <a:r>
              <a:rPr lang="ko-KR" altLang="en-US" sz="1600"/>
              <a:t>채력이 떨어지면 점프력이 올라간다</a:t>
            </a:r>
            <a:r>
              <a:rPr lang="en-US" altLang="ko-KR" sz="1600"/>
              <a:t>! -&gt; </a:t>
            </a:r>
            <a:r>
              <a:rPr lang="ko-KR" altLang="en-US" sz="1600"/>
              <a:t>닿지 않는 곳에 가기 위해 일부로 가시에 돌진</a:t>
            </a:r>
            <a:endParaRPr lang="en-US" altLang="ko-KR" sz="1600"/>
          </a:p>
          <a:p>
            <a:endParaRPr lang="en-US" altLang="ko-KR" sz="1600"/>
          </a:p>
          <a:p>
            <a:r>
              <a:rPr lang="ko-KR" altLang="en-US" sz="1600"/>
              <a:t>게임 플레이 </a:t>
            </a:r>
            <a:r>
              <a:rPr lang="en-US" altLang="ko-KR" sz="1600"/>
              <a:t>: </a:t>
            </a:r>
            <a:r>
              <a:rPr lang="en-US" altLang="ko-KR" sz="1600">
                <a:hlinkClick r:id="rId2"/>
              </a:rPr>
              <a:t>https://nohc2001.itch.io/inverseproportion</a:t>
            </a:r>
            <a:endParaRPr lang="en-US" altLang="ko-KR" sz="1600"/>
          </a:p>
          <a:p>
            <a:r>
              <a:rPr lang="en-US" altLang="ko-KR" sz="1600"/>
              <a:t>&lt;</a:t>
            </a:r>
            <a:r>
              <a:rPr lang="ko-KR" altLang="en-US" sz="1600"/>
              <a:t>웹에서 플레이하면 오류가 있습니다</a:t>
            </a:r>
            <a:r>
              <a:rPr lang="en-US" altLang="ko-KR" sz="1600"/>
              <a:t>! exe</a:t>
            </a:r>
            <a:r>
              <a:rPr lang="ko-KR" altLang="en-US" sz="1600"/>
              <a:t>로 다운받아 플레이를 해주세요</a:t>
            </a:r>
            <a:r>
              <a:rPr lang="en-US" altLang="ko-KR" sz="1600"/>
              <a:t>!&gt;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509D44-42FF-A7EF-2BBA-8CC2926C7209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기획영역</a:t>
            </a:r>
            <a:endParaRPr lang="en-US" altLang="ko-KR" b="1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F6648B-1CE5-8D1E-3204-22E0B43F0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128" y="1479428"/>
            <a:ext cx="2362198" cy="14460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195EE0-B508-3FE8-5D69-CD5524B42E5B}"/>
              </a:ext>
            </a:extLst>
          </p:cNvPr>
          <p:cNvSpPr txBox="1"/>
          <p:nvPr/>
        </p:nvSpPr>
        <p:spPr>
          <a:xfrm>
            <a:off x="838199" y="4793797"/>
            <a:ext cx="62530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/>
              <a:t>GMTKGameJam2021</a:t>
            </a:r>
          </a:p>
          <a:p>
            <a:r>
              <a:rPr lang="ko-KR" altLang="en-US" sz="1600">
                <a:hlinkClick r:id="rId4"/>
              </a:rPr>
              <a:t>https://www.youtube.com/watch?v=9U4Zoagd_40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436196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B3909-C278-9CF3-7A25-5F01D6C29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3B705-543B-981A-A4BB-CA7AF004C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446164" cy="1325563"/>
          </a:xfrm>
        </p:spPr>
        <p:txBody>
          <a:bodyPr/>
          <a:lstStyle/>
          <a:p>
            <a:r>
              <a:rPr lang="en-US" altLang="ko-KR"/>
              <a:t>GMTK GameJam </a:t>
            </a:r>
            <a:r>
              <a:rPr lang="ko-KR" altLang="en-US"/>
              <a:t>참여작 </a:t>
            </a:r>
            <a:r>
              <a:rPr lang="en-US" altLang="ko-KR"/>
              <a:t>- GodChoice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EF444F-64B4-7A2B-8840-C907EA7E9445}"/>
              </a:ext>
            </a:extLst>
          </p:cNvPr>
          <p:cNvSpPr txBox="1"/>
          <p:nvPr/>
        </p:nvSpPr>
        <p:spPr>
          <a:xfrm>
            <a:off x="838199" y="1353804"/>
            <a:ext cx="100052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프로젝트 이름 </a:t>
            </a:r>
            <a:r>
              <a:rPr lang="en-US" altLang="ko-KR" sz="1600"/>
              <a:t>: GodChoice</a:t>
            </a:r>
          </a:p>
          <a:p>
            <a:r>
              <a:rPr lang="ko-KR" altLang="en-US" sz="1600"/>
              <a:t>장르 </a:t>
            </a:r>
            <a:r>
              <a:rPr lang="en-US" altLang="ko-KR" sz="1600"/>
              <a:t>: </a:t>
            </a:r>
            <a:r>
              <a:rPr lang="ko-KR" altLang="en-US" sz="1600"/>
              <a:t>보드게임</a:t>
            </a:r>
            <a:r>
              <a:rPr lang="en-US" altLang="ko-KR" sz="1600"/>
              <a:t>/</a:t>
            </a:r>
            <a:r>
              <a:rPr lang="ko-KR" altLang="en-US" sz="1600"/>
              <a:t>전략</a:t>
            </a:r>
            <a:endParaRPr lang="en-US" altLang="ko-KR" sz="1600"/>
          </a:p>
          <a:p>
            <a:r>
              <a:rPr lang="ko-KR" altLang="en-US" sz="1600"/>
              <a:t>개발인원 </a:t>
            </a:r>
            <a:r>
              <a:rPr lang="en-US" altLang="ko-KR" sz="1600"/>
              <a:t>: 1</a:t>
            </a:r>
            <a:r>
              <a:rPr lang="ko-KR" altLang="en-US" sz="1600"/>
              <a:t>명 </a:t>
            </a:r>
            <a:r>
              <a:rPr lang="en-US" altLang="ko-KR" sz="1600"/>
              <a:t>/ </a:t>
            </a:r>
            <a:r>
              <a:rPr lang="ko-KR" altLang="en-US" sz="1600"/>
              <a:t>개발 기간 </a:t>
            </a:r>
            <a:r>
              <a:rPr lang="en-US" altLang="ko-KR" sz="1600"/>
              <a:t>(2</a:t>
            </a:r>
            <a:r>
              <a:rPr lang="ko-KR" altLang="en-US" sz="1600"/>
              <a:t>일</a:t>
            </a:r>
            <a:r>
              <a:rPr lang="en-US" altLang="ko-KR" sz="1600"/>
              <a:t>)</a:t>
            </a:r>
          </a:p>
          <a:p>
            <a:r>
              <a:rPr lang="ko-KR" altLang="en-US" sz="1600"/>
              <a:t>개발 환경 </a:t>
            </a:r>
            <a:r>
              <a:rPr lang="en-US" altLang="ko-KR" sz="1600"/>
              <a:t>: </a:t>
            </a:r>
          </a:p>
          <a:p>
            <a:r>
              <a:rPr lang="en-US" altLang="ko-KR" sz="1600"/>
              <a:t>	IDE/Debugger : Unity, VisualStudio2019</a:t>
            </a:r>
          </a:p>
          <a:p>
            <a:r>
              <a:rPr lang="ko-KR" altLang="en-US" sz="1600"/>
              <a:t>본인이 과제를 모두 수행함</a:t>
            </a:r>
            <a:r>
              <a:rPr lang="en-US" altLang="ko-KR" sz="1600"/>
              <a:t>.</a:t>
            </a:r>
          </a:p>
          <a:p>
            <a:endParaRPr lang="en-US" altLang="ko-KR" sz="1600"/>
          </a:p>
          <a:p>
            <a:r>
              <a:rPr lang="ko-KR" altLang="en-US" sz="1600"/>
              <a:t>게임 잼의 주제 </a:t>
            </a:r>
            <a:r>
              <a:rPr lang="en-US" altLang="ko-KR" sz="1600"/>
              <a:t>: "Roll of the Dice" </a:t>
            </a:r>
          </a:p>
          <a:p>
            <a:r>
              <a:rPr lang="en-US" altLang="ko-KR" sz="1600"/>
              <a:t>	- </a:t>
            </a:r>
            <a:r>
              <a:rPr lang="ko-KR" altLang="en-US" sz="1600"/>
              <a:t>운</a:t>
            </a:r>
            <a:r>
              <a:rPr lang="en-US" altLang="ko-KR" sz="1600"/>
              <a:t>, </a:t>
            </a:r>
            <a:r>
              <a:rPr lang="ko-KR" altLang="en-US" sz="1600"/>
              <a:t>그리고 렌덤이 게임의 주요한 메카닉이 되어야 하지만</a:t>
            </a:r>
            <a:r>
              <a:rPr lang="en-US" altLang="ko-KR" sz="1600"/>
              <a:t>, </a:t>
            </a:r>
            <a:r>
              <a:rPr lang="ko-KR" altLang="en-US" sz="1600"/>
              <a:t>운으로 결과가 결정되는 도박같은 </a:t>
            </a:r>
            <a:endParaRPr lang="en-US" altLang="ko-KR" sz="1600"/>
          </a:p>
          <a:p>
            <a:r>
              <a:rPr lang="ko-KR" altLang="en-US" sz="1600"/>
              <a:t>게임이 되어서는 안된다</a:t>
            </a:r>
            <a:r>
              <a:rPr lang="en-US" altLang="ko-KR" sz="1600"/>
              <a:t>. </a:t>
            </a:r>
            <a:r>
              <a:rPr lang="ko-KR" altLang="en-US" sz="1600"/>
              <a:t>운은 플레이의 다양성과 지루함 극복을 위해 사용되어야 한다</a:t>
            </a:r>
            <a:r>
              <a:rPr lang="en-US" altLang="ko-KR" sz="1600"/>
              <a:t>.</a:t>
            </a:r>
          </a:p>
          <a:p>
            <a:endParaRPr lang="en-US" altLang="ko-KR" sz="1600"/>
          </a:p>
          <a:p>
            <a:r>
              <a:rPr lang="en-US" altLang="ko-KR" sz="1600"/>
              <a:t>&gt;&gt; </a:t>
            </a:r>
            <a:r>
              <a:rPr lang="ko-KR" altLang="en-US" sz="1600"/>
              <a:t>나의 기획 </a:t>
            </a:r>
            <a:r>
              <a:rPr lang="en-US" altLang="ko-KR" sz="1600"/>
              <a:t>: 1~6</a:t>
            </a:r>
            <a:r>
              <a:rPr lang="ko-KR" altLang="en-US" sz="1600"/>
              <a:t>의 주사위를 굴려서 더 높은 사람이 공격을 함</a:t>
            </a:r>
            <a:r>
              <a:rPr lang="en-US" altLang="ko-KR" sz="1600"/>
              <a:t>.</a:t>
            </a:r>
          </a:p>
          <a:p>
            <a:r>
              <a:rPr lang="ko-KR" altLang="en-US" sz="1600"/>
              <a:t>다만 매턴이 지날때마다 특정 차례의 주사위 눈 하나를 교환할 수 있다</a:t>
            </a:r>
            <a:r>
              <a:rPr lang="en-US" altLang="ko-KR" sz="1600"/>
              <a:t>.</a:t>
            </a:r>
          </a:p>
          <a:p>
            <a:r>
              <a:rPr lang="ko-KR" altLang="en-US" sz="1600"/>
              <a:t>여기에 연속으로 같은 눈이 나오거나</a:t>
            </a:r>
            <a:r>
              <a:rPr lang="en-US" altLang="ko-KR" sz="1600"/>
              <a:t>, </a:t>
            </a:r>
            <a:r>
              <a:rPr lang="ko-KR" altLang="en-US" sz="1600"/>
              <a:t>스트레이트가 될 경우</a:t>
            </a:r>
            <a:endParaRPr lang="en-US" altLang="ko-KR" sz="1600"/>
          </a:p>
          <a:p>
            <a:r>
              <a:rPr lang="ko-KR" altLang="en-US" sz="1600"/>
              <a:t>더 좋은 효과를 부여하는 것으로 전략을 짤 수 있도록 구성</a:t>
            </a:r>
            <a:r>
              <a:rPr lang="en-US" altLang="ko-KR" sz="1600"/>
              <a:t>.</a:t>
            </a:r>
          </a:p>
          <a:p>
            <a:endParaRPr lang="en-US" altLang="ko-KR" sz="1600"/>
          </a:p>
          <a:p>
            <a:r>
              <a:rPr lang="ko-KR" altLang="en-US" sz="1600"/>
              <a:t>게임 소개 영상 </a:t>
            </a:r>
            <a:r>
              <a:rPr lang="en-US" altLang="ko-KR" sz="1600"/>
              <a:t>: </a:t>
            </a:r>
            <a:r>
              <a:rPr lang="en-US" altLang="ko-KR" sz="1600">
                <a:hlinkClick r:id="rId2"/>
              </a:rPr>
              <a:t>https://youtu.be/qeZcDBkHkvw</a:t>
            </a:r>
            <a:endParaRPr lang="en-US" altLang="ko-KR" sz="1600"/>
          </a:p>
          <a:p>
            <a:r>
              <a:rPr lang="ko-KR" altLang="en-US" sz="1600"/>
              <a:t>게임 플레이 </a:t>
            </a:r>
            <a:r>
              <a:rPr lang="en-US" altLang="ko-KR" sz="1600"/>
              <a:t>: </a:t>
            </a:r>
            <a:r>
              <a:rPr lang="en-US" altLang="ko-KR" sz="1600">
                <a:hlinkClick r:id="rId3"/>
              </a:rPr>
              <a:t>https://nohc2001.itch.io/godchoice</a:t>
            </a:r>
            <a:endParaRPr lang="en-US" altLang="ko-KR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9FC529-70C5-2F3D-2B51-867D94602B83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기획영역</a:t>
            </a:r>
            <a:endParaRPr lang="en-US" altLang="ko-KR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1204C-235D-A75E-73E7-F43E18C684BC}"/>
              </a:ext>
            </a:extLst>
          </p:cNvPr>
          <p:cNvSpPr txBox="1"/>
          <p:nvPr/>
        </p:nvSpPr>
        <p:spPr>
          <a:xfrm>
            <a:off x="838199" y="5944995"/>
            <a:ext cx="62530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/>
              <a:t>GMTKGameJam2021</a:t>
            </a:r>
          </a:p>
          <a:p>
            <a:r>
              <a:rPr lang="ko-KR" altLang="en-US" sz="1600">
                <a:hlinkClick r:id="rId4"/>
              </a:rPr>
              <a:t>https://www.youtube.com/watch?v=9U4Zoagd_40</a:t>
            </a:r>
            <a:endParaRPr lang="ko-KR" altLang="en-US" sz="16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149F61D-01FA-4C0F-EA88-5369AC8DA6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4033" y="1353804"/>
            <a:ext cx="2250767" cy="162648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DA4C1F4-DA53-16F3-58A6-CF81EBD317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221" y="4058427"/>
            <a:ext cx="4351779" cy="242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003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2452</TotalTime>
  <Words>2938</Words>
  <Application>Microsoft Office PowerPoint</Application>
  <PresentationFormat>와이드스크린</PresentationFormat>
  <Paragraphs>350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게임 개발자 포트폴리오</vt:lpstr>
      <vt:lpstr>소개</vt:lpstr>
      <vt:lpstr>프로젝트</vt:lpstr>
      <vt:lpstr>Pulse City</vt:lpstr>
      <vt:lpstr>AI 사용</vt:lpstr>
      <vt:lpstr>유니티 바이너리 익스포터 제작</vt:lpstr>
      <vt:lpstr>서버 프레임워크 제작</vt:lpstr>
      <vt:lpstr>게임 프레임워크 제작</vt:lpstr>
      <vt:lpstr>렌더링</vt:lpstr>
      <vt:lpstr>렌더링</vt:lpstr>
      <vt:lpstr>레이트레이싱</vt:lpstr>
      <vt:lpstr>레이트레이싱</vt:lpstr>
      <vt:lpstr>그 외의 기여</vt:lpstr>
      <vt:lpstr>부록 - 서버의 충돌계산 고민 메모</vt:lpstr>
      <vt:lpstr>부록 - 청크에 들어가기 위한 게임오브젝트 구조 설계</vt:lpstr>
      <vt:lpstr>Otornait</vt:lpstr>
      <vt:lpstr>그래픽스 기말과제</vt:lpstr>
      <vt:lpstr>GMTK GameJam 참여작 - InverseProportion</vt:lpstr>
      <vt:lpstr>GMTK GameJam 참여작 - GodChoice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훈철 노</dc:creator>
  <cp:lastModifiedBy>훈철 노</cp:lastModifiedBy>
  <cp:revision>42</cp:revision>
  <dcterms:created xsi:type="dcterms:W3CDTF">2026-07-04T17:16:13Z</dcterms:created>
  <dcterms:modified xsi:type="dcterms:W3CDTF">2026-07-20T02:15:52Z</dcterms:modified>
</cp:coreProperties>
</file>