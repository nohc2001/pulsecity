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94" y="114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5.jpe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jpe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27.png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3.png"  /><Relationship Id="rId7" Type="http://schemas.openxmlformats.org/officeDocument/2006/relationships/image" Target="../media/image24.png"  /><Relationship Id="rId8" Type="http://schemas.openxmlformats.org/officeDocument/2006/relationships/image" Target="../media/image25.png"  /><Relationship Id="rId9" Type="http://schemas.openxmlformats.org/officeDocument/2006/relationships/image" Target="../media/image2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7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 kern="0" spc="800">
                <a:solidFill>
                  <a:srgbClr val="E0A15A"/>
                </a:solidFill>
                <a:latin typeface="Arial"/>
                <a:ea typeface="Arial"/>
                <a:cs typeface="Arial"/>
              </a:rPr>
              <a:t>PORTFOLIO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566927" y="2926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게임 기획</a:t>
            </a:r>
            <a:r>
              <a:rPr lang="ko-KR" altLang="en-US" sz="5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포트폴리오</a:t>
            </a:r>
          </a:p>
        </p:txBody>
      </p:sp>
      <p:sp>
        <p:nvSpPr>
          <p:cNvPr id="6" name="Shape 4"/>
          <p:cNvSpPr/>
          <p:nvPr/>
        </p:nvSpPr>
        <p:spPr>
          <a:xfrm>
            <a:off x="585216" y="4343400"/>
            <a:ext cx="2926080" cy="0"/>
          </a:xfrm>
          <a:prstGeom prst="line">
            <a:avLst/>
          </a:prstGeom>
          <a:noFill/>
          <a:ln w="25400">
            <a:solidFill>
              <a:srgbClr val="C8622E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4526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진성준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한국공학대학교 게임공학과  ·  4학년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010-7770-2108   ·   </a:t>
            </a:r>
            <a:r>
              <a:rPr lang="en-US" altLang="ko-KR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@naver.com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INDEX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목차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389888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자기소개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389888" y="2029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프로필 · 역량 · 이력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4324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692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389888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1389888" y="2962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소울라이크 × 턴제 전투 시스템 기획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66928" y="36027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6928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389888" y="3584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1389888" y="38953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커맨드 조합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기반</a:t>
            </a: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턴제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RPG 기획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en-US" sz="900"/>
          </a:p>
        </p:txBody>
      </p:sp>
      <p:sp>
        <p:nvSpPr>
          <p:cNvPr id="30" name="IdxBadge 30"/>
          <p:cNvSpPr/>
          <p:nvPr/>
        </p:nvSpPr>
        <p:spPr>
          <a:xfrm>
            <a:off x="566928" y="45354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4324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31" name="IdxNo 31"/>
          <p:cNvSpPr txBox="1"/>
          <p:nvPr/>
        </p:nvSpPr>
        <p:spPr>
          <a:xfrm>
            <a:off x="566928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ko-KR" alt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2" name="IdxTitle 32"/>
          <p:cNvSpPr txBox="1"/>
          <p:nvPr/>
        </p:nvSpPr>
        <p:spPr>
          <a:xfrm>
            <a:off x="1389888" y="4517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PulseCity</a:t>
            </a:r>
          </a:p>
        </p:txBody>
      </p:sp>
      <p:sp>
        <p:nvSpPr>
          <p:cNvPr id="33" name="IdxSub 33"/>
          <p:cNvSpPr txBox="1"/>
          <p:nvPr/>
        </p:nvSpPr>
        <p:spPr>
          <a:xfrm>
            <a:off x="1389888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다중 접속 슈팅 RPG · 던전 구조 · 몹 배치 · 직업군 설계 (졸업작품)</a:t>
            </a:r>
          </a:p>
        </p:txBody>
      </p:sp>
      <p:sp>
        <p:nvSpPr>
          <p:cNvPr id="34" name="IdxBadge 34"/>
          <p:cNvSpPr/>
          <p:nvPr/>
        </p:nvSpPr>
        <p:spPr>
          <a:xfrm>
            <a:off x="566928" y="5468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>
            <a:noFill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35" name="IdxNo 35"/>
          <p:cNvSpPr txBox="1"/>
          <p:nvPr/>
        </p:nvSpPr>
        <p:spPr>
          <a:xfrm>
            <a:off x="566928" y="5468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ko-KR" alt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6" name="IdxTitle 36"/>
          <p:cNvSpPr txBox="1"/>
          <p:nvPr/>
        </p:nvSpPr>
        <p:spPr>
          <a:xfrm>
            <a:off x="1389888" y="5449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종합 · 기타</a:t>
            </a:r>
          </a:p>
        </p:txBody>
      </p:sp>
      <p:sp>
        <p:nvSpPr>
          <p:cNvPr id="37" name="IdxSub 37"/>
          <p:cNvSpPr txBox="1"/>
          <p:nvPr/>
        </p:nvSpPr>
        <p:spPr>
          <a:xfrm>
            <a:off x="1389888" y="5760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기획 철학 · 기타 프로젝트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01  ABOUT ME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자기소개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749040" cy="4480560"/>
          </a:xfrm>
          <a:prstGeom prst="roundRect">
            <a:avLst>
              <a:gd name="adj" fmla="val 1707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진성준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841248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0a15a"/>
                </a:solidFill>
                <a:latin typeface="Arial"/>
                <a:ea typeface="Arial"/>
                <a:cs typeface="Arial"/>
              </a:rPr>
              <a:t>Jin Seongjun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endParaRPr lang="en-US" sz="1350" i="1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학력</a:t>
            </a:r>
            <a:endParaRPr lang="en-US" sz="12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한국공학대학교 게임공학과</a:t>
            </a:r>
            <a:endParaRPr lang="en-US" sz="12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1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2026.02 졸업예정</a:t>
            </a:r>
            <a:endParaRPr lang="en-US" sz="11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6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60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연락처</a:t>
            </a:r>
            <a:endParaRPr lang="en-US" sz="12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010-7770-2108</a:t>
            </a:r>
            <a:endParaRPr lang="en-US" sz="12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altLang="ko-KR" sz="11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1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@naver.com</a:t>
            </a:r>
            <a:endParaRPr lang="en-US" sz="115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81728" y="1783080"/>
            <a:ext cx="69430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핵심 역량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681728" y="2194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81728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기획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6236208" y="2194560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전투·시스템 설계 /</a:t>
            </a:r>
            <a:r>
              <a:rPr lang="en-US" altLang="ko-KR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플레이어 경험 설계</a:t>
            </a:r>
            <a:endParaRPr lang="en-US" sz="125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81728" y="276148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81728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문서화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6236208" y="2761488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시스템 정의서 / 발표·제안서 / 반복 개선(피드백 반영)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4681728" y="332841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81728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구현 이해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6236208" y="3328416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C++ · 게임 서버(Zone 분산·프로토콜 설계)</a:t>
            </a:r>
            <a:endParaRPr lang="en-US" sz="125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81728" y="389534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81728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도구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6236208" y="3895344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Git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4681728" y="4599432"/>
            <a:ext cx="69430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주요 프로젝트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681728" y="4965192"/>
            <a:ext cx="6943039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PulseCity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DX12 온라인 RPG · 기획 + 서버 담당 (졸업작품)</a:t>
            </a:r>
            <a:endParaRPr lang="en-US" sz="12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소울라이크×턴제 전투 시스템 기획</a:t>
            </a:r>
            <a:endParaRPr lang="en-US" sz="12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  </a:t>
            </a: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커맨드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기반 </a:t>
            </a: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턴제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RPG 기획</a:t>
            </a:r>
            <a:endParaRPr lang="en-US" sz="12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PROJECT — 무진기행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 (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霧津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紀行)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마을의 저주를 풀기 위해 원념체를 쓰러뜨리고 마을의 수수께끼를 푸는 게임</a:t>
            </a:r>
            <a:endParaRPr lang="en-US" sz="135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66928" y="2103120"/>
          <a:ext cx="594360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소울라이크 + 턴제 RPG (하이브리드)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/ 싱글플레이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역할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전투 시스템 기획 (단독)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정의서 · 3회 발표 · 보스/던전 설계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2025.03 ~ 2025.06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기획서 · 발표자료 · 레퍼런스 분석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76288" y="2103120"/>
            <a:ext cx="4748479" cy="3566160"/>
          </a:xfrm>
          <a:prstGeom prst="roundRect">
            <a:avLst>
              <a:gd name="adj" fmla="val 179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Image 0" descr="img/mj_dungeon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91528" y="2240280"/>
            <a:ext cx="422656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76288" y="5257800"/>
            <a:ext cx="474847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던전 컨셉 — 저주로 뒤틀린 공간(스톰빌 성</a:t>
            </a:r>
            <a:r>
              <a:rPr lang="ko-KR" alt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엘든링</a:t>
            </a: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" name="Text 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0" name="Text 6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핵심 설계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왜 이렇게 설계했는가: 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플레이어에게 페이즈를 부여한다</a:t>
            </a:r>
            <a:endParaRPr lang="ko-KR" alt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95528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문제</a:t>
            </a:r>
            <a:endParaRPr lang="en-US" sz="14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5528" y="22402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소울라이크의 속도감과 턴제의 전략성을 한 번에? 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전통적 '번갈아 공격' 턴제로는 두 장르를 애매하게 접합할 뿐, 둘 다 놓친다.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05332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3400"/>
          </a:p>
        </p:txBody>
      </p:sp>
      <p:sp>
        <p:nvSpPr>
          <p:cNvPr id="8" name="Shape 6"/>
          <p:cNvSpPr/>
          <p:nvPr/>
        </p:nvSpPr>
        <p:spPr>
          <a:xfrm>
            <a:off x="6693408" y="1737360"/>
            <a:ext cx="4931359" cy="1828800"/>
          </a:xfrm>
          <a:prstGeom prst="roundRect">
            <a:avLst>
              <a:gd name="adj" fmla="val 35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2200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해결</a:t>
            </a:r>
            <a:endParaRPr lang="en-US" sz="14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22008" y="2240280"/>
            <a:ext cx="4474159" cy="1234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페이즈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 개념만 차용하고 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플레이어에게만 부여. </a:t>
            </a:r>
            <a:endParaRPr lang="en-US" sz="13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적은 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없이 자기 패턴대로 실시간 행동 → </a:t>
            </a:r>
            <a:endParaRPr lang="en-US" sz="13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적의 위협감 + 플레이어의 계획적 자원 운용을 동시에 확보.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56692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552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1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79552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플레이어에게만</a:t>
            </a:r>
            <a:endParaRPr lang="en-US" sz="14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/ 방어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로 분리</a:t>
            </a:r>
            <a:endParaRPr lang="en-US" sz="12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7024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9884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2</a:t>
            </a:r>
            <a:endParaRPr lang="en-US" sz="2600"/>
          </a:p>
        </p:txBody>
      </p:sp>
      <p:sp>
        <p:nvSpPr>
          <p:cNvPr id="17" name="Text 15"/>
          <p:cNvSpPr/>
          <p:nvPr/>
        </p:nvSpPr>
        <p:spPr>
          <a:xfrm>
            <a:off x="449884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적은 실시간 패턴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49884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없이 자유 행동 → 소울라이크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위협감</a:t>
            </a:r>
            <a:endParaRPr lang="en-US" sz="12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7356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0216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3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820216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계획 = 재미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20216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제한된 에너지 배분이 전략의 핵심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코어 시스템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/ 방어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· 약점 간파 · 동료 연계</a:t>
            </a:r>
            <a:endParaRPr 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↔ 방어</a:t>
            </a:r>
            <a:r>
              <a:rPr lang="ko-KR" alt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페이즈</a:t>
            </a:r>
            <a:endParaRPr lang="ko-KR" altLang="en-US" sz="16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15968" y="196596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lang="ko-KR" alt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 고유 에너지를 소모. 소진 시 반대 턴으로 자동 스위치. </a:t>
            </a:r>
            <a:endParaRPr lang="en-US" sz="13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스킬마다 위력·코스트가 달라 '무엇에 배분할까'가 전략.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약점 간파 (그로기)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315968" y="342900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명중할 때마다 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방어도가 줄어듦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. 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적의 방어도 소진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시 증폭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된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강공격 → 명중하면 적 기절 + 에너지 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모두 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회복 + 추가 턴.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1248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동료 연계 공격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315968" y="489204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패링·약점 간파 등 특정 조건 달성 시 동료가 순간 개입해 추가타/버프. </a:t>
            </a:r>
            <a:endParaRPr lang="en-US" sz="13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6190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endParaRPr lang="en-US" sz="1050" i="1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무진기행 — 적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곡선: 잡몹 → 중간보스 3종 (가르치는 적)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32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잡몹은 길잡이·자기효능감 담당(단순 패턴). 중간보스 3종은 '유사 착장·유사 패턴'으로 방어/공격 타이밍을 가르치는 학습의 장.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mg/mj_knight_sp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08" y="2194560"/>
            <a:ext cx="1764559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기사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사거리 + 후딜레이 강공격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024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mg/mj_knigh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639" y="2194560"/>
            <a:ext cx="2403939" cy="1737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5312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쌍검 기사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5312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공격 · 빠른 템포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7356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mg/mj_knigh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387" y="2194560"/>
            <a:ext cx="2021082" cy="1737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644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방패 기사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15644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방어·막기 · 반격 유도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" y="5029200"/>
            <a:ext cx="11057839" cy="868680"/>
          </a:xfrm>
          <a:prstGeom prst="roundRect">
            <a:avLst>
              <a:gd name="adj" fmla="val 736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841248" y="502920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0A1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  </a:t>
            </a:r>
            <a:r>
              <a:rPr lang="en-US" sz="1250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후딜레이가 큰 공격일수록 공격 창을 넓게 → 타이밍을 '암시'. 피격 시 반격 패턴으로 전환해 무지성 공격을 억제.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진성준  ·  게임 시스템 기획 포트폴리오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보스전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학습의 검증: 패턴 융합 + 마지막 패턴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12080" cy="3931920"/>
          </a:xfrm>
          <a:prstGeom prst="roundRect">
            <a:avLst>
              <a:gd name="adj" fmla="val 16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Image 0" descr="img/mj_bos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5007" y="1920240"/>
            <a:ext cx="4375922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4023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보스 '떠도는 머리' — 세 중간보스의 머리를 쥔 그림자 괴물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749808" y="44348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세 중간보스의 패턴을 모두 구사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→ 플레이어는 학습한 타이밍으로 대응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053328" y="1783080"/>
            <a:ext cx="5571439" cy="1874520"/>
          </a:xfrm>
          <a:prstGeom prst="roundRect">
            <a:avLst>
              <a:gd name="adj" fmla="val 341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281928" y="1920240"/>
            <a:ext cx="51142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정형화 + 변속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6281928" y="2286000"/>
            <a:ext cx="5114239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패턴을 무작위 순서로 돌리되 '다음 순서'는 예측 가능하게. 대신 공격 템포에 변속(빠름/느림 이지선다)을 걸어 심리전 유발 → 반복 트라이의 지루함 상쇄.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6053328" y="3794760"/>
            <a:ext cx="5571439" cy="19202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281928" y="3931920"/>
            <a:ext cx="51142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다중 패턴 &amp; 마지막 신호</a:t>
            </a:r>
            <a:endParaRPr lang="en-US" sz="1500"/>
          </a:p>
        </p:txBody>
      </p:sp>
      <p:pic>
        <p:nvPicPr>
          <p:cNvPr id="13" name="Image 1" descr="img/mj_lastpatter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535614" y="4297680"/>
            <a:ext cx="2606867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81928" y="5138928"/>
            <a:ext cx="5114239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보스는 패턴 1~3개를 연속 시전 → 언제 끝날지 모름. '마지막 패턴' 때 테두리 발광으로 공격 기회를 명확히 알림.</a:t>
            </a:r>
            <a:endParaRPr lang="en-US" sz="1150"/>
          </a:p>
        </p:txBody>
      </p:sp>
      <p:sp>
        <p:nvSpPr>
          <p:cNvPr id="15" name="Text 1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1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02  무진기행 — 정리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시스템은 '플레이어</a:t>
            </a:r>
            <a:r>
              <a:rPr lang="ko-KR" alt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경험'에서</a:t>
            </a:r>
            <a:endParaRPr lang="en-US" sz="26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공격/방어턴</a:t>
            </a: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 페이즈 </a:t>
            </a: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자원</a:t>
            </a:r>
            <a:endParaRPr lang="en-US" sz="15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제한된 에너지를 어디에 쓸까 — 계획의 재미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6144768" y="17373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약점 간파(그로기)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꾸준한 명중 → 기절+추가턴의 큰 보상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중간보스 3종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'이 셋은 비슷하다' → 타이밍 학습의 성취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6144768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보스 패턴 융합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학습을 실전에서 검증 → 자기효능감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66928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352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변속·다중패턴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심리전·긴장, 반복의 지루함 상쇄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6144768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0" y="4352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마지막 패턴 신호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6400800" y="4709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ko-KR" alt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공격할 기회를 알려수는 수단</a:t>
            </a:r>
            <a:endParaRPr lang="ko-KR" altLang="en-US" sz="125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PROJECT — ESCAPE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i="1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기억을 잃고 꿈에 갇힌 주인공이 꿈 속 괴물을 쓰러뜨리고 탈출하는 턴제 RPG</a:t>
            </a:r>
            <a:endParaRPr lang="en-US" sz="13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66928" y="2468880"/>
          <a:ext cx="5943600" cy="1920240"/>
        </p:xfrm>
        <a:graphic>
          <a:graphicData uri="http://schemas.openxmlformats.org/drawingml/2006/table">
            <a:tbl>
              <a:tblGrid>
                <a:gridCol w="1554480"/>
                <a:gridCol w="4389120"/>
              </a:tblGrid>
              <a:tr h="384048"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커맨드 조합 턴제 RPG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전투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구슬에 커맨드를 채워 콤보를 조합해 전투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역할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전투·시스템 기획 (단독)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· 3회 발표</a:t>
                      </a:r>
                      <a:endParaRPr lang="en-US" sz="120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38100" tIns="38100" rIns="38100" bIns="3810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2025.09 ~ 2025.12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76288" y="2103120"/>
            <a:ext cx="4748479" cy="3566160"/>
          </a:xfrm>
          <a:prstGeom prst="roundRect">
            <a:avLst>
              <a:gd name="adj" fmla="val 179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7" name="Image 0" descr="img/es_comman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7728" y="2523571"/>
            <a:ext cx="4474159" cy="21766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76288" y="5029200"/>
            <a:ext cx="474847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커맨드를 조합해 콤보를 시전하는 전투 화면</a:t>
            </a:r>
            <a:endParaRPr lang="en-US" sz="1100"/>
          </a:p>
        </p:txBody>
      </p:sp>
      <p:sp>
        <p:nvSpPr>
          <p:cNvPr id="9" name="Text 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0" name="Text 6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핵심 전투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커맨드를 조합해 '콤보'를 만든다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5개의 구슬(방향키)에 커맨드를 채워 콤보를 발동. 커맨드는 조합과 연계가 전투의 축이 되도록 설계했다.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852160" cy="1874520"/>
          </a:xfrm>
          <a:prstGeom prst="roundRect">
            <a:avLst>
              <a:gd name="adj" fmla="val 341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2개 이상 커맨드 → 하나의 콤보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기존 특수공격은 한 번에 하나뿐. 콤보는 2개 이상을 묶어 발동 → </a:t>
            </a:r>
            <a:r>
              <a:rPr lang="en-US"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콤보 사이의 '연계'를 유도.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예) a로 기름을 뿌리고 → b로 불을 붙인다 / a로 방어력을 깎고 → b로 공격.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6601968" y="2057400"/>
            <a:ext cx="5022799" cy="1874520"/>
          </a:xfrm>
          <a:prstGeom prst="roundRect">
            <a:avLst>
              <a:gd name="adj" fmla="val 341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" name="Image 0" descr="img/es_combolis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40476" y="2194560"/>
            <a:ext cx="3500063" cy="1600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9552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콤보 습득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79552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우연히 발견하거나 특정 NPC에게 학습. 전투 중 콤보 리스트로 확인(적용 증강도 표시).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27024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9884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빗나간 입력</a:t>
            </a:r>
            <a:endParaRPr lang="en-US" sz="1450"/>
          </a:p>
        </p:txBody>
      </p:sp>
      <p:sp>
        <p:nvSpPr>
          <p:cNvPr id="15" name="Text 12"/>
          <p:cNvSpPr/>
          <p:nvPr/>
        </p:nvSpPr>
        <p:spPr>
          <a:xfrm>
            <a:off x="449884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콤보가 아니면 기본 타격 + 유사 콤보를 '?'로 리스트에 추가 → 탐색의 힌트.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797356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20216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필살기</a:t>
            </a:r>
            <a:endParaRPr lang="en-US" sz="1450"/>
          </a:p>
        </p:txBody>
      </p:sp>
      <p:sp>
        <p:nvSpPr>
          <p:cNvPr id="18" name="Text 15"/>
          <p:cNvSpPr/>
          <p:nvPr/>
        </p:nvSpPr>
        <p:spPr>
          <a:xfrm>
            <a:off x="820216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'할 수 있어' 포인트 10을 모으면 필살기 시전 가능.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</a:t>
            </a:r>
            <a:r>
              <a:rPr lang="ko-KR" alt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핵심 전투</a:t>
            </a:r>
            <a:endParaRPr lang="ko-KR" altLang="en-US" sz="1200" b="1" kern="0" spc="200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커맨드 구슬 채우기 규칙</a:t>
            </a:r>
            <a:endParaRPr lang="ko-KR" alt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방향키 입력에 따라 서로 다른 </a:t>
            </a:r>
            <a:r>
              <a:rPr lang="ko-KR" alt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양</a:t>
            </a:r>
            <a:r>
              <a:rPr 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의 구슬이 채워지고, 한 턴에 최대 5개의 구슬을 사용한다.</a:t>
            </a:r>
            <a:endParaRPr lang="en-US" sz="1300">
              <a:solidFill>
                <a:srgbClr val="24324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lang="en-US" sz="900"/>
          </a:p>
        </p:txBody>
      </p:sp>
      <p:sp>
        <p:nvSpPr>
          <p:cNvPr id="13" name=""/>
          <p:cNvSpPr txBox="1"/>
          <p:nvPr/>
        </p:nvSpPr>
        <p:spPr>
          <a:xfrm>
            <a:off x="566928" y="2066703"/>
            <a:ext cx="4882996" cy="117941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← 강 </a:t>
            </a:r>
            <a:r>
              <a:rPr lang="en-US" altLang="ko-KR"/>
              <a:t>--&gt;</a:t>
            </a:r>
            <a:r>
              <a:rPr lang="ko-KR" altLang="en-US"/>
              <a:t> ● ●</a:t>
            </a:r>
            <a:endParaRPr lang="ko-KR" altLang="en-US"/>
          </a:p>
          <a:p>
            <a:pPr>
              <a:defRPr/>
            </a:pPr>
            <a:r>
              <a:rPr lang="ko-KR" altLang="en-US"/>
              <a:t>↑ 중 </a:t>
            </a:r>
            <a:r>
              <a:rPr lang="en-US" altLang="ko-KR"/>
              <a:t>--&gt;</a:t>
            </a:r>
            <a:r>
              <a:rPr lang="ko-KR" altLang="en-US"/>
              <a:t> ●</a:t>
            </a:r>
            <a:endParaRPr lang="ko-KR" altLang="en-US"/>
          </a:p>
          <a:p>
            <a:pPr>
              <a:defRPr/>
            </a:pPr>
            <a:r>
              <a:rPr lang="ko-KR" altLang="en-US"/>
              <a:t>→ 약 </a:t>
            </a:r>
            <a:r>
              <a:rPr lang="en-US" altLang="ko-KR"/>
              <a:t>--&gt;</a:t>
            </a:r>
            <a:r>
              <a:rPr lang="ko-KR" altLang="en-US"/>
              <a:t> ◐</a:t>
            </a:r>
            <a:endParaRPr lang="ko-KR" altLang="en-US"/>
          </a:p>
          <a:p>
            <a:pPr>
              <a:defRPr/>
            </a:pPr>
            <a:r>
              <a:rPr lang="ko-KR" altLang="en-US">
                <a:latin typeface="맑은 고딕"/>
              </a:rPr>
              <a:t>위와 같이 공격에 따라 구슬이 할당된다</a:t>
            </a:r>
            <a:endParaRPr lang="ko-KR" altLang="en-US">
              <a:latin typeface="맑은 고딕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5298473" y="2066702"/>
            <a:ext cx="6791466" cy="4275657"/>
          </a:xfrm>
          <a:prstGeom prst="roundRect">
            <a:avLst>
              <a:gd name="adj" fmla="val 2745"/>
            </a:avLst>
          </a:prstGeom>
          <a:solidFill>
            <a:srgbClr val="16223b">
              <a:alpha val="100000"/>
            </a:srgbClr>
          </a:solidFill>
          <a:ln w="12700">
            <a:solidFill>
              <a:srgbClr val="d9dee6">
                <a:alpha val="100000"/>
              </a:srgbClr>
            </a:solidFill>
            <a:prstDash val="solid"/>
          </a:ln>
          <a:effectLst>
            <a:outerShdw blurRad="88900" dist="25400" dir="5400000" algn="bl" rotWithShape="0">
              <a:srgbClr val="000000">
                <a:alpha val="11760"/>
              </a:srgbClr>
            </a:outerShdw>
          </a:effectLst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66928" y="3429000"/>
            <a:ext cx="4470387" cy="2913359"/>
          </a:xfrm>
          <a:prstGeom prst="roundRect">
            <a:avLst>
              <a:gd name="adj" fmla="val 1795"/>
            </a:avLst>
          </a:prstGeom>
          <a:solidFill>
            <a:srgbClr val="f4f6fa">
              <a:alpha val="100000"/>
            </a:srgbClr>
          </a:solidFill>
          <a:ln w="12700">
            <a:solidFill>
              <a:srgbClr val="d9dee6">
                <a:alpha val="100000"/>
              </a:srgbClr>
            </a:solidFill>
            <a:prstDash val="solid"/>
          </a:ln>
          <a:effectLst>
            <a:outerShdw blurRad="88900" dist="25400" dir="5400000" algn="bl" rotWithShape="0">
              <a:srgbClr val="000000">
                <a:alpha val="11760"/>
              </a:srgbClr>
            </a:outerShdw>
          </a:effectLst>
        </p:spPr>
        <p:txBody>
          <a:bodyPr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88119" y="3586704"/>
            <a:ext cx="3828004" cy="1276001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>
            <a:off x="744137" y="5339317"/>
            <a:ext cx="4293178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강공격 </a:t>
            </a:r>
            <a:r>
              <a:rPr xmlns:mc="http://schemas.openxmlformats.org/markup-compatibility/2006" xmlns:hp="http://schemas.haansoft.com/office/presentation/8.0" kumimoji="0" lang="en-US" altLang="ko-KR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1,</a:t>
            </a:r>
            <a:r>
              <a: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중공격</a:t>
            </a:r>
            <a:r>
              <a:rPr xmlns:mc="http://schemas.openxmlformats.org/markup-compatibility/2006" xmlns:hp="http://schemas.haansoft.com/office/presentation/8.0" kumimoji="0" lang="en-US" altLang="ko-KR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2,</a:t>
            </a:r>
            <a:r>
              <a: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약공격</a:t>
            </a:r>
            <a:r>
              <a:rPr xmlns:mc="http://schemas.openxmlformats.org/markup-compatibility/2006" xmlns:hp="http://schemas.haansoft.com/office/presentation/8.0" kumimoji="0" lang="en-US" altLang="ko-KR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을 할당했을 시 위와 같은 상태가 된다</a:t>
            </a:r>
            <a:endPara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왼쪽부터</a:t>
            </a:r>
            <a:r>
              <a: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등록된 패턴과 대조, 매치되면 특수공격으로 변환 / 매치 안 되면 개별 공격</a:t>
            </a:r>
            <a:endParaRPr xmlns:mc="http://schemas.openxmlformats.org/markup-compatibility/2006" xmlns:hp="http://schemas.haansoft.com/office/presentation/8.0" kumimoji="0" lang="ko-KR" altLang="en-US" sz="1300" b="0" u="none" strike="noStrike" kern="1200" cap="none" spc="0" normalizeH="0" baseline="0" mc:Ignorable="hp" hp:hslEmbossed="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428522" y="2347595"/>
            <a:ext cx="3377486" cy="376422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5449924" y="2467778"/>
            <a:ext cx="2864394" cy="36440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후보가 여럿일 때</a:t>
            </a:r>
            <a:endPara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옆 리스트 박스에 후보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들이 </a:t>
            </a:r>
            <a:r>
              <a: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표시 </a:t>
            </a:r>
            <a:endPara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→ Tab으로 후보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환 </a:t>
            </a:r>
            <a:endPara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→ 확정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키</a:t>
            </a:r>
            <a:r>
              <a: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로 발동 콤보 확정</a:t>
            </a:r>
            <a:endParaRPr xmlns:mc="http://schemas.openxmlformats.org/markup-compatibility/2006" xmlns:hp="http://schemas.haansoft.com/office/presentation/8.0" kumimoji="0" lang="en-US" sz="1200" b="0" i="0" u="none" strike="noStrike" kern="1200" cap="none" spc="0" normalizeH="0" baseline="0" mc:Ignorable="hp" hp:hslEmbossed="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</a:t>
            </a:r>
            <a:r>
              <a:rPr lang="ko-KR" alt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핵심 전투</a:t>
            </a:r>
            <a:endParaRPr lang="ko-KR" altLang="en-US" sz="1200" b="1" kern="0" spc="200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환경이 전투를 바꾸고, 던전마다 테마가 다르다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맵 기믹 — 환경이 콤보·스트레스를 바꾼다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맵에 따라 약/중/강 공격 콤보의 위력이 달라진다</a:t>
            </a:r>
            <a:endParaRPr lang="en-US" sz="115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같은 콤보도 맵마다 다른 판단을 요구.</a:t>
            </a:r>
            <a:endParaRPr lang="en-US" sz="1150"/>
          </a:p>
        </p:txBody>
      </p:sp>
      <p:pic>
        <p:nvPicPr>
          <p:cNvPr id="7" name="Image 0" descr="img/es_adrenalin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54954" y="2971800"/>
            <a:ext cx="1441468" cy="1005840"/>
          </a:xfrm>
          <a:prstGeom prst="rect">
            <a:avLst/>
          </a:prstGeom>
        </p:spPr>
      </p:pic>
      <p:pic>
        <p:nvPicPr>
          <p:cNvPr id="8" name="Image 1" descr="img/es_serotoni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10338" y="2971800"/>
            <a:ext cx="14513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3950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아드레날린맵: 강공격↑</a:t>
            </a:r>
            <a:endParaRPr lang="en-US" sz="950" i="1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401568" y="3950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세로토닌맵: </a:t>
            </a:r>
            <a:r>
              <a:rPr lang="ko-KR" alt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공격↓</a:t>
            </a:r>
            <a:endParaRPr lang="en-US" sz="950" i="1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236208" y="1783080"/>
            <a:ext cx="5388559" cy="2331720"/>
          </a:xfrm>
          <a:prstGeom prst="roundRect">
            <a:avLst>
              <a:gd name="adj" fmla="val 274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464808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던전 = 각기 다른 '꿈' 테마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6464808" y="2240280"/>
            <a:ext cx="4839919" cy="1737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꿈 속 세계라 던전마다 세계관·기믹·적이 전혀 다르다.</a:t>
            </a:r>
            <a:endParaRPr lang="en-US" sz="12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아래는 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잡몹→엘리트→보스의 학습 완충 구조를 설계·시연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하였다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en-US" sz="12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6928" y="4297680"/>
            <a:ext cx="11057839" cy="1417320"/>
          </a:xfrm>
          <a:prstGeom prst="roundRect">
            <a:avLst>
              <a:gd name="adj" fmla="val 4516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82296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던전 예시 — 우울증 테마 (여러 던전 중 하나)</a:t>
            </a:r>
            <a:endParaRPr lang="en-US" sz="1250"/>
          </a:p>
        </p:txBody>
      </p:sp>
      <p:sp>
        <p:nvSpPr>
          <p:cNvPr id="16" name="Shape 12"/>
          <p:cNvSpPr/>
          <p:nvPr/>
        </p:nvSpPr>
        <p:spPr>
          <a:xfrm>
            <a:off x="8412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9784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잡몹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9784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길잡이 · 자기효능감</a:t>
            </a:r>
            <a:endParaRPr lang="en-US" sz="1050"/>
          </a:p>
        </p:txBody>
      </p:sp>
      <p:sp>
        <p:nvSpPr>
          <p:cNvPr id="19" name="Text 15"/>
          <p:cNvSpPr/>
          <p:nvPr/>
        </p:nvSpPr>
        <p:spPr>
          <a:xfrm>
            <a:off x="4041648" y="4754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20" name="Shape 16"/>
          <p:cNvSpPr/>
          <p:nvPr/>
        </p:nvSpPr>
        <p:spPr>
          <a:xfrm>
            <a:off x="44988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6360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엘리트</a:t>
            </a:r>
            <a:endParaRPr lang="en-US" sz="1300"/>
          </a:p>
        </p:txBody>
      </p:sp>
      <p:sp>
        <p:nvSpPr>
          <p:cNvPr id="22" name="Text 18"/>
          <p:cNvSpPr/>
          <p:nvPr/>
        </p:nvSpPr>
        <p:spPr>
          <a:xfrm>
            <a:off x="46360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난이도 완충 · 보스 패턴 예고</a:t>
            </a:r>
            <a:endParaRPr lang="en-US" sz="1050"/>
          </a:p>
        </p:txBody>
      </p:sp>
      <p:sp>
        <p:nvSpPr>
          <p:cNvPr id="23" name="Text 19"/>
          <p:cNvSpPr/>
          <p:nvPr/>
        </p:nvSpPr>
        <p:spPr>
          <a:xfrm>
            <a:off x="7699248" y="4754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24" name="Shape 20"/>
          <p:cNvSpPr/>
          <p:nvPr/>
        </p:nvSpPr>
        <p:spPr>
          <a:xfrm>
            <a:off x="81564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82936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보스</a:t>
            </a:r>
            <a:endParaRPr lang="en-US" sz="1300"/>
          </a:p>
        </p:txBody>
      </p:sp>
      <p:sp>
        <p:nvSpPr>
          <p:cNvPr id="26" name="Text 22"/>
          <p:cNvSpPr/>
          <p:nvPr/>
        </p:nvSpPr>
        <p:spPr>
          <a:xfrm>
            <a:off x="82936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학습한 대응의 검증</a:t>
            </a:r>
            <a:endParaRPr lang="en-US" sz="1050"/>
          </a:p>
        </p:txBody>
      </p:sp>
      <p:sp>
        <p:nvSpPr>
          <p:cNvPr id="27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8" name="Text 24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성장 &amp; 협력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증강으로 콤보를 키우고, 동료와 연계한다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3931920"/>
          </a:xfrm>
          <a:prstGeom prst="roundRect">
            <a:avLst>
              <a:gd name="adj" fmla="val 16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증강 (Augment)</a:t>
            </a:r>
            <a:endParaRPr lang="en-US" sz="1500"/>
          </a:p>
        </p:txBody>
      </p:sp>
      <p:pic>
        <p:nvPicPr>
          <p:cNvPr id="6" name="Image 0" descr="img/es_augmen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06448" y="2286000"/>
            <a:ext cx="300736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레시피를 주우면 콤보에 증강이 부착된다.</a:t>
            </a:r>
            <a:endParaRPr lang="en-US" sz="12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실버 · 골드 · 다이아 등급 — 높을수록 강한 효과.</a:t>
            </a:r>
            <a:endParaRPr lang="en-US" sz="12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'특정 콤보', '특정 커맨드 포함' 등 적용 조건이 포괄적. 같은 스킬에 2개 이상 보유 시 골라 장착.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6236208" y="1783080"/>
            <a:ext cx="5388559" cy="3931920"/>
          </a:xfrm>
          <a:prstGeom prst="roundRect">
            <a:avLst>
              <a:gd name="adj" fmla="val 162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64808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동료 연계 공격</a:t>
            </a:r>
            <a:endParaRPr lang="en-US" sz="1500"/>
          </a:p>
        </p:txBody>
      </p:sp>
      <p:pic>
        <p:nvPicPr>
          <p:cNvPr id="10" name="Image 1" descr="img/es_combo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369476" y="2286000"/>
            <a:ext cx="3122023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3931920"/>
            <a:ext cx="4839919" cy="1737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커맨드 공격 중 좌/우 방향키로 동료 연계 발동.</a:t>
            </a:r>
            <a:endParaRPr lang="en-US" sz="12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동료의 연계에도 커맨드 입력이 가능 — 적 특성에 맞춰 다른 콤보 활용.</a:t>
            </a:r>
            <a:endParaRPr lang="en-US" sz="12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단, 구슬을 5개 온전히 주지 않아(적게 부여) 남발을 막고 리스크·리턴을 조절.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3" name="Text 9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PROJECT — PulseCity</a:t>
            </a:r>
            <a:endParaRPr lang="ko-KR" altLang="en-US" sz="1200" b="1" spc="200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PulseCity</a:t>
            </a:r>
            <a:endParaRPr lang="ko-KR" alt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ubtitle 4"/>
          <p:cNvSpPr txBox="1"/>
          <p:nvPr/>
        </p:nvSpPr>
        <p:spPr>
          <a:xfrm>
            <a:off x="566928" y="1444752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ko-KR" alt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근미래 현대 도시를 배경으로, 용병이 되어 의뢰를 해결하고 던전을 공략하는 3D 온라인 액션 RPG</a:t>
            </a:r>
            <a:endParaRPr lang="ko-KR" altLang="en-US" sz="1300">
              <a:solidFill>
                <a:srgbClr val="24324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Badge 5"/>
          <p:cNvSpPr/>
          <p:nvPr/>
        </p:nvSpPr>
        <p:spPr>
          <a:xfrm>
            <a:off x="566928" y="1975104"/>
            <a:ext cx="630936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BadgeText 6"/>
          <p:cNvSpPr txBox="1"/>
          <p:nvPr/>
        </p:nvSpPr>
        <p:spPr>
          <a:xfrm>
            <a:off x="566928" y="1975104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1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3D</a:t>
            </a:r>
            <a:endParaRPr lang="ko-KR" altLang="en-US" sz="11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Badge 7"/>
          <p:cNvSpPr/>
          <p:nvPr/>
        </p:nvSpPr>
        <p:spPr>
          <a:xfrm>
            <a:off x="1325880" y="1975104"/>
            <a:ext cx="1495044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BadgeText 8"/>
          <p:cNvSpPr txBox="1"/>
          <p:nvPr/>
        </p:nvSpPr>
        <p:spPr>
          <a:xfrm>
            <a:off x="1325880" y="1975104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1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온라인 멀티플레이</a:t>
            </a:r>
            <a:endParaRPr lang="ko-KR" altLang="en-US" sz="11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Badge 9"/>
          <p:cNvSpPr/>
          <p:nvPr/>
        </p:nvSpPr>
        <p:spPr>
          <a:xfrm>
            <a:off x="2948940" y="1975104"/>
            <a:ext cx="630936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BadgeText 10"/>
          <p:cNvSpPr txBox="1"/>
          <p:nvPr/>
        </p:nvSpPr>
        <p:spPr>
          <a:xfrm>
            <a:off x="2948940" y="1975104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1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액션</a:t>
            </a:r>
            <a:endParaRPr lang="ko-KR" altLang="en-US" sz="11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Badge 11"/>
          <p:cNvSpPr/>
          <p:nvPr/>
        </p:nvSpPr>
        <p:spPr>
          <a:xfrm>
            <a:off x="3707892" y="197510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BadgeText 12"/>
          <p:cNvSpPr txBox="1"/>
          <p:nvPr/>
        </p:nvSpPr>
        <p:spPr>
          <a:xfrm>
            <a:off x="3707892" y="19751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1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현대 도시 배경</a:t>
            </a:r>
            <a:endParaRPr lang="ko-KR" altLang="en-US" sz="110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66928" y="2523744"/>
          <a:ext cx="5943600" cy="1920240"/>
        </p:xfrm>
        <a:graphic>
          <a:graphicData uri="http://schemas.openxmlformats.org/drawingml/2006/table">
            <a:tbl>
              <a:tblGrid>
                <a:gridCol w="1737360"/>
                <a:gridCol w="4206240"/>
              </a:tblGrid>
              <a:tr h="384048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장르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온라인 액션 RPG · 슈터</a:t>
                      </a:r>
                      <a:endParaRPr lang="ko-KR" altLang="en-US" sz="120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 · 조작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3인칭 TPS, 총기 + 스킬 전투</a:t>
                      </a:r>
                      <a:endParaRPr lang="ko-KR" altLang="en-US" sz="120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(DX12) / 온라인 멀티플레이</a:t>
                      </a:r>
                      <a:endParaRPr lang="ko-KR" altLang="en-US" sz="120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역할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 + 서버 일부 (3인 팀 · 졸업작품)</a:t>
                      </a:r>
                      <a:endParaRPr lang="ko-KR" altLang="en-US" sz="120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수록 범위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던전 구조 · 몹 배치 · 직업군 설계</a:t>
                      </a:r>
                      <a:endParaRPr lang="ko-KR" altLang="en-US" sz="120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FlowCard 14"/>
          <p:cNvSpPr/>
          <p:nvPr/>
        </p:nvSpPr>
        <p:spPr>
          <a:xfrm>
            <a:off x="566928" y="4645152"/>
            <a:ext cx="5943600" cy="1389888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5"/>
          <p:cNvSpPr txBox="1"/>
          <p:nvPr/>
        </p:nvSpPr>
        <p:spPr>
          <a:xfrm>
            <a:off x="804672" y="4736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 흐름</a:t>
            </a:r>
            <a:endParaRPr lang="ko-KR" altLang="en-US" sz="125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Step 16"/>
          <p:cNvSpPr/>
          <p:nvPr/>
        </p:nvSpPr>
        <p:spPr>
          <a:xfrm>
            <a:off x="804672" y="5120640"/>
            <a:ext cx="1572768" cy="77724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914400" y="5184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의뢰 수락</a:t>
            </a:r>
            <a:endParaRPr lang="ko-KR" altLang="en-US" sz="12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914400" y="5449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ko-KR" altLang="en-US" sz="9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경찰 · 기업 · 갱단 · 개인 의뢰</a:t>
            </a:r>
            <a:endParaRPr lang="ko-KR" altLang="en-US" sz="9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2377440" y="512064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lang="ko-KR" altLang="en-US" sz="16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Step 20"/>
          <p:cNvSpPr/>
          <p:nvPr/>
        </p:nvSpPr>
        <p:spPr>
          <a:xfrm>
            <a:off x="2724912" y="5120640"/>
            <a:ext cx="1572768" cy="77724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21"/>
          <p:cNvSpPr txBox="1"/>
          <p:nvPr/>
        </p:nvSpPr>
        <p:spPr>
          <a:xfrm>
            <a:off x="2834640" y="5184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던전 클리어</a:t>
            </a:r>
            <a:endParaRPr lang="ko-KR" altLang="en-US" sz="12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2834640" y="5449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ko-KR" altLang="en-US" sz="9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메인 의뢰는 던전 수행 필수</a:t>
            </a:r>
            <a:endParaRPr lang="ko-KR" altLang="en-US" sz="9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4297680" y="512064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lang="ko-KR" altLang="en-US" sz="16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Step 24"/>
          <p:cNvSpPr/>
          <p:nvPr/>
        </p:nvSpPr>
        <p:spPr>
          <a:xfrm>
            <a:off x="4645152" y="5120640"/>
            <a:ext cx="1572768" cy="77724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5"/>
          <p:cNvSpPr txBox="1"/>
          <p:nvPr/>
        </p:nvSpPr>
        <p:spPr>
          <a:xfrm>
            <a:off x="4754880" y="5184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스토리 진행</a:t>
            </a:r>
            <a:endParaRPr lang="ko-KR" altLang="en-US" sz="12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4754880" y="5449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ko-KR" altLang="en-US" sz="9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메인스토리를 밀고 엔딩까지</a:t>
            </a:r>
            <a:endParaRPr lang="ko-KR" altLang="en-US" sz="95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ArtCard 27"/>
          <p:cNvSpPr/>
          <p:nvPr/>
        </p:nvSpPr>
        <p:spPr>
          <a:xfrm>
            <a:off x="6876288" y="1975104"/>
            <a:ext cx="4745736" cy="4059936"/>
          </a:xfrm>
          <a:prstGeom prst="roundRect">
            <a:avLst>
              <a:gd name="adj" fmla="val 2027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8" name="Image 28" descr="실제 플레이 화면 — 필드(항만 구역)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13448" y="2103120"/>
            <a:ext cx="4471416" cy="2510771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6876288" y="4723618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1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실제 플레이 화면 — 오픈 필드 </a:t>
            </a:r>
            <a:endParaRPr lang="ko-KR" altLang="en-US" sz="11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>
              <a:buNone/>
              <a:defRPr/>
            </a:pPr>
            <a:r>
              <a:rPr lang="ko-KR" altLang="en-US" sz="10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3인칭 총격전, 실시간 파티 플레이</a:t>
            </a:r>
            <a:endParaRPr lang="ko-KR" altLang="en-US" sz="10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Footer 30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ko-KR" altLang="en-US" sz="9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PageNo 31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lang="ko-KR" altLang="en-US" sz="9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PulseCity — 던전 구조</a:t>
            </a:r>
            <a:endParaRPr lang="ko-KR" altLang="en-US" sz="1200" b="1" spc="200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회사 건물 던전: 로비 → 사무실 → 보스방</a:t>
            </a:r>
            <a:endParaRPr lang="ko-KR" alt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ShotCard 7"/>
          <p:cNvSpPr/>
          <p:nvPr/>
        </p:nvSpPr>
        <p:spPr>
          <a:xfrm>
            <a:off x="566928" y="1691640"/>
            <a:ext cx="5120640" cy="3794760"/>
          </a:xfrm>
          <a:prstGeom prst="roundRect">
            <a:avLst>
              <a:gd name="adj" fmla="val 4687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Image 8" descr="실제 던전 내부 화면 (사무실 구역)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5943" y="1965960"/>
            <a:ext cx="4842609" cy="2898648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66928" y="51572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000" i="1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실제 던전 내부 화면 — </a:t>
            </a:r>
            <a:r>
              <a:rPr lang="en-US" altLang="ko-KR" sz="1000" i="1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000" i="1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층 로비 구역</a:t>
            </a:r>
            <a:endParaRPr lang="ko-KR" altLang="en-US" sz="1000" i="1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Card 10"/>
          <p:cNvSpPr/>
          <p:nvPr/>
        </p:nvSpPr>
        <p:spPr>
          <a:xfrm>
            <a:off x="5916168" y="1691640"/>
            <a:ext cx="5705856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Badge 11"/>
          <p:cNvSpPr/>
          <p:nvPr/>
        </p:nvSpPr>
        <p:spPr>
          <a:xfrm>
            <a:off x="6099048" y="1874520"/>
            <a:ext cx="384048" cy="384048"/>
          </a:xfrm>
          <a:prstGeom prst="ellipse">
            <a:avLst/>
          </a:prstGeom>
          <a:solidFill>
            <a:srgbClr val="c8622e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629400" y="18196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3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1층 · 로비 — 갈수록 넓어지는 방</a:t>
            </a:r>
            <a:endParaRPr lang="ko-KR" altLang="en-US" sz="135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662940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1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입구 → 대기실 → 광장 순으로 공간이 커진다. 좁은 곳에서 트인 곳으로 나아가는 확장감을 준다.</a:t>
            </a:r>
            <a:endParaRPr lang="ko-KR" altLang="en-US" sz="11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Card 14"/>
          <p:cNvSpPr/>
          <p:nvPr/>
        </p:nvSpPr>
        <p:spPr>
          <a:xfrm>
            <a:off x="5916168" y="2985516"/>
            <a:ext cx="5705856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Badge 15"/>
          <p:cNvSpPr/>
          <p:nvPr/>
        </p:nvSpPr>
        <p:spPr>
          <a:xfrm>
            <a:off x="6099048" y="3168396"/>
            <a:ext cx="384048" cy="384048"/>
          </a:xfrm>
          <a:prstGeom prst="ellipse">
            <a:avLst/>
          </a:prstGeom>
          <a:solidFill>
            <a:srgbClr val="c8622e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6629400" y="31135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3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2층 · 사무실 — 방마다 다른 전투</a:t>
            </a:r>
            <a:endParaRPr lang="ko-KR" altLang="en-US" sz="135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6629400" y="34427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1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방마다 몬스터 배치가 달라 수색하는 재미를 준다. 키 4개를 모아야 보스방 문이 열리고, 가장 넓은 중앙 방은 몬스터가 가장 많은 대신 큰 보상이 있다.</a:t>
            </a:r>
            <a:endParaRPr lang="ko-KR" altLang="en-US" sz="1100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Card 18"/>
          <p:cNvSpPr/>
          <p:nvPr/>
        </p:nvSpPr>
        <p:spPr>
          <a:xfrm>
            <a:off x="5916168" y="4279392"/>
            <a:ext cx="5705856" cy="1170432"/>
          </a:xfrm>
          <a:prstGeom prst="roundRect">
            <a:avLst>
              <a:gd name="adj" fmla="val 625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Badge 19"/>
          <p:cNvSpPr/>
          <p:nvPr/>
        </p:nvSpPr>
        <p:spPr>
          <a:xfrm>
            <a:off x="6099048" y="4462272"/>
            <a:ext cx="384048" cy="384048"/>
          </a:xfrm>
          <a:prstGeom prst="ellipse">
            <a:avLst/>
          </a:prstGeom>
          <a:solidFill>
            <a:srgbClr val="c8622e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6629400" y="44074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35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보스방 — 코어 3개를 부수고 보스 공략</a:t>
            </a:r>
            <a:endParaRPr lang="ko-KR" altLang="en-US" sz="1350" b="1">
              <a:solidFill>
                <a:srgbClr val="e0a15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6629400" y="47365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1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넓은 단일 방, 벽면 전체를 차지하는 거대한 고정형 보스. 코어 3개를 모두 파괴해야 보스에게 피해를 줄 수 있다.</a:t>
            </a:r>
            <a:endParaRPr lang="ko-KR" altLang="en-US" sz="11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Bar 22"/>
          <p:cNvSpPr/>
          <p:nvPr/>
        </p:nvSpPr>
        <p:spPr>
          <a:xfrm>
            <a:off x="566928" y="5669280"/>
            <a:ext cx="11055096" cy="640080"/>
          </a:xfrm>
          <a:prstGeom prst="roundRect">
            <a:avLst>
              <a:gd name="adj" fmla="val 1428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BarText 23"/>
          <p:cNvSpPr txBox="1"/>
          <p:nvPr/>
        </p:nvSpPr>
        <p:spPr>
          <a:xfrm>
            <a:off x="841248" y="566928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설계 의도 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공간이 넓어질수록 전투 규모도 함께 커지게 해, 로비에서 보스방까지 긴장감이 쌓이는 흐름을 만들었다.</a:t>
            </a:r>
            <a:endParaRPr lang="ko-KR" altLang="en-US" sz="12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Footer 24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ko-KR" altLang="en-US" sz="9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ageNo 25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lang="ko-KR" altLang="en-US" sz="9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PulseCity — 몹 배치</a:t>
            </a:r>
            <a:endParaRPr lang="ko-KR" altLang="en-US" sz="1200" b="1" spc="200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방마다 다른 몹 구성으로 전투에 변화를 준다</a:t>
            </a:r>
            <a:endParaRPr lang="ko-KR" altLang="en-US" sz="29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66928" y="1691640"/>
          <a:ext cx="7086600" cy="3767328"/>
        </p:xfrm>
        <a:graphic>
          <a:graphicData uri="http://schemas.openxmlformats.org/drawingml/2006/table">
            <a:tbl>
              <a:tblGrid>
                <a:gridCol w="1554480"/>
                <a:gridCol w="3017520"/>
                <a:gridCol w="2514600"/>
              </a:tblGrid>
              <a:tr h="31089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구역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몹 구성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의도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</a:tr>
              <a:tr h="49377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입구 · 대기실</a:t>
                      </a:r>
                      <a:endParaRPr lang="ko-KR" altLang="en-US" sz="1100" b="1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×4  →   경호로봇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전투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광장</a:t>
                      </a:r>
                      <a:endParaRPr lang="ko-KR" altLang="en-US" sz="1100" b="1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터렛 ×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lang="en-US" altLang="ko-KR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최대 규모의 전투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2층 키1·키4 방</a:t>
                      </a:r>
                      <a:endParaRPr lang="ko-KR" altLang="en-US" sz="1100" b="1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×3 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×2 · 터렛 ×1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몹의 조합이 방마다 다르다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2층 키2·키3 방</a:t>
                      </a:r>
                      <a:endParaRPr lang="ko-KR" altLang="en-US" sz="1100" b="1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터렛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3</a:t>
                      </a:r>
                      <a:b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1 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터렛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2</a:t>
                      </a:r>
                      <a:endParaRPr lang="en-US" altLang="ko-KR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몹의 조합이 방마다 다르다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2층 중앙 방</a:t>
                      </a:r>
                      <a:endParaRPr lang="ko-KR" altLang="en-US" sz="1100" b="1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×4  · 터렛 ×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3</a:t>
                      </a:r>
                      <a:endParaRPr lang="en-US" altLang="ko-KR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몹이 가장 많은 방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보스방 앞</a:t>
                      </a:r>
                      <a:endParaRPr lang="ko-KR" altLang="en-US" sz="1100" b="1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거대 고정형 보스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포탑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코어 3개 파괴 후 보스 타격 가능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보스방</a:t>
                      </a:r>
                      <a:endParaRPr lang="ko-KR" altLang="en-US" sz="1100" b="1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×4  →   경호로봇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36576" rIns="73152" bIns="36576" anchor="ctr" anchorCtr="0"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전투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882128" y="2427732"/>
            <a:ext cx="37581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1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몬스터 </a:t>
            </a:r>
            <a:r>
              <a:rPr lang="en-US" altLang="ko-KR" sz="11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1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종</a:t>
            </a:r>
            <a:endParaRPr lang="ko-KR" altLang="en-US" sz="1100" b="1">
              <a:solidFill>
                <a:srgbClr val="1f26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MobCard 6"/>
          <p:cNvSpPr/>
          <p:nvPr/>
        </p:nvSpPr>
        <p:spPr>
          <a:xfrm>
            <a:off x="7882128" y="2738628"/>
            <a:ext cx="1819656" cy="1673352"/>
          </a:xfrm>
          <a:prstGeom prst="roundRect">
            <a:avLst>
              <a:gd name="adj" fmla="val 382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Image 7" descr="경호로봇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19288" y="2848356"/>
            <a:ext cx="1545336" cy="835317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8019288" y="372618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경호로봇</a:t>
            </a:r>
            <a:endParaRPr lang="ko-KR" altLang="en-US" sz="12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8019288" y="39730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ko-KR" altLang="en-US" sz="9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표준 스탯의 기본 몹 (체력 · 화력 · 속도 중간)</a:t>
            </a:r>
            <a:endParaRPr lang="ko-KR" altLang="en-US" sz="950">
              <a:solidFill>
                <a:srgbClr val="24324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MobCard 10"/>
          <p:cNvSpPr/>
          <p:nvPr/>
        </p:nvSpPr>
        <p:spPr>
          <a:xfrm>
            <a:off x="9820656" y="2738628"/>
            <a:ext cx="1819656" cy="1673352"/>
          </a:xfrm>
          <a:prstGeom prst="roundRect">
            <a:avLst>
              <a:gd name="adj" fmla="val 382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" name="Image 11" descr="터렛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57816" y="2848356"/>
            <a:ext cx="1545336" cy="835317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957816" y="372618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터렛</a:t>
            </a:r>
            <a:endParaRPr lang="ko-KR" altLang="en-US" sz="1200" b="1">
              <a:solidFill>
                <a:srgbClr val="c862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9957816" y="39730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ko-KR" altLang="en-US" sz="9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고정형 · 고화력, 재장전 틈을 노려 처치</a:t>
            </a:r>
            <a:endParaRPr lang="ko-KR" altLang="en-US" sz="950">
              <a:solidFill>
                <a:srgbClr val="24324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Bar 22"/>
          <p:cNvSpPr/>
          <p:nvPr/>
        </p:nvSpPr>
        <p:spPr>
          <a:xfrm>
            <a:off x="566928" y="5669280"/>
            <a:ext cx="11055096" cy="640080"/>
          </a:xfrm>
          <a:prstGeom prst="roundRect">
            <a:avLst>
              <a:gd name="adj" fmla="val 1428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BarText 23"/>
          <p:cNvSpPr txBox="1"/>
          <p:nvPr/>
        </p:nvSpPr>
        <p:spPr>
          <a:xfrm>
            <a:off x="841248" y="566928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설계 의도 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플레이어는 층의 모든 몬스터를 없애야 다음 층으로 올라갈수있기 때문에 방 마다 요구하는 전투 유형을 달리하였다</a:t>
            </a:r>
            <a:endParaRPr lang="ko-KR" altLang="en-US" sz="1200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Footer 24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ko-KR" altLang="en-US" sz="9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ageNo 25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lang="ko-KR" altLang="en-US" sz="900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PulseCity — 직업군</a:t>
            </a: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3개 직업군 · 9개 직업의 역할 설계</a:t>
            </a:r>
          </a:p>
        </p:txBody>
      </p:sp>
      <p:sp>
        <p:nvSpPr>
          <p:cNvPr id="4" name="GroupHead 4"/>
          <p:cNvSpPr/>
          <p:nvPr/>
        </p:nvSpPr>
        <p:spPr>
          <a:xfrm>
            <a:off x="566928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5" name="Text 5"/>
          <p:cNvSpPr txBox="1"/>
          <p:nvPr/>
        </p:nvSpPr>
        <p:spPr>
          <a:xfrm>
            <a:off x="749808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돌격군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49808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수동적으로 맞기만 하는 탱커가 아니라, 각자의 '생존 기제'로 최전방을 돌파한다</a:t>
            </a:r>
          </a:p>
        </p:txBody>
      </p:sp>
      <p:sp>
        <p:nvSpPr>
          <p:cNvPr id="7" name="JobCard 7"/>
          <p:cNvSpPr/>
          <p:nvPr/>
        </p:nvSpPr>
        <p:spPr>
          <a:xfrm>
            <a:off x="566928" y="2697480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8" name="Image 8" descr="저거넛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93492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9" name="Text 9"/>
          <p:cNvSpPr txBox="1"/>
          <p:nvPr/>
        </p:nvSpPr>
        <p:spPr>
          <a:xfrm>
            <a:off x="1508760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저거넛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머신건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508760" y="3081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열기 게이지를 관리하며 버티는 리스크형 탱커</a:t>
            </a:r>
          </a:p>
        </p:txBody>
      </p:sp>
      <p:sp>
        <p:nvSpPr>
          <p:cNvPr id="11" name="JobCard 11"/>
          <p:cNvSpPr/>
          <p:nvPr/>
        </p:nvSpPr>
        <p:spPr>
          <a:xfrm>
            <a:off x="566928" y="3630168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2" name="Image 12" descr="프로스트 가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26180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13" name="Text 13"/>
          <p:cNvSpPr txBox="1"/>
          <p:nvPr/>
        </p:nvSpPr>
        <p:spPr>
          <a:xfrm>
            <a:off x="1508760" y="3721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프로스트 가드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샷건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508760" y="40142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얼음 스킬과 패링으로 버티는 근접 탱커</a:t>
            </a:r>
          </a:p>
        </p:txBody>
      </p:sp>
      <p:sp>
        <p:nvSpPr>
          <p:cNvPr id="15" name="JobCard 15"/>
          <p:cNvSpPr/>
          <p:nvPr/>
        </p:nvSpPr>
        <p:spPr>
          <a:xfrm>
            <a:off x="566928" y="4562856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6" name="Image 16" descr="이지스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658868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17" name="Text 17"/>
          <p:cNvSpPr txBox="1"/>
          <p:nvPr/>
        </p:nvSpPr>
        <p:spPr>
          <a:xfrm>
            <a:off x="1508760" y="4654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이지스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권총 · 방패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508760" y="494690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기동성을 갖춘 방패 수호자</a:t>
            </a:r>
          </a:p>
        </p:txBody>
      </p:sp>
      <p:sp>
        <p:nvSpPr>
          <p:cNvPr id="19" name="GroupHead 19"/>
          <p:cNvSpPr/>
          <p:nvPr/>
        </p:nvSpPr>
        <p:spPr>
          <a:xfrm>
            <a:off x="4311396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20" name="Text 20"/>
          <p:cNvSpPr txBox="1"/>
          <p:nvPr/>
        </p:nvSpPr>
        <p:spPr>
          <a:xfrm>
            <a:off x="4494276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유틸군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494276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총기 화력보다 스킬 운용(뇌지컬)으로 전황을 유리하게 만드는 '판 깔기'</a:t>
            </a:r>
          </a:p>
        </p:txBody>
      </p:sp>
      <p:sp>
        <p:nvSpPr>
          <p:cNvPr id="22" name="JobCard 22"/>
          <p:cNvSpPr/>
          <p:nvPr/>
        </p:nvSpPr>
        <p:spPr>
          <a:xfrm>
            <a:off x="4311396" y="2697480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23" name="Image 23" descr="드론 오퍼레이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2793492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24" name="Text 24"/>
          <p:cNvSpPr txBox="1"/>
          <p:nvPr/>
        </p:nvSpPr>
        <p:spPr>
          <a:xfrm>
            <a:off x="5253228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드론 오퍼레이터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권총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253228" y="3081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드론 3기로 아군을 지원하고 전장을 정찰</a:t>
            </a:r>
          </a:p>
        </p:txBody>
      </p:sp>
      <p:sp>
        <p:nvSpPr>
          <p:cNvPr id="26" name="JobCard 26"/>
          <p:cNvSpPr/>
          <p:nvPr/>
        </p:nvSpPr>
        <p:spPr>
          <a:xfrm>
            <a:off x="4311396" y="3630168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27" name="Image 27" descr="해커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556" y="3726180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28" name="Text 28"/>
          <p:cNvSpPr txBox="1"/>
          <p:nvPr/>
        </p:nvSpPr>
        <p:spPr>
          <a:xfrm>
            <a:off x="5253228" y="3721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해커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SMG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253228" y="40142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해킹과 홀로그램으로 적을 기만하는 트릭스터</a:t>
            </a:r>
          </a:p>
        </p:txBody>
      </p:sp>
      <p:sp>
        <p:nvSpPr>
          <p:cNvPr id="30" name="JobCard 30"/>
          <p:cNvSpPr/>
          <p:nvPr/>
        </p:nvSpPr>
        <p:spPr>
          <a:xfrm>
            <a:off x="4311396" y="4562856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31" name="Image 31" descr="투척병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556" y="4658868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32" name="Text 32"/>
          <p:cNvSpPr txBox="1"/>
          <p:nvPr/>
        </p:nvSpPr>
        <p:spPr>
          <a:xfrm>
            <a:off x="5253228" y="4654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투척병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유탄 발사기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253228" y="494690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장판 · 디버프 유탄으로 공간을 지배하는 설계자</a:t>
            </a:r>
          </a:p>
        </p:txBody>
      </p:sp>
      <p:sp>
        <p:nvSpPr>
          <p:cNvPr id="34" name="GroupHead 34"/>
          <p:cNvSpPr/>
          <p:nvPr/>
        </p:nvSpPr>
        <p:spPr>
          <a:xfrm>
            <a:off x="8055864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8238744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공격군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238744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스킬 의존도를 낮추고, 에임 · 무빙 등 컨트롤이 곧 전투력이 된다</a:t>
            </a:r>
          </a:p>
        </p:txBody>
      </p:sp>
      <p:sp>
        <p:nvSpPr>
          <p:cNvPr id="37" name="JobCard 37"/>
          <p:cNvSpPr/>
          <p:nvPr/>
        </p:nvSpPr>
        <p:spPr>
          <a:xfrm>
            <a:off x="8055864" y="2697480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38" name="Image 38" descr="스나이퍼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2793492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39" name="Text 39"/>
          <p:cNvSpPr txBox="1"/>
          <p:nvPr/>
        </p:nvSpPr>
        <p:spPr>
          <a:xfrm>
            <a:off x="8997696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스나이퍼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SR · DMR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997696" y="3081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원거리 정밀 타격으로 한 방의 위력을 노린다</a:t>
            </a:r>
          </a:p>
        </p:txBody>
      </p:sp>
      <p:sp>
        <p:nvSpPr>
          <p:cNvPr id="41" name="JobCard 41"/>
          <p:cNvSpPr/>
          <p:nvPr/>
        </p:nvSpPr>
        <p:spPr>
          <a:xfrm>
            <a:off x="8055864" y="3630168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42" name="Image 42" descr="돌격소총수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3726180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43" name="Text 43"/>
          <p:cNvSpPr txBox="1"/>
          <p:nvPr/>
        </p:nvSpPr>
        <p:spPr>
          <a:xfrm>
            <a:off x="8997696" y="3721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돌격소총수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소총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997696" y="40142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달리며 쏘는 런 앤 건, 중거리 지속딜</a:t>
            </a:r>
          </a:p>
        </p:txBody>
      </p:sp>
      <p:sp>
        <p:nvSpPr>
          <p:cNvPr id="45" name="JobCard 45"/>
          <p:cNvSpPr/>
          <p:nvPr/>
        </p:nvSpPr>
        <p:spPr>
          <a:xfrm>
            <a:off x="8055864" y="4562856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46" name="Image 46" descr="쌍권총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3024" y="4658868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47" name="Text 47"/>
          <p:cNvSpPr txBox="1"/>
          <p:nvPr/>
        </p:nvSpPr>
        <p:spPr>
          <a:xfrm>
            <a:off x="8997696" y="4654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쌍권총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997696" y="494690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근접 순간 화력이 가장 강한 하이 리스크 하이 리턴</a:t>
            </a:r>
          </a:p>
        </p:txBody>
      </p:sp>
      <p:sp>
        <p:nvSpPr>
          <p:cNvPr id="49" name="Bar 49"/>
          <p:cNvSpPr/>
          <p:nvPr/>
        </p:nvSpPr>
        <p:spPr>
          <a:xfrm>
            <a:off x="566928" y="5669280"/>
            <a:ext cx="11055096" cy="640080"/>
          </a:xfrm>
          <a:prstGeom prst="roundRect">
            <a:avLst>
              <a:gd name="adj" fmla="val 1428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50" name="BarText 50"/>
          <p:cNvSpPr txBox="1"/>
          <p:nvPr/>
        </p:nvSpPr>
        <p:spPr>
          <a:xfrm>
            <a:off x="841248" y="566928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설계 의도 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직업군마다 플레이어에게 요구하는 능력을 분리했다 — 생존 기제 운용(돌격) · 스킬 판단(유틸) · 에임과 무빙(공격). 에임에 자신이 없어도 스킬 판단으로 활약할 수 있다.</a:t>
            </a:r>
          </a:p>
        </p:txBody>
      </p:sp>
      <p:sp>
        <p:nvSpPr>
          <p:cNvPr id="51" name="Footer 51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</a:p>
        </p:txBody>
      </p:sp>
      <p:sp>
        <p:nvSpPr>
          <p:cNvPr id="52" name="PageNo 52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05  PHILOSOPHY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언제나 플레이어</a:t>
            </a:r>
            <a:r>
              <a:rPr lang="ko-KR" alt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 경험</a:t>
            </a:r>
            <a:r>
              <a:rPr 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에서 시작한다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1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84124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유저의 플레이 예상</a:t>
            </a:r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기능이 아니라 '의도한 플레이어 경험'을 먼저 정의하고 시스템을 거기서 도출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27024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2</a:t>
            </a:r>
            <a:endParaRPr lang="en-US" sz="4000"/>
          </a:p>
        </p:txBody>
      </p:sp>
      <p:sp>
        <p:nvSpPr>
          <p:cNvPr id="10" name="Text 8"/>
          <p:cNvSpPr/>
          <p:nvPr/>
        </p:nvSpPr>
        <p:spPr>
          <a:xfrm>
            <a:off x="454456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곡선 설계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454456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무엇을 가르치고 어디서 검증할지 — 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적·난이도를 학습 단계로 구성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797356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4788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3</a:t>
            </a:r>
            <a:endParaRPr lang="en-US" sz="4000"/>
          </a:p>
        </p:txBody>
      </p:sp>
      <p:sp>
        <p:nvSpPr>
          <p:cNvPr id="14" name="Text 12"/>
          <p:cNvSpPr/>
          <p:nvPr/>
        </p:nvSpPr>
        <p:spPr>
          <a:xfrm>
            <a:off x="824788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구현을 아는 판단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824788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서버를 직접 다뤄본 감각으로 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'구현 가능한' 기획을 제시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566928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진성준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85216" y="3977640"/>
            <a:ext cx="2743200" cy="0"/>
          </a:xfrm>
          <a:prstGeom prst="line">
            <a:avLst/>
          </a:prstGeom>
          <a:noFill/>
          <a:ln w="25400">
            <a:solidFill>
              <a:srgbClr val="C8622E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010-7770-2108   ·   </a:t>
            </a:r>
            <a:r>
              <a:rPr lang="en-US" altLang="ko-KR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@naver.com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1613</ep:Words>
  <ep:PresentationFormat>와이드스크린</ep:PresentationFormat>
  <ep:Paragraphs>288</ep:Paragraphs>
  <ep:Slides>20</ep:Slides>
  <ep:Notes>16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ep:HeadingPairs>
  <ep:TitlesOfParts>
    <vt:vector size="2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2026-07-06T02:37:10.000</dcterms:created>
  <dc:creator>진성준</dc:creator>
  <cp:lastModifiedBy>진성준</cp:lastModifiedBy>
  <dcterms:modified xsi:type="dcterms:W3CDTF">2026-10-05T22:12:17.585</dcterms:modified>
  <cp:revision>53</cp:revision>
  <dc:subject>PptxGenJS Presentation</dc:subject>
  <dc:title>진성준 게임 시스템 기획 포트폴리오</dc:title>
  <cp:version/>
</cp:coreProperties>
</file>