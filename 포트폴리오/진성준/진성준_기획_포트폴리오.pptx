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4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216" y="312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presProps" Target="presProps.xml"  /><Relationship Id="rId2" Type="http://schemas.openxmlformats.org/officeDocument/2006/relationships/notesMaster" Target="notesMasters/notesMaster1.xml"  /><Relationship Id="rId20" Type="http://schemas.openxmlformats.org/officeDocument/2006/relationships/viewProps" Target="viewProps.xml"  /><Relationship Id="rId21" Type="http://schemas.openxmlformats.org/officeDocument/2006/relationships/theme" Target="theme/theme1.xml"  /><Relationship Id="rId22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image" Target="../media/image2.png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Relationship Id="rId4" Type="http://schemas.openxmlformats.org/officeDocument/2006/relationships/slideLayout" Target="../slideLayouts/slideLayout1.xml"  /><Relationship Id="rId5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image" Target="../media/image7.png"  /><Relationship Id="rId2" Type="http://schemas.openxmlformats.org/officeDocument/2006/relationships/slideLayout" Target="../slideLayouts/slideLayout1.xml"  /><Relationship Id="rId3" Type="http://schemas.openxmlformats.org/officeDocument/2006/relationships/notesSlide" Target="../notesSlides/notesSlide10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image" Target="../media/image9.png"  /><Relationship Id="rId2" Type="http://schemas.openxmlformats.org/officeDocument/2006/relationships/image" Target="../media/image10.png"  /><Relationship Id="rId3" Type="http://schemas.openxmlformats.org/officeDocument/2006/relationships/slideLayout" Target="../slideLayouts/slideLayout1.xml"  /><Relationship Id="rId4" Type="http://schemas.openxmlformats.org/officeDocument/2006/relationships/notesSlide" Target="../notesSlides/notesSlide12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12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">
    <p:bg>
      <p:bgPr shadeToTitle="0">
        <a:solidFill>
          <a:srgbClr val="16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3b"/>
          </a:solidFill>
          <a:ln/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7" y="2468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 kern="0" spc="800">
                <a:solidFill>
                  <a:srgbClr val="e0a15a"/>
                </a:solidFill>
                <a:latin typeface="Arial"/>
                <a:ea typeface="Arial"/>
                <a:cs typeface="Arial"/>
              </a:rPr>
              <a:t>PORTFOLIO</a:t>
            </a:r>
            <a:endParaRPr lang="en-US" sz="1600"/>
          </a:p>
        </p:txBody>
      </p:sp>
      <p:sp>
        <p:nvSpPr>
          <p:cNvPr id="4" name="Text 2"/>
          <p:cNvSpPr/>
          <p:nvPr/>
        </p:nvSpPr>
        <p:spPr>
          <a:xfrm>
            <a:off x="566927" y="29260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게임 기획</a:t>
            </a:r>
            <a:r>
              <a:rPr lang="ko-KR" altLang="en-US" sz="5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포트폴리오</a:t>
            </a:r>
            <a:endParaRPr lang="ko-KR" altLang="en-US" sz="52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85216" y="4343400"/>
            <a:ext cx="2926080" cy="0"/>
          </a:xfrm>
          <a:prstGeom prst="line">
            <a:avLst/>
          </a:prstGeom>
          <a:noFill/>
          <a:ln w="25400">
            <a:solidFill>
              <a:srgbClr val="c8622e"/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45262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진성준</a:t>
            </a:r>
            <a:endParaRPr lang="en-US" sz="20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한국공학대학교 게임공학과  ·  4학년</a:t>
            </a:r>
            <a:endParaRPr 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010-7770-2108   ·   </a:t>
            </a:r>
            <a:r>
              <a:rPr lang="en-US" altLang="ko-KR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@naver.com</a:t>
            </a:r>
            <a:endParaRPr 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INDEX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목차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  <a:endParaRPr lang="en-US" sz="2000"/>
          </a:p>
        </p:txBody>
      </p:sp>
      <p:sp>
        <p:nvSpPr>
          <p:cNvPr id="6" name="Text 4"/>
          <p:cNvSpPr/>
          <p:nvPr/>
        </p:nvSpPr>
        <p:spPr>
          <a:xfrm>
            <a:off x="1389888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자기소개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389888" y="2029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프로필 · 역량 · 이력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566928" y="2670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4324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66928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  <a:endParaRPr lang="en-US" sz="2000"/>
          </a:p>
        </p:txBody>
      </p:sp>
      <p:sp>
        <p:nvSpPr>
          <p:cNvPr id="10" name="Text 8"/>
          <p:cNvSpPr/>
          <p:nvPr/>
        </p:nvSpPr>
        <p:spPr>
          <a:xfrm>
            <a:off x="1389888" y="26517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1389888" y="29626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소울라이크 × 턴제 전투 시스템 기획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66928" y="36027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  <a:endParaRPr lang="en-US" sz="2000"/>
          </a:p>
        </p:txBody>
      </p:sp>
      <p:sp>
        <p:nvSpPr>
          <p:cNvPr id="14" name="Text 12"/>
          <p:cNvSpPr/>
          <p:nvPr/>
        </p:nvSpPr>
        <p:spPr>
          <a:xfrm>
            <a:off x="1389888" y="35844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ESCAPE</a:t>
            </a:r>
            <a:endParaRPr lang="en-US" sz="1800"/>
          </a:p>
        </p:txBody>
      </p:sp>
      <p:sp>
        <p:nvSpPr>
          <p:cNvPr id="15" name="Text 13"/>
          <p:cNvSpPr/>
          <p:nvPr/>
        </p:nvSpPr>
        <p:spPr>
          <a:xfrm>
            <a:off x="1389888" y="389534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커맨드 조합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기반</a:t>
            </a: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턴제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RPG 기획</a:t>
            </a:r>
            <a:endParaRPr lang="en-US" sz="12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4535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  <a:endParaRPr lang="en-US" sz="2000"/>
          </a:p>
        </p:txBody>
      </p:sp>
      <p:sp>
        <p:nvSpPr>
          <p:cNvPr id="20" name="Shape 18"/>
          <p:cNvSpPr/>
          <p:nvPr/>
        </p:nvSpPr>
        <p:spPr>
          <a:xfrm>
            <a:off x="566928" y="453542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66928" y="4535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en-US" altLang="ko-KR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lang="en-US" altLang="ko-KR" sz="20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389887" y="4517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종합 · 기타</a:t>
            </a:r>
            <a:endParaRPr lang="en-US" sz="1800"/>
          </a:p>
        </p:txBody>
      </p:sp>
      <p:sp>
        <p:nvSpPr>
          <p:cNvPr id="23" name="Text 21"/>
          <p:cNvSpPr/>
          <p:nvPr/>
        </p:nvSpPr>
        <p:spPr>
          <a:xfrm>
            <a:off x="1389887" y="4828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기획 철학 · 기타 프로젝트</a:t>
            </a:r>
            <a:endParaRPr lang="en-US" sz="125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01  ABOUT ME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자기소개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749040" cy="4480560"/>
          </a:xfrm>
          <a:prstGeom prst="roundRect">
            <a:avLst>
              <a:gd name="adj" fmla="val 1707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진성준</a:t>
            </a:r>
            <a:endParaRPr lang="en-US" sz="2600"/>
          </a:p>
        </p:txBody>
      </p:sp>
      <p:sp>
        <p:nvSpPr>
          <p:cNvPr id="6" name="Text 4"/>
          <p:cNvSpPr/>
          <p:nvPr/>
        </p:nvSpPr>
        <p:spPr>
          <a:xfrm>
            <a:off x="841248" y="2487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0a15a"/>
                </a:solidFill>
                <a:latin typeface="Arial"/>
                <a:ea typeface="Arial"/>
                <a:cs typeface="Arial"/>
              </a:rPr>
              <a:t>Jin Seongjun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841248" y="2880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endParaRPr lang="en-US" sz="1350" i="1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841248" y="352044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학력</a:t>
            </a:r>
            <a:endParaRPr lang="en-US" sz="120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한국공학대학교 게임공학과</a:t>
            </a:r>
            <a:endParaRPr lang="en-US" sz="12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1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2026.02 졸업예정</a:t>
            </a:r>
            <a:endParaRPr lang="en-US" sz="11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60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lang="en-US" sz="60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연락처</a:t>
            </a:r>
            <a:endParaRPr lang="en-US" sz="120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010-7770-2108</a:t>
            </a:r>
            <a:endParaRPr lang="en-US" sz="12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altLang="ko-KR" sz="115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15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@naver.com</a:t>
            </a:r>
            <a:endParaRPr lang="en-US" sz="115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81728" y="1783080"/>
            <a:ext cx="69430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핵심 역량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4681728" y="219456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681728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기획</a:t>
            </a:r>
            <a:endParaRPr lang="en-US" sz="1250"/>
          </a:p>
        </p:txBody>
      </p:sp>
      <p:sp>
        <p:nvSpPr>
          <p:cNvPr id="12" name="Text 10"/>
          <p:cNvSpPr/>
          <p:nvPr/>
        </p:nvSpPr>
        <p:spPr>
          <a:xfrm>
            <a:off x="6236208" y="2194560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전투·시스템 설계 /</a:t>
            </a:r>
            <a:r>
              <a:rPr lang="en-US" altLang="ko-KR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플레이어 경험 설계</a:t>
            </a:r>
            <a:endParaRPr lang="en-US" sz="125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81728" y="27614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681728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문서화</a:t>
            </a:r>
            <a:endParaRPr lang="en-US" sz="1250"/>
          </a:p>
        </p:txBody>
      </p:sp>
      <p:sp>
        <p:nvSpPr>
          <p:cNvPr id="15" name="Text 13"/>
          <p:cNvSpPr/>
          <p:nvPr/>
        </p:nvSpPr>
        <p:spPr>
          <a:xfrm>
            <a:off x="6236208" y="2761488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시스템 정의서 / 발표·제안서 / 반복 개선(피드백 반영)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4681728" y="3328416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81728" y="33284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구현 이해</a:t>
            </a:r>
            <a:endParaRPr lang="en-US" sz="1250"/>
          </a:p>
        </p:txBody>
      </p:sp>
      <p:sp>
        <p:nvSpPr>
          <p:cNvPr id="18" name="Text 16"/>
          <p:cNvSpPr/>
          <p:nvPr/>
        </p:nvSpPr>
        <p:spPr>
          <a:xfrm>
            <a:off x="6236208" y="3328416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C++ · 게임 서버(Zone 분산·프로토콜 설계)</a:t>
            </a:r>
            <a:endParaRPr lang="en-US" sz="125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81728" y="389534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81728" y="38953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도구</a:t>
            </a:r>
            <a:endParaRPr lang="en-US" sz="1250"/>
          </a:p>
        </p:txBody>
      </p:sp>
      <p:sp>
        <p:nvSpPr>
          <p:cNvPr id="21" name="Text 19"/>
          <p:cNvSpPr/>
          <p:nvPr/>
        </p:nvSpPr>
        <p:spPr>
          <a:xfrm>
            <a:off x="6236208" y="3895344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DirectX12 / Git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4681728" y="4599432"/>
            <a:ext cx="69430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주요 프로젝트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4681728" y="4965192"/>
            <a:ext cx="6943039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Pulse City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DX12 온라인 RPG · 기획 + 서버 담당 (졸업작품)</a:t>
            </a:r>
            <a:endParaRPr lang="en-US" sz="12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소울라이크×턴제 전투 시스템 기획</a:t>
            </a:r>
            <a:endParaRPr lang="en-US" sz="12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ESCAPE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스트레스 기반 커맨드 RPG 기획</a:t>
            </a:r>
            <a:endParaRPr lang="en-US" sz="125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PROJECT — 무진기행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 (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霧津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紀行)</a:t>
            </a:r>
            <a:endParaRPr 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마을의 저주를 풀기 위해 원념체를 쓰러뜨리고 마을의 수수께끼를 푸는 게임</a:t>
            </a:r>
            <a:endParaRPr lang="en-US" sz="135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566928" y="2103120"/>
          <a:ext cx="5943600" cy="2304288"/>
        </p:xfrm>
        <a:graphic>
          <a:graphicData uri="http://schemas.openxmlformats.org/drawingml/2006/table">
            <a:tbl>
              <a:tblGrid>
                <a:gridCol w="1554480"/>
                <a:gridCol w="4389120"/>
              </a:tblGrid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장르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소울라이크 + 턴제 RPG (하이브리드)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/ 싱글플레이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역할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전투 시스템 기획 (단독)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정의서 · 3회 발표 · 보스/던전 설계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2025.03 ~ 2025.06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기획서 · 발표자료 · 레퍼런스 분석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76288" y="2103120"/>
            <a:ext cx="4748479" cy="3566160"/>
          </a:xfrm>
          <a:prstGeom prst="roundRect">
            <a:avLst>
              <a:gd name="adj" fmla="val 179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7" name="Image 0" descr="img/mj_dunge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091528" y="2240280"/>
            <a:ext cx="4226560" cy="23774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76288" y="5257800"/>
            <a:ext cx="474847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던전 컨셉 — 저주로 뒤틀린 공간(스톰빌 성</a:t>
            </a:r>
            <a:r>
              <a:rPr lang="ko-KR" alt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엘든링</a:t>
            </a:r>
            <a:r>
              <a:rPr 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lang="en-US" sz="1100" i="1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0" name="Text 6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핵심 설계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왜 이렇게 설계했는가: 턴을 플레이어에게만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795528" y="1874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문제</a:t>
            </a:r>
            <a:endParaRPr lang="en-US" sz="14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5528" y="2240280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소울라이크의 속도감과 턴제의 전략성을 한 번에? </a:t>
            </a:r>
            <a:endParaRPr 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전통적 '번갈아 공격' 턴제로는 두 장르를 애매하게 접합할 뿐, 둘 다 놓친다.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6053328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3400"/>
          </a:p>
        </p:txBody>
      </p:sp>
      <p:sp>
        <p:nvSpPr>
          <p:cNvPr id="8" name="Shape 6"/>
          <p:cNvSpPr/>
          <p:nvPr/>
        </p:nvSpPr>
        <p:spPr>
          <a:xfrm>
            <a:off x="6693408" y="1737360"/>
            <a:ext cx="4931359" cy="1828800"/>
          </a:xfrm>
          <a:prstGeom prst="roundRect">
            <a:avLst>
              <a:gd name="adj" fmla="val 3500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922008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해결</a:t>
            </a:r>
            <a:endParaRPr lang="en-US" sz="140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922008" y="2240280"/>
            <a:ext cx="4474159" cy="12344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'턴' 개념만 차용하고 턴은 플레이어에게만 부여. </a:t>
            </a:r>
            <a:endParaRPr lang="en-US" sz="13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적은 턴 없이 자기 패턴대로 실시간 행동 → </a:t>
            </a:r>
            <a:endParaRPr lang="en-US" sz="13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적의 위협감 + 플레이어의 계획적 자원 운용을 동시에 확보.</a:t>
            </a:r>
            <a:endParaRPr lang="en-US" sz="1300"/>
          </a:p>
        </p:txBody>
      </p:sp>
      <p:sp>
        <p:nvSpPr>
          <p:cNvPr id="11" name="Shape 9"/>
          <p:cNvSpPr/>
          <p:nvPr/>
        </p:nvSpPr>
        <p:spPr>
          <a:xfrm>
            <a:off x="56692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9552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1</a:t>
            </a:r>
            <a:endParaRPr lang="en-US" sz="2600"/>
          </a:p>
        </p:txBody>
      </p:sp>
      <p:sp>
        <p:nvSpPr>
          <p:cNvPr id="13" name="Text 11"/>
          <p:cNvSpPr/>
          <p:nvPr/>
        </p:nvSpPr>
        <p:spPr>
          <a:xfrm>
            <a:off x="79552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턴은 플레이어에게만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79552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공격턴 / 방어턴</a:t>
            </a:r>
            <a:r>
              <a:rPr lang="ko-KR" alt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으로 분리</a:t>
            </a:r>
            <a:endParaRPr lang="en-US" sz="12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27024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4988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2</a:t>
            </a:r>
            <a:endParaRPr lang="en-US" sz="2600"/>
          </a:p>
        </p:txBody>
      </p:sp>
      <p:sp>
        <p:nvSpPr>
          <p:cNvPr id="17" name="Text 15"/>
          <p:cNvSpPr/>
          <p:nvPr/>
        </p:nvSpPr>
        <p:spPr>
          <a:xfrm>
            <a:off x="449884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적은 실시간 패턴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449884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턴 없이 자유 행동 → 소울라이크</a:t>
            </a:r>
            <a:r>
              <a:rPr lang="ko-KR" alt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위협감</a:t>
            </a:r>
            <a:endParaRPr lang="en-US" sz="12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97356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02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3</a:t>
            </a:r>
            <a:endParaRPr lang="en-US" sz="2600"/>
          </a:p>
        </p:txBody>
      </p:sp>
      <p:sp>
        <p:nvSpPr>
          <p:cNvPr id="21" name="Text 19"/>
          <p:cNvSpPr/>
          <p:nvPr/>
        </p:nvSpPr>
        <p:spPr>
          <a:xfrm>
            <a:off x="820216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계획 = 재미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820216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제한된 에너지 배분이 전략의 핵심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코어 시스템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공격턴 / 방어턴 · 약점 간파 · 동료 연계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19659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공격턴 ↔ 방어턴</a:t>
            </a:r>
            <a:endParaRPr lang="en-US" sz="1600"/>
          </a:p>
        </p:txBody>
      </p:sp>
      <p:sp>
        <p:nvSpPr>
          <p:cNvPr id="6" name="Text 4"/>
          <p:cNvSpPr/>
          <p:nvPr/>
        </p:nvSpPr>
        <p:spPr>
          <a:xfrm>
            <a:off x="4315968" y="196596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각 턴은 고유 에너지를 소모. 소진 시 반대 턴으로 자동 스위치. </a:t>
            </a:r>
            <a:endParaRPr lang="en-US" sz="13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스킬마다 위력·코스트가 달라 '무엇에 배분할까'가 전략.</a:t>
            </a:r>
            <a:endParaRPr lang="en-US" sz="130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41248" y="34290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약점 간파 (그로기)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315968" y="342900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명중할 때마다 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방어도가 줄어듦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ko-KR" alt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적의 방어도 소진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시 증폭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된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강공격 → 명중하면 적 기절 + 에너지 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모두 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회복 + 추가 턴.</a:t>
            </a:r>
            <a:endParaRPr 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41248" y="489204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동료 연계 공격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4315968" y="489204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패링·약점 간파 등 특정 조건 달성 시 동료가 순간 개입해 추가타/버프. </a:t>
            </a:r>
            <a:endParaRPr 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19048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endParaRPr lang="en-US" sz="1050" i="1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06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무진기행 — 적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곡선: 잡몹 → 중간보스 3종 (가르치는 적)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32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잡몹은 길잡이·자기효능감 담당(단순 패턴). 중간보스 3종은 '유사 착장·유사 패턴'으로 방어/공격 타이밍을 가르치는 학습의 장.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mj_knight_sp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008" y="2194560"/>
            <a:ext cx="1764559" cy="1737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기사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4980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사거리 + 후딜레이 강공격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7024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img/mj_knight_du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39" y="2194560"/>
            <a:ext cx="2403939" cy="17373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5312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쌍검 기사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45312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공격 · 빠른 템포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97356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img/mj_knight_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387" y="2194560"/>
            <a:ext cx="2021082" cy="1737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5644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방패 기사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15644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방어·막기 · 반격 유도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66928" y="5029200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841248" y="5029200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0A1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후딜레이가 큰 공격일수록 공격 창을 넓게 → 타이밍을 '암시'. 피격 시 반격 패턴으로 전환해 무지성 공격을 억제.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보스전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학습의 검증: 패턴 융합 + 마지막 패턴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신호</a:t>
            </a:r>
            <a:endParaRPr 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12080" cy="3931920"/>
          </a:xfrm>
          <a:prstGeom prst="roundRect">
            <a:avLst>
              <a:gd name="adj" fmla="val 16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5" name="Image 0" descr="img/mj_bos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85007" y="1920240"/>
            <a:ext cx="4375922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40233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보스 '떠도는 머리' — 세 중간보스의 머리를 쥔 그림자 괴물</a:t>
            </a:r>
            <a:endParaRPr lang="en-US" sz="1200"/>
          </a:p>
        </p:txBody>
      </p:sp>
      <p:sp>
        <p:nvSpPr>
          <p:cNvPr id="7" name="Text 4"/>
          <p:cNvSpPr/>
          <p:nvPr/>
        </p:nvSpPr>
        <p:spPr>
          <a:xfrm>
            <a:off x="749808" y="443484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세 중간보스의 패턴을 모두 구사</a:t>
            </a:r>
            <a:endParaRPr lang="en-US" sz="13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→ 플레이어는 학습한 타이밍으로 대응</a:t>
            </a:r>
            <a:endParaRPr lang="en-US" sz="1300"/>
          </a:p>
        </p:txBody>
      </p:sp>
      <p:sp>
        <p:nvSpPr>
          <p:cNvPr id="8" name="Shape 5"/>
          <p:cNvSpPr/>
          <p:nvPr/>
        </p:nvSpPr>
        <p:spPr>
          <a:xfrm>
            <a:off x="6053328" y="1783080"/>
            <a:ext cx="5571439" cy="1874520"/>
          </a:xfrm>
          <a:prstGeom prst="roundRect">
            <a:avLst>
              <a:gd name="adj" fmla="val 341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281928" y="1920240"/>
            <a:ext cx="51142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정형화 + 변속</a:t>
            </a:r>
            <a:endParaRPr lang="en-US" sz="1500"/>
          </a:p>
        </p:txBody>
      </p:sp>
      <p:sp>
        <p:nvSpPr>
          <p:cNvPr id="10" name="Text 7"/>
          <p:cNvSpPr/>
          <p:nvPr/>
        </p:nvSpPr>
        <p:spPr>
          <a:xfrm>
            <a:off x="6281928" y="2286000"/>
            <a:ext cx="5114239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패턴을 무작위 순서로 돌리되 '다음 순서'는 예측 가능하게. 대신 공격 템포에 변속(빠름/느림 이지선다)을 걸어 심리전 유발 → 반복 트라이의 지루함 상쇄.</a:t>
            </a:r>
            <a:endParaRPr lang="en-US" sz="1250"/>
          </a:p>
        </p:txBody>
      </p:sp>
      <p:sp>
        <p:nvSpPr>
          <p:cNvPr id="11" name="Shape 8"/>
          <p:cNvSpPr/>
          <p:nvPr/>
        </p:nvSpPr>
        <p:spPr>
          <a:xfrm>
            <a:off x="6053328" y="3794760"/>
            <a:ext cx="5571439" cy="192024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281928" y="3931920"/>
            <a:ext cx="51142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다중 패턴 &amp; 마지막 신호</a:t>
            </a:r>
            <a:endParaRPr lang="en-US" sz="1500"/>
          </a:p>
        </p:txBody>
      </p:sp>
      <p:pic>
        <p:nvPicPr>
          <p:cNvPr id="13" name="Image 1" descr="img/mj_lastpattern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35614" y="4297680"/>
            <a:ext cx="2606867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281928" y="5138928"/>
            <a:ext cx="5114239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보스는 패턴 1~3개를 연속 시전 → 언제 끝날지 모름. '마지막 패턴' 때 테두리 발광으로 공격 기회를 명확히 알림.</a:t>
            </a:r>
            <a:endParaRPr lang="en-US" sz="1150"/>
          </a:p>
        </p:txBody>
      </p:sp>
      <p:sp>
        <p:nvSpPr>
          <p:cNvPr id="15" name="Text 1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09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16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02  무진기행 — 정리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시스템은 '플레이어</a:t>
            </a:r>
            <a:r>
              <a:rPr lang="ko-KR" alt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경험'에서</a:t>
            </a:r>
            <a:endParaRPr lang="en-US" sz="26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공격/방어턴 자원</a:t>
            </a:r>
            <a:endParaRPr lang="en-US" sz="150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제한된 에너지를 어디에 쓸까 — 계획의 재미</a:t>
            </a:r>
            <a:endParaRPr lang="en-US" sz="1250"/>
          </a:p>
        </p:txBody>
      </p:sp>
      <p:sp>
        <p:nvSpPr>
          <p:cNvPr id="7" name="Shape 5"/>
          <p:cNvSpPr/>
          <p:nvPr/>
        </p:nvSpPr>
        <p:spPr>
          <a:xfrm>
            <a:off x="6144768" y="173736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약점 간파(그로기)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>
          <a:xfrm>
            <a:off x="6400800" y="2240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꾸준한 명중 → 기절+추가턴의 큰 보상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2960" y="31181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중간보스 3종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22960" y="3474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'이 셋은 비슷하다' → 타이밍 학습의 성취</a:t>
            </a:r>
            <a:endParaRPr lang="en-US" sz="1250"/>
          </a:p>
        </p:txBody>
      </p:sp>
      <p:sp>
        <p:nvSpPr>
          <p:cNvPr id="13" name="Shape 11"/>
          <p:cNvSpPr/>
          <p:nvPr/>
        </p:nvSpPr>
        <p:spPr>
          <a:xfrm>
            <a:off x="6144768" y="297180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0" y="31181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보스 패턴 융합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6400800" y="3474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학습을 실전에서 검증 → 자기효능감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566928" y="420624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2960" y="43525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변속·다중패턴</a:t>
            </a:r>
            <a:endParaRPr lang="en-US" sz="1500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심리전·긴장, 반복의 지루함 상쇄</a:t>
            </a:r>
            <a:endParaRPr lang="en-US" sz="1250"/>
          </a:p>
        </p:txBody>
      </p:sp>
      <p:sp>
        <p:nvSpPr>
          <p:cNvPr id="19" name="Shape 17"/>
          <p:cNvSpPr/>
          <p:nvPr/>
        </p:nvSpPr>
        <p:spPr>
          <a:xfrm>
            <a:off x="6144768" y="420624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0" y="43525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마지막 패턴 신호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640080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ko-KR" alt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공격할 기회를 알려수는 수단</a:t>
            </a:r>
            <a:endParaRPr lang="ko-KR" altLang="en-US" sz="125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10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PROJECT — ESCAPE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ESCAPE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432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기억을 잃고 꿈에 갇힌 주인공이 꿈 속 괴물을 쓰러뜨리고 탈출하는 턴제 RPG</a:t>
            </a:r>
            <a:endParaRPr lang="en-US" sz="13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3891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커맨드 조합 턴제 RPG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핵심 전투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 구슬에 커맨드를 채워 콤보를 조합해 전투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전투·시스템 기획 (단독)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제안서 · 3회 발표 · 인포그래픽 · 성찰일지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2025.09 ~ 2025.12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세계관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6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꿈 탈출 — 여러 테마의 던전(꿈)으로 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76288" y="2103120"/>
            <a:ext cx="4748479" cy="3566160"/>
          </a:xfrm>
          <a:prstGeom prst="roundRect">
            <a:avLst>
              <a:gd name="adj" fmla="val 179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img/es_comm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2523571"/>
            <a:ext cx="4474159" cy="217661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76288" y="5029200"/>
            <a:ext cx="47484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커맨드를 조합해 콤보를 시전하는 전투 화면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핵심 전투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커맨드를 조합해 '콤보'를 만든다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5개의 구슬(방향키)에 커맨드를 채워 콤보를 발동. 커맨드는 조합과 연계가 전투의 축이 되도록 설계했다.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852160" cy="1874520"/>
          </a:xfrm>
          <a:prstGeom prst="roundRect">
            <a:avLst>
              <a:gd name="adj" fmla="val 341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2개 이상 커맨드 → 하나의 콤보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기존 특수공격은 한 번에 하나뿐. 콤보는 2개 이상을 묶어 발동 → </a:t>
            </a:r>
            <a:r>
              <a:rPr lang="en-US"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콤보 사이의 '연계'를 유도.</a:t>
            </a:r>
            <a:endParaRPr lang="en-US" sz="125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예) a로 기름을 뿌리고 → b로 불을 붙인다 / a로 방어력을 깎고 → b로 공격.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6601968" y="2057400"/>
            <a:ext cx="5022799" cy="1874520"/>
          </a:xfrm>
          <a:prstGeom prst="roundRect">
            <a:avLst>
              <a:gd name="adj" fmla="val 341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pic>
        <p:nvPicPr>
          <p:cNvPr id="9" name="Image 0" descr="img/es_combolis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40476" y="2194560"/>
            <a:ext cx="3500063" cy="1600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9552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콤보 습득</a:t>
            </a:r>
            <a:endParaRPr lang="en-US" sz="1450"/>
          </a:p>
        </p:txBody>
      </p:sp>
      <p:sp>
        <p:nvSpPr>
          <p:cNvPr id="12" name="Text 9"/>
          <p:cNvSpPr/>
          <p:nvPr/>
        </p:nvSpPr>
        <p:spPr>
          <a:xfrm>
            <a:off x="79552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우연히 발견하거나 특정 NPC에게 학습. 전투 중 콤보 리스트로 확인(적용 증강도 표시).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27024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49884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빗나간 입력</a:t>
            </a:r>
            <a:endParaRPr lang="en-US" sz="1450"/>
          </a:p>
        </p:txBody>
      </p:sp>
      <p:sp>
        <p:nvSpPr>
          <p:cNvPr id="15" name="Text 12"/>
          <p:cNvSpPr/>
          <p:nvPr/>
        </p:nvSpPr>
        <p:spPr>
          <a:xfrm>
            <a:off x="449884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콤보가 아니면 기본 타격 + 유사 콤보를 '?'로 리스트에 추가 → 탐색의 힌트.</a:t>
            </a:r>
            <a:endParaRPr lang="en-US" sz="1200"/>
          </a:p>
        </p:txBody>
      </p:sp>
      <p:sp>
        <p:nvSpPr>
          <p:cNvPr id="16" name="Shape 13"/>
          <p:cNvSpPr/>
          <p:nvPr/>
        </p:nvSpPr>
        <p:spPr>
          <a:xfrm>
            <a:off x="797356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20216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필살기</a:t>
            </a:r>
            <a:endParaRPr lang="en-US" sz="1450"/>
          </a:p>
        </p:txBody>
      </p:sp>
      <p:sp>
        <p:nvSpPr>
          <p:cNvPr id="18" name="Text 15"/>
          <p:cNvSpPr/>
          <p:nvPr/>
        </p:nvSpPr>
        <p:spPr>
          <a:xfrm>
            <a:off x="820216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'할 수 있어' 포인트 10을 모으면 필살기 시전 가능.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0" name="Text 17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12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ESCAPE — 성장 &amp; 협력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증강으로 콤보를 키우고, 동료와 연계한다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6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증강 (Augment)</a:t>
            </a:r>
            <a:endParaRPr lang="en-US" sz="1500" dirty="0"/>
          </a:p>
        </p:txBody>
      </p:sp>
      <p:pic>
        <p:nvPicPr>
          <p:cNvPr id="6" name="Image 0" descr="img/es_aug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6448" y="2286000"/>
            <a:ext cx="300736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840480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레시피를 주우면 콤보에 증강이 부착된다.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실버 · 골드 · 다이아 등급 — 높을수록 강한 효과.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'특정 콤보', '특정 커맨드 포함' 등 적용 조건이 포괄적. 같은 스킬에 2개 이상 보유 시 골라 장착.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36208" y="1783080"/>
            <a:ext cx="5388559" cy="3931920"/>
          </a:xfrm>
          <a:prstGeom prst="roundRect">
            <a:avLst>
              <a:gd name="adj" fmla="val 162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64808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1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 연계 공격</a:t>
            </a:r>
            <a:endParaRPr lang="en-US" sz="1500" dirty="0"/>
          </a:p>
        </p:txBody>
      </p:sp>
      <p:pic>
        <p:nvPicPr>
          <p:cNvPr id="10" name="Image 1" descr="img/es_comb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476" y="2286000"/>
            <a:ext cx="3122023" cy="1554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64808" y="3931920"/>
            <a:ext cx="483991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커맨드 공격 중 좌/우 방향키로 동료 연계 발동.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동료의 연계에도 커맨드 입력이 가능 — 적 특성에 맞춰 다른 콤보 활용.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구슬을 5개 온전히 주지 않아(적게 부여) 남발을 막고 리스크·리턴을 조절.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자원 제한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스트레스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하이 리턴</a:t>
            </a:r>
            <a:r>
              <a:rPr lang="en-US" altLang="ko-KR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하이 리스크</a:t>
            </a:r>
            <a:endParaRPr lang="ko-KR" alt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마나를 없앤 대신, 커맨드·피격이 스트레스를 쌓는다. 강함을 난사하지 못하게 하는 자원 관리 축이다.</a:t>
            </a:r>
            <a:endParaRPr lang="en-US" sz="1300">
              <a:solidFill>
                <a:srgbClr val="24324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5486400" cy="3611880"/>
          </a:xfrm>
          <a:prstGeom prst="roundRect">
            <a:avLst>
              <a:gd name="adj" fmla="val 1772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스트레스 100 → 붕괴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공격·피격으로 스트레스 누적, 100이 되면 '붕괴' 상태.</a:t>
            </a:r>
            <a:endParaRPr lang="en-US" sz="12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붕괴 유형 5종 — 충동 / 공포 / 불안 / 기억왜곡 / 우울. 각기 다른 패널티(연계 불가, 콤보 망각, 명중률 하락 등).</a:t>
            </a:r>
            <a:endParaRPr lang="en-US" sz="12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핵심 원칙: 스트레스 획득량 &gt; 감소량. </a:t>
            </a:r>
            <a:endParaRPr lang="en-US" sz="12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ko-KR" altLang="en-US" sz="12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스트레스 </a:t>
            </a:r>
            <a:r>
              <a:rPr lang="en-US" sz="12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감소(힐·치명타·회피·격파)는 '행운'이어야 한다.</a:t>
            </a:r>
            <a:endParaRPr lang="en-US" sz="12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36208" y="2103120"/>
            <a:ext cx="5388559" cy="3611880"/>
          </a:xfrm>
          <a:prstGeom prst="roundRect">
            <a:avLst>
              <a:gd name="adj" fmla="val 1772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464808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붕괴 탈출: 심호흡 vs 극복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464808" y="2606040"/>
            <a:ext cx="4839919" cy="3017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심호흡 — 턴을 스킵하고 리듬에 맞춰 방향키 입력, 정확할수록 스트레스 감소↑. 안정적 탈출.</a:t>
            </a:r>
            <a:endParaRPr 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극복 — 붕괴 중 공격 시 확률적으로 즉시 탈출 + 스트레스 0 + 위력↑ + 추가 턴. 한 방 역전. (다키스트던전 '기적' 영감)</a:t>
            </a:r>
            <a:endParaRPr 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 '안전한 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'과 '도박적 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 사이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긴장을 만든다.</a:t>
            </a:r>
            <a:endParaRPr lang="en-US" sz="12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맵 기믹 &amp; 던전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환경이 전투를 바꾸고, 던전마다 테마가 다르다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2331720"/>
          </a:xfrm>
          <a:prstGeom prst="roundRect">
            <a:avLst>
              <a:gd name="adj" fmla="val 274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901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맵 기믹 — 환경이 콤보·스트레스를 바꾼다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맵에 따라 약/중/강 공격 콤보의 위력과 스트레스 증감이 달라진다</a:t>
            </a:r>
            <a:endParaRPr lang="en-US" sz="115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같은 콤보도 맵마다 다른 판단을 요구.</a:t>
            </a:r>
            <a:endParaRPr lang="en-US" sz="1150"/>
          </a:p>
        </p:txBody>
      </p:sp>
      <p:pic>
        <p:nvPicPr>
          <p:cNvPr id="7" name="Image 0" descr="img/es_adrenalin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54954" y="2971800"/>
            <a:ext cx="1441468" cy="1005840"/>
          </a:xfrm>
          <a:prstGeom prst="rect">
            <a:avLst/>
          </a:prstGeom>
        </p:spPr>
      </p:pic>
      <p:pic>
        <p:nvPicPr>
          <p:cNvPr id="8" name="Image 1" descr="img/es_serotonin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10338" y="2971800"/>
            <a:ext cx="14513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39502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95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아드레날린맵: 강공격↑·스트레스↑</a:t>
            </a:r>
            <a:endParaRPr lang="en-US" sz="950"/>
          </a:p>
        </p:txBody>
      </p:sp>
      <p:sp>
        <p:nvSpPr>
          <p:cNvPr id="10" name="Text 6"/>
          <p:cNvSpPr/>
          <p:nvPr/>
        </p:nvSpPr>
        <p:spPr>
          <a:xfrm>
            <a:off x="3401568" y="39502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95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세로토닌맵: 공격↓·스트레스 감소</a:t>
            </a:r>
            <a:endParaRPr lang="en-US" sz="950"/>
          </a:p>
        </p:txBody>
      </p:sp>
      <p:sp>
        <p:nvSpPr>
          <p:cNvPr id="11" name="Shape 7"/>
          <p:cNvSpPr/>
          <p:nvPr/>
        </p:nvSpPr>
        <p:spPr>
          <a:xfrm>
            <a:off x="6236208" y="1783080"/>
            <a:ext cx="5388559" cy="2331720"/>
          </a:xfrm>
          <a:prstGeom prst="roundRect">
            <a:avLst>
              <a:gd name="adj" fmla="val 274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464808" y="1901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던전 = 각기 다른 '꿈' 테마</a:t>
            </a:r>
            <a:endParaRPr lang="en-US" sz="1400"/>
          </a:p>
        </p:txBody>
      </p:sp>
      <p:sp>
        <p:nvSpPr>
          <p:cNvPr id="13" name="Text 9"/>
          <p:cNvSpPr/>
          <p:nvPr/>
        </p:nvSpPr>
        <p:spPr>
          <a:xfrm>
            <a:off x="6464808" y="2240280"/>
            <a:ext cx="4839919" cy="1737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꿈 속 세계라 던전마다 세계관·기믹·적이 전혀 다르다.</a:t>
            </a:r>
            <a:endParaRPr 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아래는 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잡몹→엘리트→보스의 학습 완충 구조를 설계·시연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하였다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66928" y="4297680"/>
            <a:ext cx="11057839" cy="1417320"/>
          </a:xfrm>
          <a:prstGeom prst="roundRect">
            <a:avLst>
              <a:gd name="adj" fmla="val 4516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822960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던전 예시 — 우울증 테마 (여러 던전 중 하나)</a:t>
            </a:r>
            <a:endParaRPr lang="en-US" sz="1250"/>
          </a:p>
        </p:txBody>
      </p:sp>
      <p:sp>
        <p:nvSpPr>
          <p:cNvPr id="16" name="Shape 12"/>
          <p:cNvSpPr/>
          <p:nvPr/>
        </p:nvSpPr>
        <p:spPr>
          <a:xfrm>
            <a:off x="8412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9784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잡몹</a:t>
            </a:r>
            <a:endParaRPr lang="en-US" sz="1300"/>
          </a:p>
        </p:txBody>
      </p:sp>
      <p:sp>
        <p:nvSpPr>
          <p:cNvPr id="18" name="Text 14"/>
          <p:cNvSpPr/>
          <p:nvPr/>
        </p:nvSpPr>
        <p:spPr>
          <a:xfrm>
            <a:off x="9784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길잡이 · 자기효능감</a:t>
            </a:r>
            <a:endParaRPr lang="en-US" sz="1050"/>
          </a:p>
        </p:txBody>
      </p:sp>
      <p:sp>
        <p:nvSpPr>
          <p:cNvPr id="19" name="Text 15"/>
          <p:cNvSpPr/>
          <p:nvPr/>
        </p:nvSpPr>
        <p:spPr>
          <a:xfrm>
            <a:off x="4041648" y="4754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1800"/>
          </a:p>
        </p:txBody>
      </p:sp>
      <p:sp>
        <p:nvSpPr>
          <p:cNvPr id="20" name="Shape 16"/>
          <p:cNvSpPr/>
          <p:nvPr/>
        </p:nvSpPr>
        <p:spPr>
          <a:xfrm>
            <a:off x="44988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46360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엘리트</a:t>
            </a:r>
            <a:endParaRPr lang="en-US" sz="1300"/>
          </a:p>
        </p:txBody>
      </p:sp>
      <p:sp>
        <p:nvSpPr>
          <p:cNvPr id="22" name="Text 18"/>
          <p:cNvSpPr/>
          <p:nvPr/>
        </p:nvSpPr>
        <p:spPr>
          <a:xfrm>
            <a:off x="46360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난이도 완충 · 보스 패턴 예고</a:t>
            </a:r>
            <a:endParaRPr lang="en-US" sz="1050"/>
          </a:p>
        </p:txBody>
      </p:sp>
      <p:sp>
        <p:nvSpPr>
          <p:cNvPr id="23" name="Text 19"/>
          <p:cNvSpPr/>
          <p:nvPr/>
        </p:nvSpPr>
        <p:spPr>
          <a:xfrm>
            <a:off x="7699248" y="4754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1800"/>
          </a:p>
        </p:txBody>
      </p:sp>
      <p:sp>
        <p:nvSpPr>
          <p:cNvPr id="24" name="Shape 20"/>
          <p:cNvSpPr/>
          <p:nvPr/>
        </p:nvSpPr>
        <p:spPr>
          <a:xfrm>
            <a:off x="81564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5" name="Text 21"/>
          <p:cNvSpPr/>
          <p:nvPr/>
        </p:nvSpPr>
        <p:spPr>
          <a:xfrm>
            <a:off x="82936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보스</a:t>
            </a:r>
            <a:endParaRPr lang="en-US" sz="1300"/>
          </a:p>
        </p:txBody>
      </p:sp>
      <p:sp>
        <p:nvSpPr>
          <p:cNvPr id="26" name="Text 22"/>
          <p:cNvSpPr/>
          <p:nvPr/>
        </p:nvSpPr>
        <p:spPr>
          <a:xfrm>
            <a:off x="82936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학습한 대응의 검증</a:t>
            </a:r>
            <a:endParaRPr lang="en-US" sz="1050"/>
          </a:p>
        </p:txBody>
      </p:sp>
      <p:sp>
        <p:nvSpPr>
          <p:cNvPr id="27" name="Text 2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8" name="Text 24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8">
    <p:bg>
      <p:bgPr shadeToTitle="0">
        <a:solidFill>
          <a:srgbClr val="16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05  PHILOSOPHY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언제나 플레이어</a:t>
            </a:r>
            <a:r>
              <a:rPr lang="ko-KR" alt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 경험</a:t>
            </a:r>
            <a:r>
              <a:rPr 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에서 시작한다</a:t>
            </a:r>
            <a:endParaRPr lang="en-US" sz="24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1</a:t>
            </a:r>
            <a:endParaRPr lang="en-US" sz="4000"/>
          </a:p>
        </p:txBody>
      </p:sp>
      <p:sp>
        <p:nvSpPr>
          <p:cNvPr id="6" name="Text 4"/>
          <p:cNvSpPr/>
          <p:nvPr/>
        </p:nvSpPr>
        <p:spPr>
          <a:xfrm>
            <a:off x="84124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ko-KR" alt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유저의 플레이 예상</a:t>
            </a:r>
            <a:endParaRPr lang="ko-KR" altLang="en-US" sz="17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기능이 아니라 '의도한 플레이어 경험'을 먼저 정의하고 시스템을 거기서 도출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27024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4456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2</a:t>
            </a:r>
            <a:endParaRPr lang="en-US" sz="4000"/>
          </a:p>
        </p:txBody>
      </p:sp>
      <p:sp>
        <p:nvSpPr>
          <p:cNvPr id="10" name="Text 8"/>
          <p:cNvSpPr/>
          <p:nvPr/>
        </p:nvSpPr>
        <p:spPr>
          <a:xfrm>
            <a:off x="454456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 곡선 설계</a:t>
            </a:r>
            <a:endParaRPr lang="en-US" sz="1700"/>
          </a:p>
        </p:txBody>
      </p:sp>
      <p:sp>
        <p:nvSpPr>
          <p:cNvPr id="11" name="Text 9"/>
          <p:cNvSpPr/>
          <p:nvPr/>
        </p:nvSpPr>
        <p:spPr>
          <a:xfrm>
            <a:off x="454456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무엇을 가르치고 어디서 검증할지 — </a:t>
            </a:r>
            <a:endParaRPr lang="en-US" sz="13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적·난이도를 학습 단계로 구성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797356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24788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3</a:t>
            </a:r>
            <a:endParaRPr lang="en-US" sz="4000"/>
          </a:p>
        </p:txBody>
      </p:sp>
      <p:sp>
        <p:nvSpPr>
          <p:cNvPr id="14" name="Text 12"/>
          <p:cNvSpPr/>
          <p:nvPr/>
        </p:nvSpPr>
        <p:spPr>
          <a:xfrm>
            <a:off x="824788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구현을 아는 판단</a:t>
            </a:r>
            <a:endParaRPr lang="en-US" sz="1700"/>
          </a:p>
        </p:txBody>
      </p:sp>
      <p:sp>
        <p:nvSpPr>
          <p:cNvPr id="15" name="Text 13"/>
          <p:cNvSpPr/>
          <p:nvPr/>
        </p:nvSpPr>
        <p:spPr>
          <a:xfrm>
            <a:off x="824788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서버를 직접 다뤄본 감각으로 </a:t>
            </a:r>
            <a:endParaRPr lang="en-US" sz="13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'구현 가능한' 기획을 제시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7" name="Text 15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18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20">
    <p:bg>
      <p:bgPr shadeToTitle="0">
        <a:solidFill>
          <a:srgbClr val="16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  <a:endParaRPr lang="en-US" sz="4400"/>
          </a:p>
        </p:txBody>
      </p:sp>
      <p:sp>
        <p:nvSpPr>
          <p:cNvPr id="3" name="Text 1"/>
          <p:cNvSpPr/>
          <p:nvPr/>
        </p:nvSpPr>
        <p:spPr>
          <a:xfrm>
            <a:off x="566928" y="3429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진성준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85216" y="3977640"/>
            <a:ext cx="2743200" cy="0"/>
          </a:xfrm>
          <a:prstGeom prst="line">
            <a:avLst/>
          </a:prstGeom>
          <a:noFill/>
          <a:ln w="25400">
            <a:solidFill>
              <a:srgbClr val="c8622e"/>
            </a:solidFill>
            <a:prstDash val="solid"/>
          </a:ln>
        </p:spPr>
        <p:txBody>
          <a:bodyPr wrap="square" anchor="ctr"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010-7770-2108   ·   </a:t>
            </a:r>
            <a:r>
              <a:rPr lang="en-US" altLang="ko-KR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@naver.com</a:t>
            </a:r>
            <a:endParaRPr lang="en-US" sz="14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Times New Roman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Times New Roman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1099</ep:Words>
  <ep:PresentationFormat>On-screen Show (16:9)</ep:PresentationFormat>
  <ep:Paragraphs>211</ep:Paragraphs>
  <ep:Slides>16</ep:Slides>
  <ep:Notes>16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ep:HeadingPairs>
  <ep:TitlesOfParts>
    <vt:vector size="17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2026-07-06T02:37:10.000</dcterms:created>
  <dc:creator>진성준</dc:creator>
  <cp:lastModifiedBy>진성준</cp:lastModifiedBy>
  <dcterms:modified xsi:type="dcterms:W3CDTF">2026-07-06T10:28:26.925</dcterms:modified>
  <cp:revision>33</cp:revision>
  <dc:subject>PptxGenJS Presentation</dc:subject>
  <dc:title>진성준 게임 시스템 기획 포트폴리오</dc:title>
  <cp:version/>
</cp:coreProperties>
</file>