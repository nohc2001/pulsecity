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54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0" d="100"/>
          <a:sy n="110" d="100"/>
        </p:scale>
        <p:origin x="594" y="114"/>
      </p:cViewPr>
      <p:guideLst/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pPr lvl="0">
              <a:defRPr/>
            </a:pPr>
            <a:endParaRPr lang="ko-KR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pPr lvl="0">
              <a:defRPr/>
            </a:pPr>
            <a:fld id="{5282F153-3F37-0F45-9E97-73ACFA13230C}" type="datetime1">
              <a:rPr lang="en-US"/>
              <a:pPr lvl="0">
                <a:defRPr/>
              </a:pPr>
              <a:t>7/6/2026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anchor="ctr"/>
          <a:lstStyle/>
          <a:p>
            <a:pPr lvl="0">
              <a:defRPr/>
            </a:pPr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/>
          <a:lstStyle/>
          <a:p>
            <a:pPr lvl="0">
              <a:defRPr/>
            </a:pPr>
            <a:r>
              <a:rPr lang="en-US"/>
              <a:t>Click to edit Master text styles</a:t>
            </a:r>
          </a:p>
          <a:p>
            <a:pPr lvl="1">
              <a:defRPr/>
            </a:pPr>
            <a:r>
              <a:rPr lang="en-US"/>
              <a:t>Second level</a:t>
            </a:r>
          </a:p>
          <a:p>
            <a:pPr lvl="2">
              <a:defRPr/>
            </a:pPr>
            <a:r>
              <a:rPr lang="en-US"/>
              <a:t>Third level</a:t>
            </a:r>
          </a:p>
          <a:p>
            <a:pPr lvl="3">
              <a:defRPr/>
            </a:pPr>
            <a:r>
              <a:rPr lang="en-US"/>
              <a:t>Fourth level</a:t>
            </a:r>
          </a:p>
          <a:p>
            <a:pPr lvl="4">
              <a:defRPr/>
            </a:pPr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l">
              <a:defRPr sz="1200"/>
            </a:lvl1pPr>
          </a:lstStyle>
          <a:p>
            <a:pPr lvl="0">
              <a:defRPr/>
            </a:pPr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r">
              <a:defRPr sz="1200"/>
            </a:lvl1pPr>
          </a:lstStyle>
          <a:p>
            <a:pPr lvl="0">
              <a:defRPr/>
            </a:pPr>
            <a:fld id="{CE5E9CC1-C706-0F49-92D6-E571CC5EEA8F}" type="slidenum">
              <a:rPr lang="en-US"/>
              <a:pPr lvl="0">
                <a:defRPr/>
              </a:pPr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2</a:t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3</a:t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4</a:t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5</a:t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6</a:t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7</a:t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8</a:t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9</a:t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10</a:t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11</a:t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12</a:t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13</a:t>
            </a:fld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14</a:t>
            </a:fld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15</a:t>
            </a:fld>
            <a:endParaRPr 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16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22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223B"/>
          </a:solidFill>
          <a:ln/>
        </p:spPr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66927" y="24688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1600" b="1" kern="0" spc="800">
                <a:solidFill>
                  <a:srgbClr val="E0A15A"/>
                </a:solidFill>
                <a:latin typeface="Arial"/>
                <a:ea typeface="Arial"/>
                <a:cs typeface="Arial"/>
              </a:rPr>
              <a:t>PORTFOLIO</a:t>
            </a:r>
            <a:endParaRPr lang="en-US" sz="1600"/>
          </a:p>
        </p:txBody>
      </p:sp>
      <p:sp>
        <p:nvSpPr>
          <p:cNvPr id="4" name="Text 2"/>
          <p:cNvSpPr/>
          <p:nvPr/>
        </p:nvSpPr>
        <p:spPr>
          <a:xfrm>
            <a:off x="566927" y="292608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5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게임 기획</a:t>
            </a:r>
            <a:r>
              <a:rPr lang="ko-KR" altLang="en-US" sz="5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 포트폴리오</a:t>
            </a:r>
          </a:p>
        </p:txBody>
      </p:sp>
      <p:sp>
        <p:nvSpPr>
          <p:cNvPr id="6" name="Shape 4"/>
          <p:cNvSpPr/>
          <p:nvPr/>
        </p:nvSpPr>
        <p:spPr>
          <a:xfrm>
            <a:off x="585216" y="4343400"/>
            <a:ext cx="2926080" cy="0"/>
          </a:xfrm>
          <a:prstGeom prst="line">
            <a:avLst/>
          </a:prstGeom>
          <a:noFill/>
          <a:ln w="25400">
            <a:solidFill>
              <a:srgbClr val="C8622E"/>
            </a:solidFill>
            <a:prstDash val="solid"/>
          </a:ln>
        </p:spPr>
        <p:txBody>
          <a:bodyPr wrap="square"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566928" y="452628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lnSpc>
                <a:spcPct val="115000"/>
              </a:lnSpc>
              <a:buNone/>
              <a:defRPr/>
            </a:pPr>
            <a:r>
              <a:rPr lang="en-US" sz="2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진성준</a:t>
            </a:r>
          </a:p>
          <a:p>
            <a:pPr marL="0" indent="0">
              <a:lnSpc>
                <a:spcPct val="115000"/>
              </a:lnSpc>
              <a:buNone/>
              <a:defRPr/>
            </a:pPr>
            <a:r>
              <a:rPr lang="en-US" sz="1200">
                <a:solidFill>
                  <a:srgbClr val="EAF0FA"/>
                </a:solidFill>
                <a:latin typeface="맑은 고딕"/>
                <a:ea typeface="맑은 고딕"/>
                <a:cs typeface="맑은 고딕"/>
              </a:rPr>
              <a:t>한국공학대학교 게임공학과  ·  4학년</a:t>
            </a:r>
          </a:p>
          <a:p>
            <a:pPr marL="0" indent="0">
              <a:lnSpc>
                <a:spcPct val="115000"/>
              </a:lnSpc>
              <a:buNone/>
              <a:defRPr/>
            </a:pPr>
            <a:r>
              <a:rPr lang="en-US" sz="1200">
                <a:solidFill>
                  <a:srgbClr val="EAF0FA"/>
                </a:solidFill>
                <a:latin typeface="맑은 고딕"/>
                <a:ea typeface="맑은 고딕"/>
                <a:cs typeface="맑은 고딕"/>
              </a:rPr>
              <a:t>010-7770-2108   ·   </a:t>
            </a:r>
            <a:r>
              <a:rPr lang="en-US" altLang="ko-KR" sz="1200">
                <a:solidFill>
                  <a:srgbClr val="EAF0FA"/>
                </a:solidFill>
                <a:latin typeface="맑은 고딕"/>
                <a:ea typeface="맑은 고딕"/>
                <a:cs typeface="맑은 고딕"/>
              </a:rPr>
              <a:t>wlstjdwns2108</a:t>
            </a:r>
            <a:r>
              <a:rPr lang="en-US" sz="1200">
                <a:solidFill>
                  <a:srgbClr val="EAF0FA"/>
                </a:solidFill>
                <a:latin typeface="맑은 고딕"/>
                <a:ea typeface="맑은 고딕"/>
                <a:cs typeface="맑은 고딕"/>
              </a:rPr>
              <a:t>@naver.com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1200" b="1" kern="0" spc="200">
                <a:solidFill>
                  <a:srgbClr val="C8622E"/>
                </a:solidFill>
                <a:latin typeface="맑은 고딕"/>
                <a:ea typeface="맑은 고딕"/>
                <a:cs typeface="맑은 고딕"/>
              </a:rPr>
              <a:t>INDEX</a:t>
            </a:r>
            <a:endParaRPr lang="en-US" sz="120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2900" b="1">
                <a:solidFill>
                  <a:srgbClr val="1F2637"/>
                </a:solidFill>
                <a:latin typeface="맑은 고딕"/>
                <a:ea typeface="맑은 고딕"/>
                <a:cs typeface="맑은 고딕"/>
              </a:rPr>
              <a:t>목차</a:t>
            </a:r>
            <a:endParaRPr lang="en-US" sz="2900"/>
          </a:p>
        </p:txBody>
      </p:sp>
      <p:sp>
        <p:nvSpPr>
          <p:cNvPr id="4" name="Shape 2"/>
          <p:cNvSpPr/>
          <p:nvPr/>
        </p:nvSpPr>
        <p:spPr>
          <a:xfrm>
            <a:off x="566928" y="1737360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16223B"/>
          </a:solidFill>
          <a:ln/>
          <a:effectLst>
            <a:outerShdw blurRad="88900" dist="25400" dir="5400000" algn="bl" rotWithShape="0">
              <a:srgbClr val="000000">
                <a:alpha val="12000"/>
              </a:srgbClr>
            </a:outerShdw>
          </a:effectLst>
        </p:spPr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5" name="Text 3"/>
          <p:cNvSpPr/>
          <p:nvPr/>
        </p:nvSpPr>
        <p:spPr>
          <a:xfrm>
            <a:off x="566928" y="17373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 algn="ctr">
              <a:buNone/>
              <a:defRPr/>
            </a:pPr>
            <a:r>
              <a:rPr lang="en-US" sz="2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01</a:t>
            </a:r>
            <a:endParaRPr lang="en-US" sz="2000"/>
          </a:p>
        </p:txBody>
      </p:sp>
      <p:sp>
        <p:nvSpPr>
          <p:cNvPr id="6" name="Text 4"/>
          <p:cNvSpPr/>
          <p:nvPr/>
        </p:nvSpPr>
        <p:spPr>
          <a:xfrm>
            <a:off x="1389888" y="171907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1800" b="1">
                <a:solidFill>
                  <a:srgbClr val="1F2637"/>
                </a:solidFill>
                <a:latin typeface="맑은 고딕"/>
                <a:ea typeface="맑은 고딕"/>
                <a:cs typeface="맑은 고딕"/>
              </a:rPr>
              <a:t>자기소개</a:t>
            </a:r>
            <a:endParaRPr lang="en-US" sz="1800"/>
          </a:p>
        </p:txBody>
      </p:sp>
      <p:sp>
        <p:nvSpPr>
          <p:cNvPr id="7" name="Text 5"/>
          <p:cNvSpPr/>
          <p:nvPr/>
        </p:nvSpPr>
        <p:spPr>
          <a:xfrm>
            <a:off x="1389888" y="2029968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1250">
                <a:solidFill>
                  <a:srgbClr val="6C7686"/>
                </a:solidFill>
                <a:latin typeface="맑은 고딕"/>
                <a:ea typeface="맑은 고딕"/>
                <a:cs typeface="맑은 고딕"/>
              </a:rPr>
              <a:t>프로필 · 역량 · 이력</a:t>
            </a:r>
            <a:endParaRPr lang="en-US" sz="1250"/>
          </a:p>
        </p:txBody>
      </p:sp>
      <p:sp>
        <p:nvSpPr>
          <p:cNvPr id="8" name="Shape 6"/>
          <p:cNvSpPr/>
          <p:nvPr/>
        </p:nvSpPr>
        <p:spPr>
          <a:xfrm>
            <a:off x="566928" y="267004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24324F"/>
          </a:solidFill>
          <a:ln/>
          <a:effectLst>
            <a:outerShdw blurRad="88900" dist="25400" dir="5400000" algn="bl" rotWithShape="0">
              <a:srgbClr val="000000">
                <a:alpha val="12000"/>
              </a:srgbClr>
            </a:outerShdw>
          </a:effectLst>
        </p:spPr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566928" y="2670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 algn="ctr">
              <a:buNone/>
              <a:defRPr/>
            </a:pPr>
            <a:r>
              <a:rPr lang="en-US" sz="2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02</a:t>
            </a:r>
            <a:endParaRPr lang="en-US" sz="2000"/>
          </a:p>
        </p:txBody>
      </p:sp>
      <p:sp>
        <p:nvSpPr>
          <p:cNvPr id="10" name="Text 8"/>
          <p:cNvSpPr/>
          <p:nvPr/>
        </p:nvSpPr>
        <p:spPr>
          <a:xfrm>
            <a:off x="1389888" y="265176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1800" b="1">
                <a:solidFill>
                  <a:srgbClr val="1F2637"/>
                </a:solidFill>
                <a:latin typeface="맑은 고딕"/>
                <a:ea typeface="맑은 고딕"/>
                <a:cs typeface="맑은 고딕"/>
              </a:rPr>
              <a:t>무진기행</a:t>
            </a:r>
            <a:endParaRPr lang="en-US" sz="1800"/>
          </a:p>
        </p:txBody>
      </p:sp>
      <p:sp>
        <p:nvSpPr>
          <p:cNvPr id="11" name="Text 9"/>
          <p:cNvSpPr/>
          <p:nvPr/>
        </p:nvSpPr>
        <p:spPr>
          <a:xfrm>
            <a:off x="1389888" y="2962656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1250">
                <a:solidFill>
                  <a:srgbClr val="6C7686"/>
                </a:solidFill>
                <a:latin typeface="맑은 고딕"/>
                <a:ea typeface="맑은 고딕"/>
                <a:cs typeface="맑은 고딕"/>
              </a:rPr>
              <a:t>소울라이크 × 턴제 전투 시스템 기획</a:t>
            </a:r>
            <a:endParaRPr lang="en-US" sz="1250"/>
          </a:p>
        </p:txBody>
      </p:sp>
      <p:sp>
        <p:nvSpPr>
          <p:cNvPr id="12" name="Shape 10"/>
          <p:cNvSpPr/>
          <p:nvPr/>
        </p:nvSpPr>
        <p:spPr>
          <a:xfrm>
            <a:off x="566928" y="3602736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16223B"/>
          </a:solidFill>
          <a:ln/>
          <a:effectLst>
            <a:outerShdw blurRad="88900" dist="25400" dir="5400000" algn="bl" rotWithShape="0">
              <a:srgbClr val="000000">
                <a:alpha val="12000"/>
              </a:srgbClr>
            </a:outerShdw>
          </a:effectLst>
        </p:spPr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566928" y="36027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 algn="ctr">
              <a:buNone/>
              <a:defRPr/>
            </a:pPr>
            <a:r>
              <a:rPr lang="en-US" sz="2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03</a:t>
            </a:r>
            <a:endParaRPr lang="en-US" sz="2000"/>
          </a:p>
        </p:txBody>
      </p:sp>
      <p:sp>
        <p:nvSpPr>
          <p:cNvPr id="14" name="Text 12"/>
          <p:cNvSpPr/>
          <p:nvPr/>
        </p:nvSpPr>
        <p:spPr>
          <a:xfrm>
            <a:off x="1389888" y="358444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1800" b="1">
                <a:solidFill>
                  <a:srgbClr val="1F2637"/>
                </a:solidFill>
                <a:latin typeface="맑은 고딕"/>
                <a:ea typeface="맑은 고딕"/>
                <a:cs typeface="맑은 고딕"/>
              </a:rPr>
              <a:t>ESCAPE</a:t>
            </a:r>
            <a:endParaRPr lang="en-US" sz="1800"/>
          </a:p>
        </p:txBody>
      </p:sp>
      <p:sp>
        <p:nvSpPr>
          <p:cNvPr id="15" name="Text 13"/>
          <p:cNvSpPr/>
          <p:nvPr/>
        </p:nvSpPr>
        <p:spPr>
          <a:xfrm>
            <a:off x="1389888" y="389534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ko-KR" altLang="en-US" sz="1250">
                <a:solidFill>
                  <a:srgbClr val="6C7686"/>
                </a:solidFill>
                <a:latin typeface="맑은 고딕"/>
                <a:ea typeface="맑은 고딕"/>
                <a:cs typeface="맑은 고딕"/>
              </a:rPr>
              <a:t>커맨드 조합</a:t>
            </a:r>
            <a:r>
              <a:rPr lang="en-US" sz="1250">
                <a:solidFill>
                  <a:srgbClr val="6C7686"/>
                </a:solidFill>
                <a:latin typeface="맑은 고딕"/>
                <a:ea typeface="맑은 고딕"/>
                <a:cs typeface="맑은 고딕"/>
              </a:rPr>
              <a:t> 기반</a:t>
            </a:r>
            <a:r>
              <a:rPr lang="ko-KR" altLang="en-US" sz="1250">
                <a:solidFill>
                  <a:srgbClr val="6C7686"/>
                </a:solidFill>
                <a:latin typeface="맑은 고딕"/>
                <a:ea typeface="맑은 고딕"/>
                <a:cs typeface="맑은 고딕"/>
              </a:rPr>
              <a:t> 턴제</a:t>
            </a:r>
            <a:r>
              <a:rPr lang="en-US" sz="1250">
                <a:solidFill>
                  <a:srgbClr val="6C7686"/>
                </a:solidFill>
                <a:latin typeface="맑은 고딕"/>
                <a:ea typeface="맑은 고딕"/>
                <a:cs typeface="맑은 고딕"/>
              </a:rPr>
              <a:t> RPG 기획</a:t>
            </a:r>
          </a:p>
        </p:txBody>
      </p:sp>
      <p:sp>
        <p:nvSpPr>
          <p:cNvPr id="17" name="Text 15"/>
          <p:cNvSpPr/>
          <p:nvPr/>
        </p:nvSpPr>
        <p:spPr>
          <a:xfrm>
            <a:off x="566928" y="453542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 algn="ctr">
              <a:buNone/>
              <a:defRPr/>
            </a:pPr>
            <a:r>
              <a:rPr lang="en-US" sz="2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04</a:t>
            </a:r>
            <a:endParaRPr lang="en-US" sz="2000"/>
          </a:p>
        </p:txBody>
      </p:sp>
      <p:sp>
        <p:nvSpPr>
          <p:cNvPr id="20" name="Shape 18"/>
          <p:cNvSpPr/>
          <p:nvPr/>
        </p:nvSpPr>
        <p:spPr>
          <a:xfrm>
            <a:off x="566928" y="4535424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16223B"/>
          </a:solidFill>
          <a:ln/>
          <a:effectLst>
            <a:outerShdw blurRad="88900" dist="25400" dir="5400000" algn="bl" rotWithShape="0">
              <a:srgbClr val="000000">
                <a:alpha val="12000"/>
              </a:srgbClr>
            </a:outerShdw>
          </a:effectLst>
        </p:spPr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21" name="Text 19"/>
          <p:cNvSpPr/>
          <p:nvPr/>
        </p:nvSpPr>
        <p:spPr>
          <a:xfrm>
            <a:off x="566928" y="453542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 algn="ctr">
              <a:buNone/>
              <a:defRPr/>
            </a:pPr>
            <a:r>
              <a:rPr lang="en-US" sz="2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lang="en-US" altLang="ko-KR" sz="2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2" name="Text 20"/>
          <p:cNvSpPr/>
          <p:nvPr/>
        </p:nvSpPr>
        <p:spPr>
          <a:xfrm>
            <a:off x="1389887" y="451713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1800" b="1">
                <a:solidFill>
                  <a:srgbClr val="1F2637"/>
                </a:solidFill>
                <a:latin typeface="맑은 고딕"/>
                <a:ea typeface="맑은 고딕"/>
                <a:cs typeface="맑은 고딕"/>
              </a:rPr>
              <a:t>종합 · 기타</a:t>
            </a:r>
            <a:endParaRPr lang="en-US" sz="1800"/>
          </a:p>
        </p:txBody>
      </p:sp>
      <p:sp>
        <p:nvSpPr>
          <p:cNvPr id="23" name="Text 21"/>
          <p:cNvSpPr/>
          <p:nvPr/>
        </p:nvSpPr>
        <p:spPr>
          <a:xfrm>
            <a:off x="1389887" y="482803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1250">
                <a:solidFill>
                  <a:srgbClr val="6C7686"/>
                </a:solidFill>
                <a:latin typeface="맑은 고딕"/>
                <a:ea typeface="맑은 고딕"/>
                <a:cs typeface="맑은 고딕"/>
              </a:rPr>
              <a:t>기획 철학 · 기타 프로젝트</a:t>
            </a:r>
            <a:endParaRPr lang="en-US" sz="1250"/>
          </a:p>
        </p:txBody>
      </p:sp>
      <p:sp>
        <p:nvSpPr>
          <p:cNvPr id="24" name="Text 22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l">
              <a:buNone/>
              <a:defRPr/>
            </a:pPr>
            <a:r>
              <a:rPr lang="en-US" sz="900">
                <a:solidFill>
                  <a:srgbClr val="6C7686"/>
                </a:solidFill>
                <a:latin typeface="맑은 고딕"/>
                <a:ea typeface="맑은 고딕"/>
                <a:cs typeface="맑은 고딕"/>
              </a:rPr>
              <a:t>진성준  ·  게임 시스템 기획 포트폴리오</a:t>
            </a:r>
            <a:endParaRPr lang="en-US" sz="900"/>
          </a:p>
        </p:txBody>
      </p:sp>
      <p:sp>
        <p:nvSpPr>
          <p:cNvPr id="25" name="Text 23"/>
          <p:cNvSpPr/>
          <p:nvPr/>
        </p:nvSpPr>
        <p:spPr>
          <a:xfrm>
            <a:off x="11094415" y="6473952"/>
            <a:ext cx="530352" cy="27432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r">
              <a:buNone/>
              <a:defRPr/>
            </a:pPr>
            <a:r>
              <a:rPr lang="en-US" sz="900">
                <a:solidFill>
                  <a:srgbClr val="6C7686"/>
                </a:solidFill>
                <a:latin typeface="맑은 고딕"/>
                <a:ea typeface="맑은 고딕"/>
                <a:cs typeface="맑은 고딕"/>
              </a:rPr>
              <a:t>02</a:t>
            </a:r>
            <a:endParaRPr lang="en-US" sz="90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1200" b="1" kern="0" spc="200">
                <a:solidFill>
                  <a:srgbClr val="C8622E"/>
                </a:solidFill>
                <a:latin typeface="맑은 고딕"/>
                <a:ea typeface="맑은 고딕"/>
                <a:cs typeface="맑은 고딕"/>
              </a:rPr>
              <a:t>01  ABOUT ME</a:t>
            </a:r>
            <a:endParaRPr lang="en-US" sz="120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2900" b="1">
                <a:solidFill>
                  <a:srgbClr val="1F2637"/>
                </a:solidFill>
                <a:latin typeface="맑은 고딕"/>
                <a:ea typeface="맑은 고딕"/>
                <a:cs typeface="맑은 고딕"/>
              </a:rPr>
              <a:t>자기소개</a:t>
            </a:r>
            <a:endParaRPr lang="en-US" sz="2900"/>
          </a:p>
        </p:txBody>
      </p:sp>
      <p:sp>
        <p:nvSpPr>
          <p:cNvPr id="4" name="Shape 2"/>
          <p:cNvSpPr/>
          <p:nvPr/>
        </p:nvSpPr>
        <p:spPr>
          <a:xfrm>
            <a:off x="566928" y="1737360"/>
            <a:ext cx="3749040" cy="4480560"/>
          </a:xfrm>
          <a:prstGeom prst="roundRect">
            <a:avLst>
              <a:gd name="adj" fmla="val 1707"/>
            </a:avLst>
          </a:prstGeom>
          <a:solidFill>
            <a:srgbClr val="16223B"/>
          </a:solidFill>
          <a:ln w="12700">
            <a:solidFill>
              <a:srgbClr val="D9DEE6"/>
            </a:solidFill>
            <a:prstDash val="solid"/>
          </a:ln>
          <a:effectLst>
            <a:outerShdw blurRad="88900" dist="25400" dir="5400000" algn="bl" rotWithShape="0">
              <a:srgbClr val="000000">
                <a:alpha val="12000"/>
              </a:srgbClr>
            </a:outerShdw>
          </a:effectLst>
        </p:spPr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5" name="Text 3"/>
          <p:cNvSpPr/>
          <p:nvPr/>
        </p:nvSpPr>
        <p:spPr>
          <a:xfrm>
            <a:off x="841248" y="201168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2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진성준</a:t>
            </a:r>
            <a:endParaRPr lang="en-US" sz="2600"/>
          </a:p>
        </p:txBody>
      </p:sp>
      <p:sp>
        <p:nvSpPr>
          <p:cNvPr id="6" name="Text 4"/>
          <p:cNvSpPr/>
          <p:nvPr/>
        </p:nvSpPr>
        <p:spPr>
          <a:xfrm>
            <a:off x="841248" y="248716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E0A15A"/>
                </a:solidFill>
                <a:latin typeface="Arial"/>
                <a:ea typeface="Arial"/>
                <a:cs typeface="Arial"/>
              </a:rPr>
              <a:t>Jin Seongjun</a:t>
            </a:r>
            <a:endParaRPr lang="en-US" sz="1200"/>
          </a:p>
        </p:txBody>
      </p:sp>
      <p:sp>
        <p:nvSpPr>
          <p:cNvPr id="7" name="Text 5"/>
          <p:cNvSpPr/>
          <p:nvPr/>
        </p:nvSpPr>
        <p:spPr>
          <a:xfrm>
            <a:off x="841248" y="288036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endParaRPr lang="en-US" sz="1350" i="1">
              <a:solidFill>
                <a:srgbClr val="EAF0FA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8" name="Text 6"/>
          <p:cNvSpPr/>
          <p:nvPr/>
        </p:nvSpPr>
        <p:spPr>
          <a:xfrm>
            <a:off x="841248" y="3520440"/>
            <a:ext cx="3291840" cy="256032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lnSpc>
                <a:spcPct val="112000"/>
              </a:lnSpc>
              <a:buNone/>
              <a:defRPr/>
            </a:pPr>
            <a:r>
              <a:rPr lang="en-US" sz="1200" b="1">
                <a:solidFill>
                  <a:srgbClr val="E0A15A"/>
                </a:solidFill>
                <a:latin typeface="맑은 고딕"/>
                <a:ea typeface="맑은 고딕"/>
                <a:cs typeface="맑은 고딕"/>
              </a:rPr>
              <a:t>학력</a:t>
            </a:r>
          </a:p>
          <a:p>
            <a:pPr marL="0" indent="0">
              <a:lnSpc>
                <a:spcPct val="112000"/>
              </a:lnSpc>
              <a:buNone/>
              <a:defRPr/>
            </a:pPr>
            <a:r>
              <a:rPr lang="en-US" sz="120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한국공학대학교 게임공학과</a:t>
            </a:r>
          </a:p>
          <a:p>
            <a:pPr marL="0" indent="0">
              <a:lnSpc>
                <a:spcPct val="112000"/>
              </a:lnSpc>
              <a:buNone/>
              <a:defRPr/>
            </a:pPr>
            <a:r>
              <a:rPr lang="en-US" sz="1100">
                <a:solidFill>
                  <a:srgbClr val="EAF0FA"/>
                </a:solidFill>
                <a:latin typeface="맑은 고딕"/>
                <a:ea typeface="맑은 고딕"/>
                <a:cs typeface="맑은 고딕"/>
              </a:rPr>
              <a:t>2026.02 졸업예정</a:t>
            </a:r>
          </a:p>
          <a:p>
            <a:pPr marL="0" indent="0">
              <a:lnSpc>
                <a:spcPct val="112000"/>
              </a:lnSpc>
              <a:buNone/>
              <a:defRPr/>
            </a:pPr>
            <a:r>
              <a:rPr lang="en-US" sz="60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</a:t>
            </a:r>
          </a:p>
          <a:p>
            <a:pPr marL="0" indent="0">
              <a:lnSpc>
                <a:spcPct val="112000"/>
              </a:lnSpc>
              <a:buNone/>
              <a:defRPr/>
            </a:pPr>
            <a:r>
              <a:rPr lang="en-US" sz="1200" b="1">
                <a:solidFill>
                  <a:srgbClr val="E0A15A"/>
                </a:solidFill>
                <a:latin typeface="맑은 고딕"/>
                <a:ea typeface="맑은 고딕"/>
                <a:cs typeface="맑은 고딕"/>
              </a:rPr>
              <a:t>연락처</a:t>
            </a:r>
          </a:p>
          <a:p>
            <a:pPr marL="0" indent="0">
              <a:lnSpc>
                <a:spcPct val="112000"/>
              </a:lnSpc>
              <a:buNone/>
              <a:defRPr/>
            </a:pPr>
            <a:r>
              <a:rPr lang="en-US" sz="120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010-7770-2108</a:t>
            </a:r>
          </a:p>
          <a:p>
            <a:pPr marL="0" indent="0">
              <a:lnSpc>
                <a:spcPct val="112000"/>
              </a:lnSpc>
              <a:buNone/>
              <a:defRPr/>
            </a:pPr>
            <a:r>
              <a:rPr lang="en-US" altLang="ko-KR" sz="115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wlstjdwns2108</a:t>
            </a:r>
            <a:r>
              <a:rPr lang="en-US" sz="115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@naver.com</a:t>
            </a:r>
          </a:p>
        </p:txBody>
      </p:sp>
      <p:sp>
        <p:nvSpPr>
          <p:cNvPr id="9" name="Text 7"/>
          <p:cNvSpPr/>
          <p:nvPr/>
        </p:nvSpPr>
        <p:spPr>
          <a:xfrm>
            <a:off x="4681728" y="1783080"/>
            <a:ext cx="6943039" cy="32004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1600" b="1">
                <a:solidFill>
                  <a:srgbClr val="1F2637"/>
                </a:solidFill>
                <a:latin typeface="맑은 고딕"/>
                <a:ea typeface="맑은 고딕"/>
                <a:cs typeface="맑은 고딕"/>
              </a:rPr>
              <a:t>핵심 역량</a:t>
            </a:r>
            <a:endParaRPr lang="en-US" sz="1600"/>
          </a:p>
        </p:txBody>
      </p:sp>
      <p:sp>
        <p:nvSpPr>
          <p:cNvPr id="10" name="Shape 8"/>
          <p:cNvSpPr/>
          <p:nvPr/>
        </p:nvSpPr>
        <p:spPr>
          <a:xfrm>
            <a:off x="4681728" y="2194560"/>
            <a:ext cx="1371600" cy="457200"/>
          </a:xfrm>
          <a:prstGeom prst="roundRect">
            <a:avLst>
              <a:gd name="adj" fmla="val 12000"/>
            </a:avLst>
          </a:prstGeom>
          <a:solidFill>
            <a:srgbClr val="F4F6FA"/>
          </a:solidFill>
          <a:ln w="12700">
            <a:solidFill>
              <a:srgbClr val="D9DEE6"/>
            </a:solidFill>
            <a:prstDash val="solid"/>
          </a:ln>
        </p:spPr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4681728" y="219456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 algn="ctr">
              <a:buNone/>
              <a:defRPr/>
            </a:pPr>
            <a:r>
              <a:rPr lang="en-US" sz="1250" b="1">
                <a:solidFill>
                  <a:srgbClr val="C8622E"/>
                </a:solidFill>
                <a:latin typeface="맑은 고딕"/>
                <a:ea typeface="맑은 고딕"/>
                <a:cs typeface="맑은 고딕"/>
              </a:rPr>
              <a:t>기획</a:t>
            </a:r>
            <a:endParaRPr lang="en-US" sz="1250"/>
          </a:p>
        </p:txBody>
      </p:sp>
      <p:sp>
        <p:nvSpPr>
          <p:cNvPr id="12" name="Text 10"/>
          <p:cNvSpPr/>
          <p:nvPr/>
        </p:nvSpPr>
        <p:spPr>
          <a:xfrm>
            <a:off x="6236208" y="2194560"/>
            <a:ext cx="5388559" cy="4572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1250">
                <a:solidFill>
                  <a:srgbClr val="1F2637"/>
                </a:solidFill>
                <a:latin typeface="맑은 고딕"/>
                <a:ea typeface="맑은 고딕"/>
                <a:cs typeface="맑은 고딕"/>
              </a:rPr>
              <a:t>전투·시스템 설계 /</a:t>
            </a:r>
            <a:r>
              <a:rPr lang="en-US" altLang="ko-KR" sz="1250">
                <a:solidFill>
                  <a:srgbClr val="1F26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lang="en-US" sz="1250">
                <a:solidFill>
                  <a:srgbClr val="1F2637"/>
                </a:solidFill>
                <a:latin typeface="맑은 고딕"/>
                <a:ea typeface="맑은 고딕"/>
                <a:cs typeface="맑은 고딕"/>
              </a:rPr>
              <a:t>플레이어 경험 설계</a:t>
            </a:r>
          </a:p>
        </p:txBody>
      </p:sp>
      <p:sp>
        <p:nvSpPr>
          <p:cNvPr id="13" name="Shape 11"/>
          <p:cNvSpPr/>
          <p:nvPr/>
        </p:nvSpPr>
        <p:spPr>
          <a:xfrm>
            <a:off x="4681728" y="2761488"/>
            <a:ext cx="1371600" cy="457200"/>
          </a:xfrm>
          <a:prstGeom prst="roundRect">
            <a:avLst>
              <a:gd name="adj" fmla="val 12000"/>
            </a:avLst>
          </a:prstGeom>
          <a:solidFill>
            <a:srgbClr val="F4F6FA"/>
          </a:solidFill>
          <a:ln w="12700">
            <a:solidFill>
              <a:srgbClr val="D9DEE6"/>
            </a:solidFill>
            <a:prstDash val="solid"/>
          </a:ln>
        </p:spPr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4681728" y="276148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 algn="ctr">
              <a:buNone/>
              <a:defRPr/>
            </a:pPr>
            <a:r>
              <a:rPr lang="en-US" sz="1250" b="1">
                <a:solidFill>
                  <a:srgbClr val="C8622E"/>
                </a:solidFill>
                <a:latin typeface="맑은 고딕"/>
                <a:ea typeface="맑은 고딕"/>
                <a:cs typeface="맑은 고딕"/>
              </a:rPr>
              <a:t>문서화</a:t>
            </a:r>
            <a:endParaRPr lang="en-US" sz="1250"/>
          </a:p>
        </p:txBody>
      </p:sp>
      <p:sp>
        <p:nvSpPr>
          <p:cNvPr id="15" name="Text 13"/>
          <p:cNvSpPr/>
          <p:nvPr/>
        </p:nvSpPr>
        <p:spPr>
          <a:xfrm>
            <a:off x="6236208" y="2761488"/>
            <a:ext cx="5388559" cy="4572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1250">
                <a:solidFill>
                  <a:srgbClr val="1F2637"/>
                </a:solidFill>
                <a:latin typeface="맑은 고딕"/>
                <a:ea typeface="맑은 고딕"/>
                <a:cs typeface="맑은 고딕"/>
              </a:rPr>
              <a:t>시스템 정의서 / 발표·제안서 / 반복 개선(피드백 반영)</a:t>
            </a:r>
            <a:endParaRPr lang="en-US" sz="1250"/>
          </a:p>
        </p:txBody>
      </p:sp>
      <p:sp>
        <p:nvSpPr>
          <p:cNvPr id="16" name="Shape 14"/>
          <p:cNvSpPr/>
          <p:nvPr/>
        </p:nvSpPr>
        <p:spPr>
          <a:xfrm>
            <a:off x="4681728" y="3328416"/>
            <a:ext cx="1371600" cy="457200"/>
          </a:xfrm>
          <a:prstGeom prst="roundRect">
            <a:avLst>
              <a:gd name="adj" fmla="val 12000"/>
            </a:avLst>
          </a:prstGeom>
          <a:solidFill>
            <a:srgbClr val="F4F6FA"/>
          </a:solidFill>
          <a:ln w="12700">
            <a:solidFill>
              <a:srgbClr val="D9DEE6"/>
            </a:solidFill>
            <a:prstDash val="solid"/>
          </a:ln>
        </p:spPr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17" name="Text 15"/>
          <p:cNvSpPr/>
          <p:nvPr/>
        </p:nvSpPr>
        <p:spPr>
          <a:xfrm>
            <a:off x="4681728" y="3328416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 algn="ctr">
              <a:buNone/>
              <a:defRPr/>
            </a:pPr>
            <a:r>
              <a:rPr lang="en-US" sz="1250" b="1">
                <a:solidFill>
                  <a:srgbClr val="C8622E"/>
                </a:solidFill>
                <a:latin typeface="맑은 고딕"/>
                <a:ea typeface="맑은 고딕"/>
                <a:cs typeface="맑은 고딕"/>
              </a:rPr>
              <a:t>구현 이해</a:t>
            </a:r>
            <a:endParaRPr lang="en-US" sz="1250"/>
          </a:p>
        </p:txBody>
      </p:sp>
      <p:sp>
        <p:nvSpPr>
          <p:cNvPr id="18" name="Text 16"/>
          <p:cNvSpPr/>
          <p:nvPr/>
        </p:nvSpPr>
        <p:spPr>
          <a:xfrm>
            <a:off x="6236208" y="3328416"/>
            <a:ext cx="5388559" cy="4572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1250">
                <a:solidFill>
                  <a:srgbClr val="1F2637"/>
                </a:solidFill>
                <a:latin typeface="맑은 고딕"/>
                <a:ea typeface="맑은 고딕"/>
                <a:cs typeface="맑은 고딕"/>
              </a:rPr>
              <a:t>C++ · 게임 서버(Zone 분산·프로토콜 설계)</a:t>
            </a:r>
          </a:p>
        </p:txBody>
      </p:sp>
      <p:sp>
        <p:nvSpPr>
          <p:cNvPr id="19" name="Shape 17"/>
          <p:cNvSpPr/>
          <p:nvPr/>
        </p:nvSpPr>
        <p:spPr>
          <a:xfrm>
            <a:off x="4681728" y="3895344"/>
            <a:ext cx="1371600" cy="457200"/>
          </a:xfrm>
          <a:prstGeom prst="roundRect">
            <a:avLst>
              <a:gd name="adj" fmla="val 12000"/>
            </a:avLst>
          </a:prstGeom>
          <a:solidFill>
            <a:srgbClr val="F4F6FA"/>
          </a:solidFill>
          <a:ln w="12700">
            <a:solidFill>
              <a:srgbClr val="D9DEE6"/>
            </a:solidFill>
            <a:prstDash val="solid"/>
          </a:ln>
        </p:spPr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20" name="Text 18"/>
          <p:cNvSpPr/>
          <p:nvPr/>
        </p:nvSpPr>
        <p:spPr>
          <a:xfrm>
            <a:off x="4681728" y="3895344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 algn="ctr">
              <a:buNone/>
              <a:defRPr/>
            </a:pPr>
            <a:r>
              <a:rPr lang="en-US" sz="1250" b="1">
                <a:solidFill>
                  <a:srgbClr val="C8622E"/>
                </a:solidFill>
                <a:latin typeface="맑은 고딕"/>
                <a:ea typeface="맑은 고딕"/>
                <a:cs typeface="맑은 고딕"/>
              </a:rPr>
              <a:t>도구</a:t>
            </a:r>
            <a:endParaRPr lang="en-US" sz="1250"/>
          </a:p>
        </p:txBody>
      </p:sp>
      <p:sp>
        <p:nvSpPr>
          <p:cNvPr id="21" name="Text 19"/>
          <p:cNvSpPr/>
          <p:nvPr/>
        </p:nvSpPr>
        <p:spPr>
          <a:xfrm>
            <a:off x="6236208" y="3895344"/>
            <a:ext cx="5388559" cy="4572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1250" dirty="0">
                <a:solidFill>
                  <a:srgbClr val="1F2637"/>
                </a:solidFill>
                <a:latin typeface="맑은 고딕"/>
                <a:ea typeface="맑은 고딕"/>
                <a:cs typeface="맑은 고딕"/>
              </a:rPr>
              <a:t>Git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4681728" y="4599432"/>
            <a:ext cx="6943039" cy="32004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1600" b="1">
                <a:solidFill>
                  <a:srgbClr val="1F2637"/>
                </a:solidFill>
                <a:latin typeface="맑은 고딕"/>
                <a:ea typeface="맑은 고딕"/>
                <a:cs typeface="맑은 고딕"/>
              </a:rPr>
              <a:t>주요 프로젝트</a:t>
            </a:r>
            <a:endParaRPr lang="en-US" sz="1600"/>
          </a:p>
        </p:txBody>
      </p:sp>
      <p:sp>
        <p:nvSpPr>
          <p:cNvPr id="23" name="Text 21"/>
          <p:cNvSpPr/>
          <p:nvPr/>
        </p:nvSpPr>
        <p:spPr>
          <a:xfrm>
            <a:off x="4681728" y="4965192"/>
            <a:ext cx="6943039" cy="128016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lnSpc>
                <a:spcPct val="125000"/>
              </a:lnSpc>
              <a:buNone/>
              <a:defRPr/>
            </a:pPr>
            <a:r>
              <a:rPr lang="en-US" sz="1250" b="1">
                <a:solidFill>
                  <a:srgbClr val="1F2637"/>
                </a:solidFill>
                <a:latin typeface="맑은 고딕"/>
                <a:ea typeface="맑은 고딕"/>
                <a:cs typeface="맑은 고딕"/>
              </a:rPr>
              <a:t>Pulse City  </a:t>
            </a:r>
            <a:r>
              <a:rPr lang="en-US" sz="1250">
                <a:solidFill>
                  <a:srgbClr val="6C7686"/>
                </a:solidFill>
                <a:latin typeface="맑은 고딕"/>
                <a:ea typeface="맑은 고딕"/>
                <a:cs typeface="맑은 고딕"/>
              </a:rPr>
              <a:t>DX12 온라인 RPG · 기획 + 서버 담당 (졸업작품)</a:t>
            </a:r>
          </a:p>
          <a:p>
            <a:pPr marL="0" indent="0">
              <a:lnSpc>
                <a:spcPct val="125000"/>
              </a:lnSpc>
              <a:buNone/>
              <a:defRPr/>
            </a:pPr>
            <a:r>
              <a:rPr lang="en-US" sz="1250" b="1">
                <a:solidFill>
                  <a:srgbClr val="1F2637"/>
                </a:solidFill>
                <a:latin typeface="맑은 고딕"/>
                <a:ea typeface="맑은 고딕"/>
                <a:cs typeface="맑은 고딕"/>
              </a:rPr>
              <a:t>무진기행  </a:t>
            </a:r>
            <a:r>
              <a:rPr lang="en-US" sz="1250">
                <a:solidFill>
                  <a:srgbClr val="6C7686"/>
                </a:solidFill>
                <a:latin typeface="맑은 고딕"/>
                <a:ea typeface="맑은 고딕"/>
                <a:cs typeface="맑은 고딕"/>
              </a:rPr>
              <a:t>소울라이크×턴제 전투 시스템 기획</a:t>
            </a:r>
          </a:p>
          <a:p>
            <a:pPr marL="0" indent="0">
              <a:lnSpc>
                <a:spcPct val="125000"/>
              </a:lnSpc>
              <a:buNone/>
              <a:defRPr/>
            </a:pPr>
            <a:r>
              <a:rPr lang="en-US" sz="1250" b="1">
                <a:solidFill>
                  <a:srgbClr val="1F2637"/>
                </a:solidFill>
                <a:latin typeface="맑은 고딕"/>
                <a:ea typeface="맑은 고딕"/>
                <a:cs typeface="맑은 고딕"/>
              </a:rPr>
              <a:t>ESCAPE  </a:t>
            </a:r>
            <a:r>
              <a:rPr lang="en-US" sz="1250">
                <a:solidFill>
                  <a:srgbClr val="6C7686"/>
                </a:solidFill>
                <a:latin typeface="맑은 고딕"/>
                <a:ea typeface="맑은 고딕"/>
                <a:cs typeface="맑은 고딕"/>
              </a:rPr>
              <a:t>스트레스 기반 커맨드 RPG 기획</a:t>
            </a:r>
            <a:endParaRPr lang="en-US" sz="1250"/>
          </a:p>
        </p:txBody>
      </p:sp>
      <p:sp>
        <p:nvSpPr>
          <p:cNvPr id="24" name="Text 22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l">
              <a:buNone/>
              <a:defRPr/>
            </a:pPr>
            <a:r>
              <a:rPr lang="en-US" sz="900">
                <a:solidFill>
                  <a:srgbClr val="6C7686"/>
                </a:solidFill>
                <a:latin typeface="맑은 고딕"/>
                <a:ea typeface="맑은 고딕"/>
                <a:cs typeface="맑은 고딕"/>
              </a:rPr>
              <a:t>진성준  ·  게임 시스템 기획 포트폴리오</a:t>
            </a:r>
            <a:endParaRPr lang="en-US" sz="900"/>
          </a:p>
        </p:txBody>
      </p:sp>
      <p:sp>
        <p:nvSpPr>
          <p:cNvPr id="25" name="Text 23"/>
          <p:cNvSpPr/>
          <p:nvPr/>
        </p:nvSpPr>
        <p:spPr>
          <a:xfrm>
            <a:off x="11094415" y="6473952"/>
            <a:ext cx="530352" cy="27432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r">
              <a:buNone/>
              <a:defRPr/>
            </a:pPr>
            <a:r>
              <a:rPr lang="en-US" sz="900">
                <a:solidFill>
                  <a:srgbClr val="6C7686"/>
                </a:solidFill>
                <a:latin typeface="맑은 고딕"/>
                <a:ea typeface="맑은 고딕"/>
                <a:cs typeface="맑은 고딕"/>
              </a:rPr>
              <a:t>03</a:t>
            </a:r>
            <a:endParaRPr lang="en-US" sz="90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1200" b="1" kern="0" spc="200">
                <a:solidFill>
                  <a:srgbClr val="C8622E"/>
                </a:solidFill>
                <a:latin typeface="맑은 고딕"/>
                <a:ea typeface="맑은 고딕"/>
                <a:cs typeface="맑은 고딕"/>
              </a:rPr>
              <a:t>02  PROJECT — 무진기행</a:t>
            </a:r>
            <a:endParaRPr lang="en-US" sz="120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2900" b="1">
                <a:solidFill>
                  <a:srgbClr val="1F2637"/>
                </a:solidFill>
                <a:latin typeface="맑은 고딕"/>
                <a:ea typeface="맑은 고딕"/>
                <a:cs typeface="맑은 고딕"/>
              </a:rPr>
              <a:t>무진기행 (</a:t>
            </a:r>
            <a:r>
              <a:rPr lang="ko-KR" altLang="en-US" sz="2900" b="1">
                <a:solidFill>
                  <a:srgbClr val="1F2637"/>
                </a:solidFill>
                <a:latin typeface="맑은 고딕"/>
                <a:ea typeface="맑은 고딕"/>
                <a:cs typeface="맑은 고딕"/>
              </a:rPr>
              <a:t>霧津</a:t>
            </a:r>
            <a:r>
              <a:rPr lang="en-US" sz="2900" b="1">
                <a:solidFill>
                  <a:srgbClr val="1F2637"/>
                </a:solidFill>
                <a:latin typeface="맑은 고딕"/>
                <a:ea typeface="맑은 고딕"/>
                <a:cs typeface="맑은 고딕"/>
              </a:rPr>
              <a:t>紀行)</a:t>
            </a:r>
          </a:p>
        </p:txBody>
      </p:sp>
      <p:sp>
        <p:nvSpPr>
          <p:cNvPr id="4" name="Text 2"/>
          <p:cNvSpPr/>
          <p:nvPr/>
        </p:nvSpPr>
        <p:spPr>
          <a:xfrm>
            <a:off x="566928" y="1481328"/>
            <a:ext cx="11057839" cy="4572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1350">
                <a:solidFill>
                  <a:srgbClr val="24324F"/>
                </a:solidFill>
                <a:latin typeface="맑은 고딕"/>
                <a:ea typeface="맑은 고딕"/>
                <a:cs typeface="맑은 고딕"/>
              </a:rPr>
              <a:t>마을의 저주를 풀기 위해 원념체를 쓰러뜨리고 마을의 수수께끼를 푸는 게임</a:t>
            </a:r>
            <a:endParaRPr lang="en-US" sz="1350"/>
          </a:p>
        </p:txBody>
      </p:sp>
      <p:graphicFrame>
        <p:nvGraphicFramePr>
          <p:cNvPr id="5" name="Table 0"/>
          <p:cNvGraphicFramePr>
            <a:graphicFrameLocks noGrp="1"/>
          </p:cNvGraphicFramePr>
          <p:nvPr/>
        </p:nvGraphicFramePr>
        <p:xfrm>
          <a:off x="566928" y="2103120"/>
          <a:ext cx="5943600" cy="2304288"/>
        </p:xfrm>
        <a:graphic>
          <a:graphicData uri="http://schemas.openxmlformats.org/drawingml/2006/table">
            <a:tbl>
              <a:tblPr/>
              <a:tblGrid>
                <a:gridCol w="1554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89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장르</a:t>
                      </a:r>
                      <a:endParaRPr lang="en-US" sz="1200"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1622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  <a:defRPr/>
                      </a:pPr>
                      <a:r>
                        <a:rPr lang="en-US" sz="1200">
                          <a:solidFill>
                            <a:srgbClr val="1F26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소울라이크 + 턴제 RPG (하이브리드)</a:t>
                      </a:r>
                      <a:endParaRPr lang="en-US" sz="1200"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플랫폼</a:t>
                      </a:r>
                      <a:endParaRPr lang="en-US" sz="1200"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1622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  <a:defRPr/>
                      </a:pPr>
                      <a:r>
                        <a:rPr lang="en-US" sz="1200">
                          <a:solidFill>
                            <a:srgbClr val="1F26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PC / 싱글플레이</a:t>
                      </a:r>
                      <a:endParaRPr lang="en-US" sz="1200"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담당 역할</a:t>
                      </a:r>
                      <a:endParaRPr lang="en-US" sz="1200"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1622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  <a:defRPr/>
                      </a:pPr>
                      <a:r>
                        <a:rPr lang="en-US" sz="1200">
                          <a:solidFill>
                            <a:srgbClr val="1F26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전투 시스템 기획 (단독)</a:t>
                      </a:r>
                      <a:endParaRPr lang="en-US" sz="1200"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산출물</a:t>
                      </a:r>
                      <a:endParaRPr lang="en-US" sz="1200"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1622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  <a:defRPr/>
                      </a:pPr>
                      <a:r>
                        <a:rPr lang="en-US" sz="1200">
                          <a:solidFill>
                            <a:srgbClr val="1F26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시스템 정의서 · 3회 발표 · 보스/던전 설계</a:t>
                      </a:r>
                      <a:endParaRPr lang="en-US" sz="1200"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기간</a:t>
                      </a:r>
                      <a:endParaRPr lang="en-US" sz="1200"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1622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  <a:defRPr/>
                      </a:pPr>
                      <a:r>
                        <a:rPr lang="en-US" sz="1200">
                          <a:solidFill>
                            <a:srgbClr val="1F26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2025.03 ~ 2025.06</a:t>
                      </a:r>
                      <a:endParaRPr lang="en-US" sz="1200"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도구</a:t>
                      </a:r>
                      <a:endParaRPr lang="en-US" sz="1200"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1622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  <a:defRPr/>
                      </a:pPr>
                      <a:r>
                        <a:rPr lang="en-US" sz="1200">
                          <a:solidFill>
                            <a:srgbClr val="1F26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기획서 · 발표자료 · 레퍼런스 분석</a:t>
                      </a:r>
                      <a:endParaRPr lang="en-US" sz="1200"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876288" y="2103120"/>
            <a:ext cx="4748479" cy="3566160"/>
          </a:xfrm>
          <a:prstGeom prst="roundRect">
            <a:avLst>
              <a:gd name="adj" fmla="val 1795"/>
            </a:avLst>
          </a:prstGeom>
          <a:solidFill>
            <a:srgbClr val="F4F6FA"/>
          </a:solidFill>
          <a:ln w="12700">
            <a:solidFill>
              <a:srgbClr val="D9DEE6"/>
            </a:solidFill>
            <a:prstDash val="solid"/>
          </a:ln>
          <a:effectLst>
            <a:outerShdw blurRad="88900" dist="25400" dir="5400000" algn="bl" rotWithShape="0">
              <a:srgbClr val="000000">
                <a:alpha val="12000"/>
              </a:srgbClr>
            </a:outerShdw>
          </a:effectLst>
        </p:spPr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pic>
        <p:nvPicPr>
          <p:cNvPr id="7" name="Image 0" descr="img/mj_dungeon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7091528" y="2240280"/>
            <a:ext cx="4226560" cy="237744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876288" y="5257800"/>
            <a:ext cx="4748479" cy="32004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 algn="ctr">
              <a:buNone/>
              <a:defRPr/>
            </a:pPr>
            <a:r>
              <a:rPr lang="en-US" sz="1100" i="1">
                <a:solidFill>
                  <a:srgbClr val="6C7686"/>
                </a:solidFill>
                <a:latin typeface="맑은 고딕"/>
                <a:ea typeface="맑은 고딕"/>
                <a:cs typeface="맑은 고딕"/>
              </a:rPr>
              <a:t>던전 컨셉 — 저주로 뒤틀린 공간(스톰빌 성</a:t>
            </a:r>
            <a:r>
              <a:rPr lang="ko-KR" altLang="en-US" sz="1100" i="1">
                <a:solidFill>
                  <a:srgbClr val="6C7686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lang="en-US" altLang="ko-KR" sz="1100" i="1">
                <a:solidFill>
                  <a:srgbClr val="6C7686"/>
                </a:solidFill>
                <a:latin typeface="맑은 고딕"/>
                <a:ea typeface="맑은 고딕"/>
                <a:cs typeface="맑은 고딕"/>
              </a:rPr>
              <a:t>/</a:t>
            </a:r>
            <a:r>
              <a:rPr lang="ko-KR" altLang="en-US" sz="1100" i="1">
                <a:solidFill>
                  <a:srgbClr val="6C7686"/>
                </a:solidFill>
                <a:latin typeface="맑은 고딕"/>
                <a:ea typeface="맑은 고딕"/>
                <a:cs typeface="맑은 고딕"/>
              </a:rPr>
              <a:t> 엘든링</a:t>
            </a:r>
            <a:r>
              <a:rPr lang="en-US" sz="1100" i="1">
                <a:solidFill>
                  <a:srgbClr val="6C7686"/>
                </a:solidFill>
                <a:latin typeface="맑은 고딕"/>
                <a:ea typeface="맑은 고딕"/>
                <a:cs typeface="맑은 고딕"/>
              </a:rPr>
              <a:t>)</a:t>
            </a:r>
          </a:p>
        </p:txBody>
      </p:sp>
      <p:sp>
        <p:nvSpPr>
          <p:cNvPr id="9" name="Text 5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l">
              <a:buNone/>
              <a:defRPr/>
            </a:pPr>
            <a:r>
              <a:rPr lang="en-US" sz="900">
                <a:solidFill>
                  <a:srgbClr val="6C7686"/>
                </a:solidFill>
                <a:latin typeface="맑은 고딕"/>
                <a:ea typeface="맑은 고딕"/>
                <a:cs typeface="맑은 고딕"/>
              </a:rPr>
              <a:t>진성준  ·  게임 시스템 기획 포트폴리오</a:t>
            </a:r>
            <a:endParaRPr lang="en-US" sz="900"/>
          </a:p>
        </p:txBody>
      </p:sp>
      <p:sp>
        <p:nvSpPr>
          <p:cNvPr id="10" name="Text 6"/>
          <p:cNvSpPr/>
          <p:nvPr/>
        </p:nvSpPr>
        <p:spPr>
          <a:xfrm>
            <a:off x="11094415" y="6473952"/>
            <a:ext cx="530352" cy="27432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r">
              <a:buNone/>
              <a:defRPr/>
            </a:pPr>
            <a:r>
              <a:rPr lang="en-US" sz="900">
                <a:solidFill>
                  <a:srgbClr val="6C7686"/>
                </a:solidFill>
                <a:latin typeface="맑은 고딕"/>
                <a:ea typeface="맑은 고딕"/>
                <a:cs typeface="맑은 고딕"/>
              </a:rPr>
              <a:t>04</a:t>
            </a:r>
            <a:endParaRPr lang="en-US" sz="90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1200" b="1" kern="0" spc="200">
                <a:solidFill>
                  <a:srgbClr val="C8622E"/>
                </a:solidFill>
                <a:latin typeface="맑은 고딕"/>
                <a:ea typeface="맑은 고딕"/>
                <a:cs typeface="맑은 고딕"/>
              </a:rPr>
              <a:t>02  무진기행 — 핵심 설계</a:t>
            </a:r>
            <a:endParaRPr lang="en-US" sz="120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2900" b="1" dirty="0">
                <a:solidFill>
                  <a:srgbClr val="1F2637"/>
                </a:solidFill>
                <a:latin typeface="맑은 고딕"/>
                <a:ea typeface="맑은 고딕"/>
                <a:cs typeface="맑은 고딕"/>
              </a:rPr>
              <a:t>왜 </a:t>
            </a:r>
            <a:r>
              <a:rPr lang="en-US" sz="2900" b="1" dirty="0" err="1">
                <a:solidFill>
                  <a:srgbClr val="1F2637"/>
                </a:solidFill>
                <a:latin typeface="맑은 고딕"/>
                <a:ea typeface="맑은 고딕"/>
                <a:cs typeface="맑은 고딕"/>
              </a:rPr>
              <a:t>이렇게</a:t>
            </a:r>
            <a:r>
              <a:rPr lang="en-US" sz="2900" b="1" dirty="0">
                <a:solidFill>
                  <a:srgbClr val="1F26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lang="en-US" sz="2900" b="1" dirty="0" err="1">
                <a:solidFill>
                  <a:srgbClr val="1F2637"/>
                </a:solidFill>
                <a:latin typeface="맑은 고딕"/>
                <a:ea typeface="맑은 고딕"/>
                <a:cs typeface="맑은 고딕"/>
              </a:rPr>
              <a:t>설계했는가</a:t>
            </a:r>
            <a:r>
              <a:rPr lang="en-US" sz="2900" b="1" dirty="0">
                <a:solidFill>
                  <a:srgbClr val="1F2637"/>
                </a:solidFill>
                <a:latin typeface="맑은 고딕"/>
                <a:ea typeface="맑은 고딕"/>
                <a:cs typeface="맑은 고딕"/>
              </a:rPr>
              <a:t>: </a:t>
            </a:r>
            <a:r>
              <a:rPr lang="en-US" sz="2900" b="1" dirty="0" err="1">
                <a:solidFill>
                  <a:srgbClr val="1F2637"/>
                </a:solidFill>
                <a:latin typeface="맑은 고딕"/>
                <a:ea typeface="맑은 고딕"/>
                <a:cs typeface="맑은 고딕"/>
              </a:rPr>
              <a:t>턴을</a:t>
            </a:r>
            <a:r>
              <a:rPr lang="en-US" sz="2900" b="1" dirty="0">
                <a:solidFill>
                  <a:srgbClr val="1F26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lang="en-US" sz="2900" b="1" dirty="0" err="1">
                <a:solidFill>
                  <a:srgbClr val="1F2637"/>
                </a:solidFill>
                <a:latin typeface="맑은 고딕"/>
                <a:ea typeface="맑은 고딕"/>
                <a:cs typeface="맑은 고딕"/>
              </a:rPr>
              <a:t>플레이어에게만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66928" y="1737360"/>
            <a:ext cx="5394960" cy="1828800"/>
          </a:xfrm>
          <a:prstGeom prst="roundRect">
            <a:avLst>
              <a:gd name="adj" fmla="val 3500"/>
            </a:avLst>
          </a:prstGeom>
          <a:solidFill>
            <a:srgbClr val="F4F6FA"/>
          </a:solidFill>
          <a:ln w="12700">
            <a:solidFill>
              <a:srgbClr val="D9DEE6"/>
            </a:solidFill>
            <a:prstDash val="solid"/>
          </a:ln>
          <a:effectLst>
            <a:outerShdw blurRad="88900" dist="25400" dir="5400000" algn="bl" rotWithShape="0">
              <a:srgbClr val="000000">
                <a:alpha val="12000"/>
              </a:srgbClr>
            </a:outerShdw>
          </a:effectLst>
        </p:spPr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5" name="Text 3"/>
          <p:cNvSpPr/>
          <p:nvPr/>
        </p:nvSpPr>
        <p:spPr>
          <a:xfrm>
            <a:off x="795528" y="187452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1400" b="1">
                <a:solidFill>
                  <a:srgbClr val="C8622E"/>
                </a:solidFill>
                <a:latin typeface="맑은 고딕"/>
                <a:ea typeface="맑은 고딕"/>
                <a:cs typeface="맑은 고딕"/>
              </a:rPr>
              <a:t>문제</a:t>
            </a:r>
          </a:p>
        </p:txBody>
      </p:sp>
      <p:sp>
        <p:nvSpPr>
          <p:cNvPr id="6" name="Text 4"/>
          <p:cNvSpPr/>
          <p:nvPr/>
        </p:nvSpPr>
        <p:spPr>
          <a:xfrm>
            <a:off x="795528" y="2240280"/>
            <a:ext cx="4983480" cy="123444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lnSpc>
                <a:spcPct val="120000"/>
              </a:lnSpc>
              <a:buNone/>
              <a:defRPr/>
            </a:pPr>
            <a:r>
              <a:rPr lang="en-US" sz="1300" dirty="0" err="1">
                <a:solidFill>
                  <a:srgbClr val="1F2637"/>
                </a:solidFill>
                <a:latin typeface="맑은 고딕"/>
                <a:ea typeface="맑은 고딕"/>
                <a:cs typeface="맑은 고딕"/>
              </a:rPr>
              <a:t>소울라이크의</a:t>
            </a:r>
            <a:r>
              <a:rPr lang="en-US" sz="1300" dirty="0">
                <a:solidFill>
                  <a:srgbClr val="1F26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lang="en-US" sz="1300" dirty="0" err="1">
                <a:solidFill>
                  <a:srgbClr val="1F2637"/>
                </a:solidFill>
                <a:latin typeface="맑은 고딕"/>
                <a:ea typeface="맑은 고딕"/>
                <a:cs typeface="맑은 고딕"/>
              </a:rPr>
              <a:t>속도감과</a:t>
            </a:r>
            <a:r>
              <a:rPr lang="en-US" sz="1300" dirty="0">
                <a:solidFill>
                  <a:srgbClr val="1F26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lang="en-US" sz="1300" dirty="0" err="1">
                <a:solidFill>
                  <a:srgbClr val="1F2637"/>
                </a:solidFill>
                <a:latin typeface="맑은 고딕"/>
                <a:ea typeface="맑은 고딕"/>
                <a:cs typeface="맑은 고딕"/>
              </a:rPr>
              <a:t>턴제의</a:t>
            </a:r>
            <a:r>
              <a:rPr lang="en-US" sz="1300" dirty="0">
                <a:solidFill>
                  <a:srgbClr val="1F26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lang="en-US" sz="1300" dirty="0" err="1">
                <a:solidFill>
                  <a:srgbClr val="1F2637"/>
                </a:solidFill>
                <a:latin typeface="맑은 고딕"/>
                <a:ea typeface="맑은 고딕"/>
                <a:cs typeface="맑은 고딕"/>
              </a:rPr>
              <a:t>전략성을</a:t>
            </a:r>
            <a:r>
              <a:rPr lang="en-US" sz="1300" dirty="0">
                <a:solidFill>
                  <a:srgbClr val="1F2637"/>
                </a:solidFill>
                <a:latin typeface="맑은 고딕"/>
                <a:ea typeface="맑은 고딕"/>
                <a:cs typeface="맑은 고딕"/>
              </a:rPr>
              <a:t> 한 </a:t>
            </a:r>
            <a:r>
              <a:rPr lang="en-US" sz="1300" dirty="0" err="1">
                <a:solidFill>
                  <a:srgbClr val="1F2637"/>
                </a:solidFill>
                <a:latin typeface="맑은 고딕"/>
                <a:ea typeface="맑은 고딕"/>
                <a:cs typeface="맑은 고딕"/>
              </a:rPr>
              <a:t>번에</a:t>
            </a:r>
            <a:r>
              <a:rPr lang="en-US" sz="1300" dirty="0">
                <a:solidFill>
                  <a:srgbClr val="1F2637"/>
                </a:solidFill>
                <a:latin typeface="맑은 고딕"/>
                <a:ea typeface="맑은 고딕"/>
                <a:cs typeface="맑은 고딕"/>
              </a:rPr>
              <a:t>? </a:t>
            </a:r>
          </a:p>
          <a:p>
            <a:pPr marL="0" indent="0">
              <a:lnSpc>
                <a:spcPct val="120000"/>
              </a:lnSpc>
              <a:buNone/>
              <a:defRPr/>
            </a:pPr>
            <a:r>
              <a:rPr lang="en-US" sz="1300" dirty="0" err="1">
                <a:solidFill>
                  <a:srgbClr val="1F2637"/>
                </a:solidFill>
                <a:latin typeface="맑은 고딕"/>
                <a:ea typeface="맑은 고딕"/>
                <a:cs typeface="맑은 고딕"/>
              </a:rPr>
              <a:t>전통적</a:t>
            </a:r>
            <a:r>
              <a:rPr lang="en-US" sz="1300" dirty="0">
                <a:solidFill>
                  <a:srgbClr val="1F2637"/>
                </a:solidFill>
                <a:latin typeface="맑은 고딕"/>
                <a:ea typeface="맑은 고딕"/>
                <a:cs typeface="맑은 고딕"/>
              </a:rPr>
              <a:t> '</a:t>
            </a:r>
            <a:r>
              <a:rPr lang="en-US" sz="1300" dirty="0" err="1">
                <a:solidFill>
                  <a:srgbClr val="1F2637"/>
                </a:solidFill>
                <a:latin typeface="맑은 고딕"/>
                <a:ea typeface="맑은 고딕"/>
                <a:cs typeface="맑은 고딕"/>
              </a:rPr>
              <a:t>번갈아</a:t>
            </a:r>
            <a:r>
              <a:rPr lang="en-US" sz="1300" dirty="0">
                <a:solidFill>
                  <a:srgbClr val="1F26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lang="en-US" sz="1300" dirty="0" err="1">
                <a:solidFill>
                  <a:srgbClr val="1F2637"/>
                </a:solidFill>
                <a:latin typeface="맑은 고딕"/>
                <a:ea typeface="맑은 고딕"/>
                <a:cs typeface="맑은 고딕"/>
              </a:rPr>
              <a:t>공격</a:t>
            </a:r>
            <a:r>
              <a:rPr lang="en-US" sz="1300" dirty="0">
                <a:solidFill>
                  <a:srgbClr val="1F2637"/>
                </a:solidFill>
                <a:latin typeface="맑은 고딕"/>
                <a:ea typeface="맑은 고딕"/>
                <a:cs typeface="맑은 고딕"/>
              </a:rPr>
              <a:t>' </a:t>
            </a:r>
            <a:r>
              <a:rPr lang="en-US" sz="1300" dirty="0" err="1">
                <a:solidFill>
                  <a:srgbClr val="1F2637"/>
                </a:solidFill>
                <a:latin typeface="맑은 고딕"/>
                <a:ea typeface="맑은 고딕"/>
                <a:cs typeface="맑은 고딕"/>
              </a:rPr>
              <a:t>턴제로는</a:t>
            </a:r>
            <a:r>
              <a:rPr lang="en-US" sz="1300" dirty="0">
                <a:solidFill>
                  <a:srgbClr val="1F2637"/>
                </a:solidFill>
                <a:latin typeface="맑은 고딕"/>
                <a:ea typeface="맑은 고딕"/>
                <a:cs typeface="맑은 고딕"/>
              </a:rPr>
              <a:t> 두 </a:t>
            </a:r>
            <a:r>
              <a:rPr lang="en-US" sz="1300" dirty="0" err="1">
                <a:solidFill>
                  <a:srgbClr val="1F2637"/>
                </a:solidFill>
                <a:latin typeface="맑은 고딕"/>
                <a:ea typeface="맑은 고딕"/>
                <a:cs typeface="맑은 고딕"/>
              </a:rPr>
              <a:t>장르를</a:t>
            </a:r>
            <a:r>
              <a:rPr lang="en-US" sz="1300" dirty="0">
                <a:solidFill>
                  <a:srgbClr val="1F26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lang="en-US" sz="1300" dirty="0" err="1">
                <a:solidFill>
                  <a:srgbClr val="1F2637"/>
                </a:solidFill>
                <a:latin typeface="맑은 고딕"/>
                <a:ea typeface="맑은 고딕"/>
                <a:cs typeface="맑은 고딕"/>
              </a:rPr>
              <a:t>애매하게</a:t>
            </a:r>
            <a:r>
              <a:rPr lang="en-US" sz="1300" dirty="0">
                <a:solidFill>
                  <a:srgbClr val="1F26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lang="en-US" sz="1300" dirty="0" err="1">
                <a:solidFill>
                  <a:srgbClr val="1F2637"/>
                </a:solidFill>
                <a:latin typeface="맑은 고딕"/>
                <a:ea typeface="맑은 고딕"/>
                <a:cs typeface="맑은 고딕"/>
              </a:rPr>
              <a:t>접합할</a:t>
            </a:r>
            <a:r>
              <a:rPr lang="en-US" sz="1300" dirty="0">
                <a:solidFill>
                  <a:srgbClr val="1F2637"/>
                </a:solidFill>
                <a:latin typeface="맑은 고딕"/>
                <a:ea typeface="맑은 고딕"/>
                <a:cs typeface="맑은 고딕"/>
              </a:rPr>
              <a:t> 뿐, 둘 다 </a:t>
            </a:r>
            <a:r>
              <a:rPr lang="en-US" sz="1300" dirty="0" err="1">
                <a:solidFill>
                  <a:srgbClr val="1F2637"/>
                </a:solidFill>
                <a:latin typeface="맑은 고딕"/>
                <a:ea typeface="맑은 고딕"/>
                <a:cs typeface="맑은 고딕"/>
              </a:rPr>
              <a:t>놓친다</a:t>
            </a:r>
            <a:r>
              <a:rPr lang="en-US" sz="1300" dirty="0">
                <a:solidFill>
                  <a:srgbClr val="1F2637"/>
                </a:solidFill>
                <a:latin typeface="맑은 고딕"/>
                <a:ea typeface="맑은 고딕"/>
                <a:cs typeface="맑은 고딕"/>
              </a:rPr>
              <a:t>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053328" y="23317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 algn="ctr">
              <a:buNone/>
              <a:defRPr/>
            </a:pPr>
            <a:r>
              <a:rPr lang="en-US" sz="3400" b="1">
                <a:solidFill>
                  <a:srgbClr val="C8622E"/>
                </a:solidFill>
                <a:latin typeface="Arial"/>
                <a:ea typeface="Arial"/>
                <a:cs typeface="Arial"/>
              </a:rPr>
              <a:t>→</a:t>
            </a:r>
            <a:endParaRPr lang="en-US" sz="3400"/>
          </a:p>
        </p:txBody>
      </p:sp>
      <p:sp>
        <p:nvSpPr>
          <p:cNvPr id="8" name="Shape 6"/>
          <p:cNvSpPr/>
          <p:nvPr/>
        </p:nvSpPr>
        <p:spPr>
          <a:xfrm>
            <a:off x="6693408" y="1737360"/>
            <a:ext cx="4931359" cy="1828800"/>
          </a:xfrm>
          <a:prstGeom prst="roundRect">
            <a:avLst>
              <a:gd name="adj" fmla="val 3500"/>
            </a:avLst>
          </a:prstGeom>
          <a:solidFill>
            <a:srgbClr val="16223B"/>
          </a:solidFill>
          <a:ln w="12700">
            <a:solidFill>
              <a:srgbClr val="D9DEE6"/>
            </a:solidFill>
            <a:prstDash val="solid"/>
          </a:ln>
          <a:effectLst>
            <a:outerShdw blurRad="88900" dist="25400" dir="5400000" algn="bl" rotWithShape="0">
              <a:srgbClr val="000000">
                <a:alpha val="12000"/>
              </a:srgbClr>
            </a:outerShdw>
          </a:effectLst>
        </p:spPr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6922008" y="18745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1400" b="1">
                <a:solidFill>
                  <a:srgbClr val="E0A15A"/>
                </a:solidFill>
                <a:latin typeface="맑은 고딕"/>
                <a:ea typeface="맑은 고딕"/>
                <a:cs typeface="맑은 고딕"/>
              </a:rPr>
              <a:t>해결</a:t>
            </a:r>
          </a:p>
        </p:txBody>
      </p:sp>
      <p:sp>
        <p:nvSpPr>
          <p:cNvPr id="10" name="Text 8"/>
          <p:cNvSpPr/>
          <p:nvPr/>
        </p:nvSpPr>
        <p:spPr>
          <a:xfrm>
            <a:off x="6922008" y="2240280"/>
            <a:ext cx="4474159" cy="123444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lnSpc>
                <a:spcPct val="120000"/>
              </a:lnSpc>
              <a:buNone/>
              <a:defRPr/>
            </a:pPr>
            <a:r>
              <a:rPr lang="en-US" sz="1300" dirty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'턴' </a:t>
            </a:r>
            <a:r>
              <a:rPr lang="en-US" sz="1300" dirty="0" err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개념만</a:t>
            </a:r>
            <a:r>
              <a:rPr lang="en-US" sz="1300" dirty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lang="en-US" sz="1300" dirty="0" err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차용하고</a:t>
            </a:r>
            <a:r>
              <a:rPr lang="en-US" sz="1300" dirty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lang="en-US" sz="1300" dirty="0" err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턴은</a:t>
            </a:r>
            <a:r>
              <a:rPr lang="en-US" sz="1300" dirty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lang="en-US" sz="1300" dirty="0" err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플레이어에게만</a:t>
            </a:r>
            <a:r>
              <a:rPr lang="en-US" sz="1300" dirty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lang="en-US" sz="1300" dirty="0" err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부여</a:t>
            </a:r>
            <a:r>
              <a:rPr lang="en-US" sz="1300" dirty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. </a:t>
            </a:r>
          </a:p>
          <a:p>
            <a:pPr marL="0" indent="0">
              <a:lnSpc>
                <a:spcPct val="120000"/>
              </a:lnSpc>
              <a:buNone/>
              <a:defRPr/>
            </a:pPr>
            <a:r>
              <a:rPr lang="en-US" sz="1300" dirty="0" err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적은</a:t>
            </a:r>
            <a:r>
              <a:rPr lang="en-US" sz="1300" dirty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 턴 </a:t>
            </a:r>
            <a:r>
              <a:rPr lang="en-US" sz="1300" dirty="0" err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없이</a:t>
            </a:r>
            <a:r>
              <a:rPr lang="en-US" sz="1300" dirty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lang="en-US" sz="1300" dirty="0" err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자기</a:t>
            </a:r>
            <a:r>
              <a:rPr lang="en-US" sz="1300" dirty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lang="en-US" sz="1300" dirty="0" err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패턴대로</a:t>
            </a:r>
            <a:r>
              <a:rPr lang="en-US" sz="1300" dirty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lang="en-US" sz="1300" dirty="0" err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실시간</a:t>
            </a:r>
            <a:r>
              <a:rPr lang="en-US" sz="1300" dirty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lang="en-US" sz="1300" dirty="0" err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행동</a:t>
            </a:r>
            <a:r>
              <a:rPr lang="en-US" sz="1300" dirty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 → </a:t>
            </a:r>
          </a:p>
          <a:p>
            <a:pPr marL="0" indent="0">
              <a:lnSpc>
                <a:spcPct val="120000"/>
              </a:lnSpc>
              <a:buNone/>
              <a:defRPr/>
            </a:pPr>
            <a:r>
              <a:rPr lang="en-US" sz="1300" dirty="0" err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적의</a:t>
            </a:r>
            <a:r>
              <a:rPr lang="en-US" sz="1300" dirty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lang="en-US" sz="1300" dirty="0" err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위협감</a:t>
            </a:r>
            <a:r>
              <a:rPr lang="en-US" sz="1300" dirty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 + </a:t>
            </a:r>
            <a:r>
              <a:rPr lang="en-US" sz="1300" dirty="0" err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플레이어의</a:t>
            </a:r>
            <a:r>
              <a:rPr lang="en-US" sz="1300" dirty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lang="en-US" sz="1300" dirty="0" err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계획적</a:t>
            </a:r>
            <a:r>
              <a:rPr lang="en-US" sz="1300" dirty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lang="en-US" sz="1300" dirty="0" err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자원</a:t>
            </a:r>
            <a:r>
              <a:rPr lang="en-US" sz="1300" dirty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lang="en-US" sz="1300" dirty="0" err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운용을</a:t>
            </a:r>
            <a:r>
              <a:rPr lang="en-US" sz="1300" dirty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lang="en-US" sz="1300" dirty="0" err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동시에</a:t>
            </a:r>
            <a:r>
              <a:rPr lang="en-US" sz="1300" dirty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lang="en-US" sz="1300" dirty="0" err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확보</a:t>
            </a:r>
            <a:r>
              <a:rPr lang="en-US" sz="1300" dirty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66928" y="3886200"/>
            <a:ext cx="3474720" cy="1691640"/>
          </a:xfrm>
          <a:prstGeom prst="roundRect">
            <a:avLst>
              <a:gd name="adj" fmla="val 3784"/>
            </a:avLst>
          </a:prstGeom>
          <a:solidFill>
            <a:srgbClr val="F4F6FA"/>
          </a:solidFill>
          <a:ln w="12700">
            <a:solidFill>
              <a:srgbClr val="D9DEE6"/>
            </a:solidFill>
            <a:prstDash val="solid"/>
          </a:ln>
          <a:effectLst>
            <a:outerShdw blurRad="88900" dist="25400" dir="5400000" algn="bl" rotWithShape="0">
              <a:srgbClr val="000000">
                <a:alpha val="12000"/>
              </a:srgbClr>
            </a:outerShdw>
          </a:effectLst>
        </p:spPr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795528" y="4069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2600" b="1">
                <a:solidFill>
                  <a:srgbClr val="C8622E"/>
                </a:solidFill>
                <a:latin typeface="Arial"/>
                <a:ea typeface="Arial"/>
                <a:cs typeface="Arial"/>
              </a:rPr>
              <a:t>1</a:t>
            </a:r>
            <a:endParaRPr lang="en-US" sz="2600"/>
          </a:p>
        </p:txBody>
      </p:sp>
      <p:sp>
        <p:nvSpPr>
          <p:cNvPr id="13" name="Text 11"/>
          <p:cNvSpPr/>
          <p:nvPr/>
        </p:nvSpPr>
        <p:spPr>
          <a:xfrm>
            <a:off x="795528" y="466344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1400" b="1">
                <a:solidFill>
                  <a:srgbClr val="1F2637"/>
                </a:solidFill>
                <a:latin typeface="맑은 고딕"/>
                <a:ea typeface="맑은 고딕"/>
                <a:cs typeface="맑은 고딕"/>
              </a:rPr>
              <a:t>턴은 플레이어에게만</a:t>
            </a:r>
            <a:endParaRPr lang="en-US" sz="1400"/>
          </a:p>
        </p:txBody>
      </p:sp>
      <p:sp>
        <p:nvSpPr>
          <p:cNvPr id="14" name="Text 12"/>
          <p:cNvSpPr/>
          <p:nvPr/>
        </p:nvSpPr>
        <p:spPr>
          <a:xfrm>
            <a:off x="795528" y="4983480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lnSpc>
                <a:spcPct val="110000"/>
              </a:lnSpc>
              <a:buNone/>
              <a:defRPr/>
            </a:pPr>
            <a:r>
              <a:rPr lang="en-US" sz="1200" dirty="0" err="1">
                <a:solidFill>
                  <a:srgbClr val="6C7686"/>
                </a:solidFill>
                <a:latin typeface="맑은 고딕"/>
                <a:ea typeface="맑은 고딕"/>
                <a:cs typeface="맑은 고딕"/>
              </a:rPr>
              <a:t>공격턴</a:t>
            </a:r>
            <a:r>
              <a:rPr lang="en-US" sz="1200" dirty="0">
                <a:solidFill>
                  <a:srgbClr val="6C7686"/>
                </a:solidFill>
                <a:latin typeface="맑은 고딕"/>
                <a:ea typeface="맑은 고딕"/>
                <a:cs typeface="맑은 고딕"/>
              </a:rPr>
              <a:t> / </a:t>
            </a:r>
            <a:r>
              <a:rPr lang="en-US" sz="1200" dirty="0" err="1">
                <a:solidFill>
                  <a:srgbClr val="6C7686"/>
                </a:solidFill>
                <a:latin typeface="맑은 고딕"/>
                <a:ea typeface="맑은 고딕"/>
                <a:cs typeface="맑은 고딕"/>
              </a:rPr>
              <a:t>방어턴</a:t>
            </a:r>
            <a:r>
              <a:rPr lang="ko-KR" altLang="en-US" sz="1200" dirty="0">
                <a:solidFill>
                  <a:srgbClr val="6C7686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lang="en-US" sz="1200" dirty="0" err="1">
                <a:solidFill>
                  <a:srgbClr val="6C7686"/>
                </a:solidFill>
                <a:latin typeface="맑은 고딕"/>
                <a:ea typeface="맑은 고딕"/>
                <a:cs typeface="맑은 고딕"/>
              </a:rPr>
              <a:t>으로</a:t>
            </a:r>
            <a:r>
              <a:rPr lang="en-US" sz="1200" dirty="0">
                <a:solidFill>
                  <a:srgbClr val="6C7686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lang="en-US" sz="1200" dirty="0" err="1">
                <a:solidFill>
                  <a:srgbClr val="6C7686"/>
                </a:solidFill>
                <a:latin typeface="맑은 고딕"/>
                <a:ea typeface="맑은 고딕"/>
                <a:cs typeface="맑은 고딕"/>
              </a:rPr>
              <a:t>분리</a:t>
            </a:r>
            <a:endParaRPr lang="en-US" sz="1200" dirty="0">
              <a:solidFill>
                <a:srgbClr val="6C7686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4270248" y="3886200"/>
            <a:ext cx="3474720" cy="1691640"/>
          </a:xfrm>
          <a:prstGeom prst="roundRect">
            <a:avLst>
              <a:gd name="adj" fmla="val 3784"/>
            </a:avLst>
          </a:prstGeom>
          <a:solidFill>
            <a:srgbClr val="F4F6FA"/>
          </a:solidFill>
          <a:ln w="12700">
            <a:solidFill>
              <a:srgbClr val="D9DEE6"/>
            </a:solidFill>
            <a:prstDash val="solid"/>
          </a:ln>
          <a:effectLst>
            <a:outerShdw blurRad="88900" dist="25400" dir="5400000" algn="bl" rotWithShape="0">
              <a:srgbClr val="000000">
                <a:alpha val="12000"/>
              </a:srgbClr>
            </a:outerShdw>
          </a:effectLst>
        </p:spPr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4498848" y="4069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2600" b="1">
                <a:solidFill>
                  <a:srgbClr val="C8622E"/>
                </a:solidFill>
                <a:latin typeface="Arial"/>
                <a:ea typeface="Arial"/>
                <a:cs typeface="Arial"/>
              </a:rPr>
              <a:t>2</a:t>
            </a:r>
            <a:endParaRPr lang="en-US" sz="2600"/>
          </a:p>
        </p:txBody>
      </p:sp>
      <p:sp>
        <p:nvSpPr>
          <p:cNvPr id="17" name="Text 15"/>
          <p:cNvSpPr/>
          <p:nvPr/>
        </p:nvSpPr>
        <p:spPr>
          <a:xfrm>
            <a:off x="4498848" y="466344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1400" b="1">
                <a:solidFill>
                  <a:srgbClr val="1F2637"/>
                </a:solidFill>
                <a:latin typeface="맑은 고딕"/>
                <a:ea typeface="맑은 고딕"/>
                <a:cs typeface="맑은 고딕"/>
              </a:rPr>
              <a:t>적은 실시간 패턴</a:t>
            </a:r>
            <a:endParaRPr lang="en-US" sz="1400"/>
          </a:p>
        </p:txBody>
      </p:sp>
      <p:sp>
        <p:nvSpPr>
          <p:cNvPr id="18" name="Text 16"/>
          <p:cNvSpPr/>
          <p:nvPr/>
        </p:nvSpPr>
        <p:spPr>
          <a:xfrm>
            <a:off x="4498848" y="4983480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lnSpc>
                <a:spcPct val="110000"/>
              </a:lnSpc>
              <a:buNone/>
              <a:defRPr/>
            </a:pPr>
            <a:r>
              <a:rPr lang="en-US" sz="1200">
                <a:solidFill>
                  <a:srgbClr val="6C7686"/>
                </a:solidFill>
                <a:latin typeface="맑은 고딕"/>
                <a:ea typeface="맑은 고딕"/>
                <a:cs typeface="맑은 고딕"/>
              </a:rPr>
              <a:t>턴 없이 자유 행동 → 소울라이크</a:t>
            </a:r>
            <a:r>
              <a:rPr lang="ko-KR" altLang="en-US" sz="1200">
                <a:solidFill>
                  <a:srgbClr val="6C7686"/>
                </a:solidFill>
                <a:latin typeface="맑은 고딕"/>
                <a:ea typeface="맑은 고딕"/>
                <a:cs typeface="맑은 고딕"/>
              </a:rPr>
              <a:t>의</a:t>
            </a:r>
            <a:r>
              <a:rPr lang="en-US" sz="1200">
                <a:solidFill>
                  <a:srgbClr val="6C7686"/>
                </a:solidFill>
                <a:latin typeface="맑은 고딕"/>
                <a:ea typeface="맑은 고딕"/>
                <a:cs typeface="맑은 고딕"/>
              </a:rPr>
              <a:t> 위협감</a:t>
            </a:r>
          </a:p>
        </p:txBody>
      </p:sp>
      <p:sp>
        <p:nvSpPr>
          <p:cNvPr id="19" name="Shape 17"/>
          <p:cNvSpPr/>
          <p:nvPr/>
        </p:nvSpPr>
        <p:spPr>
          <a:xfrm>
            <a:off x="7973568" y="3886200"/>
            <a:ext cx="3474720" cy="1691640"/>
          </a:xfrm>
          <a:prstGeom prst="roundRect">
            <a:avLst>
              <a:gd name="adj" fmla="val 3784"/>
            </a:avLst>
          </a:prstGeom>
          <a:solidFill>
            <a:srgbClr val="F4F6FA"/>
          </a:solidFill>
          <a:ln w="12700">
            <a:solidFill>
              <a:srgbClr val="D9DEE6"/>
            </a:solidFill>
            <a:prstDash val="solid"/>
          </a:ln>
          <a:effectLst>
            <a:outerShdw blurRad="88900" dist="25400" dir="5400000" algn="bl" rotWithShape="0">
              <a:srgbClr val="000000">
                <a:alpha val="12000"/>
              </a:srgbClr>
            </a:outerShdw>
          </a:effectLst>
        </p:spPr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20" name="Text 18"/>
          <p:cNvSpPr/>
          <p:nvPr/>
        </p:nvSpPr>
        <p:spPr>
          <a:xfrm>
            <a:off x="8202168" y="4069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2600" b="1">
                <a:solidFill>
                  <a:srgbClr val="C8622E"/>
                </a:solidFill>
                <a:latin typeface="Arial"/>
                <a:ea typeface="Arial"/>
                <a:cs typeface="Arial"/>
              </a:rPr>
              <a:t>3</a:t>
            </a:r>
            <a:endParaRPr lang="en-US" sz="2600"/>
          </a:p>
        </p:txBody>
      </p:sp>
      <p:sp>
        <p:nvSpPr>
          <p:cNvPr id="21" name="Text 19"/>
          <p:cNvSpPr/>
          <p:nvPr/>
        </p:nvSpPr>
        <p:spPr>
          <a:xfrm>
            <a:off x="8202168" y="466344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1400" b="1">
                <a:solidFill>
                  <a:srgbClr val="1F2637"/>
                </a:solidFill>
                <a:latin typeface="맑은 고딕"/>
                <a:ea typeface="맑은 고딕"/>
                <a:cs typeface="맑은 고딕"/>
              </a:rPr>
              <a:t>계획 = 재미</a:t>
            </a:r>
            <a:endParaRPr lang="en-US" sz="1400"/>
          </a:p>
        </p:txBody>
      </p:sp>
      <p:sp>
        <p:nvSpPr>
          <p:cNvPr id="22" name="Text 20"/>
          <p:cNvSpPr/>
          <p:nvPr/>
        </p:nvSpPr>
        <p:spPr>
          <a:xfrm>
            <a:off x="8202168" y="4983480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lnSpc>
                <a:spcPct val="110000"/>
              </a:lnSpc>
              <a:buNone/>
              <a:defRPr/>
            </a:pPr>
            <a:r>
              <a:rPr lang="en-US" sz="1200">
                <a:solidFill>
                  <a:srgbClr val="6C7686"/>
                </a:solidFill>
                <a:latin typeface="맑은 고딕"/>
                <a:ea typeface="맑은 고딕"/>
                <a:cs typeface="맑은 고딕"/>
              </a:rPr>
              <a:t>제한된 에너지 배분이 전략의 핵심</a:t>
            </a:r>
            <a:endParaRPr lang="en-US" sz="1200"/>
          </a:p>
        </p:txBody>
      </p:sp>
      <p:sp>
        <p:nvSpPr>
          <p:cNvPr id="23" name="Text 21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l">
              <a:buNone/>
              <a:defRPr/>
            </a:pPr>
            <a:r>
              <a:rPr lang="en-US" sz="900">
                <a:solidFill>
                  <a:srgbClr val="6C7686"/>
                </a:solidFill>
                <a:latin typeface="맑은 고딕"/>
                <a:ea typeface="맑은 고딕"/>
                <a:cs typeface="맑은 고딕"/>
              </a:rPr>
              <a:t>진성준  ·  게임 시스템 기획 포트폴리오</a:t>
            </a:r>
            <a:endParaRPr lang="en-US" sz="900"/>
          </a:p>
        </p:txBody>
      </p:sp>
      <p:sp>
        <p:nvSpPr>
          <p:cNvPr id="24" name="Text 22"/>
          <p:cNvSpPr/>
          <p:nvPr/>
        </p:nvSpPr>
        <p:spPr>
          <a:xfrm>
            <a:off x="11094415" y="6473952"/>
            <a:ext cx="530352" cy="27432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r">
              <a:buNone/>
              <a:defRPr/>
            </a:pPr>
            <a:r>
              <a:rPr lang="en-US" sz="900">
                <a:solidFill>
                  <a:srgbClr val="6C7686"/>
                </a:solidFill>
                <a:latin typeface="맑은 고딕"/>
                <a:ea typeface="맑은 고딕"/>
                <a:cs typeface="맑은 고딕"/>
              </a:rPr>
              <a:t>05</a:t>
            </a:r>
            <a:endParaRPr lang="en-US" sz="90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1200" b="1" kern="0" spc="200">
                <a:solidFill>
                  <a:srgbClr val="C8622E"/>
                </a:solidFill>
                <a:latin typeface="맑은 고딕"/>
                <a:ea typeface="맑은 고딕"/>
                <a:cs typeface="맑은 고딕"/>
              </a:rPr>
              <a:t>02  무진기행 — 코어 시스템</a:t>
            </a:r>
            <a:endParaRPr lang="en-US" sz="120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2900" b="1">
                <a:solidFill>
                  <a:srgbClr val="1F2637"/>
                </a:solidFill>
                <a:latin typeface="맑은 고딕"/>
                <a:ea typeface="맑은 고딕"/>
                <a:cs typeface="맑은 고딕"/>
              </a:rPr>
              <a:t>공격턴 / 방어턴 · 약점 간파 · 동료 연계</a:t>
            </a:r>
            <a:endParaRPr lang="en-US" sz="290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11057839" cy="1325880"/>
          </a:xfrm>
          <a:prstGeom prst="roundRect">
            <a:avLst>
              <a:gd name="adj" fmla="val 4828"/>
            </a:avLst>
          </a:prstGeom>
          <a:solidFill>
            <a:srgbClr val="16223B"/>
          </a:solidFill>
          <a:ln w="12700">
            <a:solidFill>
              <a:srgbClr val="D9DEE6"/>
            </a:solidFill>
            <a:prstDash val="solid"/>
          </a:ln>
          <a:effectLst>
            <a:outerShdw blurRad="88900" dist="25400" dir="5400000" algn="bl" rotWithShape="0">
              <a:srgbClr val="000000">
                <a:alpha val="12000"/>
              </a:srgbClr>
            </a:outerShdw>
          </a:effectLst>
        </p:spPr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5" name="Text 3"/>
          <p:cNvSpPr/>
          <p:nvPr/>
        </p:nvSpPr>
        <p:spPr>
          <a:xfrm>
            <a:off x="841248" y="1965960"/>
            <a:ext cx="3291840" cy="96012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1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공격턴 ↔ 방어턴</a:t>
            </a:r>
            <a:endParaRPr lang="en-US" sz="1600"/>
          </a:p>
        </p:txBody>
      </p:sp>
      <p:sp>
        <p:nvSpPr>
          <p:cNvPr id="6" name="Text 4"/>
          <p:cNvSpPr/>
          <p:nvPr/>
        </p:nvSpPr>
        <p:spPr>
          <a:xfrm>
            <a:off x="4315968" y="1965960"/>
            <a:ext cx="7034479" cy="96012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lnSpc>
                <a:spcPct val="115000"/>
              </a:lnSpc>
              <a:buNone/>
              <a:defRPr/>
            </a:pPr>
            <a:r>
              <a:rPr lang="en-US" sz="1300">
                <a:solidFill>
                  <a:srgbClr val="EAF0FA"/>
                </a:solidFill>
                <a:latin typeface="맑은 고딕"/>
                <a:ea typeface="맑은 고딕"/>
                <a:cs typeface="맑은 고딕"/>
              </a:rPr>
              <a:t>각 턴은 고유 에너지를 소모. 소진 시 반대 턴으로 자동 스위치. </a:t>
            </a:r>
          </a:p>
          <a:p>
            <a:pPr marL="0" indent="0">
              <a:lnSpc>
                <a:spcPct val="115000"/>
              </a:lnSpc>
              <a:buNone/>
              <a:defRPr/>
            </a:pPr>
            <a:r>
              <a:rPr lang="en-US" sz="1300">
                <a:solidFill>
                  <a:srgbClr val="EAF0FA"/>
                </a:solidFill>
                <a:latin typeface="맑은 고딕"/>
                <a:ea typeface="맑은 고딕"/>
                <a:cs typeface="맑은 고딕"/>
              </a:rPr>
              <a:t>스킬마다 위력·코스트가 달라 '무엇에 배분할까'가 전략.</a:t>
            </a:r>
            <a:endParaRPr lang="en-US" sz="1300"/>
          </a:p>
        </p:txBody>
      </p:sp>
      <p:sp>
        <p:nvSpPr>
          <p:cNvPr id="7" name="Shape 5"/>
          <p:cNvSpPr/>
          <p:nvPr/>
        </p:nvSpPr>
        <p:spPr>
          <a:xfrm>
            <a:off x="566928" y="3246120"/>
            <a:ext cx="11057839" cy="1325880"/>
          </a:xfrm>
          <a:prstGeom prst="roundRect">
            <a:avLst>
              <a:gd name="adj" fmla="val 4828"/>
            </a:avLst>
          </a:prstGeom>
          <a:solidFill>
            <a:srgbClr val="F4F6FA"/>
          </a:solidFill>
          <a:ln w="12700">
            <a:solidFill>
              <a:srgbClr val="D9DEE6"/>
            </a:solidFill>
            <a:prstDash val="solid"/>
          </a:ln>
          <a:effectLst>
            <a:outerShdw blurRad="88900" dist="25400" dir="5400000" algn="bl" rotWithShape="0">
              <a:srgbClr val="000000">
                <a:alpha val="12000"/>
              </a:srgbClr>
            </a:outerShdw>
          </a:effectLst>
        </p:spPr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841248" y="3429000"/>
            <a:ext cx="3291840" cy="96012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1600" b="1">
                <a:solidFill>
                  <a:srgbClr val="C8622E"/>
                </a:solidFill>
                <a:latin typeface="맑은 고딕"/>
                <a:ea typeface="맑은 고딕"/>
                <a:cs typeface="맑은 고딕"/>
              </a:rPr>
              <a:t>약점 간파 (그로기)</a:t>
            </a:r>
            <a:endParaRPr lang="en-US" sz="1600"/>
          </a:p>
        </p:txBody>
      </p:sp>
      <p:sp>
        <p:nvSpPr>
          <p:cNvPr id="9" name="Text 7"/>
          <p:cNvSpPr/>
          <p:nvPr/>
        </p:nvSpPr>
        <p:spPr>
          <a:xfrm>
            <a:off x="4315968" y="3429000"/>
            <a:ext cx="7034479" cy="96012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lnSpc>
                <a:spcPct val="115000"/>
              </a:lnSpc>
              <a:buNone/>
              <a:defRPr/>
            </a:pPr>
            <a:r>
              <a:rPr lang="en-US" sz="1300">
                <a:solidFill>
                  <a:srgbClr val="1F2637"/>
                </a:solidFill>
                <a:latin typeface="맑은 고딕"/>
                <a:ea typeface="맑은 고딕"/>
                <a:cs typeface="맑은 고딕"/>
              </a:rPr>
              <a:t>명중할 때마다 </a:t>
            </a:r>
            <a:r>
              <a:rPr lang="ko-KR" altLang="en-US" sz="1300">
                <a:solidFill>
                  <a:srgbClr val="1F2637"/>
                </a:solidFill>
                <a:latin typeface="맑은 고딕"/>
                <a:ea typeface="맑은 고딕"/>
                <a:cs typeface="맑은 고딕"/>
              </a:rPr>
              <a:t>방어도가 줄어듦</a:t>
            </a:r>
            <a:r>
              <a:rPr lang="en-US" sz="1300">
                <a:solidFill>
                  <a:srgbClr val="1F2637"/>
                </a:solidFill>
                <a:latin typeface="맑은 고딕"/>
                <a:ea typeface="맑은 고딕"/>
                <a:cs typeface="맑은 고딕"/>
              </a:rPr>
              <a:t>. </a:t>
            </a:r>
            <a:endParaRPr lang="ko-KR" altLang="en-US" sz="1300">
              <a:solidFill>
                <a:srgbClr val="1F2637"/>
              </a:solidFill>
              <a:latin typeface="맑은 고딕"/>
              <a:ea typeface="맑은 고딕"/>
              <a:cs typeface="맑은 고딕"/>
            </a:endParaRPr>
          </a:p>
          <a:p>
            <a:pPr marL="0" indent="0">
              <a:lnSpc>
                <a:spcPct val="115000"/>
              </a:lnSpc>
              <a:buNone/>
              <a:defRPr/>
            </a:pPr>
            <a:r>
              <a:rPr lang="ko-KR" altLang="en-US" sz="1300">
                <a:solidFill>
                  <a:srgbClr val="1F2637"/>
                </a:solidFill>
                <a:latin typeface="맑은 고딕"/>
                <a:ea typeface="맑은 고딕"/>
                <a:cs typeface="맑은 고딕"/>
              </a:rPr>
              <a:t>적의 방어도 소진</a:t>
            </a:r>
            <a:r>
              <a:rPr lang="en-US" sz="1300">
                <a:solidFill>
                  <a:srgbClr val="1F2637"/>
                </a:solidFill>
                <a:latin typeface="맑은 고딕"/>
                <a:ea typeface="맑은 고딕"/>
                <a:cs typeface="맑은 고딕"/>
              </a:rPr>
              <a:t> 시 증폭</a:t>
            </a:r>
            <a:r>
              <a:rPr lang="ko-KR" altLang="en-US" sz="1300">
                <a:solidFill>
                  <a:srgbClr val="1F2637"/>
                </a:solidFill>
                <a:latin typeface="맑은 고딕"/>
                <a:ea typeface="맑은 고딕"/>
                <a:cs typeface="맑은 고딕"/>
              </a:rPr>
              <a:t>된</a:t>
            </a:r>
            <a:r>
              <a:rPr lang="en-US" sz="1300">
                <a:solidFill>
                  <a:srgbClr val="1F2637"/>
                </a:solidFill>
                <a:latin typeface="맑은 고딕"/>
                <a:ea typeface="맑은 고딕"/>
                <a:cs typeface="맑은 고딕"/>
              </a:rPr>
              <a:t> 강공격 → 명중하면 적 기절 + 에너지 </a:t>
            </a:r>
            <a:r>
              <a:rPr lang="ko-KR" altLang="en-US" sz="1300">
                <a:solidFill>
                  <a:srgbClr val="1F2637"/>
                </a:solidFill>
                <a:latin typeface="맑은 고딕"/>
                <a:ea typeface="맑은 고딕"/>
                <a:cs typeface="맑은 고딕"/>
              </a:rPr>
              <a:t>모두 </a:t>
            </a:r>
            <a:r>
              <a:rPr lang="en-US" sz="1300">
                <a:solidFill>
                  <a:srgbClr val="1F2637"/>
                </a:solidFill>
                <a:latin typeface="맑은 고딕"/>
                <a:ea typeface="맑은 고딕"/>
                <a:cs typeface="맑은 고딕"/>
              </a:rPr>
              <a:t>회복 + 추가 턴.</a:t>
            </a:r>
          </a:p>
        </p:txBody>
      </p:sp>
      <p:sp>
        <p:nvSpPr>
          <p:cNvPr id="10" name="Shape 8"/>
          <p:cNvSpPr/>
          <p:nvPr/>
        </p:nvSpPr>
        <p:spPr>
          <a:xfrm>
            <a:off x="566928" y="4709160"/>
            <a:ext cx="11057839" cy="1325880"/>
          </a:xfrm>
          <a:prstGeom prst="roundRect">
            <a:avLst>
              <a:gd name="adj" fmla="val 4828"/>
            </a:avLst>
          </a:prstGeom>
          <a:solidFill>
            <a:srgbClr val="F4F6FA"/>
          </a:solidFill>
          <a:ln w="12700">
            <a:solidFill>
              <a:srgbClr val="D9DEE6"/>
            </a:solidFill>
            <a:prstDash val="solid"/>
          </a:ln>
          <a:effectLst>
            <a:outerShdw blurRad="88900" dist="25400" dir="5400000" algn="bl" rotWithShape="0">
              <a:srgbClr val="000000">
                <a:alpha val="12000"/>
              </a:srgbClr>
            </a:outerShdw>
          </a:effectLst>
        </p:spPr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841248" y="4892040"/>
            <a:ext cx="3291840" cy="96012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1600" b="1">
                <a:solidFill>
                  <a:srgbClr val="C8622E"/>
                </a:solidFill>
                <a:latin typeface="맑은 고딕"/>
                <a:ea typeface="맑은 고딕"/>
                <a:cs typeface="맑은 고딕"/>
              </a:rPr>
              <a:t>동료 연계 공격</a:t>
            </a:r>
            <a:endParaRPr lang="en-US" sz="1600"/>
          </a:p>
        </p:txBody>
      </p:sp>
      <p:sp>
        <p:nvSpPr>
          <p:cNvPr id="12" name="Text 10"/>
          <p:cNvSpPr/>
          <p:nvPr/>
        </p:nvSpPr>
        <p:spPr>
          <a:xfrm>
            <a:off x="4315968" y="4892040"/>
            <a:ext cx="7034479" cy="96012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lnSpc>
                <a:spcPct val="115000"/>
              </a:lnSpc>
              <a:buNone/>
              <a:defRPr/>
            </a:pPr>
            <a:r>
              <a:rPr lang="en-US" sz="1300">
                <a:solidFill>
                  <a:srgbClr val="1F2637"/>
                </a:solidFill>
                <a:latin typeface="맑은 고딕"/>
                <a:ea typeface="맑은 고딕"/>
                <a:cs typeface="맑은 고딕"/>
              </a:rPr>
              <a:t>패링·약점 간파 등 특정 조건 달성 시 동료가 순간 개입해 추가타/버프. </a:t>
            </a:r>
          </a:p>
        </p:txBody>
      </p:sp>
      <p:sp>
        <p:nvSpPr>
          <p:cNvPr id="13" name="Text 11"/>
          <p:cNvSpPr/>
          <p:nvPr/>
        </p:nvSpPr>
        <p:spPr>
          <a:xfrm>
            <a:off x="566928" y="6190488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endParaRPr lang="en-US" sz="1050" i="1">
              <a:solidFill>
                <a:srgbClr val="6C7686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l">
              <a:buNone/>
              <a:defRPr/>
            </a:pPr>
            <a:r>
              <a:rPr lang="en-US" sz="900">
                <a:solidFill>
                  <a:srgbClr val="6C7686"/>
                </a:solidFill>
                <a:latin typeface="맑은 고딕"/>
                <a:ea typeface="맑은 고딕"/>
                <a:cs typeface="맑은 고딕"/>
              </a:rPr>
              <a:t>진성준  ·  게임 시스템 기획 포트폴리오</a:t>
            </a:r>
            <a:endParaRPr lang="en-US" sz="900"/>
          </a:p>
        </p:txBody>
      </p:sp>
      <p:sp>
        <p:nvSpPr>
          <p:cNvPr id="15" name="Text 13"/>
          <p:cNvSpPr/>
          <p:nvPr/>
        </p:nvSpPr>
        <p:spPr>
          <a:xfrm>
            <a:off x="11094415" y="6473952"/>
            <a:ext cx="530352" cy="27432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r">
              <a:buNone/>
              <a:defRPr/>
            </a:pPr>
            <a:r>
              <a:rPr lang="en-US" sz="900">
                <a:solidFill>
                  <a:srgbClr val="6C7686"/>
                </a:solidFill>
                <a:latin typeface="맑은 고딕"/>
                <a:ea typeface="맑은 고딕"/>
                <a:cs typeface="맑은 고딕"/>
              </a:rPr>
              <a:t>06</a:t>
            </a:r>
            <a:endParaRPr lang="en-US" sz="90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C862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  무진기행 — 적 설계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F26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학습 곡선: 잡몹 → 중간보스 3종 (가르치는 적)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66928" y="1481328"/>
            <a:ext cx="110578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24324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잡몹은 길잡이·자기효능감 담당(단순 패턴). 중간보스 3종은 '유사 착장·유사 패턴'으로 방어/공격 타이밍을 가르치는 학습의 장.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2057400"/>
            <a:ext cx="3474720" cy="2788920"/>
          </a:xfrm>
          <a:prstGeom prst="roundRect">
            <a:avLst>
              <a:gd name="adj" fmla="val 2295"/>
            </a:avLst>
          </a:prstGeom>
          <a:solidFill>
            <a:srgbClr val="FFFFFF"/>
          </a:solidFill>
          <a:ln w="12700">
            <a:solidFill>
              <a:srgbClr val="D9DEE6"/>
            </a:solidFill>
            <a:prstDash val="solid"/>
          </a:ln>
          <a:effectLst>
            <a:outerShdw blurRad="889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6" name="Image 0" descr="img/mj_knight_sp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2008" y="2194560"/>
            <a:ext cx="1764559" cy="17373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49808" y="3950208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F26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창 기사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749808" y="4279392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6C76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 사거리 + 후딜레이 강공격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270248" y="2057400"/>
            <a:ext cx="3474720" cy="2788920"/>
          </a:xfrm>
          <a:prstGeom prst="roundRect">
            <a:avLst>
              <a:gd name="adj" fmla="val 2295"/>
            </a:avLst>
          </a:prstGeom>
          <a:solidFill>
            <a:srgbClr val="FFFFFF"/>
          </a:solidFill>
          <a:ln w="12700">
            <a:solidFill>
              <a:srgbClr val="D9DEE6"/>
            </a:solidFill>
            <a:prstDash val="solid"/>
          </a:ln>
          <a:effectLst>
            <a:outerShdw blurRad="889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10" name="Image 1" descr="img/mj_knight_du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5639" y="2194560"/>
            <a:ext cx="2403939" cy="173736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453128" y="3950208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F26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쌍검 기사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4453128" y="4279392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6C76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연속 공격 · 빠른 템포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7973568" y="2057400"/>
            <a:ext cx="3474720" cy="2788920"/>
          </a:xfrm>
          <a:prstGeom prst="roundRect">
            <a:avLst>
              <a:gd name="adj" fmla="val 2295"/>
            </a:avLst>
          </a:prstGeom>
          <a:solidFill>
            <a:srgbClr val="FFFFFF"/>
          </a:solidFill>
          <a:ln w="12700">
            <a:solidFill>
              <a:srgbClr val="D9DEE6"/>
            </a:solidFill>
            <a:prstDash val="solid"/>
          </a:ln>
          <a:effectLst>
            <a:outerShdw blurRad="889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14" name="Image 2" descr="img/mj_knight_shie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00387" y="2194560"/>
            <a:ext cx="2021082" cy="173736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8156448" y="3950208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F26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방패 기사</a:t>
            </a:r>
            <a:endParaRPr lang="en-US" sz="1500" dirty="0"/>
          </a:p>
        </p:txBody>
      </p:sp>
      <p:sp>
        <p:nvSpPr>
          <p:cNvPr id="16" name="Text 11"/>
          <p:cNvSpPr/>
          <p:nvPr/>
        </p:nvSpPr>
        <p:spPr>
          <a:xfrm>
            <a:off x="8156448" y="4279392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6C76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방어·막기 · 반격 유도</a:t>
            </a:r>
            <a:endParaRPr lang="en-US" sz="1200" dirty="0"/>
          </a:p>
        </p:txBody>
      </p:sp>
      <p:sp>
        <p:nvSpPr>
          <p:cNvPr id="17" name="Shape 12"/>
          <p:cNvSpPr/>
          <p:nvPr/>
        </p:nvSpPr>
        <p:spPr>
          <a:xfrm>
            <a:off x="566928" y="5029200"/>
            <a:ext cx="11057839" cy="868680"/>
          </a:xfrm>
          <a:prstGeom prst="roundRect">
            <a:avLst>
              <a:gd name="adj" fmla="val 7368"/>
            </a:avLst>
          </a:prstGeom>
          <a:solidFill>
            <a:srgbClr val="16223B"/>
          </a:solidFill>
          <a:ln w="12700">
            <a:solidFill>
              <a:srgbClr val="D9DEE6"/>
            </a:solidFill>
            <a:prstDash val="solid"/>
          </a:ln>
          <a:effectLst>
            <a:outerShdw blurRad="889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3"/>
          <p:cNvSpPr/>
          <p:nvPr/>
        </p:nvSpPr>
        <p:spPr>
          <a:xfrm>
            <a:off x="841248" y="5029200"/>
            <a:ext cx="1050919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E0A1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설계 의도  </a:t>
            </a:r>
            <a:r>
              <a:rPr lang="en-US" sz="1250" dirty="0">
                <a:solidFill>
                  <a:srgbClr val="EAF0F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후딜레이가 큰 공격일수록 공격 창을 넓게 → 타이밍을 '암시'. 피격 시 반격 패턴으로 전환해 무지성 공격을 억제.</a:t>
            </a:r>
            <a:endParaRPr lang="en-US" sz="1250" dirty="0"/>
          </a:p>
        </p:txBody>
      </p:sp>
      <p:sp>
        <p:nvSpPr>
          <p:cNvPr id="19" name="Text 14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C76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진성준  ·  게임 시스템 기획 포트폴리오</a:t>
            </a:r>
            <a:endParaRPr lang="en-US" sz="900" dirty="0"/>
          </a:p>
        </p:txBody>
      </p:sp>
      <p:sp>
        <p:nvSpPr>
          <p:cNvPr id="20" name="Text 15"/>
          <p:cNvSpPr/>
          <p:nvPr/>
        </p:nvSpPr>
        <p:spPr>
          <a:xfrm>
            <a:off x="11094415" y="6473952"/>
            <a:ext cx="5303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C76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1200" b="1" kern="0" spc="200">
                <a:solidFill>
                  <a:srgbClr val="C8622E"/>
                </a:solidFill>
                <a:latin typeface="맑은 고딕"/>
                <a:ea typeface="맑은 고딕"/>
                <a:cs typeface="맑은 고딕"/>
              </a:rPr>
              <a:t>02  무진기행 — 보스전</a:t>
            </a:r>
            <a:endParaRPr lang="en-US" sz="120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2900" b="1">
                <a:solidFill>
                  <a:srgbClr val="1F2637"/>
                </a:solidFill>
                <a:latin typeface="맑은 고딕"/>
                <a:ea typeface="맑은 고딕"/>
                <a:cs typeface="맑은 고딕"/>
              </a:rPr>
              <a:t>학습의 검증: 패턴 융합 + 마지막 패턴</a:t>
            </a:r>
            <a:r>
              <a:rPr lang="ko-KR" altLang="en-US" sz="2900" b="1">
                <a:solidFill>
                  <a:srgbClr val="1F2637"/>
                </a:solidFill>
                <a:latin typeface="맑은 고딕"/>
                <a:ea typeface="맑은 고딕"/>
                <a:cs typeface="맑은 고딕"/>
              </a:rPr>
              <a:t>의 </a:t>
            </a:r>
            <a:r>
              <a:rPr lang="en-US" sz="2900" b="1">
                <a:solidFill>
                  <a:srgbClr val="1F2637"/>
                </a:solidFill>
                <a:latin typeface="맑은 고딕"/>
                <a:ea typeface="맑은 고딕"/>
                <a:cs typeface="맑은 고딕"/>
              </a:rPr>
              <a:t>신호</a:t>
            </a:r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5212080" cy="3931920"/>
          </a:xfrm>
          <a:prstGeom prst="roundRect">
            <a:avLst>
              <a:gd name="adj" fmla="val 1628"/>
            </a:avLst>
          </a:prstGeom>
          <a:solidFill>
            <a:srgbClr val="F4F6FA"/>
          </a:solidFill>
          <a:ln w="12700">
            <a:solidFill>
              <a:srgbClr val="D9DEE6"/>
            </a:solidFill>
            <a:prstDash val="solid"/>
          </a:ln>
          <a:effectLst>
            <a:outerShdw blurRad="88900" dist="25400" dir="5400000" algn="bl" rotWithShape="0">
              <a:srgbClr val="000000">
                <a:alpha val="12000"/>
              </a:srgbClr>
            </a:outerShdw>
          </a:effectLst>
        </p:spPr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pic>
        <p:nvPicPr>
          <p:cNvPr id="5" name="Image 0" descr="img/mj_boss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985007" y="1920240"/>
            <a:ext cx="4375922" cy="20116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49808" y="4023360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1200" i="1">
                <a:solidFill>
                  <a:srgbClr val="6C7686"/>
                </a:solidFill>
                <a:latin typeface="맑은 고딕"/>
                <a:ea typeface="맑은 고딕"/>
                <a:cs typeface="맑은 고딕"/>
              </a:rPr>
              <a:t>보스 '떠도는 머리' — 세 중간보스의 머리를 쥔 그림자 괴물</a:t>
            </a:r>
            <a:endParaRPr lang="en-US" sz="1200"/>
          </a:p>
        </p:txBody>
      </p:sp>
      <p:sp>
        <p:nvSpPr>
          <p:cNvPr id="7" name="Text 4"/>
          <p:cNvSpPr/>
          <p:nvPr/>
        </p:nvSpPr>
        <p:spPr>
          <a:xfrm>
            <a:off x="749808" y="4434840"/>
            <a:ext cx="4892040" cy="109728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lnSpc>
                <a:spcPct val="120000"/>
              </a:lnSpc>
              <a:buNone/>
              <a:defRPr/>
            </a:pPr>
            <a:r>
              <a:rPr lang="en-US" sz="1300" b="1">
                <a:solidFill>
                  <a:srgbClr val="1F2637"/>
                </a:solidFill>
                <a:latin typeface="맑은 고딕"/>
                <a:ea typeface="맑은 고딕"/>
                <a:cs typeface="맑은 고딕"/>
              </a:rPr>
              <a:t>세 중간보스의 패턴을 모두 구사</a:t>
            </a:r>
          </a:p>
          <a:p>
            <a:pPr marL="0" indent="0">
              <a:lnSpc>
                <a:spcPct val="120000"/>
              </a:lnSpc>
              <a:buNone/>
              <a:defRPr/>
            </a:pPr>
            <a:r>
              <a:rPr lang="en-US" sz="1300">
                <a:solidFill>
                  <a:srgbClr val="6C7686"/>
                </a:solidFill>
                <a:latin typeface="맑은 고딕"/>
                <a:ea typeface="맑은 고딕"/>
                <a:cs typeface="맑은 고딕"/>
              </a:rPr>
              <a:t>→ 플레이어는 학습한 타이밍으로 대응</a:t>
            </a:r>
            <a:endParaRPr lang="en-US" sz="1300"/>
          </a:p>
        </p:txBody>
      </p:sp>
      <p:sp>
        <p:nvSpPr>
          <p:cNvPr id="8" name="Shape 5"/>
          <p:cNvSpPr/>
          <p:nvPr/>
        </p:nvSpPr>
        <p:spPr>
          <a:xfrm>
            <a:off x="6053328" y="1783080"/>
            <a:ext cx="5571439" cy="1874520"/>
          </a:xfrm>
          <a:prstGeom prst="roundRect">
            <a:avLst>
              <a:gd name="adj" fmla="val 3415"/>
            </a:avLst>
          </a:prstGeom>
          <a:solidFill>
            <a:srgbClr val="16223B"/>
          </a:solidFill>
          <a:ln w="12700">
            <a:solidFill>
              <a:srgbClr val="D9DEE6"/>
            </a:solidFill>
            <a:prstDash val="solid"/>
          </a:ln>
          <a:effectLst>
            <a:outerShdw blurRad="88900" dist="25400" dir="5400000" algn="bl" rotWithShape="0">
              <a:srgbClr val="000000">
                <a:alpha val="12000"/>
              </a:srgbClr>
            </a:outerShdw>
          </a:effectLst>
        </p:spPr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9" name="Text 6"/>
          <p:cNvSpPr/>
          <p:nvPr/>
        </p:nvSpPr>
        <p:spPr>
          <a:xfrm>
            <a:off x="6281928" y="1920240"/>
            <a:ext cx="5114239" cy="32004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1500" b="1">
                <a:solidFill>
                  <a:srgbClr val="E0A15A"/>
                </a:solidFill>
                <a:latin typeface="맑은 고딕"/>
                <a:ea typeface="맑은 고딕"/>
                <a:cs typeface="맑은 고딕"/>
              </a:rPr>
              <a:t>정형화 + 변속</a:t>
            </a:r>
            <a:endParaRPr lang="en-US" sz="1500"/>
          </a:p>
        </p:txBody>
      </p:sp>
      <p:sp>
        <p:nvSpPr>
          <p:cNvPr id="10" name="Text 7"/>
          <p:cNvSpPr/>
          <p:nvPr/>
        </p:nvSpPr>
        <p:spPr>
          <a:xfrm>
            <a:off x="6281928" y="2286000"/>
            <a:ext cx="5114239" cy="128016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lnSpc>
                <a:spcPct val="118000"/>
              </a:lnSpc>
              <a:buNone/>
              <a:defRPr/>
            </a:pPr>
            <a:r>
              <a:rPr lang="en-US" sz="1250">
                <a:solidFill>
                  <a:srgbClr val="EAF0FA"/>
                </a:solidFill>
                <a:latin typeface="맑은 고딕"/>
                <a:ea typeface="맑은 고딕"/>
                <a:cs typeface="맑은 고딕"/>
              </a:rPr>
              <a:t>패턴을 무작위 순서로 돌리되 '다음 순서'는 예측 가능하게. 대신 공격 템포에 변속(빠름/느림 이지선다)을 걸어 심리전 유발 → 반복 트라이의 지루함 상쇄.</a:t>
            </a:r>
            <a:endParaRPr lang="en-US" sz="1250"/>
          </a:p>
        </p:txBody>
      </p:sp>
      <p:sp>
        <p:nvSpPr>
          <p:cNvPr id="11" name="Shape 8"/>
          <p:cNvSpPr/>
          <p:nvPr/>
        </p:nvSpPr>
        <p:spPr>
          <a:xfrm>
            <a:off x="6053328" y="3794760"/>
            <a:ext cx="5571439" cy="1920240"/>
          </a:xfrm>
          <a:prstGeom prst="roundRect">
            <a:avLst>
              <a:gd name="adj" fmla="val 3333"/>
            </a:avLst>
          </a:prstGeom>
          <a:solidFill>
            <a:srgbClr val="F4F6FA"/>
          </a:solidFill>
          <a:ln w="12700">
            <a:solidFill>
              <a:srgbClr val="D9DEE6"/>
            </a:solidFill>
            <a:prstDash val="solid"/>
          </a:ln>
          <a:effectLst>
            <a:outerShdw blurRad="88900" dist="25400" dir="5400000" algn="bl" rotWithShape="0">
              <a:srgbClr val="000000">
                <a:alpha val="12000"/>
              </a:srgbClr>
            </a:outerShdw>
          </a:effectLst>
        </p:spPr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12" name="Text 9"/>
          <p:cNvSpPr/>
          <p:nvPr/>
        </p:nvSpPr>
        <p:spPr>
          <a:xfrm>
            <a:off x="6281928" y="3931920"/>
            <a:ext cx="5114239" cy="32004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1500" b="1">
                <a:solidFill>
                  <a:srgbClr val="C8622E"/>
                </a:solidFill>
                <a:latin typeface="맑은 고딕"/>
                <a:ea typeface="맑은 고딕"/>
                <a:cs typeface="맑은 고딕"/>
              </a:rPr>
              <a:t>다중 패턴 &amp; 마지막 신호</a:t>
            </a:r>
            <a:endParaRPr lang="en-US" sz="1500"/>
          </a:p>
        </p:txBody>
      </p:sp>
      <p:pic>
        <p:nvPicPr>
          <p:cNvPr id="13" name="Image 1" descr="img/mj_lastpattern.png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7535614" y="4297680"/>
            <a:ext cx="2606867" cy="77724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6281928" y="5138928"/>
            <a:ext cx="5114239" cy="54864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lnSpc>
                <a:spcPct val="110000"/>
              </a:lnSpc>
              <a:buNone/>
              <a:defRPr/>
            </a:pPr>
            <a:r>
              <a:rPr lang="en-US" sz="1150">
                <a:solidFill>
                  <a:srgbClr val="1F2637"/>
                </a:solidFill>
                <a:latin typeface="맑은 고딕"/>
                <a:ea typeface="맑은 고딕"/>
                <a:cs typeface="맑은 고딕"/>
              </a:rPr>
              <a:t>보스는 패턴 1~3개를 연속 시전 → 언제 끝날지 모름. '마지막 패턴' 때 테두리 발광으로 공격 기회를 명확히 알림.</a:t>
            </a:r>
            <a:endParaRPr lang="en-US" sz="1150"/>
          </a:p>
        </p:txBody>
      </p:sp>
      <p:sp>
        <p:nvSpPr>
          <p:cNvPr id="15" name="Text 11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l">
              <a:buNone/>
              <a:defRPr/>
            </a:pPr>
            <a:r>
              <a:rPr lang="en-US" sz="900">
                <a:solidFill>
                  <a:srgbClr val="6C7686"/>
                </a:solidFill>
                <a:latin typeface="맑은 고딕"/>
                <a:ea typeface="맑은 고딕"/>
                <a:cs typeface="맑은 고딕"/>
              </a:rPr>
              <a:t>진성준  ·  게임 시스템 기획 포트폴리오</a:t>
            </a:r>
            <a:endParaRPr lang="en-US" sz="900"/>
          </a:p>
        </p:txBody>
      </p:sp>
      <p:sp>
        <p:nvSpPr>
          <p:cNvPr id="16" name="Text 12"/>
          <p:cNvSpPr/>
          <p:nvPr/>
        </p:nvSpPr>
        <p:spPr>
          <a:xfrm>
            <a:off x="11094415" y="6473952"/>
            <a:ext cx="530352" cy="27432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r">
              <a:buNone/>
              <a:defRPr/>
            </a:pPr>
            <a:r>
              <a:rPr lang="en-US" sz="900">
                <a:solidFill>
                  <a:srgbClr val="6C7686"/>
                </a:solidFill>
                <a:latin typeface="맑은 고딕"/>
                <a:ea typeface="맑은 고딕"/>
                <a:cs typeface="맑은 고딕"/>
              </a:rPr>
              <a:t>09</a:t>
            </a:r>
            <a:endParaRPr lang="en-US" sz="90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622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1200" b="1" kern="0" spc="200">
                <a:solidFill>
                  <a:srgbClr val="E0A15A"/>
                </a:solidFill>
                <a:latin typeface="맑은 고딕"/>
                <a:ea typeface="맑은 고딕"/>
                <a:cs typeface="맑은 고딕"/>
              </a:rPr>
              <a:t>02  무진기행 — 정리</a:t>
            </a:r>
            <a:endParaRPr lang="en-US" sz="120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2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모든 시스템은 '플레이어</a:t>
            </a:r>
            <a:r>
              <a:rPr lang="ko-KR" altLang="en-US" sz="2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의</a:t>
            </a:r>
            <a:r>
              <a:rPr lang="en-US" sz="2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 경험'에서</a:t>
            </a:r>
          </a:p>
        </p:txBody>
      </p:sp>
      <p:sp>
        <p:nvSpPr>
          <p:cNvPr id="4" name="Shape 2"/>
          <p:cNvSpPr/>
          <p:nvPr/>
        </p:nvSpPr>
        <p:spPr>
          <a:xfrm>
            <a:off x="566928" y="1737360"/>
            <a:ext cx="5349240" cy="1051560"/>
          </a:xfrm>
          <a:prstGeom prst="roundRect">
            <a:avLst>
              <a:gd name="adj" fmla="val 6087"/>
            </a:avLst>
          </a:prstGeom>
          <a:solidFill>
            <a:srgbClr val="24324F"/>
          </a:solidFill>
          <a:ln w="12700">
            <a:solidFill>
              <a:srgbClr val="D9DEE6"/>
            </a:solidFill>
            <a:prstDash val="solid"/>
          </a:ln>
          <a:effectLst>
            <a:outerShdw blurRad="88900" dist="25400" dir="5400000" algn="bl" rotWithShape="0">
              <a:srgbClr val="000000">
                <a:alpha val="12000"/>
              </a:srgbClr>
            </a:outerShdw>
          </a:effectLst>
        </p:spPr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5" name="Text 3"/>
          <p:cNvSpPr/>
          <p:nvPr/>
        </p:nvSpPr>
        <p:spPr>
          <a:xfrm>
            <a:off x="822960" y="1883664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1500" b="1">
                <a:solidFill>
                  <a:srgbClr val="E0A15A"/>
                </a:solidFill>
                <a:latin typeface="맑은 고딕"/>
                <a:ea typeface="맑은 고딕"/>
                <a:cs typeface="맑은 고딕"/>
              </a:rPr>
              <a:t>공격/방어턴 자원</a:t>
            </a:r>
            <a:endParaRPr lang="en-US" sz="1500"/>
          </a:p>
        </p:txBody>
      </p:sp>
      <p:sp>
        <p:nvSpPr>
          <p:cNvPr id="6" name="Text 4"/>
          <p:cNvSpPr/>
          <p:nvPr/>
        </p:nvSpPr>
        <p:spPr>
          <a:xfrm>
            <a:off x="822960" y="2240280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lnSpc>
                <a:spcPct val="110000"/>
              </a:lnSpc>
              <a:buNone/>
              <a:defRPr/>
            </a:pPr>
            <a:r>
              <a:rPr lang="en-US" sz="1250">
                <a:solidFill>
                  <a:srgbClr val="EAF0FA"/>
                </a:solidFill>
                <a:latin typeface="맑은 고딕"/>
                <a:ea typeface="맑은 고딕"/>
                <a:cs typeface="맑은 고딕"/>
              </a:rPr>
              <a:t>제한된 에너지를 어디에 쓸까 — 계획의 재미</a:t>
            </a:r>
            <a:endParaRPr lang="en-US" sz="1250"/>
          </a:p>
        </p:txBody>
      </p:sp>
      <p:sp>
        <p:nvSpPr>
          <p:cNvPr id="7" name="Shape 5"/>
          <p:cNvSpPr/>
          <p:nvPr/>
        </p:nvSpPr>
        <p:spPr>
          <a:xfrm>
            <a:off x="6144768" y="1737360"/>
            <a:ext cx="5349240" cy="1051560"/>
          </a:xfrm>
          <a:prstGeom prst="roundRect">
            <a:avLst>
              <a:gd name="adj" fmla="val 6087"/>
            </a:avLst>
          </a:prstGeom>
          <a:solidFill>
            <a:srgbClr val="24324F"/>
          </a:solidFill>
          <a:ln w="12700">
            <a:solidFill>
              <a:srgbClr val="D9DEE6"/>
            </a:solidFill>
            <a:prstDash val="solid"/>
          </a:ln>
          <a:effectLst>
            <a:outerShdw blurRad="88900" dist="25400" dir="5400000" algn="bl" rotWithShape="0">
              <a:srgbClr val="000000">
                <a:alpha val="12000"/>
              </a:srgbClr>
            </a:outerShdw>
          </a:effectLst>
        </p:spPr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6400800" y="1883664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1500" b="1">
                <a:solidFill>
                  <a:srgbClr val="E0A15A"/>
                </a:solidFill>
                <a:latin typeface="맑은 고딕"/>
                <a:ea typeface="맑은 고딕"/>
                <a:cs typeface="맑은 고딕"/>
              </a:rPr>
              <a:t>약점 간파(그로기)</a:t>
            </a:r>
            <a:endParaRPr lang="en-US" sz="1500"/>
          </a:p>
        </p:txBody>
      </p:sp>
      <p:sp>
        <p:nvSpPr>
          <p:cNvPr id="9" name="Text 7"/>
          <p:cNvSpPr/>
          <p:nvPr/>
        </p:nvSpPr>
        <p:spPr>
          <a:xfrm>
            <a:off x="6400800" y="2240280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lnSpc>
                <a:spcPct val="110000"/>
              </a:lnSpc>
              <a:buNone/>
              <a:defRPr/>
            </a:pPr>
            <a:r>
              <a:rPr lang="en-US" sz="1250">
                <a:solidFill>
                  <a:srgbClr val="EAF0FA"/>
                </a:solidFill>
                <a:latin typeface="맑은 고딕"/>
                <a:ea typeface="맑은 고딕"/>
                <a:cs typeface="맑은 고딕"/>
              </a:rPr>
              <a:t>꾸준한 명중 → 기절+추가턴의 큰 보상</a:t>
            </a:r>
            <a:endParaRPr lang="en-US" sz="1250"/>
          </a:p>
        </p:txBody>
      </p:sp>
      <p:sp>
        <p:nvSpPr>
          <p:cNvPr id="10" name="Shape 8"/>
          <p:cNvSpPr/>
          <p:nvPr/>
        </p:nvSpPr>
        <p:spPr>
          <a:xfrm>
            <a:off x="566928" y="2971800"/>
            <a:ext cx="5349240" cy="1051560"/>
          </a:xfrm>
          <a:prstGeom prst="roundRect">
            <a:avLst>
              <a:gd name="adj" fmla="val 6087"/>
            </a:avLst>
          </a:prstGeom>
          <a:solidFill>
            <a:srgbClr val="24324F"/>
          </a:solidFill>
          <a:ln w="12700">
            <a:solidFill>
              <a:srgbClr val="D9DEE6"/>
            </a:solidFill>
            <a:prstDash val="solid"/>
          </a:ln>
          <a:effectLst>
            <a:outerShdw blurRad="88900" dist="25400" dir="5400000" algn="bl" rotWithShape="0">
              <a:srgbClr val="000000">
                <a:alpha val="12000"/>
              </a:srgbClr>
            </a:outerShdw>
          </a:effectLst>
        </p:spPr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822960" y="3118104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1500" b="1">
                <a:solidFill>
                  <a:srgbClr val="E0A15A"/>
                </a:solidFill>
                <a:latin typeface="맑은 고딕"/>
                <a:ea typeface="맑은 고딕"/>
                <a:cs typeface="맑은 고딕"/>
              </a:rPr>
              <a:t>중간보스 3종</a:t>
            </a:r>
            <a:endParaRPr lang="en-US" sz="1500"/>
          </a:p>
        </p:txBody>
      </p:sp>
      <p:sp>
        <p:nvSpPr>
          <p:cNvPr id="12" name="Text 10"/>
          <p:cNvSpPr/>
          <p:nvPr/>
        </p:nvSpPr>
        <p:spPr>
          <a:xfrm>
            <a:off x="822960" y="3474720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lnSpc>
                <a:spcPct val="110000"/>
              </a:lnSpc>
              <a:buNone/>
              <a:defRPr/>
            </a:pPr>
            <a:r>
              <a:rPr lang="en-US" sz="1250">
                <a:solidFill>
                  <a:srgbClr val="EAF0FA"/>
                </a:solidFill>
                <a:latin typeface="맑은 고딕"/>
                <a:ea typeface="맑은 고딕"/>
                <a:cs typeface="맑은 고딕"/>
              </a:rPr>
              <a:t>'이 셋은 비슷하다' → 타이밍 학습의 성취</a:t>
            </a:r>
            <a:endParaRPr lang="en-US" sz="1250"/>
          </a:p>
        </p:txBody>
      </p:sp>
      <p:sp>
        <p:nvSpPr>
          <p:cNvPr id="13" name="Shape 11"/>
          <p:cNvSpPr/>
          <p:nvPr/>
        </p:nvSpPr>
        <p:spPr>
          <a:xfrm>
            <a:off x="6144768" y="2971800"/>
            <a:ext cx="5349240" cy="1051560"/>
          </a:xfrm>
          <a:prstGeom prst="roundRect">
            <a:avLst>
              <a:gd name="adj" fmla="val 6087"/>
            </a:avLst>
          </a:prstGeom>
          <a:solidFill>
            <a:srgbClr val="24324F"/>
          </a:solidFill>
          <a:ln w="12700">
            <a:solidFill>
              <a:srgbClr val="D9DEE6"/>
            </a:solidFill>
            <a:prstDash val="solid"/>
          </a:ln>
          <a:effectLst>
            <a:outerShdw blurRad="88900" dist="25400" dir="5400000" algn="bl" rotWithShape="0">
              <a:srgbClr val="000000">
                <a:alpha val="12000"/>
              </a:srgbClr>
            </a:outerShdw>
          </a:effectLst>
        </p:spPr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6400800" y="3118104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1500" b="1">
                <a:solidFill>
                  <a:srgbClr val="E0A15A"/>
                </a:solidFill>
                <a:latin typeface="맑은 고딕"/>
                <a:ea typeface="맑은 고딕"/>
                <a:cs typeface="맑은 고딕"/>
              </a:rPr>
              <a:t>보스 패턴 융합</a:t>
            </a:r>
            <a:endParaRPr lang="en-US" sz="1500"/>
          </a:p>
        </p:txBody>
      </p:sp>
      <p:sp>
        <p:nvSpPr>
          <p:cNvPr id="15" name="Text 13"/>
          <p:cNvSpPr/>
          <p:nvPr/>
        </p:nvSpPr>
        <p:spPr>
          <a:xfrm>
            <a:off x="6400800" y="3474720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lnSpc>
                <a:spcPct val="110000"/>
              </a:lnSpc>
              <a:buNone/>
              <a:defRPr/>
            </a:pPr>
            <a:r>
              <a:rPr lang="en-US" sz="1250">
                <a:solidFill>
                  <a:srgbClr val="EAF0FA"/>
                </a:solidFill>
                <a:latin typeface="맑은 고딕"/>
                <a:ea typeface="맑은 고딕"/>
                <a:cs typeface="맑은 고딕"/>
              </a:rPr>
              <a:t>학습을 실전에서 검증 → 자기효능감</a:t>
            </a:r>
            <a:endParaRPr lang="en-US" sz="1250"/>
          </a:p>
        </p:txBody>
      </p:sp>
      <p:sp>
        <p:nvSpPr>
          <p:cNvPr id="16" name="Shape 14"/>
          <p:cNvSpPr/>
          <p:nvPr/>
        </p:nvSpPr>
        <p:spPr>
          <a:xfrm>
            <a:off x="566928" y="4206240"/>
            <a:ext cx="5349240" cy="1051560"/>
          </a:xfrm>
          <a:prstGeom prst="roundRect">
            <a:avLst>
              <a:gd name="adj" fmla="val 6087"/>
            </a:avLst>
          </a:prstGeom>
          <a:solidFill>
            <a:srgbClr val="24324F"/>
          </a:solidFill>
          <a:ln w="12700">
            <a:solidFill>
              <a:srgbClr val="D9DEE6"/>
            </a:solidFill>
            <a:prstDash val="solid"/>
          </a:ln>
          <a:effectLst>
            <a:outerShdw blurRad="88900" dist="25400" dir="5400000" algn="bl" rotWithShape="0">
              <a:srgbClr val="000000">
                <a:alpha val="12000"/>
              </a:srgbClr>
            </a:outerShdw>
          </a:effectLst>
        </p:spPr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17" name="Text 15"/>
          <p:cNvSpPr/>
          <p:nvPr/>
        </p:nvSpPr>
        <p:spPr>
          <a:xfrm>
            <a:off x="822960" y="4352544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1500" b="1">
                <a:solidFill>
                  <a:srgbClr val="E0A15A"/>
                </a:solidFill>
                <a:latin typeface="맑은 고딕"/>
                <a:ea typeface="맑은 고딕"/>
                <a:cs typeface="맑은 고딕"/>
              </a:rPr>
              <a:t>변속·다중패턴</a:t>
            </a:r>
            <a:endParaRPr lang="en-US" sz="1500"/>
          </a:p>
        </p:txBody>
      </p:sp>
      <p:sp>
        <p:nvSpPr>
          <p:cNvPr id="18" name="Text 16"/>
          <p:cNvSpPr/>
          <p:nvPr/>
        </p:nvSpPr>
        <p:spPr>
          <a:xfrm>
            <a:off x="822960" y="4709160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lnSpc>
                <a:spcPct val="110000"/>
              </a:lnSpc>
              <a:buNone/>
              <a:defRPr/>
            </a:pPr>
            <a:r>
              <a:rPr lang="en-US" sz="1250">
                <a:solidFill>
                  <a:srgbClr val="EAF0FA"/>
                </a:solidFill>
                <a:latin typeface="맑은 고딕"/>
                <a:ea typeface="맑은 고딕"/>
                <a:cs typeface="맑은 고딕"/>
              </a:rPr>
              <a:t>심리전·긴장, 반복의 지루함 상쇄</a:t>
            </a:r>
            <a:endParaRPr lang="en-US" sz="1250"/>
          </a:p>
        </p:txBody>
      </p:sp>
      <p:sp>
        <p:nvSpPr>
          <p:cNvPr id="19" name="Shape 17"/>
          <p:cNvSpPr/>
          <p:nvPr/>
        </p:nvSpPr>
        <p:spPr>
          <a:xfrm>
            <a:off x="6144768" y="4206240"/>
            <a:ext cx="5349240" cy="1051560"/>
          </a:xfrm>
          <a:prstGeom prst="roundRect">
            <a:avLst>
              <a:gd name="adj" fmla="val 6087"/>
            </a:avLst>
          </a:prstGeom>
          <a:solidFill>
            <a:srgbClr val="24324F"/>
          </a:solidFill>
          <a:ln w="12700">
            <a:solidFill>
              <a:srgbClr val="D9DEE6"/>
            </a:solidFill>
            <a:prstDash val="solid"/>
          </a:ln>
          <a:effectLst>
            <a:outerShdw blurRad="88900" dist="25400" dir="5400000" algn="bl" rotWithShape="0">
              <a:srgbClr val="000000">
                <a:alpha val="12000"/>
              </a:srgbClr>
            </a:outerShdw>
          </a:effectLst>
        </p:spPr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20" name="Text 18"/>
          <p:cNvSpPr/>
          <p:nvPr/>
        </p:nvSpPr>
        <p:spPr>
          <a:xfrm>
            <a:off x="6400800" y="4352544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1500" b="1">
                <a:solidFill>
                  <a:srgbClr val="E0A15A"/>
                </a:solidFill>
                <a:latin typeface="맑은 고딕"/>
                <a:ea typeface="맑은 고딕"/>
                <a:cs typeface="맑은 고딕"/>
              </a:rPr>
              <a:t>마지막 패턴 신호</a:t>
            </a:r>
            <a:endParaRPr lang="en-US" sz="1500"/>
          </a:p>
        </p:txBody>
      </p:sp>
      <p:sp>
        <p:nvSpPr>
          <p:cNvPr id="21" name="Text 19"/>
          <p:cNvSpPr/>
          <p:nvPr/>
        </p:nvSpPr>
        <p:spPr>
          <a:xfrm>
            <a:off x="6400800" y="4709160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lnSpc>
                <a:spcPct val="110000"/>
              </a:lnSpc>
              <a:buNone/>
              <a:defRPr/>
            </a:pPr>
            <a:r>
              <a:rPr lang="ko-KR" altLang="en-US" sz="1250">
                <a:solidFill>
                  <a:srgbClr val="EAF0FA"/>
                </a:solidFill>
                <a:latin typeface="맑은 고딕"/>
                <a:ea typeface="맑은 고딕"/>
                <a:cs typeface="맑은 고딕"/>
              </a:rPr>
              <a:t>공격할 기회를 알려수는 수단</a:t>
            </a:r>
          </a:p>
        </p:txBody>
      </p:sp>
      <p:sp>
        <p:nvSpPr>
          <p:cNvPr id="22" name="Text 20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l">
              <a:buNone/>
              <a:defRPr/>
            </a:pPr>
            <a:r>
              <a:rPr lang="en-US" sz="900">
                <a:solidFill>
                  <a:srgbClr val="6C7686"/>
                </a:solidFill>
                <a:latin typeface="맑은 고딕"/>
                <a:ea typeface="맑은 고딕"/>
                <a:cs typeface="맑은 고딕"/>
              </a:rPr>
              <a:t>진성준  ·  게임 시스템 기획 포트폴리오</a:t>
            </a:r>
            <a:endParaRPr lang="en-US" sz="900"/>
          </a:p>
        </p:txBody>
      </p:sp>
      <p:sp>
        <p:nvSpPr>
          <p:cNvPr id="23" name="Text 21"/>
          <p:cNvSpPr/>
          <p:nvPr/>
        </p:nvSpPr>
        <p:spPr>
          <a:xfrm>
            <a:off x="11094415" y="6473952"/>
            <a:ext cx="530352" cy="27432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r">
              <a:buNone/>
              <a:defRPr/>
            </a:pPr>
            <a:r>
              <a:rPr lang="en-US" sz="900">
                <a:solidFill>
                  <a:srgbClr val="6C7686"/>
                </a:solidFill>
                <a:latin typeface="맑은 고딕"/>
                <a:ea typeface="맑은 고딕"/>
                <a:cs typeface="맑은 고딕"/>
              </a:rPr>
              <a:t>10</a:t>
            </a:r>
            <a:endParaRPr lang="en-US" sz="90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C862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PROJECT — ESCAPE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F26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ESCAPE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66928" y="1481328"/>
            <a:ext cx="110578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24324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기억을 잃고 꿈에 갇힌 주인공이 꿈 속 괴물을 쓰러뜨리고 탈출하는 턴제 RPG</a:t>
            </a:r>
            <a:endParaRPr lang="en-US" sz="13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103120"/>
          <a:ext cx="5943600" cy="2304288"/>
        </p:xfrm>
        <a:graphic>
          <a:graphicData uri="http://schemas.openxmlformats.org/drawingml/2006/table">
            <a:tbl>
              <a:tblPr/>
              <a:tblGrid>
                <a:gridCol w="1554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89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장르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F26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커맨드 조합 턴제 RPG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핵심 전투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F26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5개 구슬에 커맨드를 채워 콤보를 조합해 전투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담당 역할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F26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전투·시스템 기획 (단독)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산출물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F26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제안서 · 3회 발표 · 인포그래픽 · 성찰일지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F26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2025.09 ~ 2025.12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세계관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F26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꿈 탈출 — 여러 테마의 던전(꿈)으로 구성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876288" y="2103120"/>
            <a:ext cx="4748479" cy="3566160"/>
          </a:xfrm>
          <a:prstGeom prst="roundRect">
            <a:avLst>
              <a:gd name="adj" fmla="val 1795"/>
            </a:avLst>
          </a:prstGeom>
          <a:solidFill>
            <a:srgbClr val="F4F6FA"/>
          </a:solidFill>
          <a:ln w="12700">
            <a:solidFill>
              <a:srgbClr val="D9DEE6"/>
            </a:solidFill>
            <a:prstDash val="solid"/>
          </a:ln>
          <a:effectLst>
            <a:outerShdw blurRad="889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7" name="Image 0" descr="img/es_comma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67728" y="2523571"/>
            <a:ext cx="4474159" cy="2176618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876288" y="5029200"/>
            <a:ext cx="474847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C76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커맨드를 조합해 콤보를 시전하는 전투 화면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C76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진성준  ·  게임 시스템 기획 포트폴리오</a:t>
            </a:r>
            <a:endParaRPr lang="en-US" sz="900" dirty="0"/>
          </a:p>
        </p:txBody>
      </p:sp>
      <p:sp>
        <p:nvSpPr>
          <p:cNvPr id="10" name="Text 6"/>
          <p:cNvSpPr/>
          <p:nvPr/>
        </p:nvSpPr>
        <p:spPr>
          <a:xfrm>
            <a:off x="11094415" y="6473952"/>
            <a:ext cx="5303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C76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1200" b="1" kern="0" spc="200">
                <a:solidFill>
                  <a:srgbClr val="C8622E"/>
                </a:solidFill>
                <a:latin typeface="맑은 고딕"/>
                <a:ea typeface="맑은 고딕"/>
                <a:cs typeface="맑은 고딕"/>
              </a:rPr>
              <a:t>03  ESCAPE — 핵심 전투</a:t>
            </a:r>
            <a:endParaRPr lang="en-US" sz="120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2900" b="1">
                <a:solidFill>
                  <a:srgbClr val="1F2637"/>
                </a:solidFill>
                <a:latin typeface="맑은 고딕"/>
                <a:ea typeface="맑은 고딕"/>
                <a:cs typeface="맑은 고딕"/>
              </a:rPr>
              <a:t>커맨드를 조합해 '콤보'를 만든다</a:t>
            </a:r>
            <a:endParaRPr lang="en-US" sz="2900"/>
          </a:p>
        </p:txBody>
      </p:sp>
      <p:sp>
        <p:nvSpPr>
          <p:cNvPr id="4" name="Text 2"/>
          <p:cNvSpPr/>
          <p:nvPr/>
        </p:nvSpPr>
        <p:spPr>
          <a:xfrm>
            <a:off x="566928" y="1481328"/>
            <a:ext cx="11057839" cy="4572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1300">
                <a:solidFill>
                  <a:srgbClr val="24324F"/>
                </a:solidFill>
                <a:latin typeface="맑은 고딕"/>
                <a:ea typeface="맑은 고딕"/>
                <a:cs typeface="맑은 고딕"/>
              </a:rPr>
              <a:t>5개의 구슬(방향키)에 커맨드를 채워 콤보를 발동. 커맨드는 조합과 연계가 전투의 축이 되도록 설계했다.</a:t>
            </a:r>
            <a:endParaRPr lang="en-US" sz="1300"/>
          </a:p>
        </p:txBody>
      </p:sp>
      <p:sp>
        <p:nvSpPr>
          <p:cNvPr id="5" name="Shape 3"/>
          <p:cNvSpPr/>
          <p:nvPr/>
        </p:nvSpPr>
        <p:spPr>
          <a:xfrm>
            <a:off x="566928" y="2057400"/>
            <a:ext cx="5852160" cy="1874520"/>
          </a:xfrm>
          <a:prstGeom prst="roundRect">
            <a:avLst>
              <a:gd name="adj" fmla="val 3415"/>
            </a:avLst>
          </a:prstGeom>
          <a:solidFill>
            <a:srgbClr val="16223B"/>
          </a:solidFill>
          <a:ln w="12700">
            <a:solidFill>
              <a:srgbClr val="D9DEE6"/>
            </a:solidFill>
            <a:prstDash val="solid"/>
          </a:ln>
          <a:effectLst>
            <a:outerShdw blurRad="88900" dist="25400" dir="5400000" algn="bl" rotWithShape="0">
              <a:srgbClr val="000000">
                <a:alpha val="12000"/>
              </a:srgbClr>
            </a:outerShdw>
          </a:effectLst>
        </p:spPr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822960" y="219456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1500" b="1">
                <a:solidFill>
                  <a:srgbClr val="E0A15A"/>
                </a:solidFill>
                <a:latin typeface="맑은 고딕"/>
                <a:ea typeface="맑은 고딕"/>
                <a:cs typeface="맑은 고딕"/>
              </a:rPr>
              <a:t>2개 이상 커맨드 → 하나의 콤보</a:t>
            </a:r>
            <a:endParaRPr lang="en-US" sz="1500"/>
          </a:p>
        </p:txBody>
      </p:sp>
      <p:sp>
        <p:nvSpPr>
          <p:cNvPr id="7" name="Text 5"/>
          <p:cNvSpPr/>
          <p:nvPr/>
        </p:nvSpPr>
        <p:spPr>
          <a:xfrm>
            <a:off x="822960" y="2560320"/>
            <a:ext cx="5440680" cy="128016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lnSpc>
                <a:spcPct val="120000"/>
              </a:lnSpc>
              <a:buNone/>
              <a:defRPr/>
            </a:pPr>
            <a:r>
              <a:rPr lang="en-US" sz="1250">
                <a:solidFill>
                  <a:srgbClr val="EAF0FA"/>
                </a:solidFill>
                <a:latin typeface="맑은 고딕"/>
                <a:ea typeface="맑은 고딕"/>
                <a:cs typeface="맑은 고딕"/>
              </a:rPr>
              <a:t>기존 특수공격은 한 번에 하나뿐. 콤보는 2개 이상을 묶어 발동 → </a:t>
            </a:r>
            <a:r>
              <a:rPr lang="en-US" sz="12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콤보 사이의 '연계'를 유도.</a:t>
            </a:r>
          </a:p>
          <a:p>
            <a:pPr marL="0" indent="0">
              <a:lnSpc>
                <a:spcPct val="120000"/>
              </a:lnSpc>
              <a:buNone/>
              <a:defRPr/>
            </a:pPr>
            <a:r>
              <a:rPr lang="en-US" sz="1250">
                <a:solidFill>
                  <a:srgbClr val="EAF0FA"/>
                </a:solidFill>
                <a:latin typeface="맑은 고딕"/>
                <a:ea typeface="맑은 고딕"/>
                <a:cs typeface="맑은 고딕"/>
              </a:rPr>
              <a:t>예) a로 기름을 뿌리고 → b로 불을 붙인다 / a로 방어력을 깎고 → b로 공격.</a:t>
            </a:r>
            <a:endParaRPr lang="en-US" sz="1250"/>
          </a:p>
        </p:txBody>
      </p:sp>
      <p:sp>
        <p:nvSpPr>
          <p:cNvPr id="8" name="Shape 6"/>
          <p:cNvSpPr/>
          <p:nvPr/>
        </p:nvSpPr>
        <p:spPr>
          <a:xfrm>
            <a:off x="6601968" y="2057400"/>
            <a:ext cx="5022799" cy="1874520"/>
          </a:xfrm>
          <a:prstGeom prst="roundRect">
            <a:avLst>
              <a:gd name="adj" fmla="val 3415"/>
            </a:avLst>
          </a:prstGeom>
          <a:solidFill>
            <a:srgbClr val="F4F6FA"/>
          </a:solidFill>
          <a:ln w="12700">
            <a:solidFill>
              <a:srgbClr val="D9DEE6"/>
            </a:solidFill>
            <a:prstDash val="solid"/>
          </a:ln>
          <a:effectLst>
            <a:outerShdw blurRad="88900" dist="25400" dir="5400000" algn="bl" rotWithShape="0">
              <a:srgbClr val="000000">
                <a:alpha val="12000"/>
              </a:srgbClr>
            </a:outerShdw>
          </a:effectLst>
        </p:spPr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pic>
        <p:nvPicPr>
          <p:cNvPr id="9" name="Image 0" descr="img/es_combolist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7340476" y="2194560"/>
            <a:ext cx="3500063" cy="160020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566928" y="4114800"/>
            <a:ext cx="3474720" cy="1600200"/>
          </a:xfrm>
          <a:prstGeom prst="roundRect">
            <a:avLst>
              <a:gd name="adj" fmla="val 4000"/>
            </a:avLst>
          </a:prstGeom>
          <a:solidFill>
            <a:srgbClr val="F4F6FA"/>
          </a:solidFill>
          <a:ln w="12700">
            <a:solidFill>
              <a:srgbClr val="D9DEE6"/>
            </a:solidFill>
            <a:prstDash val="solid"/>
          </a:ln>
          <a:effectLst>
            <a:outerShdw blurRad="88900" dist="25400" dir="5400000" algn="bl" rotWithShape="0">
              <a:srgbClr val="000000">
                <a:alpha val="12000"/>
              </a:srgbClr>
            </a:outerShdw>
          </a:effectLst>
        </p:spPr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11" name="Text 8"/>
          <p:cNvSpPr/>
          <p:nvPr/>
        </p:nvSpPr>
        <p:spPr>
          <a:xfrm>
            <a:off x="795528" y="4261104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1450" b="1">
                <a:solidFill>
                  <a:srgbClr val="C8622E"/>
                </a:solidFill>
                <a:latin typeface="맑은 고딕"/>
                <a:ea typeface="맑은 고딕"/>
                <a:cs typeface="맑은 고딕"/>
              </a:rPr>
              <a:t>콤보 습득</a:t>
            </a:r>
            <a:endParaRPr lang="en-US" sz="1450"/>
          </a:p>
        </p:txBody>
      </p:sp>
      <p:sp>
        <p:nvSpPr>
          <p:cNvPr id="12" name="Text 9"/>
          <p:cNvSpPr/>
          <p:nvPr/>
        </p:nvSpPr>
        <p:spPr>
          <a:xfrm>
            <a:off x="795528" y="4645152"/>
            <a:ext cx="3063240" cy="96012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lnSpc>
                <a:spcPct val="118000"/>
              </a:lnSpc>
              <a:buNone/>
              <a:defRPr/>
            </a:pPr>
            <a:r>
              <a:rPr lang="en-US" sz="1200">
                <a:solidFill>
                  <a:srgbClr val="1F2637"/>
                </a:solidFill>
                <a:latin typeface="맑은 고딕"/>
                <a:ea typeface="맑은 고딕"/>
                <a:cs typeface="맑은 고딕"/>
              </a:rPr>
              <a:t>우연히 발견하거나 특정 NPC에게 학습. 전투 중 콤보 리스트로 확인(적용 증강도 표시).</a:t>
            </a:r>
            <a:endParaRPr lang="en-US" sz="1200"/>
          </a:p>
        </p:txBody>
      </p:sp>
      <p:sp>
        <p:nvSpPr>
          <p:cNvPr id="13" name="Shape 10"/>
          <p:cNvSpPr/>
          <p:nvPr/>
        </p:nvSpPr>
        <p:spPr>
          <a:xfrm>
            <a:off x="4270248" y="4114800"/>
            <a:ext cx="3474720" cy="1600200"/>
          </a:xfrm>
          <a:prstGeom prst="roundRect">
            <a:avLst>
              <a:gd name="adj" fmla="val 4000"/>
            </a:avLst>
          </a:prstGeom>
          <a:solidFill>
            <a:srgbClr val="F4F6FA"/>
          </a:solidFill>
          <a:ln w="12700">
            <a:solidFill>
              <a:srgbClr val="D9DEE6"/>
            </a:solidFill>
            <a:prstDash val="solid"/>
          </a:ln>
          <a:effectLst>
            <a:outerShdw blurRad="88900" dist="25400" dir="5400000" algn="bl" rotWithShape="0">
              <a:srgbClr val="000000">
                <a:alpha val="12000"/>
              </a:srgbClr>
            </a:outerShdw>
          </a:effectLst>
        </p:spPr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14" name="Text 11"/>
          <p:cNvSpPr/>
          <p:nvPr/>
        </p:nvSpPr>
        <p:spPr>
          <a:xfrm>
            <a:off x="4498848" y="4261104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1450" b="1">
                <a:solidFill>
                  <a:srgbClr val="C8622E"/>
                </a:solidFill>
                <a:latin typeface="맑은 고딕"/>
                <a:ea typeface="맑은 고딕"/>
                <a:cs typeface="맑은 고딕"/>
              </a:rPr>
              <a:t>빗나간 입력</a:t>
            </a:r>
            <a:endParaRPr lang="en-US" sz="1450"/>
          </a:p>
        </p:txBody>
      </p:sp>
      <p:sp>
        <p:nvSpPr>
          <p:cNvPr id="15" name="Text 12"/>
          <p:cNvSpPr/>
          <p:nvPr/>
        </p:nvSpPr>
        <p:spPr>
          <a:xfrm>
            <a:off x="4498848" y="4645152"/>
            <a:ext cx="3063240" cy="96012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lnSpc>
                <a:spcPct val="118000"/>
              </a:lnSpc>
              <a:buNone/>
              <a:defRPr/>
            </a:pPr>
            <a:r>
              <a:rPr lang="en-US" sz="1200">
                <a:solidFill>
                  <a:srgbClr val="1F2637"/>
                </a:solidFill>
                <a:latin typeface="맑은 고딕"/>
                <a:ea typeface="맑은 고딕"/>
                <a:cs typeface="맑은 고딕"/>
              </a:rPr>
              <a:t>콤보가 아니면 기본 타격 + 유사 콤보를 '?'로 리스트에 추가 → 탐색의 힌트.</a:t>
            </a:r>
            <a:endParaRPr lang="en-US" sz="1200"/>
          </a:p>
        </p:txBody>
      </p:sp>
      <p:sp>
        <p:nvSpPr>
          <p:cNvPr id="16" name="Shape 13"/>
          <p:cNvSpPr/>
          <p:nvPr/>
        </p:nvSpPr>
        <p:spPr>
          <a:xfrm>
            <a:off x="7973568" y="4114800"/>
            <a:ext cx="3474720" cy="1600200"/>
          </a:xfrm>
          <a:prstGeom prst="roundRect">
            <a:avLst>
              <a:gd name="adj" fmla="val 4000"/>
            </a:avLst>
          </a:prstGeom>
          <a:solidFill>
            <a:srgbClr val="F4F6FA"/>
          </a:solidFill>
          <a:ln w="12700">
            <a:solidFill>
              <a:srgbClr val="D9DEE6"/>
            </a:solidFill>
            <a:prstDash val="solid"/>
          </a:ln>
          <a:effectLst>
            <a:outerShdw blurRad="88900" dist="25400" dir="5400000" algn="bl" rotWithShape="0">
              <a:srgbClr val="000000">
                <a:alpha val="12000"/>
              </a:srgbClr>
            </a:outerShdw>
          </a:effectLst>
        </p:spPr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17" name="Text 14"/>
          <p:cNvSpPr/>
          <p:nvPr/>
        </p:nvSpPr>
        <p:spPr>
          <a:xfrm>
            <a:off x="8202168" y="4261104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1450" b="1">
                <a:solidFill>
                  <a:srgbClr val="C8622E"/>
                </a:solidFill>
                <a:latin typeface="맑은 고딕"/>
                <a:ea typeface="맑은 고딕"/>
                <a:cs typeface="맑은 고딕"/>
              </a:rPr>
              <a:t>필살기</a:t>
            </a:r>
            <a:endParaRPr lang="en-US" sz="1450"/>
          </a:p>
        </p:txBody>
      </p:sp>
      <p:sp>
        <p:nvSpPr>
          <p:cNvPr id="18" name="Text 15"/>
          <p:cNvSpPr/>
          <p:nvPr/>
        </p:nvSpPr>
        <p:spPr>
          <a:xfrm>
            <a:off x="8202168" y="4645152"/>
            <a:ext cx="3063240" cy="96012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lnSpc>
                <a:spcPct val="118000"/>
              </a:lnSpc>
              <a:buNone/>
              <a:defRPr/>
            </a:pPr>
            <a:r>
              <a:rPr lang="en-US" sz="1200">
                <a:solidFill>
                  <a:srgbClr val="1F2637"/>
                </a:solidFill>
                <a:latin typeface="맑은 고딕"/>
                <a:ea typeface="맑은 고딕"/>
                <a:cs typeface="맑은 고딕"/>
              </a:rPr>
              <a:t>'할 수 있어' 포인트 10을 모으면 필살기 시전 가능.</a:t>
            </a:r>
            <a:endParaRPr lang="en-US" sz="1200"/>
          </a:p>
        </p:txBody>
      </p:sp>
      <p:sp>
        <p:nvSpPr>
          <p:cNvPr id="19" name="Text 16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l">
              <a:buNone/>
              <a:defRPr/>
            </a:pPr>
            <a:r>
              <a:rPr lang="en-US" sz="900">
                <a:solidFill>
                  <a:srgbClr val="6C7686"/>
                </a:solidFill>
                <a:latin typeface="맑은 고딕"/>
                <a:ea typeface="맑은 고딕"/>
                <a:cs typeface="맑은 고딕"/>
              </a:rPr>
              <a:t>진성준  ·  게임 시스템 기획 포트폴리오</a:t>
            </a:r>
            <a:endParaRPr lang="en-US" sz="900"/>
          </a:p>
        </p:txBody>
      </p:sp>
      <p:sp>
        <p:nvSpPr>
          <p:cNvPr id="20" name="Text 17"/>
          <p:cNvSpPr/>
          <p:nvPr/>
        </p:nvSpPr>
        <p:spPr>
          <a:xfrm>
            <a:off x="11094415" y="6473952"/>
            <a:ext cx="530352" cy="27432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r">
              <a:buNone/>
              <a:defRPr/>
            </a:pPr>
            <a:r>
              <a:rPr lang="en-US" sz="900">
                <a:solidFill>
                  <a:srgbClr val="6C7686"/>
                </a:solidFill>
                <a:latin typeface="맑은 고딕"/>
                <a:ea typeface="맑은 고딕"/>
                <a:cs typeface="맑은 고딕"/>
              </a:rPr>
              <a:t>12</a:t>
            </a:r>
            <a:endParaRPr lang="en-US" sz="90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C862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ESCAPE — 성장 &amp; 협력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F26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증강으로 콤보를 키우고, 동료와 연계한다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5486400" cy="3931920"/>
          </a:xfrm>
          <a:prstGeom prst="roundRect">
            <a:avLst>
              <a:gd name="adj" fmla="val 1628"/>
            </a:avLst>
          </a:prstGeom>
          <a:solidFill>
            <a:srgbClr val="F4F6FA"/>
          </a:solidFill>
          <a:ln w="12700">
            <a:solidFill>
              <a:srgbClr val="D9DEE6"/>
            </a:solidFill>
            <a:prstDash val="solid"/>
          </a:ln>
          <a:effectLst>
            <a:outerShdw blurRad="889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/>
          <p:nvPr/>
        </p:nvSpPr>
        <p:spPr>
          <a:xfrm>
            <a:off x="822960" y="192024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C862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증강 (Augment)</a:t>
            </a:r>
            <a:endParaRPr lang="en-US" sz="1500" dirty="0"/>
          </a:p>
        </p:txBody>
      </p:sp>
      <p:pic>
        <p:nvPicPr>
          <p:cNvPr id="6" name="Image 0" descr="img/es_augm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06448" y="2286000"/>
            <a:ext cx="3007360" cy="14630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22960" y="3840480"/>
            <a:ext cx="502920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6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레시피를 주우면 콤보에 증강이 부착된다.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6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실버 · 골드 · 다이아 등급 — 높을수록 강한 효과.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6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'특정 콤보', '특정 커맨드 포함' 등 적용 조건이 포괄적. 같은 스킬에 2개 이상 보유 시 골라 장착.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236208" y="1783080"/>
            <a:ext cx="5388559" cy="3931920"/>
          </a:xfrm>
          <a:prstGeom prst="roundRect">
            <a:avLst>
              <a:gd name="adj" fmla="val 1628"/>
            </a:avLst>
          </a:prstGeom>
          <a:solidFill>
            <a:srgbClr val="16223B"/>
          </a:solidFill>
          <a:ln w="12700">
            <a:solidFill>
              <a:srgbClr val="D9DEE6"/>
            </a:solidFill>
            <a:prstDash val="solid"/>
          </a:ln>
          <a:effectLst>
            <a:outerShdw blurRad="889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9" name="Text 6"/>
          <p:cNvSpPr/>
          <p:nvPr/>
        </p:nvSpPr>
        <p:spPr>
          <a:xfrm>
            <a:off x="6464808" y="192024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0A1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동료 연계 공격</a:t>
            </a:r>
            <a:endParaRPr lang="en-US" sz="1500" dirty="0"/>
          </a:p>
        </p:txBody>
      </p:sp>
      <p:pic>
        <p:nvPicPr>
          <p:cNvPr id="10" name="Image 1" descr="img/es_comb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69476" y="2286000"/>
            <a:ext cx="3122023" cy="155448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6464808" y="3931920"/>
            <a:ext cx="4839919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EAF0F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커맨드 공격 중 좌/우 방향키로 동료 연계 발동.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EAF0F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동료의 연계에도 커맨드 입력이 가능 — 적 특성에 맞춰 다른 콤보 활용.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단, 구슬을 5개 온전히 주지 않아(적게 부여) 남발을 막고 리스크·리턴을 조절.</a:t>
            </a:r>
            <a:endParaRPr lang="en-US" sz="1200" dirty="0"/>
          </a:p>
        </p:txBody>
      </p:sp>
      <p:sp>
        <p:nvSpPr>
          <p:cNvPr id="12" name="Text 8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C76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진성준  ·  게임 시스템 기획 포트폴리오</a:t>
            </a:r>
            <a:endParaRPr lang="en-US" sz="900" dirty="0"/>
          </a:p>
        </p:txBody>
      </p:sp>
      <p:sp>
        <p:nvSpPr>
          <p:cNvPr id="13" name="Text 9"/>
          <p:cNvSpPr/>
          <p:nvPr/>
        </p:nvSpPr>
        <p:spPr>
          <a:xfrm>
            <a:off x="11094415" y="6473952"/>
            <a:ext cx="5303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C76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1200" b="1" kern="0" spc="200">
                <a:solidFill>
                  <a:srgbClr val="C8622E"/>
                </a:solidFill>
                <a:latin typeface="맑은 고딕"/>
                <a:ea typeface="맑은 고딕"/>
                <a:cs typeface="맑은 고딕"/>
              </a:rPr>
              <a:t>03  ESCAPE — 자원 제한</a:t>
            </a:r>
            <a:endParaRPr lang="en-US" sz="120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2900" b="1">
                <a:solidFill>
                  <a:srgbClr val="1F2637"/>
                </a:solidFill>
                <a:latin typeface="맑은 고딕"/>
                <a:ea typeface="맑은 고딕"/>
                <a:cs typeface="맑은 고딕"/>
              </a:rPr>
              <a:t>스트레스</a:t>
            </a:r>
            <a:r>
              <a:rPr lang="ko-KR" altLang="en-US" sz="2900" b="1">
                <a:solidFill>
                  <a:srgbClr val="1F26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lang="en-US" sz="2900" b="1">
                <a:solidFill>
                  <a:srgbClr val="1F2637"/>
                </a:solidFill>
                <a:latin typeface="맑은 고딕"/>
                <a:ea typeface="맑은 고딕"/>
                <a:cs typeface="맑은 고딕"/>
              </a:rPr>
              <a:t>: </a:t>
            </a:r>
            <a:r>
              <a:rPr lang="ko-KR" altLang="en-US" sz="2900" b="1">
                <a:solidFill>
                  <a:srgbClr val="1F2637"/>
                </a:solidFill>
                <a:latin typeface="맑은 고딕"/>
                <a:ea typeface="맑은 고딕"/>
                <a:cs typeface="맑은 고딕"/>
              </a:rPr>
              <a:t>하이 리턴</a:t>
            </a:r>
            <a:r>
              <a:rPr lang="en-US" altLang="ko-KR" sz="2900" b="1">
                <a:solidFill>
                  <a:srgbClr val="1F2637"/>
                </a:solidFill>
                <a:latin typeface="맑은 고딕"/>
                <a:ea typeface="맑은 고딕"/>
                <a:cs typeface="맑은 고딕"/>
              </a:rPr>
              <a:t>,</a:t>
            </a:r>
            <a:r>
              <a:rPr lang="ko-KR" altLang="en-US" sz="2900" b="1">
                <a:solidFill>
                  <a:srgbClr val="1F2637"/>
                </a:solidFill>
                <a:latin typeface="맑은 고딕"/>
                <a:ea typeface="맑은 고딕"/>
                <a:cs typeface="맑은 고딕"/>
              </a:rPr>
              <a:t> 하이 리스크</a:t>
            </a:r>
          </a:p>
        </p:txBody>
      </p:sp>
      <p:sp>
        <p:nvSpPr>
          <p:cNvPr id="4" name="Text 2"/>
          <p:cNvSpPr/>
          <p:nvPr/>
        </p:nvSpPr>
        <p:spPr>
          <a:xfrm>
            <a:off x="566928" y="1481328"/>
            <a:ext cx="11057839" cy="4572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1300">
                <a:solidFill>
                  <a:srgbClr val="24324F"/>
                </a:solidFill>
                <a:latin typeface="맑은 고딕"/>
                <a:ea typeface="맑은 고딕"/>
                <a:cs typeface="맑은 고딕"/>
              </a:rPr>
              <a:t>마나를 없앤 대신, 커맨드·피격이 스트레스를 쌓는다. 강함을 난사하지 못하게 하는 자원 관리 축이다.</a:t>
            </a:r>
          </a:p>
        </p:txBody>
      </p:sp>
      <p:sp>
        <p:nvSpPr>
          <p:cNvPr id="5" name="Shape 3"/>
          <p:cNvSpPr/>
          <p:nvPr/>
        </p:nvSpPr>
        <p:spPr>
          <a:xfrm>
            <a:off x="566928" y="2103120"/>
            <a:ext cx="5486400" cy="3611880"/>
          </a:xfrm>
          <a:prstGeom prst="roundRect">
            <a:avLst>
              <a:gd name="adj" fmla="val 1772"/>
            </a:avLst>
          </a:prstGeom>
          <a:solidFill>
            <a:srgbClr val="F4F6FA"/>
          </a:solidFill>
          <a:ln w="12700">
            <a:solidFill>
              <a:srgbClr val="D9DEE6"/>
            </a:solidFill>
            <a:prstDash val="solid"/>
          </a:ln>
          <a:effectLst>
            <a:outerShdw blurRad="88900" dist="25400" dir="5400000" algn="bl" rotWithShape="0">
              <a:srgbClr val="000000">
                <a:alpha val="12000"/>
              </a:srgbClr>
            </a:outerShdw>
          </a:effectLst>
        </p:spPr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822960" y="224028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1500" b="1">
                <a:solidFill>
                  <a:srgbClr val="C8622E"/>
                </a:solidFill>
                <a:latin typeface="맑은 고딕"/>
                <a:ea typeface="맑은 고딕"/>
                <a:cs typeface="맑은 고딕"/>
              </a:rPr>
              <a:t>스트레스 100 → 붕괴</a:t>
            </a:r>
            <a:endParaRPr lang="en-US" sz="1500"/>
          </a:p>
        </p:txBody>
      </p:sp>
      <p:sp>
        <p:nvSpPr>
          <p:cNvPr id="7" name="Text 5"/>
          <p:cNvSpPr/>
          <p:nvPr/>
        </p:nvSpPr>
        <p:spPr>
          <a:xfrm>
            <a:off x="822960" y="2606040"/>
            <a:ext cx="5029200" cy="301752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  <a:defRPr/>
            </a:pPr>
            <a:r>
              <a:rPr lang="en-US" sz="1200">
                <a:solidFill>
                  <a:srgbClr val="1F2637"/>
                </a:solidFill>
                <a:latin typeface="맑은 고딕"/>
                <a:ea typeface="맑은 고딕"/>
                <a:cs typeface="맑은 고딕"/>
              </a:rPr>
              <a:t>공격·피격으로 스트레스 누적, 100이 되면 '붕괴' 상태.</a:t>
            </a:r>
          </a:p>
          <a:p>
            <a:pPr marL="342900" indent="-342900">
              <a:spcAft>
                <a:spcPts val="700"/>
              </a:spcAft>
              <a:buSzPct val="100000"/>
              <a:buChar char="•"/>
              <a:defRPr/>
            </a:pPr>
            <a:r>
              <a:rPr lang="en-US" sz="1200">
                <a:solidFill>
                  <a:srgbClr val="1F2637"/>
                </a:solidFill>
                <a:latin typeface="맑은 고딕"/>
                <a:ea typeface="맑은 고딕"/>
                <a:cs typeface="맑은 고딕"/>
              </a:rPr>
              <a:t>붕괴 유형 5종 — 충동 / 공포 / 불안 / 기억왜곡 / 우울. 각기 다른 패널티(연계 불가, 콤보 망각, 명중률 하락 등).</a:t>
            </a:r>
          </a:p>
          <a:p>
            <a:pPr marL="342900" indent="-342900">
              <a:spcAft>
                <a:spcPts val="700"/>
              </a:spcAft>
              <a:buSzPct val="100000"/>
              <a:buChar char="•"/>
              <a:defRPr/>
            </a:pPr>
            <a:r>
              <a:rPr lang="en-US" sz="1200">
                <a:solidFill>
                  <a:srgbClr val="1F2637"/>
                </a:solidFill>
                <a:latin typeface="맑은 고딕"/>
                <a:ea typeface="맑은 고딕"/>
                <a:cs typeface="맑은 고딕"/>
              </a:rPr>
              <a:t>핵심 원칙: 스트레스 획득량 &gt; 감소량. </a:t>
            </a:r>
          </a:p>
          <a:p>
            <a:pPr marL="342900" indent="-342900">
              <a:spcAft>
                <a:spcPts val="700"/>
              </a:spcAft>
              <a:buSzPct val="100000"/>
              <a:buChar char="•"/>
              <a:defRPr/>
            </a:pPr>
            <a:r>
              <a:rPr lang="ko-KR" altLang="en-US" sz="1200" b="1">
                <a:solidFill>
                  <a:srgbClr val="1F2637"/>
                </a:solidFill>
                <a:latin typeface="맑은 고딕"/>
                <a:ea typeface="맑은 고딕"/>
                <a:cs typeface="맑은 고딕"/>
              </a:rPr>
              <a:t>스트레스 </a:t>
            </a:r>
            <a:r>
              <a:rPr lang="en-US" sz="1200" b="1">
                <a:solidFill>
                  <a:srgbClr val="1F2637"/>
                </a:solidFill>
                <a:latin typeface="맑은 고딕"/>
                <a:ea typeface="맑은 고딕"/>
                <a:cs typeface="맑은 고딕"/>
              </a:rPr>
              <a:t>감소(힐·치명타·회피·격파)는 '행운'이어야 한다.</a:t>
            </a:r>
          </a:p>
        </p:txBody>
      </p:sp>
      <p:sp>
        <p:nvSpPr>
          <p:cNvPr id="8" name="Shape 6"/>
          <p:cNvSpPr/>
          <p:nvPr/>
        </p:nvSpPr>
        <p:spPr>
          <a:xfrm>
            <a:off x="6236208" y="2103120"/>
            <a:ext cx="5388559" cy="3611880"/>
          </a:xfrm>
          <a:prstGeom prst="roundRect">
            <a:avLst>
              <a:gd name="adj" fmla="val 1772"/>
            </a:avLst>
          </a:prstGeom>
          <a:solidFill>
            <a:srgbClr val="16223B"/>
          </a:solidFill>
          <a:ln w="12700">
            <a:solidFill>
              <a:srgbClr val="D9DEE6"/>
            </a:solidFill>
            <a:prstDash val="solid"/>
          </a:ln>
          <a:effectLst>
            <a:outerShdw blurRad="88900" dist="25400" dir="5400000" algn="bl" rotWithShape="0">
              <a:srgbClr val="000000">
                <a:alpha val="12000"/>
              </a:srgbClr>
            </a:outerShdw>
          </a:effectLst>
        </p:spPr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6464808" y="224028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1500" b="1">
                <a:solidFill>
                  <a:srgbClr val="E0A15A"/>
                </a:solidFill>
                <a:latin typeface="맑은 고딕"/>
                <a:ea typeface="맑은 고딕"/>
                <a:cs typeface="맑은 고딕"/>
              </a:rPr>
              <a:t>붕괴 탈출: 심호흡 vs 극복</a:t>
            </a:r>
            <a:endParaRPr lang="en-US" sz="1500"/>
          </a:p>
        </p:txBody>
      </p:sp>
      <p:sp>
        <p:nvSpPr>
          <p:cNvPr id="10" name="Text 8"/>
          <p:cNvSpPr/>
          <p:nvPr/>
        </p:nvSpPr>
        <p:spPr>
          <a:xfrm>
            <a:off x="6464808" y="2606040"/>
            <a:ext cx="4839919" cy="301752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  <a:defRPr/>
            </a:pPr>
            <a:r>
              <a:rPr lang="en-US" sz="1200">
                <a:solidFill>
                  <a:srgbClr val="EAF0FA"/>
                </a:solidFill>
                <a:latin typeface="맑은 고딕"/>
                <a:ea typeface="맑은 고딕"/>
                <a:cs typeface="맑은 고딕"/>
              </a:rPr>
              <a:t>심호흡 — 턴을 스킵하고 리듬에 맞춰 방향키 입력, 정확할수록 스트레스 감소↑. 안정적 탈출.</a:t>
            </a:r>
          </a:p>
          <a:p>
            <a:pPr marL="342900" indent="-342900">
              <a:spcAft>
                <a:spcPts val="700"/>
              </a:spcAft>
              <a:buSzPct val="100000"/>
              <a:buChar char="•"/>
              <a:defRPr/>
            </a:pPr>
            <a:r>
              <a:rPr lang="en-US" sz="1200">
                <a:solidFill>
                  <a:srgbClr val="EAF0FA"/>
                </a:solidFill>
                <a:latin typeface="맑은 고딕"/>
                <a:ea typeface="맑은 고딕"/>
                <a:cs typeface="맑은 고딕"/>
              </a:rPr>
              <a:t>극복 — 붕괴 중 공격 시 확률적으로 즉시 탈출 + 스트레스 0 + 위력↑ + 추가 턴. 한 방 역전. (다키스트던전 '기적' 영감)</a:t>
            </a:r>
          </a:p>
          <a:p>
            <a:pPr marL="342900" indent="-342900">
              <a:spcAft>
                <a:spcPts val="700"/>
              </a:spcAft>
              <a:buSzPct val="100000"/>
              <a:buChar char="•"/>
              <a:defRPr/>
            </a:pPr>
            <a:r>
              <a:rPr lang="en-US"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→ '안전한 </a:t>
            </a:r>
            <a:r>
              <a:rPr lang="ko-KR" altLang="en-US"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선택</a:t>
            </a:r>
            <a:r>
              <a:rPr lang="en-US"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'과 '도박적 </a:t>
            </a:r>
            <a:r>
              <a:rPr lang="ko-KR" altLang="en-US"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선택</a:t>
            </a:r>
            <a:r>
              <a:rPr lang="en-US"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' 사이</a:t>
            </a:r>
            <a:r>
              <a:rPr lang="ko-KR" altLang="en-US"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가</a:t>
            </a:r>
            <a:r>
              <a:rPr lang="en-US"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 긴장을 만든다.</a:t>
            </a:r>
          </a:p>
        </p:txBody>
      </p:sp>
      <p:sp>
        <p:nvSpPr>
          <p:cNvPr id="11" name="Text 9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l">
              <a:buNone/>
              <a:defRPr/>
            </a:pPr>
            <a:r>
              <a:rPr lang="en-US" sz="900">
                <a:solidFill>
                  <a:srgbClr val="6C7686"/>
                </a:solidFill>
                <a:latin typeface="맑은 고딕"/>
                <a:ea typeface="맑은 고딕"/>
                <a:cs typeface="맑은 고딕"/>
              </a:rPr>
              <a:t>진성준  ·  게임 시스템 기획 포트폴리오</a:t>
            </a:r>
            <a:endParaRPr lang="en-US" sz="900"/>
          </a:p>
        </p:txBody>
      </p:sp>
      <p:sp>
        <p:nvSpPr>
          <p:cNvPr id="12" name="Text 10"/>
          <p:cNvSpPr/>
          <p:nvPr/>
        </p:nvSpPr>
        <p:spPr>
          <a:xfrm>
            <a:off x="11094415" y="6473952"/>
            <a:ext cx="530352" cy="27432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r">
              <a:buNone/>
              <a:defRPr/>
            </a:pPr>
            <a:r>
              <a:rPr lang="en-US" sz="900">
                <a:solidFill>
                  <a:srgbClr val="6C7686"/>
                </a:solidFill>
                <a:latin typeface="맑은 고딕"/>
                <a:ea typeface="맑은 고딕"/>
                <a:cs typeface="맑은 고딕"/>
              </a:rPr>
              <a:t>14</a:t>
            </a:r>
            <a:endParaRPr lang="en-US" sz="90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1200" b="1" kern="0" spc="200">
                <a:solidFill>
                  <a:srgbClr val="C8622E"/>
                </a:solidFill>
                <a:latin typeface="맑은 고딕"/>
                <a:ea typeface="맑은 고딕"/>
                <a:cs typeface="맑은 고딕"/>
              </a:rPr>
              <a:t>03  ESCAPE — 맵 기믹 &amp; 던전</a:t>
            </a:r>
            <a:endParaRPr lang="en-US" sz="120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2900" b="1">
                <a:solidFill>
                  <a:srgbClr val="1F2637"/>
                </a:solidFill>
                <a:latin typeface="맑은 고딕"/>
                <a:ea typeface="맑은 고딕"/>
                <a:cs typeface="맑은 고딕"/>
              </a:rPr>
              <a:t>환경이 전투를 바꾸고, 던전마다 테마가 다르다</a:t>
            </a:r>
            <a:endParaRPr lang="en-US" sz="290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5486400" cy="2331720"/>
          </a:xfrm>
          <a:prstGeom prst="roundRect">
            <a:avLst>
              <a:gd name="adj" fmla="val 2745"/>
            </a:avLst>
          </a:prstGeom>
          <a:solidFill>
            <a:srgbClr val="F4F6FA"/>
          </a:solidFill>
          <a:ln w="12700">
            <a:solidFill>
              <a:srgbClr val="D9DEE6"/>
            </a:solidFill>
            <a:prstDash val="solid"/>
          </a:ln>
          <a:effectLst>
            <a:outerShdw blurRad="88900" dist="25400" dir="5400000" algn="bl" rotWithShape="0">
              <a:srgbClr val="000000">
                <a:alpha val="12000"/>
              </a:srgbClr>
            </a:outerShdw>
          </a:effectLst>
        </p:spPr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5" name="Text 3"/>
          <p:cNvSpPr/>
          <p:nvPr/>
        </p:nvSpPr>
        <p:spPr>
          <a:xfrm>
            <a:off x="822960" y="1901952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1400" b="1">
                <a:solidFill>
                  <a:srgbClr val="C8622E"/>
                </a:solidFill>
                <a:latin typeface="맑은 고딕"/>
                <a:ea typeface="맑은 고딕"/>
                <a:cs typeface="맑은 고딕"/>
              </a:rPr>
              <a:t>맵 기믹 — 환경이 콤보·스트레스를 바꾼다</a:t>
            </a:r>
            <a:endParaRPr lang="en-US" sz="1400"/>
          </a:p>
        </p:txBody>
      </p:sp>
      <p:sp>
        <p:nvSpPr>
          <p:cNvPr id="6" name="Text 4"/>
          <p:cNvSpPr/>
          <p:nvPr/>
        </p:nvSpPr>
        <p:spPr>
          <a:xfrm>
            <a:off x="822960" y="224028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lnSpc>
                <a:spcPct val="115000"/>
              </a:lnSpc>
              <a:buNone/>
              <a:defRPr/>
            </a:pPr>
            <a:r>
              <a:rPr lang="en-US" sz="1150">
                <a:solidFill>
                  <a:srgbClr val="1F2637"/>
                </a:solidFill>
                <a:latin typeface="맑은 고딕"/>
                <a:ea typeface="맑은 고딕"/>
                <a:cs typeface="맑은 고딕"/>
              </a:rPr>
              <a:t>맵에 따라 약/중/강 공격 콤보의 위력과 스트레스 증감이 달라진다</a:t>
            </a:r>
          </a:p>
          <a:p>
            <a:pPr marL="0" indent="0">
              <a:lnSpc>
                <a:spcPct val="115000"/>
              </a:lnSpc>
              <a:buNone/>
              <a:defRPr/>
            </a:pPr>
            <a:r>
              <a:rPr lang="en-US" sz="1150">
                <a:solidFill>
                  <a:srgbClr val="1F2637"/>
                </a:solidFill>
                <a:latin typeface="맑은 고딕"/>
                <a:ea typeface="맑은 고딕"/>
                <a:cs typeface="맑은 고딕"/>
              </a:rPr>
              <a:t>같은 콤보도 맵마다 다른 판단을 요구.</a:t>
            </a:r>
            <a:endParaRPr lang="en-US" sz="1150"/>
          </a:p>
        </p:txBody>
      </p:sp>
      <p:pic>
        <p:nvPicPr>
          <p:cNvPr id="7" name="Image 0" descr="img/es_adrenaline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1354954" y="2971800"/>
            <a:ext cx="1441468" cy="1005840"/>
          </a:xfrm>
          <a:prstGeom prst="rect">
            <a:avLst/>
          </a:prstGeom>
        </p:spPr>
      </p:pic>
      <p:pic>
        <p:nvPicPr>
          <p:cNvPr id="8" name="Image 1" descr="img/es_serotonin.png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3910338" y="2971800"/>
            <a:ext cx="1451340" cy="10058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841248" y="3950208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 algn="ctr">
              <a:buNone/>
              <a:defRPr/>
            </a:pPr>
            <a:r>
              <a:rPr lang="en-US" sz="950" i="1">
                <a:solidFill>
                  <a:srgbClr val="6C7686"/>
                </a:solidFill>
                <a:latin typeface="맑은 고딕"/>
                <a:ea typeface="맑은 고딕"/>
                <a:cs typeface="맑은 고딕"/>
              </a:rPr>
              <a:t>아드레날린맵: 강공격↑·스트레스↑</a:t>
            </a:r>
            <a:endParaRPr lang="en-US" sz="950"/>
          </a:p>
        </p:txBody>
      </p:sp>
      <p:sp>
        <p:nvSpPr>
          <p:cNvPr id="10" name="Text 6"/>
          <p:cNvSpPr/>
          <p:nvPr/>
        </p:nvSpPr>
        <p:spPr>
          <a:xfrm>
            <a:off x="3401568" y="3950208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 algn="ctr">
              <a:buNone/>
              <a:defRPr/>
            </a:pPr>
            <a:r>
              <a:rPr lang="en-US" sz="950" i="1">
                <a:solidFill>
                  <a:srgbClr val="6C7686"/>
                </a:solidFill>
                <a:latin typeface="맑은 고딕"/>
                <a:ea typeface="맑은 고딕"/>
                <a:cs typeface="맑은 고딕"/>
              </a:rPr>
              <a:t>세로토닌맵: 공격↓·스트레스 감소</a:t>
            </a:r>
            <a:endParaRPr lang="en-US" sz="950"/>
          </a:p>
        </p:txBody>
      </p:sp>
      <p:sp>
        <p:nvSpPr>
          <p:cNvPr id="11" name="Shape 7"/>
          <p:cNvSpPr/>
          <p:nvPr/>
        </p:nvSpPr>
        <p:spPr>
          <a:xfrm>
            <a:off x="6236208" y="1783080"/>
            <a:ext cx="5388559" cy="2331720"/>
          </a:xfrm>
          <a:prstGeom prst="roundRect">
            <a:avLst>
              <a:gd name="adj" fmla="val 2745"/>
            </a:avLst>
          </a:prstGeom>
          <a:solidFill>
            <a:srgbClr val="16223B"/>
          </a:solidFill>
          <a:ln w="12700">
            <a:solidFill>
              <a:srgbClr val="D9DEE6"/>
            </a:solidFill>
            <a:prstDash val="solid"/>
          </a:ln>
          <a:effectLst>
            <a:outerShdw blurRad="88900" dist="25400" dir="5400000" algn="bl" rotWithShape="0">
              <a:srgbClr val="000000">
                <a:alpha val="12000"/>
              </a:srgbClr>
            </a:outerShdw>
          </a:effectLst>
        </p:spPr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12" name="Text 8"/>
          <p:cNvSpPr/>
          <p:nvPr/>
        </p:nvSpPr>
        <p:spPr>
          <a:xfrm>
            <a:off x="6464808" y="1901952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1400" b="1">
                <a:solidFill>
                  <a:srgbClr val="E0A15A"/>
                </a:solidFill>
                <a:latin typeface="맑은 고딕"/>
                <a:ea typeface="맑은 고딕"/>
                <a:cs typeface="맑은 고딕"/>
              </a:rPr>
              <a:t>던전 = 각기 다른 '꿈' 테마</a:t>
            </a:r>
            <a:endParaRPr lang="en-US" sz="1400"/>
          </a:p>
        </p:txBody>
      </p:sp>
      <p:sp>
        <p:nvSpPr>
          <p:cNvPr id="13" name="Text 9"/>
          <p:cNvSpPr/>
          <p:nvPr/>
        </p:nvSpPr>
        <p:spPr>
          <a:xfrm>
            <a:off x="6464808" y="2240280"/>
            <a:ext cx="4839919" cy="173736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lnSpc>
                <a:spcPct val="120000"/>
              </a:lnSpc>
              <a:buNone/>
              <a:defRPr/>
            </a:pPr>
            <a:r>
              <a:rPr lang="en-US" sz="1200">
                <a:solidFill>
                  <a:srgbClr val="EAF0FA"/>
                </a:solidFill>
                <a:latin typeface="맑은 고딕"/>
                <a:ea typeface="맑은 고딕"/>
                <a:cs typeface="맑은 고딕"/>
              </a:rPr>
              <a:t>꿈 속 세계라 던전마다 세계관·기믹·적이 전혀 다르다.</a:t>
            </a:r>
          </a:p>
          <a:p>
            <a:pPr marL="0" indent="0">
              <a:lnSpc>
                <a:spcPct val="120000"/>
              </a:lnSpc>
              <a:buNone/>
              <a:defRPr/>
            </a:pPr>
            <a:r>
              <a:rPr lang="en-US" sz="1200">
                <a:solidFill>
                  <a:srgbClr val="EAF0FA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lang="ko-KR" altLang="en-US" sz="1200">
                <a:solidFill>
                  <a:srgbClr val="EAF0FA"/>
                </a:solidFill>
                <a:latin typeface="맑은 고딕"/>
                <a:ea typeface="맑은 고딕"/>
                <a:cs typeface="맑은 고딕"/>
              </a:rPr>
              <a:t>아래는 </a:t>
            </a:r>
            <a:r>
              <a:rPr lang="en-US" sz="1200">
                <a:solidFill>
                  <a:srgbClr val="EAF0FA"/>
                </a:solidFill>
                <a:latin typeface="맑은 고딕"/>
                <a:ea typeface="맑은 고딕"/>
                <a:cs typeface="맑은 고딕"/>
              </a:rPr>
              <a:t>잡몹→엘리트→보스의 학습 완충 구조를 설계·시연</a:t>
            </a:r>
            <a:r>
              <a:rPr lang="ko-KR" altLang="en-US" sz="1200">
                <a:solidFill>
                  <a:srgbClr val="EAF0FA"/>
                </a:solidFill>
                <a:latin typeface="맑은 고딕"/>
                <a:ea typeface="맑은 고딕"/>
                <a:cs typeface="맑은 고딕"/>
              </a:rPr>
              <a:t>하였다</a:t>
            </a:r>
            <a:r>
              <a:rPr lang="en-US" sz="1200">
                <a:solidFill>
                  <a:srgbClr val="EAF0FA"/>
                </a:solidFill>
                <a:latin typeface="맑은 고딕"/>
                <a:ea typeface="맑은 고딕"/>
                <a:cs typeface="맑은 고딕"/>
              </a:rPr>
              <a:t>.</a:t>
            </a:r>
          </a:p>
        </p:txBody>
      </p:sp>
      <p:sp>
        <p:nvSpPr>
          <p:cNvPr id="14" name="Shape 10"/>
          <p:cNvSpPr/>
          <p:nvPr/>
        </p:nvSpPr>
        <p:spPr>
          <a:xfrm>
            <a:off x="566928" y="4297680"/>
            <a:ext cx="11057839" cy="1417320"/>
          </a:xfrm>
          <a:prstGeom prst="roundRect">
            <a:avLst>
              <a:gd name="adj" fmla="val 4516"/>
            </a:avLst>
          </a:prstGeom>
          <a:solidFill>
            <a:srgbClr val="F4F6FA"/>
          </a:solidFill>
          <a:ln w="12700">
            <a:solidFill>
              <a:srgbClr val="D9DEE6"/>
            </a:solidFill>
            <a:prstDash val="solid"/>
          </a:ln>
          <a:effectLst>
            <a:outerShdw blurRad="88900" dist="25400" dir="5400000" algn="bl" rotWithShape="0">
              <a:srgbClr val="000000">
                <a:alpha val="12000"/>
              </a:srgbClr>
            </a:outerShdw>
          </a:effectLst>
        </p:spPr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15" name="Text 11"/>
          <p:cNvSpPr/>
          <p:nvPr/>
        </p:nvSpPr>
        <p:spPr>
          <a:xfrm>
            <a:off x="822960" y="440740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1250" b="1">
                <a:solidFill>
                  <a:srgbClr val="1F2637"/>
                </a:solidFill>
                <a:latin typeface="맑은 고딕"/>
                <a:ea typeface="맑은 고딕"/>
                <a:cs typeface="맑은 고딕"/>
              </a:rPr>
              <a:t>던전 예시 — 우울증 테마 (여러 던전 중 하나)</a:t>
            </a:r>
            <a:endParaRPr lang="en-US" sz="1250"/>
          </a:p>
        </p:txBody>
      </p:sp>
      <p:sp>
        <p:nvSpPr>
          <p:cNvPr id="16" name="Shape 12"/>
          <p:cNvSpPr/>
          <p:nvPr/>
        </p:nvSpPr>
        <p:spPr>
          <a:xfrm>
            <a:off x="841248" y="4754880"/>
            <a:ext cx="3200400" cy="77724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12700">
            <a:solidFill>
              <a:srgbClr val="D9DEE6"/>
            </a:solidFill>
            <a:prstDash val="solid"/>
          </a:ln>
        </p:spPr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17" name="Text 13"/>
          <p:cNvSpPr/>
          <p:nvPr/>
        </p:nvSpPr>
        <p:spPr>
          <a:xfrm>
            <a:off x="978408" y="482803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rgbClr val="C8622E"/>
                </a:solidFill>
                <a:latin typeface="맑은 고딕"/>
                <a:ea typeface="맑은 고딕"/>
                <a:cs typeface="맑은 고딕"/>
              </a:rPr>
              <a:t>잡몹</a:t>
            </a:r>
            <a:endParaRPr lang="en-US" sz="1300"/>
          </a:p>
        </p:txBody>
      </p:sp>
      <p:sp>
        <p:nvSpPr>
          <p:cNvPr id="18" name="Text 14"/>
          <p:cNvSpPr/>
          <p:nvPr/>
        </p:nvSpPr>
        <p:spPr>
          <a:xfrm>
            <a:off x="978408" y="512064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6C7686"/>
                </a:solidFill>
                <a:latin typeface="맑은 고딕"/>
                <a:ea typeface="맑은 고딕"/>
                <a:cs typeface="맑은 고딕"/>
              </a:rPr>
              <a:t>길잡이 · 자기효능감</a:t>
            </a:r>
            <a:endParaRPr lang="en-US" sz="1050"/>
          </a:p>
        </p:txBody>
      </p:sp>
      <p:sp>
        <p:nvSpPr>
          <p:cNvPr id="19" name="Text 15"/>
          <p:cNvSpPr/>
          <p:nvPr/>
        </p:nvSpPr>
        <p:spPr>
          <a:xfrm>
            <a:off x="4041648" y="4754880"/>
            <a:ext cx="457200" cy="77724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 algn="ctr">
              <a:buNone/>
              <a:defRPr/>
            </a:pPr>
            <a:r>
              <a:rPr lang="en-US" sz="1800">
                <a:solidFill>
                  <a:srgbClr val="C8622E"/>
                </a:solidFill>
                <a:latin typeface="Arial"/>
                <a:ea typeface="Arial"/>
                <a:cs typeface="Arial"/>
              </a:rPr>
              <a:t>→</a:t>
            </a:r>
            <a:endParaRPr lang="en-US" sz="1800"/>
          </a:p>
        </p:txBody>
      </p:sp>
      <p:sp>
        <p:nvSpPr>
          <p:cNvPr id="20" name="Shape 16"/>
          <p:cNvSpPr/>
          <p:nvPr/>
        </p:nvSpPr>
        <p:spPr>
          <a:xfrm>
            <a:off x="4498848" y="4754880"/>
            <a:ext cx="3200400" cy="77724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12700">
            <a:solidFill>
              <a:srgbClr val="D9DEE6"/>
            </a:solidFill>
            <a:prstDash val="solid"/>
          </a:ln>
        </p:spPr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21" name="Text 17"/>
          <p:cNvSpPr/>
          <p:nvPr/>
        </p:nvSpPr>
        <p:spPr>
          <a:xfrm>
            <a:off x="4636008" y="482803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rgbClr val="C8622E"/>
                </a:solidFill>
                <a:latin typeface="맑은 고딕"/>
                <a:ea typeface="맑은 고딕"/>
                <a:cs typeface="맑은 고딕"/>
              </a:rPr>
              <a:t>엘리트</a:t>
            </a:r>
            <a:endParaRPr lang="en-US" sz="1300"/>
          </a:p>
        </p:txBody>
      </p:sp>
      <p:sp>
        <p:nvSpPr>
          <p:cNvPr id="22" name="Text 18"/>
          <p:cNvSpPr/>
          <p:nvPr/>
        </p:nvSpPr>
        <p:spPr>
          <a:xfrm>
            <a:off x="4636008" y="512064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6C7686"/>
                </a:solidFill>
                <a:latin typeface="맑은 고딕"/>
                <a:ea typeface="맑은 고딕"/>
                <a:cs typeface="맑은 고딕"/>
              </a:rPr>
              <a:t>난이도 완충 · 보스 패턴 예고</a:t>
            </a:r>
            <a:endParaRPr lang="en-US" sz="1050"/>
          </a:p>
        </p:txBody>
      </p:sp>
      <p:sp>
        <p:nvSpPr>
          <p:cNvPr id="23" name="Text 19"/>
          <p:cNvSpPr/>
          <p:nvPr/>
        </p:nvSpPr>
        <p:spPr>
          <a:xfrm>
            <a:off x="7699248" y="4754880"/>
            <a:ext cx="457200" cy="77724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 algn="ctr">
              <a:buNone/>
              <a:defRPr/>
            </a:pPr>
            <a:r>
              <a:rPr lang="en-US" sz="1800">
                <a:solidFill>
                  <a:srgbClr val="C8622E"/>
                </a:solidFill>
                <a:latin typeface="Arial"/>
                <a:ea typeface="Arial"/>
                <a:cs typeface="Arial"/>
              </a:rPr>
              <a:t>→</a:t>
            </a:r>
            <a:endParaRPr lang="en-US" sz="1800"/>
          </a:p>
        </p:txBody>
      </p:sp>
      <p:sp>
        <p:nvSpPr>
          <p:cNvPr id="24" name="Shape 20"/>
          <p:cNvSpPr/>
          <p:nvPr/>
        </p:nvSpPr>
        <p:spPr>
          <a:xfrm>
            <a:off x="8156448" y="4754880"/>
            <a:ext cx="3200400" cy="77724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12700">
            <a:solidFill>
              <a:srgbClr val="D9DEE6"/>
            </a:solidFill>
            <a:prstDash val="solid"/>
          </a:ln>
        </p:spPr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25" name="Text 21"/>
          <p:cNvSpPr/>
          <p:nvPr/>
        </p:nvSpPr>
        <p:spPr>
          <a:xfrm>
            <a:off x="8293608" y="482803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rgbClr val="C8622E"/>
                </a:solidFill>
                <a:latin typeface="맑은 고딕"/>
                <a:ea typeface="맑은 고딕"/>
                <a:cs typeface="맑은 고딕"/>
              </a:rPr>
              <a:t>보스</a:t>
            </a:r>
            <a:endParaRPr lang="en-US" sz="1300"/>
          </a:p>
        </p:txBody>
      </p:sp>
      <p:sp>
        <p:nvSpPr>
          <p:cNvPr id="26" name="Text 22"/>
          <p:cNvSpPr/>
          <p:nvPr/>
        </p:nvSpPr>
        <p:spPr>
          <a:xfrm>
            <a:off x="8293608" y="512064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6C7686"/>
                </a:solidFill>
                <a:latin typeface="맑은 고딕"/>
                <a:ea typeface="맑은 고딕"/>
                <a:cs typeface="맑은 고딕"/>
              </a:rPr>
              <a:t>학습한 대응의 검증</a:t>
            </a:r>
            <a:endParaRPr lang="en-US" sz="1050"/>
          </a:p>
        </p:txBody>
      </p:sp>
      <p:sp>
        <p:nvSpPr>
          <p:cNvPr id="27" name="Text 23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l">
              <a:buNone/>
              <a:defRPr/>
            </a:pPr>
            <a:r>
              <a:rPr lang="en-US" sz="900">
                <a:solidFill>
                  <a:srgbClr val="6C7686"/>
                </a:solidFill>
                <a:latin typeface="맑은 고딕"/>
                <a:ea typeface="맑은 고딕"/>
                <a:cs typeface="맑은 고딕"/>
              </a:rPr>
              <a:t>진성준  ·  게임 시스템 기획 포트폴리오</a:t>
            </a:r>
            <a:endParaRPr lang="en-US" sz="900"/>
          </a:p>
        </p:txBody>
      </p:sp>
      <p:sp>
        <p:nvSpPr>
          <p:cNvPr id="28" name="Text 24"/>
          <p:cNvSpPr/>
          <p:nvPr/>
        </p:nvSpPr>
        <p:spPr>
          <a:xfrm>
            <a:off x="11094415" y="6473952"/>
            <a:ext cx="530352" cy="27432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r">
              <a:buNone/>
              <a:defRPr/>
            </a:pPr>
            <a:r>
              <a:rPr lang="en-US" sz="900">
                <a:solidFill>
                  <a:srgbClr val="6C7686"/>
                </a:solidFill>
                <a:latin typeface="맑은 고딕"/>
                <a:ea typeface="맑은 고딕"/>
                <a:cs typeface="맑은 고딕"/>
              </a:rPr>
              <a:t>15</a:t>
            </a:r>
            <a:endParaRPr lang="en-US" sz="90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622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1200" b="1" kern="0" spc="200">
                <a:solidFill>
                  <a:srgbClr val="E0A15A"/>
                </a:solidFill>
                <a:latin typeface="맑은 고딕"/>
                <a:ea typeface="맑은 고딕"/>
                <a:cs typeface="맑은 고딕"/>
              </a:rPr>
              <a:t>05  PHILOSOPHY</a:t>
            </a:r>
            <a:endParaRPr lang="en-US" sz="120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lnSpc>
                <a:spcPct val="110000"/>
              </a:lnSpc>
              <a:buNone/>
              <a:defRPr/>
            </a:pPr>
            <a:r>
              <a:rPr lang="en-US" sz="2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언제나 플레이어</a:t>
            </a:r>
            <a:r>
              <a:rPr lang="ko-KR" altLang="en-US" sz="2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의 경험</a:t>
            </a:r>
            <a:r>
              <a:rPr lang="en-US" sz="2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에서 시작한다</a:t>
            </a:r>
          </a:p>
        </p:txBody>
      </p:sp>
      <p:sp>
        <p:nvSpPr>
          <p:cNvPr id="4" name="Shape 2"/>
          <p:cNvSpPr/>
          <p:nvPr/>
        </p:nvSpPr>
        <p:spPr>
          <a:xfrm>
            <a:off x="566928" y="2194560"/>
            <a:ext cx="3474720" cy="3017520"/>
          </a:xfrm>
          <a:prstGeom prst="roundRect">
            <a:avLst>
              <a:gd name="adj" fmla="val 2121"/>
            </a:avLst>
          </a:prstGeom>
          <a:solidFill>
            <a:srgbClr val="24324F"/>
          </a:solidFill>
          <a:ln w="12700">
            <a:solidFill>
              <a:srgbClr val="D9DEE6"/>
            </a:solidFill>
            <a:prstDash val="solid"/>
          </a:ln>
          <a:effectLst>
            <a:outerShdw blurRad="88900" dist="25400" dir="5400000" algn="bl" rotWithShape="0">
              <a:srgbClr val="000000">
                <a:alpha val="12000"/>
              </a:srgbClr>
            </a:outerShdw>
          </a:effectLst>
        </p:spPr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5" name="Text 3"/>
          <p:cNvSpPr/>
          <p:nvPr/>
        </p:nvSpPr>
        <p:spPr>
          <a:xfrm>
            <a:off x="841248" y="237744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4000" b="1">
                <a:solidFill>
                  <a:srgbClr val="C8622E"/>
                </a:solidFill>
                <a:latin typeface="Arial"/>
                <a:ea typeface="Arial"/>
                <a:cs typeface="Arial"/>
              </a:rPr>
              <a:t>1</a:t>
            </a:r>
            <a:endParaRPr lang="en-US" sz="4000"/>
          </a:p>
        </p:txBody>
      </p:sp>
      <p:sp>
        <p:nvSpPr>
          <p:cNvPr id="6" name="Text 4"/>
          <p:cNvSpPr/>
          <p:nvPr/>
        </p:nvSpPr>
        <p:spPr>
          <a:xfrm>
            <a:off x="841248" y="320040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ko-KR" altLang="en-US" sz="17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유저의 플레이 예상</a:t>
            </a:r>
          </a:p>
        </p:txBody>
      </p:sp>
      <p:sp>
        <p:nvSpPr>
          <p:cNvPr id="7" name="Text 5"/>
          <p:cNvSpPr/>
          <p:nvPr/>
        </p:nvSpPr>
        <p:spPr>
          <a:xfrm>
            <a:off x="841248" y="3794760"/>
            <a:ext cx="2971800" cy="128016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lnSpc>
                <a:spcPct val="125000"/>
              </a:lnSpc>
              <a:buNone/>
              <a:defRPr/>
            </a:pPr>
            <a:r>
              <a:rPr lang="en-US" sz="1300">
                <a:solidFill>
                  <a:srgbClr val="EAF0FA"/>
                </a:solidFill>
                <a:latin typeface="맑은 고딕"/>
                <a:ea typeface="맑은 고딕"/>
                <a:cs typeface="맑은 고딕"/>
              </a:rPr>
              <a:t>기능이 아니라 '의도한 플레이어 경험'을 먼저 정의하고 시스템을 거기서 도출</a:t>
            </a:r>
            <a:endParaRPr lang="en-US" sz="1300"/>
          </a:p>
        </p:txBody>
      </p:sp>
      <p:sp>
        <p:nvSpPr>
          <p:cNvPr id="8" name="Shape 6"/>
          <p:cNvSpPr/>
          <p:nvPr/>
        </p:nvSpPr>
        <p:spPr>
          <a:xfrm>
            <a:off x="4270248" y="2194560"/>
            <a:ext cx="3474720" cy="3017520"/>
          </a:xfrm>
          <a:prstGeom prst="roundRect">
            <a:avLst>
              <a:gd name="adj" fmla="val 2121"/>
            </a:avLst>
          </a:prstGeom>
          <a:solidFill>
            <a:srgbClr val="24324F"/>
          </a:solidFill>
          <a:ln w="12700">
            <a:solidFill>
              <a:srgbClr val="D9DEE6"/>
            </a:solidFill>
            <a:prstDash val="solid"/>
          </a:ln>
          <a:effectLst>
            <a:outerShdw blurRad="88900" dist="25400" dir="5400000" algn="bl" rotWithShape="0">
              <a:srgbClr val="000000">
                <a:alpha val="12000"/>
              </a:srgbClr>
            </a:outerShdw>
          </a:effectLst>
        </p:spPr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4544568" y="237744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4000" b="1">
                <a:solidFill>
                  <a:srgbClr val="C8622E"/>
                </a:solidFill>
                <a:latin typeface="Arial"/>
                <a:ea typeface="Arial"/>
                <a:cs typeface="Arial"/>
              </a:rPr>
              <a:t>2</a:t>
            </a:r>
            <a:endParaRPr lang="en-US" sz="4000"/>
          </a:p>
        </p:txBody>
      </p:sp>
      <p:sp>
        <p:nvSpPr>
          <p:cNvPr id="10" name="Text 8"/>
          <p:cNvSpPr/>
          <p:nvPr/>
        </p:nvSpPr>
        <p:spPr>
          <a:xfrm>
            <a:off x="4544568" y="320040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17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학습 곡선 설계</a:t>
            </a:r>
            <a:endParaRPr lang="en-US" sz="1700"/>
          </a:p>
        </p:txBody>
      </p:sp>
      <p:sp>
        <p:nvSpPr>
          <p:cNvPr id="11" name="Text 9"/>
          <p:cNvSpPr/>
          <p:nvPr/>
        </p:nvSpPr>
        <p:spPr>
          <a:xfrm>
            <a:off x="4544568" y="3794760"/>
            <a:ext cx="2971800" cy="128016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lnSpc>
                <a:spcPct val="125000"/>
              </a:lnSpc>
              <a:buNone/>
              <a:defRPr/>
            </a:pPr>
            <a:r>
              <a:rPr lang="en-US" sz="1300">
                <a:solidFill>
                  <a:srgbClr val="EAF0FA"/>
                </a:solidFill>
                <a:latin typeface="맑은 고딕"/>
                <a:ea typeface="맑은 고딕"/>
                <a:cs typeface="맑은 고딕"/>
              </a:rPr>
              <a:t>무엇을 가르치고 어디서 검증할지 — </a:t>
            </a:r>
          </a:p>
          <a:p>
            <a:pPr marL="0" indent="0">
              <a:lnSpc>
                <a:spcPct val="125000"/>
              </a:lnSpc>
              <a:buNone/>
              <a:defRPr/>
            </a:pPr>
            <a:r>
              <a:rPr lang="en-US" sz="1300">
                <a:solidFill>
                  <a:srgbClr val="EAF0FA"/>
                </a:solidFill>
                <a:latin typeface="맑은 고딕"/>
                <a:ea typeface="맑은 고딕"/>
                <a:cs typeface="맑은 고딕"/>
              </a:rPr>
              <a:t>적·난이도를 학습 단계로 구성</a:t>
            </a:r>
            <a:endParaRPr lang="en-US" sz="1300"/>
          </a:p>
        </p:txBody>
      </p:sp>
      <p:sp>
        <p:nvSpPr>
          <p:cNvPr id="12" name="Shape 10"/>
          <p:cNvSpPr/>
          <p:nvPr/>
        </p:nvSpPr>
        <p:spPr>
          <a:xfrm>
            <a:off x="7973568" y="2194560"/>
            <a:ext cx="3474720" cy="3017520"/>
          </a:xfrm>
          <a:prstGeom prst="roundRect">
            <a:avLst>
              <a:gd name="adj" fmla="val 2121"/>
            </a:avLst>
          </a:prstGeom>
          <a:solidFill>
            <a:srgbClr val="24324F"/>
          </a:solidFill>
          <a:ln w="12700">
            <a:solidFill>
              <a:srgbClr val="D9DEE6"/>
            </a:solidFill>
            <a:prstDash val="solid"/>
          </a:ln>
          <a:effectLst>
            <a:outerShdw blurRad="88900" dist="25400" dir="5400000" algn="bl" rotWithShape="0">
              <a:srgbClr val="000000">
                <a:alpha val="12000"/>
              </a:srgbClr>
            </a:outerShdw>
          </a:effectLst>
        </p:spPr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8247888" y="237744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4000" b="1">
                <a:solidFill>
                  <a:srgbClr val="C8622E"/>
                </a:solidFill>
                <a:latin typeface="Arial"/>
                <a:ea typeface="Arial"/>
                <a:cs typeface="Arial"/>
              </a:rPr>
              <a:t>3</a:t>
            </a:r>
            <a:endParaRPr lang="en-US" sz="4000"/>
          </a:p>
        </p:txBody>
      </p:sp>
      <p:sp>
        <p:nvSpPr>
          <p:cNvPr id="14" name="Text 12"/>
          <p:cNvSpPr/>
          <p:nvPr/>
        </p:nvSpPr>
        <p:spPr>
          <a:xfrm>
            <a:off x="8247888" y="320040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17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구현을 아는 판단</a:t>
            </a:r>
            <a:endParaRPr lang="en-US" sz="1700"/>
          </a:p>
        </p:txBody>
      </p:sp>
      <p:sp>
        <p:nvSpPr>
          <p:cNvPr id="15" name="Text 13"/>
          <p:cNvSpPr/>
          <p:nvPr/>
        </p:nvSpPr>
        <p:spPr>
          <a:xfrm>
            <a:off x="8247888" y="3794760"/>
            <a:ext cx="2971800" cy="128016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lnSpc>
                <a:spcPct val="125000"/>
              </a:lnSpc>
              <a:buNone/>
              <a:defRPr/>
            </a:pPr>
            <a:r>
              <a:rPr lang="en-US" sz="1300">
                <a:solidFill>
                  <a:srgbClr val="EAF0FA"/>
                </a:solidFill>
                <a:latin typeface="맑은 고딕"/>
                <a:ea typeface="맑은 고딕"/>
                <a:cs typeface="맑은 고딕"/>
              </a:rPr>
              <a:t>서버를 직접 다뤄본 감각으로 </a:t>
            </a:r>
          </a:p>
          <a:p>
            <a:pPr marL="0" indent="0">
              <a:lnSpc>
                <a:spcPct val="125000"/>
              </a:lnSpc>
              <a:buNone/>
              <a:defRPr/>
            </a:pPr>
            <a:r>
              <a:rPr lang="en-US" sz="1300">
                <a:solidFill>
                  <a:srgbClr val="EAF0FA"/>
                </a:solidFill>
                <a:latin typeface="맑은 고딕"/>
                <a:ea typeface="맑은 고딕"/>
                <a:cs typeface="맑은 고딕"/>
              </a:rPr>
              <a:t>'구현 가능한' 기획을 제시</a:t>
            </a:r>
            <a:endParaRPr lang="en-US" sz="1300"/>
          </a:p>
        </p:txBody>
      </p:sp>
      <p:sp>
        <p:nvSpPr>
          <p:cNvPr id="16" name="Text 14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l">
              <a:buNone/>
              <a:defRPr/>
            </a:pPr>
            <a:r>
              <a:rPr lang="en-US" sz="900">
                <a:solidFill>
                  <a:srgbClr val="6C7686"/>
                </a:solidFill>
                <a:latin typeface="맑은 고딕"/>
                <a:ea typeface="맑은 고딕"/>
                <a:cs typeface="맑은 고딕"/>
              </a:rPr>
              <a:t>진성준  ·  게임 시스템 기획 포트폴리오</a:t>
            </a:r>
            <a:endParaRPr lang="en-US" sz="900"/>
          </a:p>
        </p:txBody>
      </p:sp>
      <p:sp>
        <p:nvSpPr>
          <p:cNvPr id="17" name="Text 15"/>
          <p:cNvSpPr/>
          <p:nvPr/>
        </p:nvSpPr>
        <p:spPr>
          <a:xfrm>
            <a:off x="11094415" y="6473952"/>
            <a:ext cx="530352" cy="27432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r">
              <a:buNone/>
              <a:defRPr/>
            </a:pPr>
            <a:r>
              <a:rPr lang="en-US" sz="900">
                <a:solidFill>
                  <a:srgbClr val="6C7686"/>
                </a:solidFill>
                <a:latin typeface="맑은 고딕"/>
                <a:ea typeface="맑은 고딕"/>
                <a:cs typeface="맑은 고딕"/>
              </a:rPr>
              <a:t>18</a:t>
            </a:r>
            <a:endParaRPr lang="en-US" sz="90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622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46888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4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감사합니다</a:t>
            </a:r>
            <a:endParaRPr lang="en-US" sz="4400"/>
          </a:p>
        </p:txBody>
      </p:sp>
      <p:sp>
        <p:nvSpPr>
          <p:cNvPr id="3" name="Text 1"/>
          <p:cNvSpPr/>
          <p:nvPr/>
        </p:nvSpPr>
        <p:spPr>
          <a:xfrm>
            <a:off x="566928" y="34290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1800">
                <a:solidFill>
                  <a:srgbClr val="E0A15A"/>
                </a:solidFill>
                <a:latin typeface="맑은 고딕"/>
                <a:ea typeface="맑은 고딕"/>
                <a:cs typeface="맑은 고딕"/>
              </a:rPr>
              <a:t>진성준</a:t>
            </a:r>
            <a:endParaRPr lang="en-US" sz="1800"/>
          </a:p>
        </p:txBody>
      </p:sp>
      <p:sp>
        <p:nvSpPr>
          <p:cNvPr id="4" name="Shape 2"/>
          <p:cNvSpPr/>
          <p:nvPr/>
        </p:nvSpPr>
        <p:spPr>
          <a:xfrm>
            <a:off x="585216" y="3977640"/>
            <a:ext cx="2743200" cy="0"/>
          </a:xfrm>
          <a:prstGeom prst="line">
            <a:avLst/>
          </a:prstGeom>
          <a:noFill/>
          <a:ln w="25400">
            <a:solidFill>
              <a:srgbClr val="C8622E"/>
            </a:solidFill>
            <a:prstDash val="solid"/>
          </a:ln>
        </p:spPr>
        <p:txBody>
          <a:bodyPr wrap="square"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5" name="Text 3"/>
          <p:cNvSpPr/>
          <p:nvPr/>
        </p:nvSpPr>
        <p:spPr>
          <a:xfrm>
            <a:off x="566928" y="41605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1400">
                <a:solidFill>
                  <a:srgbClr val="EAF0FA"/>
                </a:solidFill>
                <a:latin typeface="맑은 고딕"/>
                <a:ea typeface="맑은 고딕"/>
                <a:cs typeface="맑은 고딕"/>
              </a:rPr>
              <a:t>010-7770-2108   ·   </a:t>
            </a:r>
            <a:r>
              <a:rPr lang="en-US" altLang="ko-KR" sz="1400">
                <a:solidFill>
                  <a:srgbClr val="EAF0FA"/>
                </a:solidFill>
                <a:latin typeface="맑은 고딕"/>
                <a:ea typeface="맑은 고딕"/>
                <a:cs typeface="맑은 고딕"/>
              </a:rPr>
              <a:t>wlstjdwns2108</a:t>
            </a:r>
            <a:r>
              <a:rPr lang="en-US" sz="1400">
                <a:solidFill>
                  <a:srgbClr val="EAF0FA"/>
                </a:solidFill>
                <a:latin typeface="맑은 고딕"/>
                <a:ea typeface="맑은 고딕"/>
                <a:cs typeface="맑은 고딕"/>
              </a:rPr>
              <a:t>@naver.com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한컴오피스">
  <a:themeElements>
    <a:clrScheme name="한컴오피스">
      <a:dk1>
        <a:sysClr val="windowText" lastClr="000000"/>
      </a:dk1>
      <a:lt1>
        <a:sysClr val="window" lastClr="FFFFFF"/>
      </a:lt1>
      <a:dk2>
        <a:srgbClr val="3A3C84"/>
      </a:dk2>
      <a:lt2>
        <a:srgbClr val="FAF3DB"/>
      </a:lt2>
      <a:accent1>
        <a:srgbClr val="6182D6"/>
      </a:accent1>
      <a:accent2>
        <a:srgbClr val="FF843A"/>
      </a:accent2>
      <a:accent3>
        <a:srgbClr val="B2B2B2"/>
      </a:accent3>
      <a:accent4>
        <a:srgbClr val="FFD700"/>
      </a:accent4>
      <a:accent5>
        <a:srgbClr val="289B6E"/>
      </a:accent5>
      <a:accent6>
        <a:srgbClr val="9D5CBB"/>
      </a:accent6>
      <a:hlink>
        <a:srgbClr val="0000FF"/>
      </a:hlink>
      <a:folHlink>
        <a:srgbClr val="800080"/>
      </a:folHlink>
    </a:clrScheme>
    <a:fontScheme name="한컴오피스">
      <a:majorFont>
        <a:latin typeface="Calibri"/>
        <a:ea typeface=""/>
        <a:cs typeface="Times New Roman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Times New Roman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inorFont>
    </a:fontScheme>
    <a:fmtScheme name="한컴오피스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12700" cap="flat" cmpd="sng" algn="ctr">
          <a:solidFill>
            <a:schemeClr val="phClr">
              <a:satMod val="105000"/>
            </a:schemeClr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</a:effectStyle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</a:effectStyle>
        <a:effectStyle>
          <a:effectLst>
            <a:reflection blurRad="12700" stA="26000" endPos="28000" dist="38100" dir="5400000" sy="-100000" rotWithShape="0"/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1433</Words>
  <Application>Microsoft Office PowerPoint</Application>
  <PresentationFormat>와이드스크린</PresentationFormat>
  <Paragraphs>251</Paragraphs>
  <Slides>16</Slides>
  <Notes>16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16</vt:i4>
      </vt:variant>
    </vt:vector>
  </HeadingPairs>
  <TitlesOfParts>
    <vt:vector size="20" baseType="lpstr">
      <vt:lpstr>맑은 고딕</vt:lpstr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>PptxGenJS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진성준 게임 시스템 기획 포트폴리오</dc:title>
  <dc:subject>PptxGenJS Presentation</dc:subject>
  <dc:creator>진성준</dc:creator>
  <cp:lastModifiedBy>Nai Hoon Jung</cp:lastModifiedBy>
  <cp:revision>34</cp:revision>
  <dcterms:created xsi:type="dcterms:W3CDTF">2026-07-06T02:37:10Z</dcterms:created>
  <dcterms:modified xsi:type="dcterms:W3CDTF">2026-07-06T12:03:42Z</dcterms:modified>
  <cp:version/>
</cp:coreProperties>
</file>