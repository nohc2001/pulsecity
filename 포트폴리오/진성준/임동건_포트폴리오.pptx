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성능 수치는 사용자가 제공한 연구과제 측정 결과. 특정 장면의 사례이며 일반화하지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생성형 AI는 효과별 이동 패턴과 시각 파라미터 조정에 사용. 사용자 제공 파티클 구현 정리문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https://github.com/donggeon15/2DGP-Project . kobby.py, monster.py, boss.py, play_mode.py의 소스 코드 기준. 사용자 확인: 커비 모작 개인 프로젝트. 기간은 미제공. 게임 실행 검증은 수행하지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nohc2001/PulseCity" TargetMode="External"/><Relationship Id="rId4" Type="http://schemas.openxmlformats.org/officeDocument/2006/relationships/hyperlink" Target="https://youtu.be/kb8ucLNXPk4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donggeon15/2DGP-Project" TargetMode="Externa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A59CD1DA-EE21-4949-9980-F38DC6AFC9EB}"/>
              </a:ext>
            </a:extLst>
          </p:cNvPr>
          <p:cNvSpPr>
            <a:spLocks noGrp="1"/>
          </p:cNvSpPr>
          <p:nvPr/>
        </p:nvSpPr>
        <p:spPr>
          <a:xfrm>
            <a:off x="723900" y="70485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GAME DEVELOPER PORTFOLIO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8F157F8-73CA-4447-B25C-3649B9E14638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6680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42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게임 개발자 포트폴리오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85B928D-6B5C-40E2-BDF0-963BC5BBFA38}"/>
              </a:ext>
            </a:extLst>
          </p:cNvPr>
          <p:cNvSpPr>
            <a:spLocks noGrp="1"/>
          </p:cNvSpPr>
          <p:nvPr/>
        </p:nvSpPr>
        <p:spPr>
          <a:xfrm>
            <a:off x="723900" y="243840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31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1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임동건</a:t>
            </a:r>
            <a:endParaRPr sz="3150" b="1">
              <a:solidFill>
                <a:srgbClr val="11131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4EF175-D729-47E8-BC6D-4723B1F70D41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9525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개발 분야  게임 클라이언트 / 그래픽스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451B53-119F-47F9-9BB6-F73AB73F45D1}"/>
              </a:ext>
            </a:extLst>
          </p:cNvPr>
          <p:cNvSpPr>
            <a:spLocks noGrp="1"/>
          </p:cNvSpPr>
          <p:nvPr/>
        </p:nvSpPr>
        <p:spPr>
          <a:xfrm>
            <a:off x="742950" y="3905250"/>
            <a:ext cx="95250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C++ · DirectX 12 · HLSL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37C95D7-06C6-4B25-AC63-5B4CEB259542}"/>
              </a:ext>
            </a:extLst>
          </p:cNvPr>
          <p:cNvSpPr>
            <a:spLocks noGrp="1"/>
          </p:cNvSpPr>
          <p:nvPr/>
        </p:nvSpPr>
        <p:spPr>
          <a:xfrm>
            <a:off x="742950" y="5095875"/>
            <a:ext cx="10629900" cy="9525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4DA35F9-07EC-43F9-8036-C0446EFC8B93}"/>
              </a:ext>
            </a:extLst>
          </p:cNvPr>
          <p:cNvSpPr>
            <a:spLocks noGrp="1"/>
          </p:cNvSpPr>
          <p:nvPr/>
        </p:nvSpPr>
        <p:spPr>
          <a:xfrm>
            <a:off x="742950" y="5381625"/>
            <a:ext cx="4095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010-</a:t>
            </a:r>
            <a:r>
              <a:rPr lang="en-US" sz="15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6690</a:t>
            </a:r>
            <a:r>
              <a:rPr sz="15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-</a:t>
            </a:r>
            <a:r>
              <a:rPr lang="en-US" sz="15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6923</a:t>
            </a:r>
            <a:endParaRPr sz="1575" b="0">
              <a:solidFill>
                <a:srgbClr val="11131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A810AE8-BBD9-4CE9-B79C-567902107AB8}"/>
              </a:ext>
            </a:extLst>
          </p:cNvPr>
          <p:cNvSpPr>
            <a:spLocks noGrp="1"/>
          </p:cNvSpPr>
          <p:nvPr/>
        </p:nvSpPr>
        <p:spPr>
          <a:xfrm>
            <a:off x="742950" y="578167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333"/>
          </a:bodyPr>
          <a:lstStyle/>
          <a:p>
            <a:pPr algn="l">
              <a:defRPr sz="15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do020415@naver.com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1310E91-6E4A-4730-8940-3F2FDDC4C4D8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238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lstStyle/>
          <a:p>
            <a:pPr algn="r">
              <a:def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27838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A7B6C6DD-698A-4860-99B1-7ACB6E5DCEF2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GAME DEVELOPER PORTFOLIO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7ACF1F9-E2A9-4758-A12E-97BBEB879AB4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10966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306AD90-9283-4450-9011-48405230A730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프로젝트와 구현 내용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26EEFFC-5AD8-4719-BE37-32EF14FB4EC5}"/>
              </a:ext>
            </a:extLst>
          </p:cNvPr>
          <p:cNvSpPr>
            <a:spLocks noGrp="1"/>
          </p:cNvSpPr>
          <p:nvPr/>
        </p:nvSpPr>
        <p:spPr>
          <a:xfrm>
            <a:off x="552450" y="1543050"/>
            <a:ext cx="11087100" cy="19050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900" y="1924050"/>
            <a:ext cx="3770600" cy="219075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51306" y="4257675"/>
            <a:ext cx="2783787" cy="219075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4B476B9-315C-4A77-8C72-73ABE0419A95}"/>
              </a:ext>
            </a:extLst>
          </p:cNvPr>
          <p:cNvSpPr>
            <a:spLocks noGrp="1"/>
          </p:cNvSpPr>
          <p:nvPr/>
        </p:nvSpPr>
        <p:spPr>
          <a:xfrm>
            <a:off x="5381625" y="1990725"/>
            <a:ext cx="595312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333"/>
          </a:bodyPr>
          <a:lstStyle/>
          <a:p>
            <a:pPr algn="l">
              <a:defRPr sz="22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01  PulseCity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4E66BED-D5EC-4600-A4F5-C0C3EFC71BC5}"/>
              </a:ext>
            </a:extLst>
          </p:cNvPr>
          <p:cNvSpPr>
            <a:spLocks noGrp="1"/>
          </p:cNvSpPr>
          <p:nvPr/>
        </p:nvSpPr>
        <p:spPr>
          <a:xfrm>
            <a:off x="5381625" y="2495550"/>
            <a:ext cx="595312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팀 졸업작품 / C++, DirectX 12, HLSL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B81E55E-6799-4B5D-93CC-80FF7BBED770}"/>
              </a:ext>
            </a:extLst>
          </p:cNvPr>
          <p:cNvSpPr>
            <a:spLocks noGrp="1"/>
          </p:cNvSpPr>
          <p:nvPr/>
        </p:nvSpPr>
        <p:spPr>
          <a:xfrm>
            <a:off x="5381625" y="2971800"/>
            <a:ext cx="5953125" cy="1190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03  프로젝트 소개</a:t>
            </a:r>
          </a:p>
          <a:p>
            <a:pPr algn="l">
              <a:defRPr sz="14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04–10  Auto LOD 구현과 측정</a:t>
            </a:r>
          </a:p>
          <a:p>
            <a:pPr algn="l">
              <a:defRPr sz="14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11–12  GPU 파티클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2497CEC-6D64-4E58-B44E-420344B9E60E}"/>
              </a:ext>
            </a:extLst>
          </p:cNvPr>
          <p:cNvSpPr>
            <a:spLocks noGrp="1"/>
          </p:cNvSpPr>
          <p:nvPr/>
        </p:nvSpPr>
        <p:spPr>
          <a:xfrm>
            <a:off x="5381625" y="4505325"/>
            <a:ext cx="595312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333"/>
          </a:bodyPr>
          <a:lstStyle/>
          <a:p>
            <a:pPr algn="l">
              <a:defRPr sz="22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02  커비 모작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658C763-DBF5-4D0D-A3CF-B2AC2CDABDA9}"/>
              </a:ext>
            </a:extLst>
          </p:cNvPr>
          <p:cNvSpPr>
            <a:spLocks noGrp="1"/>
          </p:cNvSpPr>
          <p:nvPr/>
        </p:nvSpPr>
        <p:spPr>
          <a:xfrm>
            <a:off x="5381625" y="5010150"/>
            <a:ext cx="595312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개인 프로젝트 / Python, pico2d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F5DB38-A9F1-420A-A505-D1BCA0E813A7}"/>
              </a:ext>
            </a:extLst>
          </p:cNvPr>
          <p:cNvSpPr>
            <a:spLocks noGrp="1"/>
          </p:cNvSpPr>
          <p:nvPr/>
        </p:nvSpPr>
        <p:spPr>
          <a:xfrm>
            <a:off x="5381625" y="5476875"/>
            <a:ext cx="5953125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13  프로젝트 소개와 구현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07F4CFD-F9A4-456A-B4D7-234F44BD5971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238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lstStyle/>
          <a:p>
            <a:pPr algn="r">
              <a:def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1005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732A3EFE-6467-4612-89D0-3AE06F4F1351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PROJECT 01 / PULSECITY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319C36-3DBD-4A4D-B610-418F6A0FD7DF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10966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PulseCity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753D0EA-BBAA-4595-B8B9-D7BD9B84D24D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팀원들과 함께 제작한 졸업작품 / 개인 담당: Auto LOD, GPU 파티클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6231D47-BDC6-492B-9C5A-8F24177D4989}"/>
              </a:ext>
            </a:extLst>
          </p:cNvPr>
          <p:cNvSpPr>
            <a:spLocks noGrp="1"/>
          </p:cNvSpPr>
          <p:nvPr/>
        </p:nvSpPr>
        <p:spPr>
          <a:xfrm>
            <a:off x="552450" y="1543050"/>
            <a:ext cx="11087100" cy="19050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48250" y="1814468"/>
            <a:ext cx="6591300" cy="380056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88FFB40-416F-492D-9ACA-9D62582879FC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프로젝트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E8EE39B-F7A0-43A1-82FB-5EE19ECFDDE6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4857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827"/>
          </a:bodyPr>
          <a:lstStyle/>
          <a:p>
            <a:pPr algn="l">
              <a:defRPr sz="20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팀 졸업작품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3915BE-DF24-4A0A-8D73-4BF6CEA6F0B3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20B9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0B96B"/>
                </a:solidFill>
                <a:latin typeface="Malgun Gothic"/>
                <a:ea typeface="Malgun Gothic"/>
                <a:cs typeface="Malgun Gothic"/>
              </a:rPr>
              <a:t>장르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D04C24-AD15-4B7D-AC4F-A876EFD81D5B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500062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3D FPS RPG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4711302-DF3A-448F-ADDB-C541EE003659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rPr>
              <a:t>개인 담당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33FED5C-63BF-4ED7-B1E3-4767AA96E0BC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Auto LOD · GPU 파티클 시스템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BA62430-5A9A-46DF-82A9-F23096BBB459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519112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사용 기술  C++ / DirectX 12 / HLSL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8F4065D-73B7-4EDE-ACCE-734633793B76}"/>
              </a:ext>
            </a:extLst>
          </p:cNvPr>
          <p:cNvSpPr>
            <a:spLocks noGrp="1"/>
          </p:cNvSpPr>
          <p:nvPr/>
        </p:nvSpPr>
        <p:spPr>
          <a:xfrm>
            <a:off x="5048250" y="5772150"/>
            <a:ext cx="65913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0A7E1"/>
                </a:solidFill>
                <a:latin typeface="Malgun Gothic"/>
                <a:ea typeface="Malgun Gothic"/>
                <a:cs typeface="Malgun Gothic"/>
                <a:hlinkClick r:id="rId4"/>
              </a:rPr>
              <a:t>게임 영상  https://youtu.be/kb8ucLNXPk4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2054297-61C2-48C5-9B70-CB2697D95A8A}"/>
              </a:ext>
            </a:extLst>
          </p:cNvPr>
          <p:cNvSpPr>
            <a:spLocks noGrp="1"/>
          </p:cNvSpPr>
          <p:nvPr/>
        </p:nvSpPr>
        <p:spPr>
          <a:xfrm>
            <a:off x="5048250" y="6191250"/>
            <a:ext cx="65913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20B9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0B96B"/>
                </a:solidFill>
                <a:latin typeface="Malgun Gothic"/>
                <a:ea typeface="Malgun Gothic"/>
                <a:cs typeface="Malgun Gothic"/>
                <a:hlinkClick r:id="rId5"/>
              </a:rPr>
              <a:t>GitHub  https://github.com/nohc2001/PulseCity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1B1BD76-2664-4408-A021-EE61BECB399B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238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lstStyle/>
          <a:p>
            <a:pPr algn="r">
              <a:def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5354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C0818FA6-7EDE-40E7-83BE-3D52D294E801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PROJECT 01 / PULSECITY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1BD7B87-0ACE-4903-97BB-D4A911D4C9E0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10966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용어 기준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6FE0B7D-0F89-4BDC-B963-4F448A9A4443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이 포트폴리오에서 사용하는 지오메트리 단위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922F8D2-3D07-499C-9133-46F2A3CDEA8F}"/>
              </a:ext>
            </a:extLst>
          </p:cNvPr>
          <p:cNvSpPr>
            <a:spLocks noGrp="1"/>
          </p:cNvSpPr>
          <p:nvPr/>
        </p:nvSpPr>
        <p:spPr>
          <a:xfrm>
            <a:off x="552450" y="1543050"/>
            <a:ext cx="11087100" cy="19050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559C84A-679F-43C5-8C43-BA6339BDBF2E}"/>
              </a:ext>
            </a:extLst>
          </p:cNvPr>
          <p:cNvSpPr>
            <a:spLocks noGrp="1"/>
          </p:cNvSpPr>
          <p:nvPr/>
        </p:nvSpPr>
        <p:spPr>
          <a:xfrm>
            <a:off x="647700" y="1952625"/>
            <a:ext cx="76200" cy="609600"/>
          </a:xfrm>
          <a:prstGeom prst="rect">
            <a:avLst/>
          </a:prstGeom>
          <a:solidFill>
            <a:srgbClr val="00A7E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E92B416-E676-4C43-9E57-C4EA0D9F1A37}"/>
              </a:ext>
            </a:extLst>
          </p:cNvPr>
          <p:cNvSpPr>
            <a:spLocks noGrp="1"/>
          </p:cNvSpPr>
          <p:nvPr/>
        </p:nvSpPr>
        <p:spPr>
          <a:xfrm>
            <a:off x="952500" y="2028825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Polygon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1B95AE-44C3-46CF-8EFD-73E29FB960B1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7524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표면을 구성하는 삼각형 1개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3981F32-88AB-4C99-8825-562D811D53B2}"/>
              </a:ext>
            </a:extLst>
          </p:cNvPr>
          <p:cNvSpPr>
            <a:spLocks noGrp="1"/>
          </p:cNvSpPr>
          <p:nvPr/>
        </p:nvSpPr>
        <p:spPr>
          <a:xfrm>
            <a:off x="952500" y="2562225"/>
            <a:ext cx="10001250" cy="9525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302B735-4015-4AD0-8450-FAF7955A487D}"/>
              </a:ext>
            </a:extLst>
          </p:cNvPr>
          <p:cNvSpPr>
            <a:spLocks noGrp="1"/>
          </p:cNvSpPr>
          <p:nvPr/>
        </p:nvSpPr>
        <p:spPr>
          <a:xfrm>
            <a:off x="647700" y="2924175"/>
            <a:ext cx="76200" cy="609600"/>
          </a:xfrm>
          <a:prstGeom prst="rect">
            <a:avLst/>
          </a:prstGeom>
          <a:solidFill>
            <a:srgbClr val="20B96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2A7222D-8C76-4939-B056-A40D129253AB}"/>
              </a:ext>
            </a:extLst>
          </p:cNvPr>
          <p:cNvSpPr>
            <a:spLocks noGrp="1"/>
          </p:cNvSpPr>
          <p:nvPr/>
        </p:nvSpPr>
        <p:spPr>
          <a:xfrm>
            <a:off x="952500" y="3000375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Submesh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A93DF06-EC33-495D-996B-DACEF78527F7}"/>
              </a:ext>
            </a:extLst>
          </p:cNvPr>
          <p:cNvSpPr>
            <a:spLocks noGrp="1"/>
          </p:cNvSpPr>
          <p:nvPr/>
        </p:nvSpPr>
        <p:spPr>
          <a:xfrm>
            <a:off x="3429000" y="3009900"/>
            <a:ext cx="7524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하나의 재질과 드로우콜로 묶인 인덱스 범위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F4A0FCF-AA15-42C2-9ADF-0FDA34692858}"/>
              </a:ext>
            </a:extLst>
          </p:cNvPr>
          <p:cNvSpPr>
            <a:spLocks noGrp="1"/>
          </p:cNvSpPr>
          <p:nvPr/>
        </p:nvSpPr>
        <p:spPr>
          <a:xfrm>
            <a:off x="952500" y="3533775"/>
            <a:ext cx="10001250" cy="9525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F384089-216B-43E8-8961-2EC335160FF2}"/>
              </a:ext>
            </a:extLst>
          </p:cNvPr>
          <p:cNvSpPr>
            <a:spLocks noGrp="1"/>
          </p:cNvSpPr>
          <p:nvPr/>
        </p:nvSpPr>
        <p:spPr>
          <a:xfrm>
            <a:off x="647700" y="3895725"/>
            <a:ext cx="76200" cy="609600"/>
          </a:xfrm>
          <a:prstGeom prst="rect">
            <a:avLst/>
          </a:prstGeom>
          <a:solidFill>
            <a:srgbClr val="E64694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756DB25-6EDE-4145-BDF1-5FB62FEA8B1B}"/>
              </a:ext>
            </a:extLst>
          </p:cNvPr>
          <p:cNvSpPr>
            <a:spLocks noGrp="1"/>
          </p:cNvSpPr>
          <p:nvPr/>
        </p:nvSpPr>
        <p:spPr>
          <a:xfrm>
            <a:off x="952500" y="3971925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Mesh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BE5713D-6DE1-4819-B766-1D55D1F79475}"/>
              </a:ext>
            </a:extLst>
          </p:cNvPr>
          <p:cNvSpPr>
            <a:spLocks noGrp="1"/>
          </p:cNvSpPr>
          <p:nvPr/>
        </p:nvSpPr>
        <p:spPr>
          <a:xfrm>
            <a:off x="3429000" y="3981450"/>
            <a:ext cx="7524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정점·인덱스 데이터와 하나 이상의 서브메시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6B3E701-FA49-45AE-ACAD-DC3A496FD45A}"/>
              </a:ext>
            </a:extLst>
          </p:cNvPr>
          <p:cNvSpPr>
            <a:spLocks noGrp="1"/>
          </p:cNvSpPr>
          <p:nvPr/>
        </p:nvSpPr>
        <p:spPr>
          <a:xfrm>
            <a:off x="952500" y="4505325"/>
            <a:ext cx="10001250" cy="9525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B116E69-DB5C-4331-9B6F-92F228F2F6C9}"/>
              </a:ext>
            </a:extLst>
          </p:cNvPr>
          <p:cNvSpPr>
            <a:spLocks noGrp="1"/>
          </p:cNvSpPr>
          <p:nvPr/>
        </p:nvSpPr>
        <p:spPr>
          <a:xfrm>
            <a:off x="647700" y="4867275"/>
            <a:ext cx="76200" cy="609600"/>
          </a:xfrm>
          <a:prstGeom prst="rect">
            <a:avLst/>
          </a:prstGeom>
          <a:solidFill>
            <a:srgbClr val="F3C43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F13E8A6-F37A-4D26-AC57-1946DC6F1990}"/>
              </a:ext>
            </a:extLst>
          </p:cNvPr>
          <p:cNvSpPr>
            <a:spLocks noGrp="1"/>
          </p:cNvSpPr>
          <p:nvPr/>
        </p:nvSpPr>
        <p:spPr>
          <a:xfrm>
            <a:off x="952500" y="4943475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Object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9D1517E-87BF-4053-8D52-F46E9830034D}"/>
              </a:ext>
            </a:extLst>
          </p:cNvPr>
          <p:cNvSpPr>
            <a:spLocks noGrp="1"/>
          </p:cNvSpPr>
          <p:nvPr/>
        </p:nvSpPr>
        <p:spPr>
          <a:xfrm>
            <a:off x="3429000" y="4953000"/>
            <a:ext cx="7524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메시를 참조하고 월드 위치·회전·상태를 가진 게임 단위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157F523-00A5-4371-9C52-0F20291AC2B5}"/>
              </a:ext>
            </a:extLst>
          </p:cNvPr>
          <p:cNvSpPr>
            <a:spLocks noGrp="1"/>
          </p:cNvSpPr>
          <p:nvPr/>
        </p:nvSpPr>
        <p:spPr>
          <a:xfrm>
            <a:off x="952500" y="5476875"/>
            <a:ext cx="10001250" cy="9525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CDF4C79-CDF2-4F3F-8A3F-A2945A2BF015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238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lstStyle/>
          <a:p>
            <a:pPr algn="r">
              <a:def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9992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10F1E17D-4402-4C6D-8CD7-41954D3F9270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PROJECT 01 / PULSECITY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F44EAED-008D-48FB-9435-88B896CD152C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10966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LOD 생성 시점과 작업 목록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22DF24C-ACD3-401F-B5FC-DC012CDF365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게임 실행 시 LOD를 생성하고 파일로 저장하여 다음 실행에 재사용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C872DA7-A74F-4998-86F4-349BC85617C3}"/>
              </a:ext>
            </a:extLst>
          </p:cNvPr>
          <p:cNvSpPr>
            <a:spLocks noGrp="1"/>
          </p:cNvSpPr>
          <p:nvPr/>
        </p:nvSpPr>
        <p:spPr>
          <a:xfrm>
            <a:off x="552450" y="1543050"/>
            <a:ext cx="11087100" cy="19050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BBEE018-BA0C-4CAB-8DAB-8AA115EDF69F}"/>
              </a:ext>
            </a:extLst>
          </p:cNvPr>
          <p:cNvSpPr>
            <a:spLocks noGrp="1"/>
          </p:cNvSpPr>
          <p:nvPr/>
        </p:nvSpPr>
        <p:spPr>
          <a:xfrm>
            <a:off x="647700" y="1952625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defRPr sz="975" b="1">
                <a:solidFill>
                  <a:srgbClr val="20B9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0B96B"/>
                </a:solidFill>
                <a:latin typeface="Malgun Gothic"/>
                <a:ea typeface="Malgun Gothic"/>
                <a:cs typeface="Malgun Gothic"/>
              </a:rPr>
              <a:t>시작 전 작업 목록 (PRELOAD QUEUE)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3E83D8-9460-43E6-ABF5-0EB23600B8F0}"/>
              </a:ext>
            </a:extLst>
          </p:cNvPr>
          <p:cNvSpPr>
            <a:spLocks noGrp="1"/>
          </p:cNvSpPr>
          <p:nvPr/>
        </p:nvSpPr>
        <p:spPr>
          <a:xfrm>
            <a:off x="647700" y="2324100"/>
            <a:ext cx="4857750" cy="2000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로드된 메시를 우선순위로 정렬하고 캐시를 먼저 확인</a:t>
            </a:r>
          </a:p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캐시가 없는 큰 메시를 게임 시작 전에 생성</a:t>
            </a:r>
          </a:p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작은 메시와 남은 작업은 실행 중 큐로 전달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0A8650A-2DC5-40BF-8C20-040943E7F08C}"/>
              </a:ext>
            </a:extLst>
          </p:cNvPr>
          <p:cNvSpPr>
            <a:spLocks noGrp="1"/>
          </p:cNvSpPr>
          <p:nvPr/>
        </p:nvSpPr>
        <p:spPr>
          <a:xfrm>
            <a:off x="5943600" y="1952625"/>
            <a:ext cx="19050" cy="2714625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0207C74-030A-47A2-A743-82FC181E9544}"/>
              </a:ext>
            </a:extLst>
          </p:cNvPr>
          <p:cNvSpPr>
            <a:spLocks noGrp="1"/>
          </p:cNvSpPr>
          <p:nvPr/>
        </p:nvSpPr>
        <p:spPr>
          <a:xfrm>
            <a:off x="6419850" y="1952625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실행 중 작업 목록 (RUNTIME QUEUE)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BF24D83-74D4-4C31-8233-C3F1C0B9680D}"/>
              </a:ext>
            </a:extLst>
          </p:cNvPr>
          <p:cNvSpPr>
            <a:spLocks noGrp="1"/>
          </p:cNvSpPr>
          <p:nvPr/>
        </p:nvSpPr>
        <p:spPr>
          <a:xfrm>
            <a:off x="6419850" y="2324100"/>
            <a:ext cx="4857750" cy="2000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게임 실행 중 남은 메시를 순서대로 생성</a:t>
            </a:r>
          </a:p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기본 설정: 한 번 호출에 최대 2개 메시 처리</a:t>
            </a:r>
          </a:p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메시 하나가 250,000개 삼각형을 넘으면 생성 제외</a:t>
            </a:r>
          </a:p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메시 해제 시 큐에 남은 참조를 제거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6C5A06B-4D40-41FE-8782-6361FE7EBA22}"/>
              </a:ext>
            </a:extLst>
          </p:cNvPr>
          <p:cNvSpPr>
            <a:spLocks noGrp="1"/>
          </p:cNvSpPr>
          <p:nvPr/>
        </p:nvSpPr>
        <p:spPr>
          <a:xfrm>
            <a:off x="647700" y="4953000"/>
            <a:ext cx="107251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큐는 생성할 메시를 모아 둔 작업 목록입니다. 생성 작업이 한 번에 몰리지 않도록 나눠 처리합니다.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D7DB2C0-1EEF-4D37-99DD-CD0312AC115E}"/>
              </a:ext>
            </a:extLst>
          </p:cNvPr>
          <p:cNvSpPr>
            <a:spLocks noGrp="1"/>
          </p:cNvSpPr>
          <p:nvPr/>
        </p:nvSpPr>
        <p:spPr>
          <a:xfrm>
            <a:off x="647700" y="5572125"/>
            <a:ext cx="107251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현재 방식: 런타임 생성 + 캐시</a:t>
            </a:r>
          </a:p>
          <a:p>
            <a:pPr algn="l">
              <a:defRPr sz="127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오프라인 생성은 배포 전에 미리 만드는 방식이며, 현재 구현에는 적용하지 않았습니다.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38B235-9704-4EF0-A38F-659D21543EEC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238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lstStyle/>
          <a:p>
            <a:pPr algn="r">
              <a:def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09125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58E5F4D3-BACD-463C-9074-BCBE169A3F3A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PROJECT 01 / PULSECITY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25FB71E-24AC-4B11-98BB-0F97FFB00149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10966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LOD 생성 알고리즘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0206DF3-B19B-4219-BD5E-EE582D45BAF3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meshoptimizer의 QEM 기반 모서리 병합 사용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EF01902-0601-4A12-96E6-1032858F5037}"/>
              </a:ext>
            </a:extLst>
          </p:cNvPr>
          <p:cNvSpPr>
            <a:spLocks noGrp="1"/>
          </p:cNvSpPr>
          <p:nvPr/>
        </p:nvSpPr>
        <p:spPr>
          <a:xfrm>
            <a:off x="552450" y="1543050"/>
            <a:ext cx="11087100" cy="19050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A481B5-20C1-4FBD-8B61-7325C070006C}"/>
              </a:ext>
            </a:extLst>
          </p:cNvPr>
          <p:cNvSpPr>
            <a:spLocks noGrp="1"/>
          </p:cNvSpPr>
          <p:nvPr/>
        </p:nvSpPr>
        <p:spPr>
          <a:xfrm>
            <a:off x="647700" y="19812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defRPr sz="97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rPr>
              <a:t>라이브러리 단순화 원리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D347C68-C2D6-494A-A52E-D1CB8730A622}"/>
              </a:ext>
            </a:extLst>
          </p:cNvPr>
          <p:cNvSpPr>
            <a:spLocks noGrp="1"/>
          </p:cNvSpPr>
          <p:nvPr/>
        </p:nvSpPr>
        <p:spPr>
          <a:xfrm>
            <a:off x="647700" y="2333625"/>
            <a:ext cx="4953000" cy="2667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모서리 양 끝 정점을 합칠 때 표면·속성 오차 계산</a:t>
            </a:r>
          </a:p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오차가 작은 후보부터 경계·연결 조건을 확인해 병합</a:t>
            </a:r>
          </a:p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목표 개수, 오차 한계 또는 병합 불가 시 종료</a:t>
            </a:r>
          </a:p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기본 목표: 원본 인덱스의 25%, 상대 오차 5e-4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74C6BD-53F5-41F1-BF99-EAC482581D97}"/>
              </a:ext>
            </a:extLst>
          </p:cNvPr>
          <p:cNvSpPr>
            <a:spLocks noGrp="1"/>
          </p:cNvSpPr>
          <p:nvPr/>
        </p:nvSpPr>
        <p:spPr>
          <a:xfrm>
            <a:off x="5943600" y="1952625"/>
            <a:ext cx="19050" cy="3333750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7DB0242-F32A-432C-B43D-A4E9A133E055}"/>
              </a:ext>
            </a:extLst>
          </p:cNvPr>
          <p:cNvSpPr>
            <a:spLocks noGrp="1"/>
          </p:cNvSpPr>
          <p:nvPr/>
        </p:nvSpPr>
        <p:spPr>
          <a:xfrm>
            <a:off x="6419850" y="19812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프로젝트 적용 방식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4A0A44-BACB-4B82-A7CE-30C100F55AE2}"/>
              </a:ext>
            </a:extLst>
          </p:cNvPr>
          <p:cNvSpPr>
            <a:spLocks noGrp="1"/>
          </p:cNvSpPr>
          <p:nvPr/>
        </p:nvSpPr>
        <p:spPr>
          <a:xfrm>
            <a:off x="6419850" y="2333625"/>
            <a:ext cx="4953000" cy="2667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노멀·UV·탄젠트를 오차 계산과 경계 보호에 반영</a:t>
            </a:r>
          </a:p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WithAttributes: 원본 정점 유지, 인덱스 변경</a:t>
            </a:r>
          </a:p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WithUpdate: 정점 위치와 속성도 갱신</a:t>
            </a:r>
          </a:p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조건부 재시도: 오차·보호 조건 완화 또는 격자 단순화</a:t>
            </a:r>
          </a:p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최종 감소량이 부족하면 원본 메시 사용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E14D7F5-359D-48AD-8AE3-DE46BF1D8861}"/>
              </a:ext>
            </a:extLst>
          </p:cNvPr>
          <p:cNvSpPr>
            <a:spLocks noGrp="1"/>
          </p:cNvSpPr>
          <p:nvPr/>
        </p:nvSpPr>
        <p:spPr>
          <a:xfrm>
            <a:off x="647700" y="5429250"/>
            <a:ext cx="10725150" cy="590550"/>
          </a:xfrm>
          <a:prstGeom prst="roundRect">
            <a:avLst>
              <a:gd name="adj" fmla="val 12903"/>
            </a:avLst>
          </a:prstGeom>
          <a:solidFill>
            <a:srgbClr val="EAF8F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FE3F0B2-C209-42CA-A7ED-F01B7B9E6FEF}"/>
              </a:ext>
            </a:extLst>
          </p:cNvPr>
          <p:cNvSpPr>
            <a:spLocks noGrp="1"/>
          </p:cNvSpPr>
          <p:nvPr/>
        </p:nvSpPr>
        <p:spPr>
          <a:xfrm>
            <a:off x="866775" y="5591175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277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27747"/>
                </a:solidFill>
                <a:latin typeface="Malgun Gothic"/>
                <a:ea typeface="Malgun Gothic"/>
                <a:cs typeface="Malgun Gothic"/>
              </a:rPr>
              <a:t>QEM: 정점이 원래 표면에서 벗어나는 정도를 제곱 오차로 계산하는 방법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42F4EDA-74DF-495F-A0EC-31F8741149B2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238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lstStyle/>
          <a:p>
            <a:pPr algn="r">
              <a:def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5884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7A282E62-C87F-4EFF-AF55-969742928015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PROJECT 01 / PULSECITY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B1B5E9D-28B6-4BD5-97FA-639218799027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10966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래스터 LOD와 인스턴싱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58C42D-39BC-40AD-BBF4-116EE4B2C84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화면에 보이는 오브젝트 크기로 원본 메시와 LOD 메시를 선택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646D62C-AF62-48EA-A5C0-0C2CCAEFC993}"/>
              </a:ext>
            </a:extLst>
          </p:cNvPr>
          <p:cNvSpPr>
            <a:spLocks noGrp="1"/>
          </p:cNvSpPr>
          <p:nvPr/>
        </p:nvSpPr>
        <p:spPr>
          <a:xfrm>
            <a:off x="552450" y="1543050"/>
            <a:ext cx="11087100" cy="19050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B6D347-19C2-43E2-A7B5-1A81125F55E1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3333750" cy="647700"/>
          </a:xfrm>
          <a:prstGeom prst="rect">
            <a:avLst/>
          </a:prstGeom>
          <a:solidFill>
            <a:srgbClr val="00A7E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A4608AE-E4DF-4488-9A22-D2A8608951E5}"/>
              </a:ext>
            </a:extLst>
          </p:cNvPr>
          <p:cNvSpPr>
            <a:spLocks noGrp="1"/>
          </p:cNvSpPr>
          <p:nvPr/>
        </p:nvSpPr>
        <p:spPr>
          <a:xfrm>
            <a:off x="762000" y="225742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크게 보일 때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1FAED66-EBFA-40D6-ADA1-F4C455A1E79E}"/>
              </a:ext>
            </a:extLst>
          </p:cNvPr>
          <p:cNvSpPr>
            <a:spLocks noGrp="1"/>
          </p:cNvSpPr>
          <p:nvPr/>
        </p:nvSpPr>
        <p:spPr>
          <a:xfrm>
            <a:off x="762000" y="251460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l">
              <a:def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원본 메시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9F5D948-1593-4DE6-AC49-E0BA6E977B6F}"/>
              </a:ext>
            </a:extLst>
          </p:cNvPr>
          <p:cNvSpPr>
            <a:spLocks noGrp="1"/>
          </p:cNvSpPr>
          <p:nvPr/>
        </p:nvSpPr>
        <p:spPr>
          <a:xfrm>
            <a:off x="4248150" y="2143125"/>
            <a:ext cx="3333750" cy="647700"/>
          </a:xfrm>
          <a:prstGeom prst="rect">
            <a:avLst/>
          </a:prstGeom>
          <a:solidFill>
            <a:srgbClr val="F3C43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A7F699F-6A91-44AD-AE7E-FAD675154D41}"/>
              </a:ext>
            </a:extLst>
          </p:cNvPr>
          <p:cNvSpPr>
            <a:spLocks noGrp="1"/>
          </p:cNvSpPr>
          <p:nvPr/>
        </p:nvSpPr>
        <p:spPr>
          <a:xfrm>
            <a:off x="4381500" y="225742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전환 기준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078AF54-4D2C-4E71-AD2A-5CBF7E9D351F}"/>
              </a:ext>
            </a:extLst>
          </p:cNvPr>
          <p:cNvSpPr>
            <a:spLocks noGrp="1"/>
          </p:cNvSpPr>
          <p:nvPr/>
        </p:nvSpPr>
        <p:spPr>
          <a:xfrm>
            <a:off x="4381500" y="251460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l">
              <a:def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켜는 기준과 끄는 기준을 다르게 설정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CF0EA16-5AFA-486F-BCD2-0D207430DF06}"/>
              </a:ext>
            </a:extLst>
          </p:cNvPr>
          <p:cNvSpPr>
            <a:spLocks noGrp="1"/>
          </p:cNvSpPr>
          <p:nvPr/>
        </p:nvSpPr>
        <p:spPr>
          <a:xfrm>
            <a:off x="7867650" y="2143125"/>
            <a:ext cx="3333750" cy="647700"/>
          </a:xfrm>
          <a:prstGeom prst="rect">
            <a:avLst/>
          </a:prstGeom>
          <a:solidFill>
            <a:srgbClr val="20B96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E49869B-56FE-4BE4-B024-71513ADC0FB2}"/>
              </a:ext>
            </a:extLst>
          </p:cNvPr>
          <p:cNvSpPr>
            <a:spLocks noGrp="1"/>
          </p:cNvSpPr>
          <p:nvPr/>
        </p:nvSpPr>
        <p:spPr>
          <a:xfrm>
            <a:off x="8001000" y="225742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작게 보일 때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154233E-35C9-4453-A755-E807AB719BCC}"/>
              </a:ext>
            </a:extLst>
          </p:cNvPr>
          <p:cNvSpPr>
            <a:spLocks noGrp="1"/>
          </p:cNvSpPr>
          <p:nvPr/>
        </p:nvSpPr>
        <p:spPr>
          <a:xfrm>
            <a:off x="8001000" y="251460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l">
              <a:def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LOD 메시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CB7CB53-02B7-4888-9804-975DB3471811}"/>
              </a:ext>
            </a:extLst>
          </p:cNvPr>
          <p:cNvSpPr>
            <a:spLocks noGrp="1"/>
          </p:cNvSpPr>
          <p:nvPr/>
        </p:nvSpPr>
        <p:spPr>
          <a:xfrm>
            <a:off x="628650" y="337185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defRPr sz="975" b="1">
                <a:solidFill>
                  <a:srgbClr val="20B9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0B96B"/>
                </a:solidFill>
                <a:latin typeface="Malgun Gothic"/>
                <a:ea typeface="Malgun Gothic"/>
                <a:cs typeface="Malgun Gothic"/>
              </a:rPr>
              <a:t>INSTANCE BATCH CONDITIONS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F2BC926-A305-40CE-A67E-A797F745D20A}"/>
              </a:ext>
            </a:extLst>
          </p:cNvPr>
          <p:cNvSpPr>
            <a:spLocks noGrp="1"/>
          </p:cNvSpPr>
          <p:nvPr/>
        </p:nvSpPr>
        <p:spPr>
          <a:xfrm>
            <a:off x="628650" y="3714750"/>
            <a:ext cx="4953000" cy="1905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같은 LOD 메시와 재질을 쓰는 정적 오브젝트를 한 번에 그리기</a:t>
            </a:r>
          </a:p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메시·재질·버퍼 조건이 맞지 않으면 개별 렌더링</a:t>
            </a:r>
          </a:p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전환 기준을 다르게 두어 경계에서 반복 전환되는 현상 감소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44BC3DF-4B4C-4DAC-8635-28433A09B623}"/>
              </a:ext>
            </a:extLst>
          </p:cNvPr>
          <p:cNvSpPr>
            <a:spLocks noGrp="1"/>
          </p:cNvSpPr>
          <p:nvPr/>
        </p:nvSpPr>
        <p:spPr>
          <a:xfrm>
            <a:off x="6191250" y="3429000"/>
            <a:ext cx="5181600" cy="2428875"/>
          </a:xfrm>
          <a:prstGeom prst="rect">
            <a:avLst/>
          </a:prstGeom>
          <a:solidFill>
            <a:srgbClr val="F2F4F6"/>
          </a:solidFill>
          <a:ln w="9525">
            <a:solidFill>
              <a:srgbClr val="D7DD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7ECD4AF-BC8E-49B7-BE52-BC867480A1A3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238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lstStyle/>
          <a:p>
            <a:pPr algn="r">
              <a:def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12145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9C7B5C36-2DFF-4056-8358-B000B2B67EF9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PROJECT 01 / PULSECITY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5F946C9-7264-4143-9B6C-9075ED990460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10966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거리별 서브메시 제한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17E582F-6224-42E6-BDD3-BDAA6A4C791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먼 모델은 인덱스 수가 많은 서브메시부터 일부만 렌더링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5E7A649-2A6C-414F-894E-A5792FFF6D56}"/>
              </a:ext>
            </a:extLst>
          </p:cNvPr>
          <p:cNvSpPr>
            <a:spLocks noGrp="1"/>
          </p:cNvSpPr>
          <p:nvPr/>
        </p:nvSpPr>
        <p:spPr>
          <a:xfrm>
            <a:off x="552450" y="1543050"/>
            <a:ext cx="11087100" cy="19050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089B7F8-2EA4-46F8-80DB-F7474D4FB6DF}"/>
              </a:ext>
            </a:extLst>
          </p:cNvPr>
          <p:cNvSpPr>
            <a:spLocks noGrp="1"/>
          </p:cNvSpPr>
          <p:nvPr/>
        </p:nvSpPr>
        <p:spPr>
          <a:xfrm>
            <a:off x="685800" y="2181225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000"/>
          </a:bodyPr>
          <a:lstStyle/>
          <a:p>
            <a:pPr algn="l">
              <a:defRPr sz="15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35m 이상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CC30308-61EE-4B05-BB58-E9362E24BACC}"/>
              </a:ext>
            </a:extLst>
          </p:cNvPr>
          <p:cNvSpPr>
            <a:spLocks noGrp="1"/>
          </p:cNvSpPr>
          <p:nvPr/>
        </p:nvSpPr>
        <p:spPr>
          <a:xfrm>
            <a:off x="2362200" y="2038350"/>
            <a:ext cx="3143250" cy="552450"/>
          </a:xfrm>
          <a:prstGeom prst="rect">
            <a:avLst/>
          </a:prstGeom>
          <a:solidFill>
            <a:srgbClr val="00A7E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CB71E4-CCC6-4762-912D-45E4B2A4FDA4}"/>
              </a:ext>
            </a:extLst>
          </p:cNvPr>
          <p:cNvSpPr>
            <a:spLocks noGrp="1"/>
          </p:cNvSpPr>
          <p:nvPr/>
        </p:nvSpPr>
        <p:spPr>
          <a:xfrm>
            <a:off x="2495550" y="21621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최대 6개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0CBBDF-300C-4DBA-A2CF-A568873E1EDA}"/>
              </a:ext>
            </a:extLst>
          </p:cNvPr>
          <p:cNvSpPr>
            <a:spLocks noGrp="1"/>
          </p:cNvSpPr>
          <p:nvPr/>
        </p:nvSpPr>
        <p:spPr>
          <a:xfrm>
            <a:off x="685800" y="3095625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000"/>
          </a:bodyPr>
          <a:lstStyle/>
          <a:p>
            <a:pPr algn="l">
              <a:defRPr sz="15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80m 이상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CF62EE0-4589-4496-9829-7B748A4290EC}"/>
              </a:ext>
            </a:extLst>
          </p:cNvPr>
          <p:cNvSpPr>
            <a:spLocks noGrp="1"/>
          </p:cNvSpPr>
          <p:nvPr/>
        </p:nvSpPr>
        <p:spPr>
          <a:xfrm>
            <a:off x="2362200" y="2952750"/>
            <a:ext cx="1571625" cy="552450"/>
          </a:xfrm>
          <a:prstGeom prst="rect">
            <a:avLst/>
          </a:prstGeom>
          <a:solidFill>
            <a:srgbClr val="20B96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4F5301D-8772-4181-B317-6384EC2D01BD}"/>
              </a:ext>
            </a:extLst>
          </p:cNvPr>
          <p:cNvSpPr>
            <a:spLocks noGrp="1"/>
          </p:cNvSpPr>
          <p:nvPr/>
        </p:nvSpPr>
        <p:spPr>
          <a:xfrm>
            <a:off x="2495550" y="30765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최대 3개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406C3CB-BD55-4DC2-9D5A-F26CB480D4D7}"/>
              </a:ext>
            </a:extLst>
          </p:cNvPr>
          <p:cNvSpPr>
            <a:spLocks noGrp="1"/>
          </p:cNvSpPr>
          <p:nvPr/>
        </p:nvSpPr>
        <p:spPr>
          <a:xfrm>
            <a:off x="685800" y="4010025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000"/>
          </a:bodyPr>
          <a:lstStyle/>
          <a:p>
            <a:pPr algn="l">
              <a:defRPr sz="15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130m 이상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CC0799-E082-493A-AF9D-655150E6B4E0}"/>
              </a:ext>
            </a:extLst>
          </p:cNvPr>
          <p:cNvSpPr>
            <a:spLocks noGrp="1"/>
          </p:cNvSpPr>
          <p:nvPr/>
        </p:nvSpPr>
        <p:spPr>
          <a:xfrm>
            <a:off x="2362200" y="3867150"/>
            <a:ext cx="1047750" cy="552450"/>
          </a:xfrm>
          <a:prstGeom prst="rect">
            <a:avLst/>
          </a:prstGeom>
          <a:solidFill>
            <a:srgbClr val="E64694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F5F0D72-1554-4AFA-9FC4-19F5EBF6E8DA}"/>
              </a:ext>
            </a:extLst>
          </p:cNvPr>
          <p:cNvSpPr>
            <a:spLocks noGrp="1"/>
          </p:cNvSpPr>
          <p:nvPr/>
        </p:nvSpPr>
        <p:spPr>
          <a:xfrm>
            <a:off x="2495550" y="39909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최대 2개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E12B9D6-2489-46CE-BC2F-98D020896003}"/>
              </a:ext>
            </a:extLst>
          </p:cNvPr>
          <p:cNvSpPr>
            <a:spLocks noGrp="1"/>
          </p:cNvSpPr>
          <p:nvPr/>
        </p:nvSpPr>
        <p:spPr>
          <a:xfrm>
            <a:off x="685800" y="4924425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000"/>
          </a:bodyPr>
          <a:lstStyle/>
          <a:p>
            <a:pPr algn="l">
              <a:defRPr sz="15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200m 이상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1391711-8FD3-489A-9610-E10B30BDC88F}"/>
              </a:ext>
            </a:extLst>
          </p:cNvPr>
          <p:cNvSpPr>
            <a:spLocks noGrp="1"/>
          </p:cNvSpPr>
          <p:nvPr/>
        </p:nvSpPr>
        <p:spPr>
          <a:xfrm>
            <a:off x="2362200" y="4781550"/>
            <a:ext cx="523875" cy="552450"/>
          </a:xfrm>
          <a:prstGeom prst="rect">
            <a:avLst/>
          </a:prstGeom>
          <a:solidFill>
            <a:srgbClr val="F3C43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ADCD64E-C4F3-4ADE-9321-CECF1C143D44}"/>
              </a:ext>
            </a:extLst>
          </p:cNvPr>
          <p:cNvSpPr>
            <a:spLocks noGrp="1"/>
          </p:cNvSpPr>
          <p:nvPr/>
        </p:nvSpPr>
        <p:spPr>
          <a:xfrm>
            <a:off x="2495550" y="49053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최대 1개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D18BFE-8BE2-43B2-B2F4-8F73DEEDD2CE}"/>
              </a:ext>
            </a:extLst>
          </p:cNvPr>
          <p:cNvSpPr>
            <a:spLocks noGrp="1"/>
          </p:cNvSpPr>
          <p:nvPr/>
        </p:nvSpPr>
        <p:spPr>
          <a:xfrm>
            <a:off x="6191250" y="2038350"/>
            <a:ext cx="5181600" cy="3305175"/>
          </a:xfrm>
          <a:prstGeom prst="rect">
            <a:avLst/>
          </a:prstGeom>
          <a:solidFill>
            <a:srgbClr val="F2F4F6"/>
          </a:solidFill>
          <a:ln w="9525">
            <a:solidFill>
              <a:srgbClr val="D7DD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02C54F6-24A3-4660-8135-5CEDB628B33B}"/>
              </a:ext>
            </a:extLst>
          </p:cNvPr>
          <p:cNvSpPr>
            <a:spLocks noGrp="1"/>
          </p:cNvSpPr>
          <p:nvPr/>
        </p:nvSpPr>
        <p:spPr>
          <a:xfrm>
            <a:off x="685800" y="5857875"/>
            <a:ext cx="4572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인덱스 수가 많은 서브메시부터 유지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7C630B0-7E19-4555-B62B-8A625E584BC6}"/>
              </a:ext>
            </a:extLst>
          </p:cNvPr>
          <p:cNvSpPr>
            <a:spLocks noGrp="1"/>
          </p:cNvSpPr>
          <p:nvPr/>
        </p:nvSpPr>
        <p:spPr>
          <a:xfrm>
            <a:off x="4953000" y="5857875"/>
            <a:ext cx="6572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833"/>
          </a:bodyPr>
          <a:lstStyle/>
          <a:p>
            <a:pPr algn="r">
              <a:def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메인 래스터 패스에만 적용하며 그림자 패스는 거리로 제거하지 않음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29CB536-FDD5-4420-9D74-09766FFB84E7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238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lstStyle/>
          <a:p>
            <a:pPr algn="r">
              <a:def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46745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BE824821-3433-40E4-BA70-6D3C3131768B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PROJECT 01 / PULSECITY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8EE954B-1E7E-4E75-A4B6-F26F41AB1900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10966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DXR 지오메트리 LOD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1B7B2E9-E026-498C-A211-8D1E6C45F8E2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레이트레이싱도 실제 단순화 메시와 교차 판정을 수행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D1C07C9-75FC-4D2A-A0E0-D67A13A7A8C2}"/>
              </a:ext>
            </a:extLst>
          </p:cNvPr>
          <p:cNvSpPr>
            <a:spLocks noGrp="1"/>
          </p:cNvSpPr>
          <p:nvPr/>
        </p:nvSpPr>
        <p:spPr>
          <a:xfrm>
            <a:off x="552450" y="1543050"/>
            <a:ext cx="11087100" cy="19050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522151D-37AA-4CA0-8732-6B11AA8C06DF}"/>
              </a:ext>
            </a:extLst>
          </p:cNvPr>
          <p:cNvSpPr>
            <a:spLocks noGrp="1"/>
          </p:cNvSpPr>
          <p:nvPr/>
        </p:nvSpPr>
        <p:spPr>
          <a:xfrm>
            <a:off x="590550" y="2238375"/>
            <a:ext cx="2381250" cy="1952625"/>
          </a:xfrm>
          <a:prstGeom prst="roundRect">
            <a:avLst>
              <a:gd name="adj" fmla="val 3902"/>
            </a:avLst>
          </a:prstGeom>
          <a:solidFill>
            <a:srgbClr val="F7F8FA"/>
          </a:solidFill>
          <a:ln w="9525">
            <a:solidFill>
              <a:srgbClr val="D7DD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62BECF6-AD6F-4FE2-A6DA-4C04EB0AE7C6}"/>
              </a:ext>
            </a:extLst>
          </p:cNvPr>
          <p:cNvSpPr>
            <a:spLocks noGrp="1"/>
          </p:cNvSpPr>
          <p:nvPr/>
        </p:nvSpPr>
        <p:spPr>
          <a:xfrm>
            <a:off x="590550" y="2238375"/>
            <a:ext cx="2381250" cy="76200"/>
          </a:xfrm>
          <a:prstGeom prst="rect">
            <a:avLst/>
          </a:prstGeom>
          <a:solidFill>
            <a:srgbClr val="00A7E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56EF0B0-63D7-4C1E-8CBF-8566FDEAFDB4}"/>
              </a:ext>
            </a:extLst>
          </p:cNvPr>
          <p:cNvSpPr>
            <a:spLocks noGrp="1"/>
          </p:cNvSpPr>
          <p:nvPr/>
        </p:nvSpPr>
        <p:spPr>
          <a:xfrm>
            <a:off x="781050" y="25336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6F1400C-7F6D-4096-9EAA-CE1B1D5A2674}"/>
              </a:ext>
            </a:extLst>
          </p:cNvPr>
          <p:cNvSpPr>
            <a:spLocks noGrp="1"/>
          </p:cNvSpPr>
          <p:nvPr/>
        </p:nvSpPr>
        <p:spPr>
          <a:xfrm>
            <a:off x="781050" y="2952750"/>
            <a:ext cx="2000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LOD 메시 생성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868CD40-EF36-417D-8FC4-5A6595D2E3DA}"/>
              </a:ext>
            </a:extLst>
          </p:cNvPr>
          <p:cNvSpPr>
            <a:spLocks noGrp="1"/>
          </p:cNvSpPr>
          <p:nvPr/>
        </p:nvSpPr>
        <p:spPr>
          <a:xfrm>
            <a:off x="781050" y="3476625"/>
            <a:ext cx="1952625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전용 BLAS를 함께 생성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C0C91961-05D2-4F7D-AE41-3876523FDD73}"/>
              </a:ext>
            </a:extLst>
          </p:cNvPr>
          <p:cNvSpPr>
            <a:spLocks noGrp="1"/>
          </p:cNvSpPr>
          <p:nvPr/>
        </p:nvSpPr>
        <p:spPr>
          <a:xfrm>
            <a:off x="2971800" y="3209925"/>
            <a:ext cx="428625" cy="0"/>
          </a:xfrm>
          <a:prstGeom prst="line">
            <a:avLst/>
          </a:prstGeom>
          <a:noFill/>
          <a:ln w="28575">
            <a:solidFill>
              <a:srgbClr val="4F5966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914BEC4-5F3A-416A-9E89-5B6A6E8CA23E}"/>
              </a:ext>
            </a:extLst>
          </p:cNvPr>
          <p:cNvSpPr>
            <a:spLocks noGrp="1"/>
          </p:cNvSpPr>
          <p:nvPr/>
        </p:nvSpPr>
        <p:spPr>
          <a:xfrm>
            <a:off x="3400425" y="2238375"/>
            <a:ext cx="2381250" cy="1952625"/>
          </a:xfrm>
          <a:prstGeom prst="roundRect">
            <a:avLst>
              <a:gd name="adj" fmla="val 3902"/>
            </a:avLst>
          </a:prstGeom>
          <a:solidFill>
            <a:srgbClr val="F7F8FA"/>
          </a:solidFill>
          <a:ln w="9525">
            <a:solidFill>
              <a:srgbClr val="D7DD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89A8D1D-49B9-4CCD-94F1-BDACD4112C07}"/>
              </a:ext>
            </a:extLst>
          </p:cNvPr>
          <p:cNvSpPr>
            <a:spLocks noGrp="1"/>
          </p:cNvSpPr>
          <p:nvPr/>
        </p:nvSpPr>
        <p:spPr>
          <a:xfrm>
            <a:off x="3400425" y="2238375"/>
            <a:ext cx="2381250" cy="76200"/>
          </a:xfrm>
          <a:prstGeom prst="rect">
            <a:avLst/>
          </a:prstGeom>
          <a:solidFill>
            <a:srgbClr val="20B96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BB4F385-B98F-406F-A0D5-5E31A2F3034D}"/>
              </a:ext>
            </a:extLst>
          </p:cNvPr>
          <p:cNvSpPr>
            <a:spLocks noGrp="1"/>
          </p:cNvSpPr>
          <p:nvPr/>
        </p:nvSpPr>
        <p:spPr>
          <a:xfrm>
            <a:off x="3590925" y="25336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20B9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0B96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2AF80EA-98E2-473A-B2A6-946D46605375}"/>
              </a:ext>
            </a:extLst>
          </p:cNvPr>
          <p:cNvSpPr>
            <a:spLocks noGrp="1"/>
          </p:cNvSpPr>
          <p:nvPr/>
        </p:nvSpPr>
        <p:spPr>
          <a:xfrm>
            <a:off x="3590925" y="2952750"/>
            <a:ext cx="2000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거리 조건 충족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454956-FAB9-48C6-BB31-5032ABFCE0EB}"/>
              </a:ext>
            </a:extLst>
          </p:cNvPr>
          <p:cNvSpPr>
            <a:spLocks noGrp="1"/>
          </p:cNvSpPr>
          <p:nvPr/>
        </p:nvSpPr>
        <p:spPr>
          <a:xfrm>
            <a:off x="3590925" y="3476625"/>
            <a:ext cx="1952625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TLAS가 LOD BLAS를 참조</a:t>
            </a:r>
          </a:p>
        </p:txBody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FA568281-801D-4ABC-9F7F-178FC7B85AB0}"/>
              </a:ext>
            </a:extLst>
          </p:cNvPr>
          <p:cNvSpPr>
            <a:spLocks noGrp="1"/>
          </p:cNvSpPr>
          <p:nvPr/>
        </p:nvSpPr>
        <p:spPr>
          <a:xfrm>
            <a:off x="5781675" y="3209925"/>
            <a:ext cx="428625" cy="0"/>
          </a:xfrm>
          <a:prstGeom prst="line">
            <a:avLst/>
          </a:prstGeom>
          <a:noFill/>
          <a:ln w="28575">
            <a:solidFill>
              <a:srgbClr val="4F5966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9904D84-758C-44E1-93E6-F29C2CFFDF0A}"/>
              </a:ext>
            </a:extLst>
          </p:cNvPr>
          <p:cNvSpPr>
            <a:spLocks noGrp="1"/>
          </p:cNvSpPr>
          <p:nvPr/>
        </p:nvSpPr>
        <p:spPr>
          <a:xfrm>
            <a:off x="6210300" y="2238375"/>
            <a:ext cx="2381250" cy="1952625"/>
          </a:xfrm>
          <a:prstGeom prst="roundRect">
            <a:avLst>
              <a:gd name="adj" fmla="val 3902"/>
            </a:avLst>
          </a:prstGeom>
          <a:solidFill>
            <a:srgbClr val="F7F8FA"/>
          </a:solidFill>
          <a:ln w="9525">
            <a:solidFill>
              <a:srgbClr val="D7DD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55C178E-6EE3-4945-88AD-EF427A3591F4}"/>
              </a:ext>
            </a:extLst>
          </p:cNvPr>
          <p:cNvSpPr>
            <a:spLocks noGrp="1"/>
          </p:cNvSpPr>
          <p:nvPr/>
        </p:nvSpPr>
        <p:spPr>
          <a:xfrm>
            <a:off x="6210300" y="2238375"/>
            <a:ext cx="2381250" cy="76200"/>
          </a:xfrm>
          <a:prstGeom prst="rect">
            <a:avLst/>
          </a:prstGeom>
          <a:solidFill>
            <a:srgbClr val="E64694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F257B06-E75B-4211-8D0E-C1892138DA1A}"/>
              </a:ext>
            </a:extLst>
          </p:cNvPr>
          <p:cNvSpPr>
            <a:spLocks noGrp="1"/>
          </p:cNvSpPr>
          <p:nvPr/>
        </p:nvSpPr>
        <p:spPr>
          <a:xfrm>
            <a:off x="6400800" y="25336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86A490D-3C69-4E38-A723-5881CD790E8B}"/>
              </a:ext>
            </a:extLst>
          </p:cNvPr>
          <p:cNvSpPr>
            <a:spLocks noGrp="1"/>
          </p:cNvSpPr>
          <p:nvPr/>
        </p:nvSpPr>
        <p:spPr>
          <a:xfrm>
            <a:off x="6400800" y="2952750"/>
            <a:ext cx="2000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레코드 교체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04C9DF8-D77F-4533-ABEB-788753113922}"/>
              </a:ext>
            </a:extLst>
          </p:cNvPr>
          <p:cNvSpPr>
            <a:spLocks noGrp="1"/>
          </p:cNvSpPr>
          <p:nvPr/>
        </p:nvSpPr>
        <p:spPr>
          <a:xfrm>
            <a:off x="6400800" y="3476625"/>
            <a:ext cx="1952625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Hit Group 인덱스를 함께 변경</a:t>
            </a:r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9C60A68C-5226-4BC5-B60D-CFD015161B80}"/>
              </a:ext>
            </a:extLst>
          </p:cNvPr>
          <p:cNvSpPr>
            <a:spLocks noGrp="1"/>
          </p:cNvSpPr>
          <p:nvPr/>
        </p:nvSpPr>
        <p:spPr>
          <a:xfrm>
            <a:off x="8591550" y="3209925"/>
            <a:ext cx="428625" cy="0"/>
          </a:xfrm>
          <a:prstGeom prst="line">
            <a:avLst/>
          </a:prstGeom>
          <a:noFill/>
          <a:ln w="28575">
            <a:solidFill>
              <a:srgbClr val="4F5966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EEF29DB-D1F0-46C4-B40D-3B8294CB6E7D}"/>
              </a:ext>
            </a:extLst>
          </p:cNvPr>
          <p:cNvSpPr>
            <a:spLocks noGrp="1"/>
          </p:cNvSpPr>
          <p:nvPr/>
        </p:nvSpPr>
        <p:spPr>
          <a:xfrm>
            <a:off x="9020175" y="2238375"/>
            <a:ext cx="2381250" cy="1952625"/>
          </a:xfrm>
          <a:prstGeom prst="roundRect">
            <a:avLst>
              <a:gd name="adj" fmla="val 3902"/>
            </a:avLst>
          </a:prstGeom>
          <a:solidFill>
            <a:srgbClr val="F7F8FA"/>
          </a:solidFill>
          <a:ln w="9525">
            <a:solidFill>
              <a:srgbClr val="D7DD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6EEFC02-EE7C-4F0F-86B4-4B9EA81598AB}"/>
              </a:ext>
            </a:extLst>
          </p:cNvPr>
          <p:cNvSpPr>
            <a:spLocks noGrp="1"/>
          </p:cNvSpPr>
          <p:nvPr/>
        </p:nvSpPr>
        <p:spPr>
          <a:xfrm>
            <a:off x="9020175" y="2238375"/>
            <a:ext cx="2381250" cy="76200"/>
          </a:xfrm>
          <a:prstGeom prst="rect">
            <a:avLst/>
          </a:prstGeom>
          <a:solidFill>
            <a:srgbClr val="F3C43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348B8BE-2BDD-42B6-BABC-232E621997AB}"/>
              </a:ext>
            </a:extLst>
          </p:cNvPr>
          <p:cNvSpPr>
            <a:spLocks noGrp="1"/>
          </p:cNvSpPr>
          <p:nvPr/>
        </p:nvSpPr>
        <p:spPr>
          <a:xfrm>
            <a:off x="9210675" y="25336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F3C4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3C43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1591CA6-0D56-4F73-8821-A686E6071866}"/>
              </a:ext>
            </a:extLst>
          </p:cNvPr>
          <p:cNvSpPr>
            <a:spLocks noGrp="1"/>
          </p:cNvSpPr>
          <p:nvPr/>
        </p:nvSpPr>
        <p:spPr>
          <a:xfrm>
            <a:off x="9210675" y="2952750"/>
            <a:ext cx="2000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원본 경로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A869EC5-8DC6-4E14-ABD8-FC61927D2CB9}"/>
              </a:ext>
            </a:extLst>
          </p:cNvPr>
          <p:cNvSpPr>
            <a:spLocks noGrp="1"/>
          </p:cNvSpPr>
          <p:nvPr/>
        </p:nvSpPr>
        <p:spPr>
          <a:xfrm>
            <a:off x="9210675" y="3476625"/>
            <a:ext cx="1952625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조건 미충족 시 원본 BLAS 사용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3997F3A-E6A8-4A30-88F0-2D3C41FF91F6}"/>
              </a:ext>
            </a:extLst>
          </p:cNvPr>
          <p:cNvSpPr>
            <a:spLocks noGrp="1"/>
          </p:cNvSpPr>
          <p:nvPr/>
        </p:nvSpPr>
        <p:spPr>
          <a:xfrm>
            <a:off x="628650" y="4762500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단일 메시와 모델 내부 노드 단위 RT 인스턴스를 모두 처리</a:t>
            </a:r>
          </a:p>
          <a:p>
            <a:pPr algn="l">
              <a:defRPr sz="14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적용 개수와 실패 원인을 런타임 통계로 수집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98229BE-FA06-48C1-BBFD-E765102CC67F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238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lstStyle/>
          <a:p>
            <a:pPr algn="r">
              <a:def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73216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EED9C714-1027-4626-9CD7-34386A8EE162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PROJECT 01 / PULSECITY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01E2518-FCDF-4488-8EF3-FF0A90F2855C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10966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측정 결과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B6441AA-A61B-487D-8124-D72273BB5AC6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동일한 카메라 위치에서 Auto LOD 적용 전후 비교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27CCA2-E1CA-45BF-85D2-368010B8F056}"/>
              </a:ext>
            </a:extLst>
          </p:cNvPr>
          <p:cNvSpPr>
            <a:spLocks noGrp="1"/>
          </p:cNvSpPr>
          <p:nvPr/>
        </p:nvSpPr>
        <p:spPr>
          <a:xfrm>
            <a:off x="552450" y="1543050"/>
            <a:ext cx="11087100" cy="19050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E3F4B6B-A0FE-418D-9CC9-753D2D263D65}"/>
              </a:ext>
            </a:extLst>
          </p:cNvPr>
          <p:cNvSpPr>
            <a:spLocks noGrp="1"/>
          </p:cNvSpPr>
          <p:nvPr/>
        </p:nvSpPr>
        <p:spPr>
          <a:xfrm>
            <a:off x="628650" y="1952625"/>
            <a:ext cx="25717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3075" b="1">
                <a:solidFill>
                  <a:srgbClr val="20B96B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20B96B"/>
                </a:solidFill>
                <a:latin typeface="Malgun Gothic"/>
                <a:ea typeface="Malgun Gothic"/>
                <a:cs typeface="Malgun Gothic"/>
              </a:rPr>
              <a:t>약 -35%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D868272-5CE4-4A24-BED6-0A9F6A45ACB0}"/>
              </a:ext>
            </a:extLst>
          </p:cNvPr>
          <p:cNvSpPr>
            <a:spLocks noGrp="1"/>
          </p:cNvSpPr>
          <p:nvPr/>
        </p:nvSpPr>
        <p:spPr>
          <a:xfrm>
            <a:off x="628650" y="257175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삼각형 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A1876A-0C00-4C63-BE0F-D02542011360}"/>
              </a:ext>
            </a:extLst>
          </p:cNvPr>
          <p:cNvSpPr>
            <a:spLocks noGrp="1"/>
          </p:cNvSpPr>
          <p:nvPr/>
        </p:nvSpPr>
        <p:spPr>
          <a:xfrm>
            <a:off x="628650" y="3314700"/>
            <a:ext cx="25717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30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약 -60%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FC2D99-09AE-4E8A-B5DE-8ECC150FEB15}"/>
              </a:ext>
            </a:extLst>
          </p:cNvPr>
          <p:cNvSpPr>
            <a:spLocks noGrp="1"/>
          </p:cNvSpPr>
          <p:nvPr/>
        </p:nvSpPr>
        <p:spPr>
          <a:xfrm>
            <a:off x="628650" y="3933825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드로우콜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41FF92C-EAE6-4937-BB20-1E4F0E226696}"/>
              </a:ext>
            </a:extLst>
          </p:cNvPr>
          <p:cNvSpPr>
            <a:spLocks noGrp="1"/>
          </p:cNvSpPr>
          <p:nvPr/>
        </p:nvSpPr>
        <p:spPr>
          <a:xfrm>
            <a:off x="628650" y="4676775"/>
            <a:ext cx="23812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307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rPr>
              <a:t>44 → 71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A618B72-7487-47EB-9375-831422EC6D1E}"/>
              </a:ext>
            </a:extLst>
          </p:cNvPr>
          <p:cNvSpPr>
            <a:spLocks noGrp="1"/>
          </p:cNvSpPr>
          <p:nvPr/>
        </p:nvSpPr>
        <p:spPr>
          <a:xfrm>
            <a:off x="628650" y="5295900"/>
            <a:ext cx="2381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FPS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D8A5DBA-89EE-47C4-9E3B-2E7945447E21}"/>
              </a:ext>
            </a:extLst>
          </p:cNvPr>
          <p:cNvSpPr>
            <a:spLocks noGrp="1"/>
          </p:cNvSpPr>
          <p:nvPr/>
        </p:nvSpPr>
        <p:spPr>
          <a:xfrm>
            <a:off x="3371850" y="1952625"/>
            <a:ext cx="3857625" cy="2895600"/>
          </a:xfrm>
          <a:prstGeom prst="rect">
            <a:avLst/>
          </a:prstGeom>
          <a:solidFill>
            <a:srgbClr val="F2F4F6"/>
          </a:solidFill>
          <a:ln w="9525">
            <a:solidFill>
              <a:srgbClr val="D7DD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31B5212-63D1-4EDA-B0B5-B292454E0396}"/>
              </a:ext>
            </a:extLst>
          </p:cNvPr>
          <p:cNvSpPr>
            <a:spLocks noGrp="1"/>
          </p:cNvSpPr>
          <p:nvPr/>
        </p:nvSpPr>
        <p:spPr>
          <a:xfrm>
            <a:off x="7515225" y="1952625"/>
            <a:ext cx="3857625" cy="2895600"/>
          </a:xfrm>
          <a:prstGeom prst="rect">
            <a:avLst/>
          </a:prstGeom>
          <a:solidFill>
            <a:srgbClr val="F2F4F6"/>
          </a:solidFill>
          <a:ln w="9525">
            <a:solidFill>
              <a:srgbClr val="D7DD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FD89FA5-37E8-4743-B2DA-30F816F75554}"/>
              </a:ext>
            </a:extLst>
          </p:cNvPr>
          <p:cNvSpPr>
            <a:spLocks noGrp="1"/>
          </p:cNvSpPr>
          <p:nvPr/>
        </p:nvSpPr>
        <p:spPr>
          <a:xfrm>
            <a:off x="3371850" y="6057900"/>
            <a:ext cx="80010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619"/>
          </a:bodyPr>
          <a:lstStyle/>
          <a:p>
            <a:pPr algn="l">
              <a:defRPr sz="10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현재 수치는 대표 래스터 장면의 한 사례이며 장면 조건에 따라 달라집니다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DEF1792-94C9-4386-A163-5488A5D7DA52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238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lstStyle/>
          <a:p>
            <a:pPr algn="r">
              <a:def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12172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id="{9BD06903-0D1C-4A81-B5B9-495E9857EDC9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PROJECT 01 / PULSECITY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8EDB3E4-6465-4C66-B383-EAA2F4DF2BD2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10966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GPU 파티클 데이터와 갱신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2D6A81F-4D44-40DD-AAB8-A8F42213574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CPU와 HLSL에서 같은 Particle 구조를 사용하고 GPU에서 입자 상태 갱신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7FC0ED2-952D-4D10-A2B0-DFB8397347D6}"/>
              </a:ext>
            </a:extLst>
          </p:cNvPr>
          <p:cNvSpPr>
            <a:spLocks noGrp="1"/>
          </p:cNvSpPr>
          <p:nvPr/>
        </p:nvSpPr>
        <p:spPr>
          <a:xfrm>
            <a:off x="552450" y="1543050"/>
            <a:ext cx="11087100" cy="19050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8B09841-C5C2-41F7-A493-4DDAF03369A8}"/>
              </a:ext>
            </a:extLst>
          </p:cNvPr>
          <p:cNvSpPr>
            <a:spLocks noGrp="1"/>
          </p:cNvSpPr>
          <p:nvPr/>
        </p:nvSpPr>
        <p:spPr>
          <a:xfrm>
            <a:off x="400050" y="2333625"/>
            <a:ext cx="1809750" cy="1581150"/>
          </a:xfrm>
          <a:prstGeom prst="roundRect">
            <a:avLst>
              <a:gd name="adj" fmla="val 4819"/>
            </a:avLst>
          </a:prstGeom>
          <a:solidFill>
            <a:srgbClr val="F7F8FA"/>
          </a:solidFill>
          <a:ln w="9525">
            <a:solidFill>
              <a:srgbClr val="D7DD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558625-5553-4DF8-8C4E-558C03168EE3}"/>
              </a:ext>
            </a:extLst>
          </p:cNvPr>
          <p:cNvSpPr>
            <a:spLocks noGrp="1"/>
          </p:cNvSpPr>
          <p:nvPr/>
        </p:nvSpPr>
        <p:spPr>
          <a:xfrm>
            <a:off x="571500" y="2476500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AB2407C-620B-4231-B070-81DDCADC4B72}"/>
              </a:ext>
            </a:extLst>
          </p:cNvPr>
          <p:cNvSpPr>
            <a:spLocks noGrp="1"/>
          </p:cNvSpPr>
          <p:nvPr/>
        </p:nvSpPr>
        <p:spPr>
          <a:xfrm>
            <a:off x="571500" y="2876550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Root Constants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E9CB61-7F06-4AE1-921D-067637B13912}"/>
              </a:ext>
            </a:extLst>
          </p:cNvPr>
          <p:cNvSpPr>
            <a:spLocks noGrp="1"/>
          </p:cNvSpPr>
          <p:nvPr/>
        </p:nvSpPr>
        <p:spPr>
          <a:xfrm>
            <a:off x="571500" y="3333750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프레임 시간과</a:t>
            </a:r>
          </a:p>
          <a:p>
            <a:pPr algn="l">
              <a:def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Emitter 입력</a:t>
            </a:r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75CB9670-73B4-41C3-AA66-90794C47104C}"/>
              </a:ext>
            </a:extLst>
          </p:cNvPr>
          <p:cNvSpPr>
            <a:spLocks noGrp="1"/>
          </p:cNvSpPr>
          <p:nvPr/>
        </p:nvSpPr>
        <p:spPr>
          <a:xfrm>
            <a:off x="2209800" y="3105150"/>
            <a:ext cx="523875" cy="0"/>
          </a:xfrm>
          <a:prstGeom prst="line">
            <a:avLst/>
          </a:prstGeom>
          <a:noFill/>
          <a:ln w="28575">
            <a:solidFill>
              <a:srgbClr val="4F5966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E1D5A58-CAA6-4DAB-BE92-30F0765BD96E}"/>
              </a:ext>
            </a:extLst>
          </p:cNvPr>
          <p:cNvSpPr>
            <a:spLocks noGrp="1"/>
          </p:cNvSpPr>
          <p:nvPr/>
        </p:nvSpPr>
        <p:spPr>
          <a:xfrm>
            <a:off x="2733675" y="2333625"/>
            <a:ext cx="1809750" cy="1581150"/>
          </a:xfrm>
          <a:prstGeom prst="roundRect">
            <a:avLst>
              <a:gd name="adj" fmla="val 4819"/>
            </a:avLst>
          </a:prstGeom>
          <a:solidFill>
            <a:srgbClr val="F7F8FA"/>
          </a:solidFill>
          <a:ln w="9525">
            <a:solidFill>
              <a:srgbClr val="D7DD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2CECE75-996B-49D3-A69C-562E1CBFC6AF}"/>
              </a:ext>
            </a:extLst>
          </p:cNvPr>
          <p:cNvSpPr>
            <a:spLocks noGrp="1"/>
          </p:cNvSpPr>
          <p:nvPr/>
        </p:nvSpPr>
        <p:spPr>
          <a:xfrm>
            <a:off x="2905125" y="2476500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55CE78D-AFB7-4991-AD72-EA08045AAAA3}"/>
              </a:ext>
            </a:extLst>
          </p:cNvPr>
          <p:cNvSpPr>
            <a:spLocks noGrp="1"/>
          </p:cNvSpPr>
          <p:nvPr/>
        </p:nvSpPr>
        <p:spPr>
          <a:xfrm>
            <a:off x="2905125" y="2876550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UAV 전환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5310509-6220-4C1F-8526-D943F1903926}"/>
              </a:ext>
            </a:extLst>
          </p:cNvPr>
          <p:cNvSpPr>
            <a:spLocks noGrp="1"/>
          </p:cNvSpPr>
          <p:nvPr/>
        </p:nvSpPr>
        <p:spPr>
          <a:xfrm>
            <a:off x="2905125" y="3333750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Compute 쓰기</a:t>
            </a:r>
          </a:p>
          <a:p>
            <a:pPr algn="l">
              <a:def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상태 준비</a:t>
            </a:r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47340A8F-3DF8-41E5-9437-A8F61C6FC959}"/>
              </a:ext>
            </a:extLst>
          </p:cNvPr>
          <p:cNvSpPr>
            <a:spLocks noGrp="1"/>
          </p:cNvSpPr>
          <p:nvPr/>
        </p:nvSpPr>
        <p:spPr>
          <a:xfrm>
            <a:off x="4543425" y="3105150"/>
            <a:ext cx="523875" cy="0"/>
          </a:xfrm>
          <a:prstGeom prst="line">
            <a:avLst/>
          </a:prstGeom>
          <a:noFill/>
          <a:ln w="28575">
            <a:solidFill>
              <a:srgbClr val="4F5966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82FCF9B-92B3-4607-B414-B687A9624E50}"/>
              </a:ext>
            </a:extLst>
          </p:cNvPr>
          <p:cNvSpPr>
            <a:spLocks noGrp="1"/>
          </p:cNvSpPr>
          <p:nvPr/>
        </p:nvSpPr>
        <p:spPr>
          <a:xfrm>
            <a:off x="5067300" y="2333625"/>
            <a:ext cx="1809750" cy="1581150"/>
          </a:xfrm>
          <a:prstGeom prst="roundRect">
            <a:avLst>
              <a:gd name="adj" fmla="val 4819"/>
            </a:avLst>
          </a:prstGeom>
          <a:solidFill>
            <a:srgbClr val="FCEAF3"/>
          </a:solidFill>
          <a:ln w="9525">
            <a:solidFill>
              <a:srgbClr val="D7DD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2173959-B40B-48BF-8DEC-29CCDBC01A30}"/>
              </a:ext>
            </a:extLst>
          </p:cNvPr>
          <p:cNvSpPr>
            <a:spLocks noGrp="1"/>
          </p:cNvSpPr>
          <p:nvPr/>
        </p:nvSpPr>
        <p:spPr>
          <a:xfrm>
            <a:off x="5238750" y="2476500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D5A38EA-761C-4890-8ACF-E191077698C3}"/>
              </a:ext>
            </a:extLst>
          </p:cNvPr>
          <p:cNvSpPr>
            <a:spLocks noGrp="1"/>
          </p:cNvSpPr>
          <p:nvPr/>
        </p:nvSpPr>
        <p:spPr>
          <a:xfrm>
            <a:off x="5238750" y="2876550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Dispatch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0DC35E8-8FC4-4680-9991-FFACA9CDF69A}"/>
              </a:ext>
            </a:extLst>
          </p:cNvPr>
          <p:cNvSpPr>
            <a:spLocks noGrp="1"/>
          </p:cNvSpPr>
          <p:nvPr/>
        </p:nvSpPr>
        <p:spPr>
          <a:xfrm>
            <a:off x="5238750" y="3333750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256 threads</a:t>
            </a:r>
          </a:p>
          <a:p>
            <a:pPr algn="l">
              <a:def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병렬 갱신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525171C1-1F5D-413D-B296-150E41845F05}"/>
              </a:ext>
            </a:extLst>
          </p:cNvPr>
          <p:cNvSpPr>
            <a:spLocks noGrp="1"/>
          </p:cNvSpPr>
          <p:nvPr/>
        </p:nvSpPr>
        <p:spPr>
          <a:xfrm>
            <a:off x="6877050" y="3105150"/>
            <a:ext cx="523875" cy="0"/>
          </a:xfrm>
          <a:prstGeom prst="line">
            <a:avLst/>
          </a:prstGeom>
          <a:noFill/>
          <a:ln w="28575">
            <a:solidFill>
              <a:srgbClr val="4F5966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47F6CB9-C9FC-4E8E-8309-F6C31ACEB124}"/>
              </a:ext>
            </a:extLst>
          </p:cNvPr>
          <p:cNvSpPr>
            <a:spLocks noGrp="1"/>
          </p:cNvSpPr>
          <p:nvPr/>
        </p:nvSpPr>
        <p:spPr>
          <a:xfrm>
            <a:off x="7400925" y="2333625"/>
            <a:ext cx="1809750" cy="1581150"/>
          </a:xfrm>
          <a:prstGeom prst="roundRect">
            <a:avLst>
              <a:gd name="adj" fmla="val 4819"/>
            </a:avLst>
          </a:prstGeom>
          <a:solidFill>
            <a:srgbClr val="F7F8FA"/>
          </a:solidFill>
          <a:ln w="9525">
            <a:solidFill>
              <a:srgbClr val="D7DD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60A57C8-A75D-45BC-99C4-883A1B86DE89}"/>
              </a:ext>
            </a:extLst>
          </p:cNvPr>
          <p:cNvSpPr>
            <a:spLocks noGrp="1"/>
          </p:cNvSpPr>
          <p:nvPr/>
        </p:nvSpPr>
        <p:spPr>
          <a:xfrm>
            <a:off x="7572375" y="2476500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6185358-E68E-4040-82E6-13EF0C431746}"/>
              </a:ext>
            </a:extLst>
          </p:cNvPr>
          <p:cNvSpPr>
            <a:spLocks noGrp="1"/>
          </p:cNvSpPr>
          <p:nvPr/>
        </p:nvSpPr>
        <p:spPr>
          <a:xfrm>
            <a:off x="7572375" y="2876550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Simulation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A50D711-3876-4C76-B83D-7F033B6755CC}"/>
              </a:ext>
            </a:extLst>
          </p:cNvPr>
          <p:cNvSpPr>
            <a:spLocks noGrp="1"/>
          </p:cNvSpPr>
          <p:nvPr/>
        </p:nvSpPr>
        <p:spPr>
          <a:xfrm>
            <a:off x="7572375" y="3333750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중력·항력·난류</a:t>
            </a:r>
          </a:p>
          <a:p>
            <a:pPr algn="l">
              <a:def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충돌·재생성</a:t>
            </a: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6A640829-06BF-4953-A64C-1A590D56D3C2}"/>
              </a:ext>
            </a:extLst>
          </p:cNvPr>
          <p:cNvSpPr>
            <a:spLocks noGrp="1"/>
          </p:cNvSpPr>
          <p:nvPr/>
        </p:nvSpPr>
        <p:spPr>
          <a:xfrm>
            <a:off x="9210675" y="3105150"/>
            <a:ext cx="523875" cy="0"/>
          </a:xfrm>
          <a:prstGeom prst="line">
            <a:avLst/>
          </a:prstGeom>
          <a:noFill/>
          <a:ln w="28575">
            <a:solidFill>
              <a:srgbClr val="4F5966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F245BCE-B300-4078-83AC-FA4BA0F03DED}"/>
              </a:ext>
            </a:extLst>
          </p:cNvPr>
          <p:cNvSpPr>
            <a:spLocks noGrp="1"/>
          </p:cNvSpPr>
          <p:nvPr/>
        </p:nvSpPr>
        <p:spPr>
          <a:xfrm>
            <a:off x="9734550" y="2333625"/>
            <a:ext cx="1809750" cy="1581150"/>
          </a:xfrm>
          <a:prstGeom prst="roundRect">
            <a:avLst>
              <a:gd name="adj" fmla="val 4819"/>
            </a:avLst>
          </a:prstGeom>
          <a:solidFill>
            <a:srgbClr val="F7F8FA"/>
          </a:solidFill>
          <a:ln w="9525">
            <a:solidFill>
              <a:srgbClr val="D7DDE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1F1FC3B-14D0-4AA4-8B6A-E938248DB87D}"/>
              </a:ext>
            </a:extLst>
          </p:cNvPr>
          <p:cNvSpPr>
            <a:spLocks noGrp="1"/>
          </p:cNvSpPr>
          <p:nvPr/>
        </p:nvSpPr>
        <p:spPr>
          <a:xfrm>
            <a:off x="9906000" y="2476500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E64694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4F8247D-3D11-4F43-B403-92B7877FE9A5}"/>
              </a:ext>
            </a:extLst>
          </p:cNvPr>
          <p:cNvSpPr>
            <a:spLocks noGrp="1"/>
          </p:cNvSpPr>
          <p:nvPr/>
        </p:nvSpPr>
        <p:spPr>
          <a:xfrm>
            <a:off x="9906000" y="2876550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SRV 전환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86DE0F9-9467-4CDE-AF02-F48647936716}"/>
              </a:ext>
            </a:extLst>
          </p:cNvPr>
          <p:cNvSpPr>
            <a:spLocks noGrp="1"/>
          </p:cNvSpPr>
          <p:nvPr/>
        </p:nvSpPr>
        <p:spPr>
          <a:xfrm>
            <a:off x="9906000" y="3333750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그래픽스 렌더링</a:t>
            </a:r>
          </a:p>
          <a:p>
            <a:pPr algn="l">
              <a:def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상태 복귀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F7CDECD-2512-4269-9AC6-20CB87E30538}"/>
              </a:ext>
            </a:extLst>
          </p:cNvPr>
          <p:cNvSpPr>
            <a:spLocks noGrp="1"/>
          </p:cNvSpPr>
          <p:nvPr/>
        </p:nvSpPr>
        <p:spPr>
          <a:xfrm>
            <a:off x="647700" y="4429125"/>
            <a:ext cx="104775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Particle: 위치·속도·수명·색상·크기·회전·플립북 정보</a:t>
            </a:r>
          </a:p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Emitter: 위치·방향·반경·세기·지속시간을 게임 이벤트에서 전달</a:t>
            </a:r>
          </a:p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중력·항력·충돌·수명 종료 후 재생성을 Compute Shader에서 처리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123951F-7972-48DD-8B41-7D46319691C2}"/>
              </a:ext>
            </a:extLst>
          </p:cNvPr>
          <p:cNvSpPr>
            <a:spLocks noGrp="1"/>
          </p:cNvSpPr>
          <p:nvPr/>
        </p:nvSpPr>
        <p:spPr>
          <a:xfrm>
            <a:off x="647700" y="581025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AI 활용: 효과별 이동 패턴 초안과 시각 파라미터 조정 보조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A03B639-DE10-4ACD-AC8D-5B7C33294136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238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lstStyle/>
          <a:p>
            <a:pPr algn="r">
              <a:def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9587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9677A0C3-1DF9-4174-B103-15381FE8C5FC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PROJECT 01 / PULSECITY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9B65EDB-043B-4F5E-B9AF-A390D08DAF0C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10966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파티클 렌더링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5BB1888-626D-4183-8095-78A5EBF799AF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SV_VertexID로 사각형을 만들고 카메라를 향하도록 렌더링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E0256BD-06C8-416F-BE67-C32499F9455C}"/>
              </a:ext>
            </a:extLst>
          </p:cNvPr>
          <p:cNvSpPr>
            <a:spLocks noGrp="1"/>
          </p:cNvSpPr>
          <p:nvPr/>
        </p:nvSpPr>
        <p:spPr>
          <a:xfrm>
            <a:off x="552450" y="1543050"/>
            <a:ext cx="11087100" cy="19050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7700" y="1862768"/>
            <a:ext cx="5238750" cy="3027689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10300" y="1851439"/>
            <a:ext cx="5238750" cy="305034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C7EB20C-4C54-4BF5-9A78-05ED7C22DA46}"/>
              </a:ext>
            </a:extLst>
          </p:cNvPr>
          <p:cNvSpPr>
            <a:spLocks noGrp="1"/>
          </p:cNvSpPr>
          <p:nvPr/>
        </p:nvSpPr>
        <p:spPr>
          <a:xfrm>
            <a:off x="647700" y="4972050"/>
            <a:ext cx="523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defRPr sz="13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영역</a:t>
            </a:r>
            <a:r>
              <a:rPr lang="en-US" sz="13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3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스킬</a:t>
            </a:r>
            <a:r>
              <a:rPr sz="13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 이펙트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8D7CBC7-11FF-40CA-A415-38DAB0879105}"/>
              </a:ext>
            </a:extLst>
          </p:cNvPr>
          <p:cNvSpPr>
            <a:spLocks noGrp="1"/>
          </p:cNvSpPr>
          <p:nvPr/>
        </p:nvSpPr>
        <p:spPr>
          <a:xfrm>
            <a:off x="6210300" y="4972050"/>
            <a:ext cx="523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defRPr sz="13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화염</a:t>
            </a:r>
            <a:r>
              <a:rPr lang="en-US" sz="13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3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스킬</a:t>
            </a:r>
            <a:r>
              <a:rPr sz="13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 이펙트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F88032D-9084-4745-92A2-133FF46A5CA1}"/>
              </a:ext>
            </a:extLst>
          </p:cNvPr>
          <p:cNvSpPr>
            <a:spLocks noGrp="1"/>
          </p:cNvSpPr>
          <p:nvPr/>
        </p:nvSpPr>
        <p:spPr>
          <a:xfrm>
            <a:off x="647700" y="5476875"/>
            <a:ext cx="10801350" cy="838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빌보드와 속도 방향 늘어짐, 수명에 따른 색상·크기 변경</a:t>
            </a:r>
          </a:p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플립북 텍스처 프레임 전환과 가산 혼합</a:t>
            </a:r>
          </a:p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깊이 쓰기 없이 깊이 검사, 장면 뒤에 가려진 파티클 제거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DB01F0C-275E-44CF-A511-D173D2A414E2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238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lstStyle/>
          <a:p>
            <a:pPr algn="r">
              <a:def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70519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98D9B9-5941-40D6-8959-57BC2B0E101F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PROJECT 02 / KIRBY CLONE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D0AB139-5739-4886-9D8C-D25CEA7217B1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10966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커비 모작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C0A0ACF-6440-43D9-BD59-CD8635E7AA9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제작 기간: 2024.10 ~ 2024.12 / 개인 프로젝트 / Python, pico2d 기반 2D 액션 게임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8F5457-060A-486A-BD8C-EEBD8622CFE7}"/>
              </a:ext>
            </a:extLst>
          </p:cNvPr>
          <p:cNvSpPr>
            <a:spLocks noGrp="1"/>
          </p:cNvSpPr>
          <p:nvPr/>
        </p:nvSpPr>
        <p:spPr>
          <a:xfrm>
            <a:off x="552450" y="1543050"/>
            <a:ext cx="11087100" cy="19050"/>
          </a:xfrm>
          <a:prstGeom prst="rect">
            <a:avLst/>
          </a:prstGeom>
          <a:solidFill>
            <a:srgbClr val="D7DDE3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C699D9F-ED2A-45A4-A6B8-9019A497678C}"/>
              </a:ext>
            </a:extLst>
          </p:cNvPr>
          <p:cNvSpPr>
            <a:spLocks noGrp="1"/>
          </p:cNvSpPr>
          <p:nvPr/>
        </p:nvSpPr>
        <p:spPr>
          <a:xfrm>
            <a:off x="647700" y="188595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defRPr sz="975" b="1">
                <a:solidFill>
                  <a:srgbClr val="20B9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0B96B"/>
                </a:solidFill>
                <a:latin typeface="Malgun Gothic"/>
                <a:ea typeface="Malgun Gothic"/>
                <a:cs typeface="Malgun Gothic"/>
              </a:rPr>
              <a:t>게임 기능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7FB7CC3-36AC-4E77-8945-C59801E4FEBB}"/>
              </a:ext>
            </a:extLst>
          </p:cNvPr>
          <p:cNvSpPr>
            <a:spLocks noGrp="1"/>
          </p:cNvSpPr>
          <p:nvPr/>
        </p:nvSpPr>
        <p:spPr>
          <a:xfrm>
            <a:off x="647700" y="2209800"/>
            <a:ext cx="51435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캐릭터 이동·달리기·점프·비행·공격 상태 전환</a:t>
            </a:r>
          </a:p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몬스터의 이동·공격과 보스 공격 패턴</a:t>
            </a:r>
          </a:p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캐릭터·적·투사체 충돌과 피해 처리</a:t>
            </a:r>
          </a:p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포털을 통한 스테이지 전환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B4BBE4-F625-48ED-BE3F-7CA4DC035102}"/>
              </a:ext>
            </a:extLst>
          </p:cNvPr>
          <p:cNvSpPr>
            <a:spLocks noGrp="1"/>
          </p:cNvSpPr>
          <p:nvPr/>
        </p:nvSpPr>
        <p:spPr>
          <a:xfrm>
            <a:off x="6229350" y="188595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718"/>
          </a:bodyPr>
          <a:lstStyle/>
          <a:p>
            <a:pPr algn="l">
              <a:def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A7E1"/>
                </a:solidFill>
                <a:latin typeface="Malgun Gothic"/>
                <a:ea typeface="Malgun Gothic"/>
                <a:cs typeface="Malgun Gothic"/>
              </a:rPr>
              <a:t>구현 방식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649542A-6B98-4AFD-B307-ED1B3E816BED}"/>
              </a:ext>
            </a:extLst>
          </p:cNvPr>
          <p:cNvSpPr>
            <a:spLocks noGrp="1"/>
          </p:cNvSpPr>
          <p:nvPr/>
        </p:nvSpPr>
        <p:spPr>
          <a:xfrm>
            <a:off x="6229350" y="2209800"/>
            <a:ext cx="51435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상태 머신으로 입력과 캐릭터 행동 연결</a:t>
            </a:r>
          </a:p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행동 트리로 몬스터·보스 행동 선택</a:t>
            </a:r>
          </a:p>
          <a:p>
            <a:pPr algn="l">
              <a:def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• 스프라이트 프레임으로 애니메이션 표시</a:t>
            </a: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94712" y="3381375"/>
            <a:ext cx="3449476" cy="271462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5ACF91BD-7879-4E1D-9E9C-4A90AE5AB5B1}"/>
              </a:ext>
            </a:extLst>
          </p:cNvPr>
          <p:cNvSpPr>
            <a:spLocks noGrp="1"/>
          </p:cNvSpPr>
          <p:nvPr/>
        </p:nvSpPr>
        <p:spPr>
          <a:xfrm>
            <a:off x="647700" y="6115050"/>
            <a:ext cx="5143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 algn="ctr">
              <a:def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일반 스테이지 전투</a:t>
            </a: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078302" y="3381375"/>
            <a:ext cx="3445596" cy="2714625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AAF52D-5103-4729-940E-044B53F97C31}"/>
              </a:ext>
            </a:extLst>
          </p:cNvPr>
          <p:cNvSpPr>
            <a:spLocks noGrp="1"/>
          </p:cNvSpPr>
          <p:nvPr/>
        </p:nvSpPr>
        <p:spPr>
          <a:xfrm>
            <a:off x="6229350" y="6115050"/>
            <a:ext cx="5143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 algn="ctr">
              <a:def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보스 전투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D459A5E-5FFE-4056-924D-121FAAF9C63D}"/>
              </a:ext>
            </a:extLst>
          </p:cNvPr>
          <p:cNvSpPr>
            <a:spLocks noGrp="1"/>
          </p:cNvSpPr>
          <p:nvPr/>
        </p:nvSpPr>
        <p:spPr>
          <a:xfrm>
            <a:off x="647700" y="6505575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809"/>
          </a:bodyPr>
          <a:lstStyle/>
          <a:p>
            <a:pPr algn="l">
              <a:defRPr sz="1050" b="0">
                <a:solidFill>
                  <a:srgbClr val="00A7E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0A7E1"/>
                </a:solidFill>
                <a:latin typeface="Malgun Gothic"/>
                <a:ea typeface="Malgun Gothic"/>
                <a:cs typeface="Malgun Gothic"/>
                <a:hlinkClick r:id="rId5"/>
              </a:rPr>
              <a:t>GitHub: github.com/donggeon15/2DGP-Project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351FB28-7910-47CE-949B-CCBC2D914490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238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lstStyle/>
          <a:p>
            <a:pPr algn="r">
              <a:def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4F5966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698036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1018</Words>
  <Application>Microsoft Office PowerPoint</Application>
  <DocSecurity>0</DocSecurity>
  <PresentationFormat>와이드스크린</PresentationFormat>
  <Paragraphs>190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Malgun Gothic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임동건(2021182032)</cp:lastModifiedBy>
  <cp:revision>2</cp:revision>
  <dcterms:created xsi:type="dcterms:W3CDTF">2026-10-05T15:54:15Z</dcterms:created>
  <dcterms:modified xsi:type="dcterms:W3CDTF">2026-10-05T16:21:12Z</dcterms:modified>
</cp:coreProperties>
</file>