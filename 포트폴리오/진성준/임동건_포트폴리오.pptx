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3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이미지 출처: 사용자가 제공한 PulseCity 작품설명서 PDF의 게임 플레이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프로젝트 개요와 이미지는 사용자가 제공한 PulseCity 작품설명서 PDF를 기반으로 정리함.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PulseCity는 팀 졸업작품이며 이 포트폴리오는 사용자가 직접 담당한 Auto LOD 작업만 개인 기여로 설명함.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내용과 수치는 사용자가 제공한 Auto LOD 연구과제 정리문을 기반으로 함. 성능 결과는 특정 장면의 측정 사례임.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성능 수치는 사용자가 제공한 연구과제 측정 결과. 특정 장면의 사례이며 일반화하지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파티클 구현 내용과 수치는 사용자가 제공한 Compute Shader 기반 파티클 시스템 정리문을 기반으로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rcRect l="2077" r="207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79B5A4-AE3C-4DB3-8CC3-93529C56FC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1116">
              <a:alpha val="73333"/>
            </a:srgbClr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7FE28C2-E550-4A48-82D1-B273ABBBBA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95C867-D316-442D-885E-2E8AF608094E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GRAPHICS SYSTEMS PORTFOLIO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DF0A67-367E-4536-A338-7197E5FD3E5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PULSECITY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9E009F-E984-4CB4-9BCE-CE2E41846914}"/>
              </a:ext>
            </a:extLst>
          </p:cNvPr>
          <p:cNvSpPr>
            <a:spLocks noGrp="1"/>
          </p:cNvSpPr>
          <p:nvPr/>
        </p:nvSpPr>
        <p:spPr>
          <a:xfrm>
            <a:off x="742950" y="2305050"/>
            <a:ext cx="80962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DirectX 12 기반 멀티플레이 3D FPS RPG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C997D22-5EE8-4218-A523-EAC48ED84316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8572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rPr>
              <a:t>팀 졸업작품 · 개인 담당: Auto LOD / GPU Particle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A141BB9-9C1A-4344-BE1B-BEB62F9BEEB9}"/>
              </a:ext>
            </a:extLst>
          </p:cNvPr>
          <p:cNvSpPr>
            <a:spLocks noGrp="1"/>
          </p:cNvSpPr>
          <p:nvPr/>
        </p:nvSpPr>
        <p:spPr>
          <a:xfrm>
            <a:off x="742950" y="5210175"/>
            <a:ext cx="4286250" cy="9525"/>
          </a:xfrm>
          <a:prstGeom prst="rect">
            <a:avLst/>
          </a:prstGeom>
          <a:solidFill>
            <a:srgbClr val="8AA1AE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8D0ACC8-860C-486E-82AF-631D5C257B27}"/>
              </a:ext>
            </a:extLst>
          </p:cNvPr>
          <p:cNvSpPr>
            <a:spLocks noGrp="1"/>
          </p:cNvSpPr>
          <p:nvPr/>
        </p:nvSpPr>
        <p:spPr>
          <a:xfrm>
            <a:off x="742950" y="538162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</a:t>
            </a: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</a:t>
            </a:r>
            <a:r>
              <a:rPr lang="ko-KR" alt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건</a:t>
            </a: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· 010-</a:t>
            </a:r>
            <a:r>
              <a:rPr 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6690</a:t>
            </a: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-</a:t>
            </a:r>
            <a:r>
              <a:rPr 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6923</a:t>
            </a:r>
            <a:endParaRPr sz="1575" b="1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3A20D6-5743-47CF-8D14-0768565B42A2}"/>
              </a:ext>
            </a:extLst>
          </p:cNvPr>
          <p:cNvSpPr>
            <a:spLocks noGrp="1"/>
          </p:cNvSpPr>
          <p:nvPr/>
        </p:nvSpPr>
        <p:spPr>
          <a:xfrm>
            <a:off x="742950" y="57816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rPr>
              <a:t>do020415@naver.com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20D47D6-0B2E-4FEE-8BFD-C01A52AA4842}"/>
              </a:ext>
            </a:extLst>
          </p:cNvPr>
          <p:cNvSpPr>
            <a:spLocks noGrp="1"/>
          </p:cNvSpPr>
          <p:nvPr/>
        </p:nvSpPr>
        <p:spPr>
          <a:xfrm>
            <a:off x="4095750" y="5781675"/>
            <a:ext cx="5810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BFD1D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BFD1DB"/>
                </a:solidFill>
                <a:latin typeface="Malgun Gothic"/>
                <a:ea typeface="Malgun Gothic"/>
                <a:cs typeface="Malgun Gothic"/>
              </a:rPr>
              <a:t>C++ · DirectX 12 · HLSL · Compute Shader · DXR</a:t>
            </a:r>
          </a:p>
        </p:txBody>
      </p:sp>
    </p:spTree>
    <p:extLst>
      <p:ext uri="{BB962C8B-B14F-4D97-AF65-F5344CB8AC3E}">
        <p14:creationId xmlns:p14="http://schemas.microsoft.com/office/powerpoint/2010/main" val="527149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7706C3-3385-483E-B261-CC2A0F7A7DF5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A41B604-9C03-4AD6-BB02-5F4371A95CEA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포트폴리오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116F859-9BA1-4826-A462-F57F47BB595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팀 프로젝트 안에서 직접 담당한 Auto LOD와 GPU 파티클 개발을 정리했습니다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7FFA21-57ED-426D-BFFB-3FC4AE0A9FC6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F39637-E0B8-41C6-B5D9-73050723CD9D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A048FB6-2B6A-470E-B0E2-298F807E671D}"/>
              </a:ext>
            </a:extLst>
          </p:cNvPr>
          <p:cNvSpPr>
            <a:spLocks noGrp="1"/>
          </p:cNvSpPr>
          <p:nvPr/>
        </p:nvSpPr>
        <p:spPr>
          <a:xfrm>
            <a:off x="1476375" y="19526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Team Project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A08B82-387F-43AA-9C0A-A0C6BD960134}"/>
              </a:ext>
            </a:extLst>
          </p:cNvPr>
          <p:cNvSpPr>
            <a:spLocks noGrp="1"/>
          </p:cNvSpPr>
          <p:nvPr/>
        </p:nvSpPr>
        <p:spPr>
          <a:xfrm>
            <a:off x="4857750" y="19716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PulseCity 졸업작품 개요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958E13-F06F-4B16-9807-6F3F92F69BDD}"/>
              </a:ext>
            </a:extLst>
          </p:cNvPr>
          <p:cNvSpPr>
            <a:spLocks noGrp="1"/>
          </p:cNvSpPr>
          <p:nvPr/>
        </p:nvSpPr>
        <p:spPr>
          <a:xfrm>
            <a:off x="1476375" y="25241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0B71005-1FD4-44BA-8775-60C94665EFE1}"/>
              </a:ext>
            </a:extLst>
          </p:cNvPr>
          <p:cNvSpPr>
            <a:spLocks noGrp="1"/>
          </p:cNvSpPr>
          <p:nvPr/>
        </p:nvSpPr>
        <p:spPr>
          <a:xfrm>
            <a:off x="609600" y="29432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30964FA-0E8D-4301-86A2-D262649013C5}"/>
              </a:ext>
            </a:extLst>
          </p:cNvPr>
          <p:cNvSpPr>
            <a:spLocks noGrp="1"/>
          </p:cNvSpPr>
          <p:nvPr/>
        </p:nvSpPr>
        <p:spPr>
          <a:xfrm>
            <a:off x="1476375" y="29432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Auto LOD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F579A3-45D7-4E88-8AD1-6EA639E237F8}"/>
              </a:ext>
            </a:extLst>
          </p:cNvPr>
          <p:cNvSpPr>
            <a:spLocks noGrp="1"/>
          </p:cNvSpPr>
          <p:nvPr/>
        </p:nvSpPr>
        <p:spPr>
          <a:xfrm>
            <a:off x="4857750" y="29622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Raster와 DXR 지오메트리 최적화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51A441D-39F9-4458-B86D-86A68AF3CE74}"/>
              </a:ext>
            </a:extLst>
          </p:cNvPr>
          <p:cNvSpPr>
            <a:spLocks noGrp="1"/>
          </p:cNvSpPr>
          <p:nvPr/>
        </p:nvSpPr>
        <p:spPr>
          <a:xfrm>
            <a:off x="1476375" y="35147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DEE65A-B8F9-4058-AB42-FBA277FD2C97}"/>
              </a:ext>
            </a:extLst>
          </p:cNvPr>
          <p:cNvSpPr>
            <a:spLocks noGrp="1"/>
          </p:cNvSpPr>
          <p:nvPr/>
        </p:nvSpPr>
        <p:spPr>
          <a:xfrm>
            <a:off x="609600" y="39338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E25CEF-92BA-42FB-BD3A-31F0E960F175}"/>
              </a:ext>
            </a:extLst>
          </p:cNvPr>
          <p:cNvSpPr>
            <a:spLocks noGrp="1"/>
          </p:cNvSpPr>
          <p:nvPr/>
        </p:nvSpPr>
        <p:spPr>
          <a:xfrm>
            <a:off x="1476375" y="39338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GPU Particle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D975FD4-DCEE-439B-B395-87F5E3766C43}"/>
              </a:ext>
            </a:extLst>
          </p:cNvPr>
          <p:cNvSpPr>
            <a:spLocks noGrp="1"/>
          </p:cNvSpPr>
          <p:nvPr/>
        </p:nvSpPr>
        <p:spPr>
          <a:xfrm>
            <a:off x="4857750" y="39528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Shader 기반 스킬 이펙트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730257-BAE4-4A50-9771-04DC63093D85}"/>
              </a:ext>
            </a:extLst>
          </p:cNvPr>
          <p:cNvSpPr>
            <a:spLocks noGrp="1"/>
          </p:cNvSpPr>
          <p:nvPr/>
        </p:nvSpPr>
        <p:spPr>
          <a:xfrm>
            <a:off x="1476375" y="45053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860CCD2-4E2C-4957-838A-1296AB767D91}"/>
              </a:ext>
            </a:extLst>
          </p:cNvPr>
          <p:cNvSpPr>
            <a:spLocks noGrp="1"/>
          </p:cNvSpPr>
          <p:nvPr/>
        </p:nvSpPr>
        <p:spPr>
          <a:xfrm>
            <a:off x="609600" y="49244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EA13FE5-F868-45C4-BFA1-36A1E49192FB}"/>
              </a:ext>
            </a:extLst>
          </p:cNvPr>
          <p:cNvSpPr>
            <a:spLocks noGrp="1"/>
          </p:cNvSpPr>
          <p:nvPr/>
        </p:nvSpPr>
        <p:spPr>
          <a:xfrm>
            <a:off x="1476375" y="49244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Results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C8131DA-0F81-4544-B1B3-4C538889F8A3}"/>
              </a:ext>
            </a:extLst>
          </p:cNvPr>
          <p:cNvSpPr>
            <a:spLocks noGrp="1"/>
          </p:cNvSpPr>
          <p:nvPr/>
        </p:nvSpPr>
        <p:spPr>
          <a:xfrm>
            <a:off x="4857750" y="49434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성능 측정과 담당 업무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87559D9-6E5A-4168-BCDE-CBB50A001E1E}"/>
              </a:ext>
            </a:extLst>
          </p:cNvPr>
          <p:cNvSpPr>
            <a:spLocks noGrp="1"/>
          </p:cNvSpPr>
          <p:nvPr/>
        </p:nvSpPr>
        <p:spPr>
          <a:xfrm>
            <a:off x="1476375" y="54959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B03645-ABA7-4521-81AF-6A456E64F43C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13882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rcRect t="29016" b="2901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9C13BCB-7DB8-4112-A4AD-7A247D3239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41A">
              <a:alpha val="66667"/>
            </a:srgbClr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8090F0-6627-4C4B-ADE5-1B11637629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TEAM GRADUATION PROJECT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DC07DE-5A39-495E-9FF1-D31714983A04}"/>
              </a:ext>
            </a:extLst>
          </p:cNvPr>
          <p:cNvSpPr>
            <a:spLocks noGrp="1"/>
          </p:cNvSpPr>
          <p:nvPr/>
        </p:nvSpPr>
        <p:spPr>
          <a:xfrm>
            <a:off x="647700" y="1200150"/>
            <a:ext cx="7524750" cy="876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PulseCity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7E3886-019F-4A6B-A2CB-1C0B28656945}"/>
              </a:ext>
            </a:extLst>
          </p:cNvPr>
          <p:cNvSpPr>
            <a:spLocks noGrp="1"/>
          </p:cNvSpPr>
          <p:nvPr/>
        </p:nvSpPr>
        <p:spPr>
          <a:xfrm>
            <a:off x="685800" y="2247900"/>
            <a:ext cx="8572500" cy="857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미래 도시를 탐험하고 파티 플레이로 던전과 보스에 도전하는 3D FPS RPG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6D82A06-4C87-4E7D-A533-6ECE908CDBCC}"/>
              </a:ext>
            </a:extLst>
          </p:cNvPr>
          <p:cNvSpPr>
            <a:spLocks noGrp="1"/>
          </p:cNvSpPr>
          <p:nvPr/>
        </p:nvSpPr>
        <p:spPr>
          <a:xfrm>
            <a:off x="704850" y="5829300"/>
            <a:ext cx="10287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D6E5E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6E5ED"/>
                </a:solidFill>
                <a:latin typeface="Malgun Gothic"/>
                <a:ea typeface="Malgun Gothic"/>
                <a:cs typeface="Malgun Gothic"/>
              </a:rPr>
              <a:t>개인 담당: DirectX 12 Auto LOD · Compute Shader 기반 GPU 파티클</a:t>
            </a:r>
          </a:p>
        </p:txBody>
      </p:sp>
    </p:spTree>
    <p:extLst>
      <p:ext uri="{BB962C8B-B14F-4D97-AF65-F5344CB8AC3E}">
        <p14:creationId xmlns:p14="http://schemas.microsoft.com/office/powerpoint/2010/main" val="1491530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78D2B001-0D2A-404C-9329-8C594BA3FE07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68E8BD-8449-4F22-AEFE-31245F034EA3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PulseCity와 개인 담당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36ED1B4-10E5-4C83-90ED-12B088DBEBFD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PulseCity는 팀원들과 함께 제작한 졸업작품입니다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8120FF0-74D6-4487-92C5-CB74774A4ACA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rcRect l="2380" r="2380"/>
          <a:stretch>
            <a:fillRect/>
          </a:stretch>
        </p:blipFill>
        <p:spPr>
          <a:xfrm>
            <a:off x="6305550" y="1809750"/>
            <a:ext cx="5334000" cy="301942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29004-8102-4303-BB0F-E074D8008B26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프로젝트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4D9219D-21AE-463B-8923-D3F86CD8A7AC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857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3827"/>
          </a:bodyPr>
          <a:lstStyle/>
          <a:p>
            <a:pPr algn="l">
              <a:defRPr sz="20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팀 졸업작품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AA0A0C0-CE02-4846-A671-8B27875E90EA}"/>
              </a:ext>
            </a:extLst>
          </p:cNvPr>
          <p:cNvSpPr>
            <a:spLocks noGrp="1"/>
          </p:cNvSpPr>
          <p:nvPr/>
        </p:nvSpPr>
        <p:spPr>
          <a:xfrm>
            <a:off x="609600" y="29337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장르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991FB99-FAD9-4451-BD26-A5090E69BE4A}"/>
              </a:ext>
            </a:extLst>
          </p:cNvPr>
          <p:cNvSpPr>
            <a:spLocks noGrp="1"/>
          </p:cNvSpPr>
          <p:nvPr/>
        </p:nvSpPr>
        <p:spPr>
          <a:xfrm>
            <a:off x="609600" y="3238500"/>
            <a:ext cx="5000625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3D FPS RPG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92602B1-F29D-4236-B457-AA0582B87147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개인 담당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FD1783-3731-4697-9B9E-29D255412DA2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51435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Auto LOD · GPU 파티클 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43A19C-B9C1-42C5-AEFB-33009EF60A6B}"/>
              </a:ext>
            </a:extLst>
          </p:cNvPr>
          <p:cNvSpPr>
            <a:spLocks noGrp="1"/>
          </p:cNvSpPr>
          <p:nvPr/>
        </p:nvSpPr>
        <p:spPr>
          <a:xfrm>
            <a:off x="609600" y="5000625"/>
            <a:ext cx="5191125" cy="1143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런타임 메시 단순화와 Raster / DXR LOD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Compute Shader 기반 대규모 스킬 이펙트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GPU 리소스 관리와 게임 이벤트 연동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38D3F6-87BF-452A-BC17-B9E6DECE84C7}"/>
              </a:ext>
            </a:extLst>
          </p:cNvPr>
          <p:cNvSpPr>
            <a:spLocks noGrp="1"/>
          </p:cNvSpPr>
          <p:nvPr/>
        </p:nvSpPr>
        <p:spPr>
          <a:xfrm>
            <a:off x="6305550" y="50958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게임의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다른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기능은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팀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전체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결과이며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개인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구현으로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표기하지</a:t>
            </a:r>
            <a:r>
              <a:rPr sz="112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2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않습니다</a:t>
            </a:r>
            <a:endParaRPr sz="1125" b="0" dirty="0">
              <a:solidFill>
                <a:srgbClr val="4F5966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B167A47-5F5F-45FC-93C2-762381BF50E3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3279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4AE96E43-4FC7-4D8A-9032-A5CF335444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180FB79-D23E-4D3A-9375-76DE1BBAE52C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RESEARCH PROJECT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00E099-7B1E-412F-B77C-78E00C327BD2}"/>
              </a:ext>
            </a:extLst>
          </p:cNvPr>
          <p:cNvSpPr>
            <a:spLocks noGrp="1"/>
          </p:cNvSpPr>
          <p:nvPr/>
        </p:nvSpPr>
        <p:spPr>
          <a:xfrm>
            <a:off x="647700" y="1266825"/>
            <a:ext cx="78105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DirectX 12 기반</a:t>
            </a:r>
          </a:p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Auto LOD 시스템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7DC83D-DD10-41E8-9999-362DBA895AE0}"/>
              </a:ext>
            </a:extLst>
          </p:cNvPr>
          <p:cNvSpPr>
            <a:spLocks noGrp="1"/>
          </p:cNvSpPr>
          <p:nvPr/>
        </p:nvSpPr>
        <p:spPr>
          <a:xfrm>
            <a:off x="704850" y="3295650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rPr>
              <a:t>런타임 메시 단순화 · 거리 기반 전환 · 인스턴싱 · DXR 지오메트리 LOD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8E635F-053E-4B53-B575-FD11BF46BA94}"/>
              </a:ext>
            </a:extLst>
          </p:cNvPr>
          <p:cNvSpPr>
            <a:spLocks noGrp="1"/>
          </p:cNvSpPr>
          <p:nvPr/>
        </p:nvSpPr>
        <p:spPr>
          <a:xfrm>
            <a:off x="704850" y="48577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35%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908CF0-C486-4483-886F-4031807C641D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삼각형 수 절감 사례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56DC82E-20B5-40DD-B05E-C179806F6A59}"/>
              </a:ext>
            </a:extLst>
          </p:cNvPr>
          <p:cNvSpPr>
            <a:spLocks noGrp="1"/>
          </p:cNvSpPr>
          <p:nvPr/>
        </p:nvSpPr>
        <p:spPr>
          <a:xfrm>
            <a:off x="3714750" y="48577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60%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C167C1-C516-4C4F-8ED1-6A261DD2181B}"/>
              </a:ext>
            </a:extLst>
          </p:cNvPr>
          <p:cNvSpPr>
            <a:spLocks noGrp="1"/>
          </p:cNvSpPr>
          <p:nvPr/>
        </p:nvSpPr>
        <p:spPr>
          <a:xfrm>
            <a:off x="3714750" y="54768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드로우콜 절감 사례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CA30970-E972-4FAA-A94E-5B5BA09098EC}"/>
              </a:ext>
            </a:extLst>
          </p:cNvPr>
          <p:cNvSpPr>
            <a:spLocks noGrp="1"/>
          </p:cNvSpPr>
          <p:nvPr/>
        </p:nvSpPr>
        <p:spPr>
          <a:xfrm>
            <a:off x="6724650" y="4857750"/>
            <a:ext cx="3429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44 → 71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F8C8A0E-A0B0-416A-A989-07544129819C}"/>
              </a:ext>
            </a:extLst>
          </p:cNvPr>
          <p:cNvSpPr>
            <a:spLocks noGrp="1"/>
          </p:cNvSpPr>
          <p:nvPr/>
        </p:nvSpPr>
        <p:spPr>
          <a:xfrm>
            <a:off x="6724650" y="5476875"/>
            <a:ext cx="3429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동일 위치 FPS 사례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9E9C51-A511-4D1A-826D-2ED24B51105B}"/>
              </a:ext>
            </a:extLst>
          </p:cNvPr>
          <p:cNvSpPr>
            <a:spLocks noGrp="1"/>
          </p:cNvSpPr>
          <p:nvPr/>
        </p:nvSpPr>
        <p:spPr>
          <a:xfrm>
            <a:off x="704850" y="6276975"/>
            <a:ext cx="1047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0">
                <a:solidFill>
                  <a:srgbClr val="AFC0CA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AFC0CA"/>
                </a:solidFill>
                <a:latin typeface="Malgun Gothic"/>
                <a:ea typeface="Malgun Gothic"/>
                <a:cs typeface="Malgun Gothic"/>
              </a:rPr>
              <a:t>대표 래스터 장면의 특정 측정 사례이며 장면 구성과 GPU 병목에 따라 결과가 달라집니다</a:t>
            </a:r>
          </a:p>
        </p:txBody>
      </p:sp>
    </p:spTree>
    <p:extLst>
      <p:ext uri="{BB962C8B-B14F-4D97-AF65-F5344CB8AC3E}">
        <p14:creationId xmlns:p14="http://schemas.microsoft.com/office/powerpoint/2010/main" val="813243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623CD0-07E1-41D9-8EA9-21F7646A76A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0C297FB-BF0E-451E-94AD-36251F9A7B43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Auto LOD 시스템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5A41A4-A255-4C3C-89F4-F9D05549E44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메시 생성부터 래스터·DXR 적용까지 하나의 파이프라인으로 연결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31F0F9-249D-4C25-9A0C-786E6639543B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FE767EB-91C7-4C11-A3F2-1CD30E7324AA}"/>
              </a:ext>
            </a:extLst>
          </p:cNvPr>
          <p:cNvSpPr>
            <a:spLocks noGrp="1"/>
          </p:cNvSpPr>
          <p:nvPr/>
        </p:nvSpPr>
        <p:spPr>
          <a:xfrm>
            <a:off x="4000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B057FB7-9669-4D1B-A88E-565CDE4E2B8F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74E1314-0872-425E-81A6-089660332B7A}"/>
              </a:ext>
            </a:extLst>
          </p:cNvPr>
          <p:cNvSpPr>
            <a:spLocks noGrp="1"/>
          </p:cNvSpPr>
          <p:nvPr/>
        </p:nvSpPr>
        <p:spPr>
          <a:xfrm>
            <a:off x="5715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 메시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633E89-ACBD-4A9B-83AF-6A9340452A96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정점·인덱스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05BEEC42-D2C5-4733-BFEA-2B4D12B41CBC}"/>
              </a:ext>
            </a:extLst>
          </p:cNvPr>
          <p:cNvSpPr>
            <a:spLocks noGrp="1"/>
          </p:cNvSpPr>
          <p:nvPr/>
        </p:nvSpPr>
        <p:spPr>
          <a:xfrm>
            <a:off x="220980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C528E2D-43E4-440C-A843-50C3B14A1667}"/>
              </a:ext>
            </a:extLst>
          </p:cNvPr>
          <p:cNvSpPr>
            <a:spLocks noGrp="1"/>
          </p:cNvSpPr>
          <p:nvPr/>
        </p:nvSpPr>
        <p:spPr>
          <a:xfrm>
            <a:off x="273367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96C55F-559F-43C3-BD3D-021D65144A71}"/>
              </a:ext>
            </a:extLst>
          </p:cNvPr>
          <p:cNvSpPr>
            <a:spLocks noGrp="1"/>
          </p:cNvSpPr>
          <p:nvPr/>
        </p:nvSpPr>
        <p:spPr>
          <a:xfrm>
            <a:off x="290512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4DF2CC-5AFD-4338-920A-B96EBA06DB46}"/>
              </a:ext>
            </a:extLst>
          </p:cNvPr>
          <p:cNvSpPr>
            <a:spLocks noGrp="1"/>
          </p:cNvSpPr>
          <p:nvPr/>
        </p:nvSpPr>
        <p:spPr>
          <a:xfrm>
            <a:off x="290512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LOD 생성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1C9AA57-7ED3-4BC4-ADE3-BDF3C60A36DC}"/>
              </a:ext>
            </a:extLst>
          </p:cNvPr>
          <p:cNvSpPr>
            <a:spLocks noGrp="1"/>
          </p:cNvSpPr>
          <p:nvPr/>
        </p:nvSpPr>
        <p:spPr>
          <a:xfrm>
            <a:off x="290512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25% 목표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단순화</a:t>
            </a:r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3787C3A9-6C57-45E3-BC6C-B0F7A1A87D1A}"/>
              </a:ext>
            </a:extLst>
          </p:cNvPr>
          <p:cNvSpPr>
            <a:spLocks noGrp="1"/>
          </p:cNvSpPr>
          <p:nvPr/>
        </p:nvSpPr>
        <p:spPr>
          <a:xfrm>
            <a:off x="454342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128F26A-5727-42BC-877D-BA66D34A9AC7}"/>
              </a:ext>
            </a:extLst>
          </p:cNvPr>
          <p:cNvSpPr>
            <a:spLocks noGrp="1"/>
          </p:cNvSpPr>
          <p:nvPr/>
        </p:nvSpPr>
        <p:spPr>
          <a:xfrm>
            <a:off x="506730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8FFD88C-30AF-4510-BAA4-340A1CEE0E3E}"/>
              </a:ext>
            </a:extLst>
          </p:cNvPr>
          <p:cNvSpPr>
            <a:spLocks noGrp="1"/>
          </p:cNvSpPr>
          <p:nvPr/>
        </p:nvSpPr>
        <p:spPr>
          <a:xfrm>
            <a:off x="523875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93AB1FA-BCCF-481C-B2F6-C7849432AABB}"/>
              </a:ext>
            </a:extLst>
          </p:cNvPr>
          <p:cNvSpPr>
            <a:spLocks noGrp="1"/>
          </p:cNvSpPr>
          <p:nvPr/>
        </p:nvSpPr>
        <p:spPr>
          <a:xfrm>
            <a:off x="523875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검증·캐시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59E87CC-F9A1-45E7-9F4D-1F996BCF479F}"/>
              </a:ext>
            </a:extLst>
          </p:cNvPr>
          <p:cNvSpPr>
            <a:spLocks noGrp="1"/>
          </p:cNvSpPr>
          <p:nvPr/>
        </p:nvSpPr>
        <p:spPr>
          <a:xfrm>
            <a:off x="523875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품질 검사와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파일 재사용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563B256D-531F-40A1-BDA6-D830D37171FD}"/>
              </a:ext>
            </a:extLst>
          </p:cNvPr>
          <p:cNvSpPr>
            <a:spLocks noGrp="1"/>
          </p:cNvSpPr>
          <p:nvPr/>
        </p:nvSpPr>
        <p:spPr>
          <a:xfrm>
            <a:off x="687705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FFE3925-9DE6-44C5-BA2A-52FBB7BBD0CA}"/>
              </a:ext>
            </a:extLst>
          </p:cNvPr>
          <p:cNvSpPr>
            <a:spLocks noGrp="1"/>
          </p:cNvSpPr>
          <p:nvPr/>
        </p:nvSpPr>
        <p:spPr>
          <a:xfrm>
            <a:off x="740092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915952-0097-4280-8951-8D304F26880A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338995-F7FC-4BDD-8582-69B328E0FEE4}"/>
              </a:ext>
            </a:extLst>
          </p:cNvPr>
          <p:cNvSpPr>
            <a:spLocks noGrp="1"/>
          </p:cNvSpPr>
          <p:nvPr/>
        </p:nvSpPr>
        <p:spPr>
          <a:xfrm>
            <a:off x="757237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 판정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E0899B0-8AA9-4D3E-B05C-AC49FC336F6E}"/>
              </a:ext>
            </a:extLst>
          </p:cNvPr>
          <p:cNvSpPr>
            <a:spLocks noGrp="1"/>
          </p:cNvSpPr>
          <p:nvPr/>
        </p:nvSpPr>
        <p:spPr>
          <a:xfrm>
            <a:off x="757237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화면 크기와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히스테리시스</a:t>
            </a: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9BBE6033-43C7-4BD0-8B0B-D6339969A259}"/>
              </a:ext>
            </a:extLst>
          </p:cNvPr>
          <p:cNvSpPr>
            <a:spLocks noGrp="1"/>
          </p:cNvSpPr>
          <p:nvPr/>
        </p:nvSpPr>
        <p:spPr>
          <a:xfrm>
            <a:off x="921067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F5D1BB-8609-4AE4-A6D8-79FAC0E22406}"/>
              </a:ext>
            </a:extLst>
          </p:cNvPr>
          <p:cNvSpPr>
            <a:spLocks noGrp="1"/>
          </p:cNvSpPr>
          <p:nvPr/>
        </p:nvSpPr>
        <p:spPr>
          <a:xfrm>
            <a:off x="97345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EAF8F1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698A126-D1E5-4B13-A47D-D36E1B55EBD9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E182533-EA52-44CB-BD8F-C16739A9154F}"/>
              </a:ext>
            </a:extLst>
          </p:cNvPr>
          <p:cNvSpPr>
            <a:spLocks noGrp="1"/>
          </p:cNvSpPr>
          <p:nvPr/>
        </p:nvSpPr>
        <p:spPr>
          <a:xfrm>
            <a:off x="99060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Raster / DXR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90AD904-0215-4949-A867-E479C80AA5C4}"/>
              </a:ext>
            </a:extLst>
          </p:cNvPr>
          <p:cNvSpPr>
            <a:spLocks noGrp="1"/>
          </p:cNvSpPr>
          <p:nvPr/>
        </p:nvSpPr>
        <p:spPr>
          <a:xfrm>
            <a:off x="99060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배치 드로우와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LOD BLAS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800235E-A8BC-40AB-9EDC-5D70F2BEAD54}"/>
              </a:ext>
            </a:extLst>
          </p:cNvPr>
          <p:cNvSpPr>
            <a:spLocks noGrp="1"/>
          </p:cNvSpPr>
          <p:nvPr/>
        </p:nvSpPr>
        <p:spPr>
          <a:xfrm>
            <a:off x="647700" y="481012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실패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또는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감소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효과가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부족한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경우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모든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경로에서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메시로</a:t>
            </a:r>
            <a:r>
              <a:rPr sz="1800" b="1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폴백</a:t>
            </a:r>
            <a:endParaRPr sz="1800" b="1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09AD435-3ECE-4629-AB82-C749B5B5099B}"/>
              </a:ext>
            </a:extLst>
          </p:cNvPr>
          <p:cNvSpPr>
            <a:spLocks noGrp="1"/>
          </p:cNvSpPr>
          <p:nvPr/>
        </p:nvSpPr>
        <p:spPr>
          <a:xfrm>
            <a:off x="666750" y="5429250"/>
            <a:ext cx="10191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성능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최적화가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렌더링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안정성을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해치지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않도록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적용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조건과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복구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경로를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275" b="0" dirty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75" b="0" dirty="0" err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설계</a:t>
            </a:r>
            <a:endParaRPr sz="1275" b="0" dirty="0">
              <a:solidFill>
                <a:srgbClr val="4F5966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21325B0-D90E-4DEE-B502-C4877645D02A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5602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4A6C04-38D3-45E5-AF03-CD58CA88E50E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130672-98D7-476D-A6DB-421CC9BB2F9C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런타임 메시 생성과 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3CFA846-05BB-40FA-A134-7C00238D5DC6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생성 비용과 품질 실패를 제어하는 방어 로직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01AB7ED-84F2-44F7-9487-DC45E3CE8909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AA8A19-DEB2-4990-A54D-1267EAB1DEB9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MESH SIMPLIFICATION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90E3F79-5946-430C-B3EF-C764310D82B4}"/>
              </a:ext>
            </a:extLst>
          </p:cNvPr>
          <p:cNvSpPr>
            <a:spLocks noGrp="1"/>
          </p:cNvSpPr>
          <p:nvPr/>
        </p:nvSpPr>
        <p:spPr>
          <a:xfrm>
            <a:off x="647700" y="2333625"/>
            <a:ext cx="4953000" cy="2667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대비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25%를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목표로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1단계 LOD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생성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위치·UV·노멀·탄젠트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경계를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보호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얇은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구조물과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감소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효율이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낮은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제외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결과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실패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시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사용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F7144D-B666-4196-BF40-EF4041D5F538}"/>
              </a:ext>
            </a:extLst>
          </p:cNvPr>
          <p:cNvSpPr>
            <a:spLocks noGrp="1"/>
          </p:cNvSpPr>
          <p:nvPr/>
        </p:nvSpPr>
        <p:spPr>
          <a:xfrm>
            <a:off x="5943600" y="1952625"/>
            <a:ext cx="19050" cy="33337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0503D98-542A-4BD3-A0C5-E59E73B69B6C}"/>
              </a:ext>
            </a:extLst>
          </p:cNvPr>
          <p:cNvSpPr>
            <a:spLocks noGrp="1"/>
          </p:cNvSpPr>
          <p:nvPr/>
        </p:nvSpPr>
        <p:spPr>
          <a:xfrm>
            <a:off x="641985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CACHE &amp; ASYNC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36EC7D6-9080-4CCA-8359-8A8D11BCCC2F}"/>
              </a:ext>
            </a:extLst>
          </p:cNvPr>
          <p:cNvSpPr>
            <a:spLocks noGrp="1"/>
          </p:cNvSpPr>
          <p:nvPr/>
        </p:nvSpPr>
        <p:spPr>
          <a:xfrm>
            <a:off x="6419850" y="2333625"/>
            <a:ext cx="4953000" cy="2667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생성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파일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캐시에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저장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캐시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버전과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정보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시작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전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큐와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실행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중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큐를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분리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프레임당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작업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수·삼각형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제한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E6A83C4-C8F1-4D41-8345-493E90AD1993}"/>
              </a:ext>
            </a:extLst>
          </p:cNvPr>
          <p:cNvSpPr>
            <a:spLocks noGrp="1"/>
          </p:cNvSpPr>
          <p:nvPr/>
        </p:nvSpPr>
        <p:spPr>
          <a:xfrm>
            <a:off x="647700" y="5429250"/>
            <a:ext cx="10725150" cy="590550"/>
          </a:xfrm>
          <a:prstGeom prst="roundRect">
            <a:avLst>
              <a:gd name="adj" fmla="val 12903"/>
            </a:avLst>
          </a:prstGeom>
          <a:solidFill>
            <a:srgbClr val="EAF8F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25DDD4-77EF-49F7-86AB-4750134702E6}"/>
              </a:ext>
            </a:extLst>
          </p:cNvPr>
          <p:cNvSpPr>
            <a:spLocks noGrp="1"/>
          </p:cNvSpPr>
          <p:nvPr/>
        </p:nvSpPr>
        <p:spPr>
          <a:xfrm>
            <a:off x="866775" y="5591175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rPr>
              <a:t>존 이동과 메시 해제 시 비동기 큐의 참조 유효성을 다시 검사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BC5BCB-BE17-4478-946D-156E1A1DE45C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88058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263A-3AE8-4883-BDE0-51B3A515EE9C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C421BF-8F7E-4BD9-B57D-F62E56B2E694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 기반 래스터 LOD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17226E9-D979-477E-B7B7-D9B746B2CEF7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화면 크기 판정과 배치 드로우를 결합해 GPU 부하를 절감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3A7EC2-A977-4A79-AF7B-4B1FA7F1DA70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82179CA-47D0-44B2-9C83-66CA5442FAC6}"/>
              </a:ext>
            </a:extLst>
          </p:cNvPr>
          <p:cNvSpPr>
            <a:spLocks noGrp="1"/>
          </p:cNvSpPr>
          <p:nvPr/>
        </p:nvSpPr>
        <p:spPr>
          <a:xfrm>
            <a:off x="1524000" y="2143125"/>
            <a:ext cx="2476500" cy="647700"/>
          </a:xfrm>
          <a:prstGeom prst="roundRect">
            <a:avLst>
              <a:gd name="adj" fmla="val 11765"/>
            </a:avLst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4EFEAE7-7243-4D0C-96E9-51951A949761}"/>
              </a:ext>
            </a:extLst>
          </p:cNvPr>
          <p:cNvSpPr>
            <a:spLocks noGrp="1"/>
          </p:cNvSpPr>
          <p:nvPr/>
        </p:nvSpPr>
        <p:spPr>
          <a:xfrm>
            <a:off x="1657350" y="22574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Near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CABEA4-0341-4065-AADE-D62121570F09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 algn="l">
              <a:def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원본 메시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D15BE12-3C52-4094-A5C1-B3F8F6786365}"/>
              </a:ext>
            </a:extLst>
          </p:cNvPr>
          <p:cNvSpPr>
            <a:spLocks noGrp="1"/>
          </p:cNvSpPr>
          <p:nvPr/>
        </p:nvSpPr>
        <p:spPr>
          <a:xfrm>
            <a:off x="2857500" y="2143125"/>
            <a:ext cx="2476500" cy="647700"/>
          </a:xfrm>
          <a:prstGeom prst="roundRect">
            <a:avLst>
              <a:gd name="adj" fmla="val 11765"/>
            </a:avLst>
          </a:prstGeom>
          <a:solidFill>
            <a:srgbClr val="F3C43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8998E3-365C-454B-9663-8E01A83B5A09}"/>
              </a:ext>
            </a:extLst>
          </p:cNvPr>
          <p:cNvSpPr>
            <a:spLocks noGrp="1"/>
          </p:cNvSpPr>
          <p:nvPr/>
        </p:nvSpPr>
        <p:spPr>
          <a:xfrm>
            <a:off x="2990850" y="22574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Transition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E8166F5-ED73-4047-8413-7815269D0127}"/>
              </a:ext>
            </a:extLst>
          </p:cNvPr>
          <p:cNvSpPr>
            <a:spLocks noGrp="1"/>
          </p:cNvSpPr>
          <p:nvPr/>
        </p:nvSpPr>
        <p:spPr>
          <a:xfrm>
            <a:off x="2990850" y="25146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 algn="l">
              <a:def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히스테리시스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DE18535-47D7-46F0-BE95-E1940B87ADBD}"/>
              </a:ext>
            </a:extLst>
          </p:cNvPr>
          <p:cNvSpPr>
            <a:spLocks noGrp="1"/>
          </p:cNvSpPr>
          <p:nvPr/>
        </p:nvSpPr>
        <p:spPr>
          <a:xfrm>
            <a:off x="4476750" y="2143125"/>
            <a:ext cx="5619750" cy="647700"/>
          </a:xfrm>
          <a:prstGeom prst="roundRect">
            <a:avLst>
              <a:gd name="adj" fmla="val 11765"/>
            </a:avLst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EC29F0F-DFCC-4ED3-B18A-921E125B04BD}"/>
              </a:ext>
            </a:extLst>
          </p:cNvPr>
          <p:cNvSpPr>
            <a:spLocks noGrp="1"/>
          </p:cNvSpPr>
          <p:nvPr/>
        </p:nvSpPr>
        <p:spPr>
          <a:xfrm>
            <a:off x="4610100" y="22574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Far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A6E1738-CD34-4952-8F4C-A1725E3C26EC}"/>
              </a:ext>
            </a:extLst>
          </p:cNvPr>
          <p:cNvSpPr>
            <a:spLocks noGrp="1"/>
          </p:cNvSpPr>
          <p:nvPr/>
        </p:nvSpPr>
        <p:spPr>
          <a:xfrm>
            <a:off x="4610100" y="25146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 algn="l">
              <a:def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LOD 메시 + 인스턴싱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0D72DBB-4BEE-40CE-820C-0B007DFCECBD}"/>
              </a:ext>
            </a:extLst>
          </p:cNvPr>
          <p:cNvSpPr>
            <a:spLocks noGrp="1"/>
          </p:cNvSpPr>
          <p:nvPr/>
        </p:nvSpPr>
        <p:spPr>
          <a:xfrm>
            <a:off x="628650" y="33718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INSTANCE BATCH CONDITIONS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69C5293-10B0-4963-99D0-541B6B266605}"/>
              </a:ext>
            </a:extLst>
          </p:cNvPr>
          <p:cNvSpPr>
            <a:spLocks noGrp="1"/>
          </p:cNvSpPr>
          <p:nvPr/>
        </p:nvSpPr>
        <p:spPr>
          <a:xfrm>
            <a:off x="628650" y="3714750"/>
            <a:ext cx="1057275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동일한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LOD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쓰는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스태틱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오브젝트만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묶음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메시·재질·디스크립터·버퍼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용량을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검사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기록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중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인스턴스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버퍼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재할당을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차단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조건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불일치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시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기존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개별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렌더링으로</a:t>
            </a:r>
            <a:r>
              <a:rPr sz="1350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폴백</a:t>
            </a:r>
            <a:endParaRPr sz="1350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988207-4102-40D4-AF8C-F3B4C43BADF4}"/>
              </a:ext>
            </a:extLst>
          </p:cNvPr>
          <p:cNvSpPr>
            <a:spLocks noGrp="1"/>
          </p:cNvSpPr>
          <p:nvPr/>
        </p:nvSpPr>
        <p:spPr>
          <a:xfrm>
            <a:off x="647700" y="57912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LOD 대상은 스태틱 오브젝트로 제한하며 취약한 구조의 모델을 제외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1D9969A-341C-40B7-ACAF-42AF45F877AF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49999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A494A9E7-AB53-47B0-8CE3-75AB77DC3FF3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AF20AC0-639A-4027-9869-49EED11D43CA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거리별 서브메시 제한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7E96386-30F7-4E64-A5A2-6B5214F77B6B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멀리 있는 복합 모델은 화면 기여도가 작은 드로우를 줄임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7FD249E-9CCA-490D-9FEC-9E17DCB62687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C30D2E-24F8-4295-BFC9-5F619C6A846C}"/>
              </a:ext>
            </a:extLst>
          </p:cNvPr>
          <p:cNvSpPr>
            <a:spLocks noGrp="1"/>
          </p:cNvSpPr>
          <p:nvPr/>
        </p:nvSpPr>
        <p:spPr>
          <a:xfrm>
            <a:off x="685800" y="21812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35m 이상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C418-43E9-4894-BF26-6786FF254693}"/>
              </a:ext>
            </a:extLst>
          </p:cNvPr>
          <p:cNvSpPr>
            <a:spLocks noGrp="1"/>
          </p:cNvSpPr>
          <p:nvPr/>
        </p:nvSpPr>
        <p:spPr>
          <a:xfrm>
            <a:off x="2362200" y="2038350"/>
            <a:ext cx="7429500" cy="552450"/>
          </a:xfrm>
          <a:prstGeom prst="roundRect">
            <a:avLst>
              <a:gd name="adj" fmla="val 13793"/>
            </a:avLst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BE8118-4813-45A7-B200-68CE057B42DE}"/>
              </a:ext>
            </a:extLst>
          </p:cNvPr>
          <p:cNvSpPr>
            <a:spLocks noGrp="1"/>
          </p:cNvSpPr>
          <p:nvPr/>
        </p:nvSpPr>
        <p:spPr>
          <a:xfrm>
            <a:off x="2495550" y="21621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6개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9E099A-C005-4356-B981-C95522469447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80m 이상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21335EF-9A73-4DF4-96CF-7800951167F2}"/>
              </a:ext>
            </a:extLst>
          </p:cNvPr>
          <p:cNvSpPr>
            <a:spLocks noGrp="1"/>
          </p:cNvSpPr>
          <p:nvPr/>
        </p:nvSpPr>
        <p:spPr>
          <a:xfrm>
            <a:off x="2362200" y="2952750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954A28-59CC-4967-BFE5-3ADA38C0E533}"/>
              </a:ext>
            </a:extLst>
          </p:cNvPr>
          <p:cNvSpPr>
            <a:spLocks noGrp="1"/>
          </p:cNvSpPr>
          <p:nvPr/>
        </p:nvSpPr>
        <p:spPr>
          <a:xfrm>
            <a:off x="2495550" y="30765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3개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48D99C7-360F-4DC8-8FAA-28BDA18B8AAD}"/>
              </a:ext>
            </a:extLst>
          </p:cNvPr>
          <p:cNvSpPr>
            <a:spLocks noGrp="1"/>
          </p:cNvSpPr>
          <p:nvPr/>
        </p:nvSpPr>
        <p:spPr>
          <a:xfrm>
            <a:off x="685800" y="40100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130m 이상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F2890E6-CA2C-4601-ABF7-A2AF3E9AA1D8}"/>
              </a:ext>
            </a:extLst>
          </p:cNvPr>
          <p:cNvSpPr>
            <a:spLocks noGrp="1"/>
          </p:cNvSpPr>
          <p:nvPr/>
        </p:nvSpPr>
        <p:spPr>
          <a:xfrm>
            <a:off x="2362200" y="3867150"/>
            <a:ext cx="2476500" cy="552450"/>
          </a:xfrm>
          <a:prstGeom prst="roundRect">
            <a:avLst>
              <a:gd name="adj" fmla="val 13793"/>
            </a:avLst>
          </a:prstGeom>
          <a:solidFill>
            <a:srgbClr val="E64694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705BC9-231C-4EC6-81D4-2E86CE3648D7}"/>
              </a:ext>
            </a:extLst>
          </p:cNvPr>
          <p:cNvSpPr>
            <a:spLocks noGrp="1"/>
          </p:cNvSpPr>
          <p:nvPr/>
        </p:nvSpPr>
        <p:spPr>
          <a:xfrm>
            <a:off x="2495550" y="39909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2개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BEDF339-7B44-45AA-AEE7-B7D1A3E99319}"/>
              </a:ext>
            </a:extLst>
          </p:cNvPr>
          <p:cNvSpPr>
            <a:spLocks noGrp="1"/>
          </p:cNvSpPr>
          <p:nvPr/>
        </p:nvSpPr>
        <p:spPr>
          <a:xfrm>
            <a:off x="685800" y="49244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200m 이상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20A1FB6-690A-4ABD-B805-00F26857E5F8}"/>
              </a:ext>
            </a:extLst>
          </p:cNvPr>
          <p:cNvSpPr>
            <a:spLocks noGrp="1"/>
          </p:cNvSpPr>
          <p:nvPr/>
        </p:nvSpPr>
        <p:spPr>
          <a:xfrm>
            <a:off x="2362200" y="4781550"/>
            <a:ext cx="1238250" cy="552450"/>
          </a:xfrm>
          <a:prstGeom prst="roundRect">
            <a:avLst>
              <a:gd name="adj" fmla="val 13793"/>
            </a:avLst>
          </a:prstGeom>
          <a:solidFill>
            <a:srgbClr val="F3C43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C288356-DEA9-47FF-BADD-FBC945C8DFFE}"/>
              </a:ext>
            </a:extLst>
          </p:cNvPr>
          <p:cNvSpPr>
            <a:spLocks noGrp="1"/>
          </p:cNvSpPr>
          <p:nvPr/>
        </p:nvSpPr>
        <p:spPr>
          <a:xfrm>
            <a:off x="2495550" y="49053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1개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6F64904-CF66-438C-9A89-6FBC882041BA}"/>
              </a:ext>
            </a:extLst>
          </p:cNvPr>
          <p:cNvSpPr>
            <a:spLocks noGrp="1"/>
          </p:cNvSpPr>
          <p:nvPr/>
        </p:nvSpPr>
        <p:spPr>
          <a:xfrm>
            <a:off x="685800" y="585787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인덱스 수가 많은 서브메시부터 유지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AB28FF-AC68-4958-BFF9-078EABA428D7}"/>
              </a:ext>
            </a:extLst>
          </p:cNvPr>
          <p:cNvSpPr>
            <a:spLocks noGrp="1"/>
          </p:cNvSpPr>
          <p:nvPr/>
        </p:nvSpPr>
        <p:spPr>
          <a:xfrm>
            <a:off x="4953000" y="585787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 algn="r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메인 래스터 패스에만 적용하며 그림자 패스는 거리로 제거하지 않음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12A5689-67D1-4D69-9DD3-E51F675F5FF4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22125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>
            <a:extLst>
              <a:ext uri="{FF2B5EF4-FFF2-40B4-BE49-F238E27FC236}">
                <a16:creationId xmlns:a16="http://schemas.microsoft.com/office/drawing/2014/main" id="{F6B40B0A-6D3A-424A-BC5B-B3306A2F4F8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B50143A-F085-427E-B657-E49F0A20E257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DXR 지오메트리 LOD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A6E76D-2E39-4654-BED2-549918A5779E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레이트레이싱도 실제 단순화 메시와 교차 판정을 수행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D85ED0-DA44-409E-9B56-24ED40337A93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F38B67-E1B2-408E-A169-470A04A080FA}"/>
              </a:ext>
            </a:extLst>
          </p:cNvPr>
          <p:cNvSpPr>
            <a:spLocks noGrp="1"/>
          </p:cNvSpPr>
          <p:nvPr/>
        </p:nvSpPr>
        <p:spPr>
          <a:xfrm>
            <a:off x="590550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167141-5BC5-489D-9D65-275FF207EB65}"/>
              </a:ext>
            </a:extLst>
          </p:cNvPr>
          <p:cNvSpPr>
            <a:spLocks noGrp="1"/>
          </p:cNvSpPr>
          <p:nvPr/>
        </p:nvSpPr>
        <p:spPr>
          <a:xfrm>
            <a:off x="590550" y="2238375"/>
            <a:ext cx="2381250" cy="76200"/>
          </a:xfrm>
          <a:prstGeom prst="rect">
            <a:avLst/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CD37810-50A1-4813-B188-3A50787D65F5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2D0369-1143-45B3-9EAB-28AAF81BBB81}"/>
              </a:ext>
            </a:extLst>
          </p:cNvPr>
          <p:cNvSpPr>
            <a:spLocks noGrp="1"/>
          </p:cNvSpPr>
          <p:nvPr/>
        </p:nvSpPr>
        <p:spPr>
          <a:xfrm>
            <a:off x="781050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LOD 메시 생성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68431C-E4E7-48C2-B34F-702CFE4E7DB1}"/>
              </a:ext>
            </a:extLst>
          </p:cNvPr>
          <p:cNvSpPr>
            <a:spLocks noGrp="1"/>
          </p:cNvSpPr>
          <p:nvPr/>
        </p:nvSpPr>
        <p:spPr>
          <a:xfrm>
            <a:off x="781050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전용 BLAS를 함께 생성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471EF83E-2A08-456B-8653-25C06F7220C2}"/>
              </a:ext>
            </a:extLst>
          </p:cNvPr>
          <p:cNvSpPr>
            <a:spLocks noGrp="1"/>
          </p:cNvSpPr>
          <p:nvPr/>
        </p:nvSpPr>
        <p:spPr>
          <a:xfrm>
            <a:off x="2971800" y="3209925"/>
            <a:ext cx="42862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C18882B-91EB-4B3D-B521-E67B3721DAD4}"/>
              </a:ext>
            </a:extLst>
          </p:cNvPr>
          <p:cNvSpPr>
            <a:spLocks noGrp="1"/>
          </p:cNvSpPr>
          <p:nvPr/>
        </p:nvSpPr>
        <p:spPr>
          <a:xfrm>
            <a:off x="3400425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D4119D-1CD6-4CC9-AAA9-A38FE96D1B4D}"/>
              </a:ext>
            </a:extLst>
          </p:cNvPr>
          <p:cNvSpPr>
            <a:spLocks noGrp="1"/>
          </p:cNvSpPr>
          <p:nvPr/>
        </p:nvSpPr>
        <p:spPr>
          <a:xfrm>
            <a:off x="3400425" y="2238375"/>
            <a:ext cx="2381250" cy="76200"/>
          </a:xfrm>
          <a:prstGeom prst="rect">
            <a:avLst/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3DC7554-AD6B-4227-8189-CFDB5F2ED686}"/>
              </a:ext>
            </a:extLst>
          </p:cNvPr>
          <p:cNvSpPr>
            <a:spLocks noGrp="1"/>
          </p:cNvSpPr>
          <p:nvPr/>
        </p:nvSpPr>
        <p:spPr>
          <a:xfrm>
            <a:off x="3590925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BCD9E6-FE47-40C9-9A30-787E813F3816}"/>
              </a:ext>
            </a:extLst>
          </p:cNvPr>
          <p:cNvSpPr>
            <a:spLocks noGrp="1"/>
          </p:cNvSpPr>
          <p:nvPr/>
        </p:nvSpPr>
        <p:spPr>
          <a:xfrm>
            <a:off x="3590925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 조건 충족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23B29D-822F-465C-BE9D-7786A5C05DBE}"/>
              </a:ext>
            </a:extLst>
          </p:cNvPr>
          <p:cNvSpPr>
            <a:spLocks noGrp="1"/>
          </p:cNvSpPr>
          <p:nvPr/>
        </p:nvSpPr>
        <p:spPr>
          <a:xfrm>
            <a:off x="3590925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TLAS가 LOD BLAS를 참조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18116BDF-1901-4355-8C50-CAC80B2A7F2E}"/>
              </a:ext>
            </a:extLst>
          </p:cNvPr>
          <p:cNvSpPr>
            <a:spLocks noGrp="1"/>
          </p:cNvSpPr>
          <p:nvPr/>
        </p:nvSpPr>
        <p:spPr>
          <a:xfrm>
            <a:off x="5781675" y="3209925"/>
            <a:ext cx="42862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D3C438-F092-4B59-8ECE-F32B1A4FAFBB}"/>
              </a:ext>
            </a:extLst>
          </p:cNvPr>
          <p:cNvSpPr>
            <a:spLocks noGrp="1"/>
          </p:cNvSpPr>
          <p:nvPr/>
        </p:nvSpPr>
        <p:spPr>
          <a:xfrm>
            <a:off x="6210300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9E63F47-0D1B-41F5-8A07-4A6F22DB080D}"/>
              </a:ext>
            </a:extLst>
          </p:cNvPr>
          <p:cNvSpPr>
            <a:spLocks noGrp="1"/>
          </p:cNvSpPr>
          <p:nvPr/>
        </p:nvSpPr>
        <p:spPr>
          <a:xfrm>
            <a:off x="6210300" y="2238375"/>
            <a:ext cx="2381250" cy="76200"/>
          </a:xfrm>
          <a:prstGeom prst="rect">
            <a:avLst/>
          </a:prstGeom>
          <a:solidFill>
            <a:srgbClr val="E64694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D8B3B33-F063-46DE-81AC-32D8D17A2F96}"/>
              </a:ext>
            </a:extLst>
          </p:cNvPr>
          <p:cNvSpPr>
            <a:spLocks noGrp="1"/>
          </p:cNvSpPr>
          <p:nvPr/>
        </p:nvSpPr>
        <p:spPr>
          <a:xfrm>
            <a:off x="6400800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A9793D4-9391-440D-8FDD-D0EAB2C1FF00}"/>
              </a:ext>
            </a:extLst>
          </p:cNvPr>
          <p:cNvSpPr>
            <a:spLocks noGrp="1"/>
          </p:cNvSpPr>
          <p:nvPr/>
        </p:nvSpPr>
        <p:spPr>
          <a:xfrm>
            <a:off x="6400800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레코드 교체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BC96668-0A75-44CD-8EE1-257436EB4680}"/>
              </a:ext>
            </a:extLst>
          </p:cNvPr>
          <p:cNvSpPr>
            <a:spLocks noGrp="1"/>
          </p:cNvSpPr>
          <p:nvPr/>
        </p:nvSpPr>
        <p:spPr>
          <a:xfrm>
            <a:off x="6400800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Hit Group 인덱스를 함께 변경</a:t>
            </a:r>
          </a:p>
        </p:txBody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DC5345CD-813E-4A21-9AD2-02A5A2086059}"/>
              </a:ext>
            </a:extLst>
          </p:cNvPr>
          <p:cNvSpPr>
            <a:spLocks noGrp="1"/>
          </p:cNvSpPr>
          <p:nvPr/>
        </p:nvSpPr>
        <p:spPr>
          <a:xfrm>
            <a:off x="8591550" y="3209925"/>
            <a:ext cx="42862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5E98A5EB-16A6-4CA0-99E2-5DB38C803CE5}"/>
              </a:ext>
            </a:extLst>
          </p:cNvPr>
          <p:cNvSpPr>
            <a:spLocks noGrp="1"/>
          </p:cNvSpPr>
          <p:nvPr/>
        </p:nvSpPr>
        <p:spPr>
          <a:xfrm>
            <a:off x="9020175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968879-404D-4666-9637-270BA988DBE2}"/>
              </a:ext>
            </a:extLst>
          </p:cNvPr>
          <p:cNvSpPr>
            <a:spLocks noGrp="1"/>
          </p:cNvSpPr>
          <p:nvPr/>
        </p:nvSpPr>
        <p:spPr>
          <a:xfrm>
            <a:off x="9020175" y="2238375"/>
            <a:ext cx="2381250" cy="76200"/>
          </a:xfrm>
          <a:prstGeom prst="rect">
            <a:avLst/>
          </a:prstGeom>
          <a:solidFill>
            <a:srgbClr val="F3C43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D7CD66E-97D7-4136-9942-44D080548575}"/>
              </a:ext>
            </a:extLst>
          </p:cNvPr>
          <p:cNvSpPr>
            <a:spLocks noGrp="1"/>
          </p:cNvSpPr>
          <p:nvPr/>
        </p:nvSpPr>
        <p:spPr>
          <a:xfrm>
            <a:off x="9210675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0AD0327-FCE2-46FB-A2DF-CC68A4C73EB9}"/>
              </a:ext>
            </a:extLst>
          </p:cNvPr>
          <p:cNvSpPr>
            <a:spLocks noGrp="1"/>
          </p:cNvSpPr>
          <p:nvPr/>
        </p:nvSpPr>
        <p:spPr>
          <a:xfrm>
            <a:off x="9210675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검증·복구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6186329-4394-4AD5-9D75-DCDD23F1B115}"/>
              </a:ext>
            </a:extLst>
          </p:cNvPr>
          <p:cNvSpPr>
            <a:spLocks noGrp="1"/>
          </p:cNvSpPr>
          <p:nvPr/>
        </p:nvSpPr>
        <p:spPr>
          <a:xfrm>
            <a:off x="9210675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실패 시 원본 BLAS로 복원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5FCFE90-CE75-4ECE-83E7-1FA96130B29C}"/>
              </a:ext>
            </a:extLst>
          </p:cNvPr>
          <p:cNvSpPr>
            <a:spLocks noGrp="1"/>
          </p:cNvSpPr>
          <p:nvPr/>
        </p:nvSpPr>
        <p:spPr>
          <a:xfrm>
            <a:off x="628650" y="476250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단일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메시와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모델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내부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노드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단위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RT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인스턴스를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모두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처리</a:t>
            </a:r>
            <a:endParaRPr sz="1425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defRPr sz="142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적용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개수와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실패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원인을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런타임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통계로</a:t>
            </a:r>
            <a:r>
              <a:rPr sz="1425" b="0" dirty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0" dirty="0" err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수집</a:t>
            </a:r>
            <a:endParaRPr sz="1425" b="0" dirty="0">
              <a:solidFill>
                <a:srgbClr val="11131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D60EAF9-A9BF-4DD3-9197-C2844FEA702D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8337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9E564AD7-51D0-43CB-8903-21B9329FD5E0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A435B9D-EF44-42EC-A38C-D03CA1DD851D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진단 시스템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5568F8F-CFBA-42BF-829D-C2F5D79DDC63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최적화 효과와 실패 원인을 런타임에서 함께 계측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3B6EE16-09E7-4459-B23E-0D9D275045C3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028A179-0984-4161-93FA-CD49876116B3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Frame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D4E30CA-AF0A-4306-B08B-6C29BFAB2A7D}"/>
              </a:ext>
            </a:extLst>
          </p:cNvPr>
          <p:cNvSpPr>
            <a:spLocks noGrp="1"/>
          </p:cNvSpPr>
          <p:nvPr/>
        </p:nvSpPr>
        <p:spPr>
          <a:xfrm>
            <a:off x="2571750" y="193357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FPS · 평균/최대 프레임 시간 · GPU 대기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712E29F-94E4-4B2C-AD3D-146CDCCC2911}"/>
              </a:ext>
            </a:extLst>
          </p:cNvPr>
          <p:cNvSpPr>
            <a:spLocks noGrp="1"/>
          </p:cNvSpPr>
          <p:nvPr/>
        </p:nvSpPr>
        <p:spPr>
          <a:xfrm>
            <a:off x="647700" y="23812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6256409-BB4D-4362-81DF-84BCB4A8CA18}"/>
              </a:ext>
            </a:extLst>
          </p:cNvPr>
          <p:cNvSpPr>
            <a:spLocks noGrp="1"/>
          </p:cNvSpPr>
          <p:nvPr/>
        </p:nvSpPr>
        <p:spPr>
          <a:xfrm>
            <a:off x="647700" y="270510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ACE785-DF16-4E6B-A141-74AA74924CA5}"/>
              </a:ext>
            </a:extLst>
          </p:cNvPr>
          <p:cNvSpPr>
            <a:spLocks noGrp="1"/>
          </p:cNvSpPr>
          <p:nvPr/>
        </p:nvSpPr>
        <p:spPr>
          <a:xfrm>
            <a:off x="2571750" y="271462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메인 · 그림자 · 컴퓨트 패스 시간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96F451D-3252-4660-8E91-1A34AE3D2510}"/>
              </a:ext>
            </a:extLst>
          </p:cNvPr>
          <p:cNvSpPr>
            <a:spLocks noGrp="1"/>
          </p:cNvSpPr>
          <p:nvPr/>
        </p:nvSpPr>
        <p:spPr>
          <a:xfrm>
            <a:off x="647700" y="316230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F840B4-4A9A-41CE-B487-E92C0F2A46CA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Geometry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7E47884-932D-4FE3-A999-3B03DE4D9604}"/>
              </a:ext>
            </a:extLst>
          </p:cNvPr>
          <p:cNvSpPr>
            <a:spLocks noGrp="1"/>
          </p:cNvSpPr>
          <p:nvPr/>
        </p:nvSpPr>
        <p:spPr>
          <a:xfrm>
            <a:off x="2571750" y="349567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원본/LOD 삼각형 · 제거된 서브메시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CBB8AD9-B82A-4B04-9CB0-E02239E94374}"/>
              </a:ext>
            </a:extLst>
          </p:cNvPr>
          <p:cNvSpPr>
            <a:spLocks noGrp="1"/>
          </p:cNvSpPr>
          <p:nvPr/>
        </p:nvSpPr>
        <p:spPr>
          <a:xfrm>
            <a:off x="647700" y="39433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9A67239-8147-4477-84CC-0F5012A0D9CF}"/>
              </a:ext>
            </a:extLst>
          </p:cNvPr>
          <p:cNvSpPr>
            <a:spLocks noGrp="1"/>
          </p:cNvSpPr>
          <p:nvPr/>
        </p:nvSpPr>
        <p:spPr>
          <a:xfrm>
            <a:off x="647700" y="426720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Draw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F4550F3-AF00-4D6A-8A3A-6C575FFD1422}"/>
              </a:ext>
            </a:extLst>
          </p:cNvPr>
          <p:cNvSpPr>
            <a:spLocks noGrp="1"/>
          </p:cNvSpPr>
          <p:nvPr/>
        </p:nvSpPr>
        <p:spPr>
          <a:xfrm>
            <a:off x="2571750" y="427672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인스턴싱 전후 드로우 수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DB1755-CFE4-40CE-8C0E-99CC11E8D9F2}"/>
              </a:ext>
            </a:extLst>
          </p:cNvPr>
          <p:cNvSpPr>
            <a:spLocks noGrp="1"/>
          </p:cNvSpPr>
          <p:nvPr/>
        </p:nvSpPr>
        <p:spPr>
          <a:xfrm>
            <a:off x="647700" y="472440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0944983-64B4-425F-AEBA-E9191A8836A8}"/>
              </a:ext>
            </a:extLst>
          </p:cNvPr>
          <p:cNvSpPr>
            <a:spLocks noGrp="1"/>
          </p:cNvSpPr>
          <p:nvPr/>
        </p:nvSpPr>
        <p:spPr>
          <a:xfrm>
            <a:off x="647700" y="50482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DXR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ACD4A2E-D454-4086-BC33-DCECFBCFF885}"/>
              </a:ext>
            </a:extLst>
          </p:cNvPr>
          <p:cNvSpPr>
            <a:spLocks noGrp="1"/>
          </p:cNvSpPr>
          <p:nvPr/>
        </p:nvSpPr>
        <p:spPr>
          <a:xfrm>
            <a:off x="2571750" y="505777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RT LOD 검사·적용 수와 실패 원인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0805183-C303-4AA9-BE4B-77BC1290CE5A}"/>
              </a:ext>
            </a:extLst>
          </p:cNvPr>
          <p:cNvSpPr>
            <a:spLocks noGrp="1"/>
          </p:cNvSpPr>
          <p:nvPr/>
        </p:nvSpPr>
        <p:spPr>
          <a:xfrm>
            <a:off x="647700" y="55054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F733151-FEEC-4587-B7F4-4D531CBCC20D}"/>
              </a:ext>
            </a:extLst>
          </p:cNvPr>
          <p:cNvSpPr>
            <a:spLocks noGrp="1"/>
          </p:cNvSpPr>
          <p:nvPr/>
        </p:nvSpPr>
        <p:spPr>
          <a:xfrm>
            <a:off x="647700" y="6000750"/>
            <a:ext cx="10363200" cy="38100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D9E16F6-F69B-4016-AE4A-9D7D6FFDAD80}"/>
              </a:ext>
            </a:extLst>
          </p:cNvPr>
          <p:cNvSpPr>
            <a:spLocks noGrp="1"/>
          </p:cNvSpPr>
          <p:nvPr/>
        </p:nvSpPr>
        <p:spPr>
          <a:xfrm>
            <a:off x="838200" y="6086475"/>
            <a:ext cx="9906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3809"/>
          </a:bodyPr>
          <a:lstStyle/>
          <a:p>
            <a:pPr algn="l">
              <a:defRPr sz="10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예: LOD 메시 없음 · 감소량 부족 · BLAS 없음 · Hit Group 생성 실패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485831-014B-499E-9F0C-EEB06C0EE75F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0148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41B3027A-39C5-496A-86A5-B410901C4B55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AD6DA80-2424-4C33-AF68-FFC7805A051D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측정 결과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883AF9D-E1E3-40A7-B4DC-8DBE41A9AFE6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대표 래스터 장면의 동일 위치 비교 사례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8AECCE5-5480-4CBE-A974-AD0CDD90659B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7489400-3677-4DEC-8A78-05FDDB0408E7}"/>
              </a:ext>
            </a:extLst>
          </p:cNvPr>
          <p:cNvSpPr>
            <a:spLocks noGrp="1"/>
          </p:cNvSpPr>
          <p:nvPr/>
        </p:nvSpPr>
        <p:spPr>
          <a:xfrm>
            <a:off x="742950" y="2114550"/>
            <a:ext cx="28575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-35%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D8D380-A200-40FB-93EE-E95074A58D7B}"/>
              </a:ext>
            </a:extLst>
          </p:cNvPr>
          <p:cNvSpPr>
            <a:spLocks noGrp="1"/>
          </p:cNvSpPr>
          <p:nvPr/>
        </p:nvSpPr>
        <p:spPr>
          <a:xfrm>
            <a:off x="742950" y="2733675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삼각형 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4E861BB-FC31-4406-928D-099F509987EB}"/>
              </a:ext>
            </a:extLst>
          </p:cNvPr>
          <p:cNvSpPr>
            <a:spLocks noGrp="1"/>
          </p:cNvSpPr>
          <p:nvPr/>
        </p:nvSpPr>
        <p:spPr>
          <a:xfrm>
            <a:off x="4495800" y="2114550"/>
            <a:ext cx="28575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-60%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99F82D-96A8-4933-A43B-6E689E437811}"/>
              </a:ext>
            </a:extLst>
          </p:cNvPr>
          <p:cNvSpPr>
            <a:spLocks noGrp="1"/>
          </p:cNvSpPr>
          <p:nvPr/>
        </p:nvSpPr>
        <p:spPr>
          <a:xfrm>
            <a:off x="4495800" y="2733675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드로우콜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824BF4-83E2-4153-AAF4-8E6C6CD8161C}"/>
              </a:ext>
            </a:extLst>
          </p:cNvPr>
          <p:cNvSpPr>
            <a:spLocks noGrp="1"/>
          </p:cNvSpPr>
          <p:nvPr/>
        </p:nvSpPr>
        <p:spPr>
          <a:xfrm>
            <a:off x="8248650" y="2114550"/>
            <a:ext cx="31432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+27 FPS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F078020-A730-402C-9349-A6D475CC4381}"/>
              </a:ext>
            </a:extLst>
          </p:cNvPr>
          <p:cNvSpPr>
            <a:spLocks noGrp="1"/>
          </p:cNvSpPr>
          <p:nvPr/>
        </p:nvSpPr>
        <p:spPr>
          <a:xfrm>
            <a:off x="8248650" y="2733675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44 FPS → 71 FPS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0A74DB-9629-4754-9A77-52BFA1B75384}"/>
              </a:ext>
            </a:extLst>
          </p:cNvPr>
          <p:cNvSpPr>
            <a:spLocks noGrp="1"/>
          </p:cNvSpPr>
          <p:nvPr/>
        </p:nvSpPr>
        <p:spPr>
          <a:xfrm>
            <a:off x="742950" y="3714750"/>
            <a:ext cx="1064895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E8728F-86D2-4BA4-AFF7-E7EA8EC596CE}"/>
              </a:ext>
            </a:extLst>
          </p:cNvPr>
          <p:cNvSpPr>
            <a:spLocks noGrp="1"/>
          </p:cNvSpPr>
          <p:nvPr/>
        </p:nvSpPr>
        <p:spPr>
          <a:xfrm>
            <a:off x="1047750" y="4200525"/>
            <a:ext cx="8572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1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44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8A1EEBE-9DC9-4FC8-B0C9-EDA2FC72F20F}"/>
              </a:ext>
            </a:extLst>
          </p:cNvPr>
          <p:cNvSpPr>
            <a:spLocks noGrp="1"/>
          </p:cNvSpPr>
          <p:nvPr/>
        </p:nvSpPr>
        <p:spPr>
          <a:xfrm>
            <a:off x="2000250" y="4238625"/>
            <a:ext cx="4171950" cy="361950"/>
          </a:xfrm>
          <a:prstGeom prst="roundRect">
            <a:avLst>
              <a:gd name="adj" fmla="val 21053"/>
            </a:avLst>
          </a:prstGeom>
          <a:solidFill>
            <a:srgbClr val="AEB7B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224F8B0-CC90-4B91-97FB-B004295D27C4}"/>
              </a:ext>
            </a:extLst>
          </p:cNvPr>
          <p:cNvSpPr>
            <a:spLocks noGrp="1"/>
          </p:cNvSpPr>
          <p:nvPr/>
        </p:nvSpPr>
        <p:spPr>
          <a:xfrm>
            <a:off x="1047750" y="4933950"/>
            <a:ext cx="8572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1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71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F22FE1A-CD22-4F46-8418-5C017CD80E45}"/>
              </a:ext>
            </a:extLst>
          </p:cNvPr>
          <p:cNvSpPr>
            <a:spLocks noGrp="1"/>
          </p:cNvSpPr>
          <p:nvPr/>
        </p:nvSpPr>
        <p:spPr>
          <a:xfrm>
            <a:off x="2000250" y="4972050"/>
            <a:ext cx="6724650" cy="361950"/>
          </a:xfrm>
          <a:prstGeom prst="roundRect">
            <a:avLst>
              <a:gd name="adj" fmla="val 21053"/>
            </a:avLst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8153F2F-DA31-4DE0-8336-45304E10BFF0}"/>
              </a:ext>
            </a:extLst>
          </p:cNvPr>
          <p:cNvSpPr>
            <a:spLocks noGrp="1"/>
          </p:cNvSpPr>
          <p:nvPr/>
        </p:nvSpPr>
        <p:spPr>
          <a:xfrm>
            <a:off x="9048750" y="4705350"/>
            <a:ext cx="10477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FPS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0480AF6-0D0E-4262-AE35-3DBF1D8A52B2}"/>
              </a:ext>
            </a:extLst>
          </p:cNvPr>
          <p:cNvSpPr>
            <a:spLocks noGrp="1"/>
          </p:cNvSpPr>
          <p:nvPr/>
        </p:nvSpPr>
        <p:spPr>
          <a:xfrm>
            <a:off x="742950" y="5981700"/>
            <a:ext cx="10382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장면 구성과 GPU 병목에 따라 효과가 달라지는 특정 측정 사례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01103EF-FC72-4B74-822D-55FF98AA3E8F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19500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6EA66B-DDE8-4E0F-B242-C99FE896C9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E64694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5E94EEE-3BDD-4862-910F-083E9F0A1A19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DIRECTX 12 GPU PARTICLE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5A4E6E-81C4-48B4-9F5B-8CC9216E5628}"/>
              </a:ext>
            </a:extLst>
          </p:cNvPr>
          <p:cNvSpPr>
            <a:spLocks noGrp="1"/>
          </p:cNvSpPr>
          <p:nvPr/>
        </p:nvSpPr>
        <p:spPr>
          <a:xfrm>
            <a:off x="647700" y="1200150"/>
            <a:ext cx="762000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Compute Shader 기반</a:t>
            </a:r>
          </a:p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파티클 시스템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620819-B8D0-412D-B2BC-AAF884CFEC78}"/>
              </a:ext>
            </a:extLst>
          </p:cNvPr>
          <p:cNvSpPr>
            <a:spLocks noGrp="1"/>
          </p:cNvSpPr>
          <p:nvPr/>
        </p:nvSpPr>
        <p:spPr>
          <a:xfrm>
            <a:off x="704850" y="3124200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rPr>
              <a:t>데이터 구조부터 GPU 시뮬레이션, 렌더링, 게임 이벤트 연동까지 구현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BDB3F7-7B63-4C4F-B29A-9BABB9A04FA0}"/>
              </a:ext>
            </a:extLst>
          </p:cNvPr>
          <p:cNvSpPr>
            <a:spLocks noGrp="1"/>
          </p:cNvSpPr>
          <p:nvPr/>
        </p:nvSpPr>
        <p:spPr>
          <a:xfrm>
            <a:off x="704850" y="40957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22종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47677F3-A647-4410-AB02-CF3A5857879E}"/>
              </a:ext>
            </a:extLst>
          </p:cNvPr>
          <p:cNvSpPr>
            <a:spLocks noGrp="1"/>
          </p:cNvSpPr>
          <p:nvPr/>
        </p:nvSpPr>
        <p:spPr>
          <a:xfrm>
            <a:off x="704850" y="47148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스킬 파티클 런타임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54ED65-4721-4285-BD9F-23C3F2DAEE62}"/>
              </a:ext>
            </a:extLst>
          </p:cNvPr>
          <p:cNvSpPr>
            <a:spLocks noGrp="1"/>
          </p:cNvSpPr>
          <p:nvPr/>
        </p:nvSpPr>
        <p:spPr>
          <a:xfrm>
            <a:off x="3714750" y="409575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19개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EEACD2-0BBD-4ECD-A691-CEA75340812B}"/>
              </a:ext>
            </a:extLst>
          </p:cNvPr>
          <p:cNvSpPr>
            <a:spLocks noGrp="1"/>
          </p:cNvSpPr>
          <p:nvPr/>
        </p:nvSpPr>
        <p:spPr>
          <a:xfrm>
            <a:off x="3714750" y="471487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Shader 엔트리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9679A2F-A519-411F-BBAD-30E0A27E9FC1}"/>
              </a:ext>
            </a:extLst>
          </p:cNvPr>
          <p:cNvSpPr>
            <a:spLocks noGrp="1"/>
          </p:cNvSpPr>
          <p:nvPr/>
        </p:nvSpPr>
        <p:spPr>
          <a:xfrm>
            <a:off x="7048500" y="409575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256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4D075C0-B0F1-4147-8841-A9175D3D9E42}"/>
              </a:ext>
            </a:extLst>
          </p:cNvPr>
          <p:cNvSpPr>
            <a:spLocks noGrp="1"/>
          </p:cNvSpPr>
          <p:nvPr/>
        </p:nvSpPr>
        <p:spPr>
          <a:xfrm>
            <a:off x="7048500" y="471487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Dispatch 스레드 단위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00" y="5695950"/>
            <a:ext cx="762000" cy="762000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470150" y="5695950"/>
            <a:ext cx="508000" cy="762000"/>
          </a:xfrm>
          <a:prstGeom prst="rect">
            <a:avLst/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29938" y="5695950"/>
            <a:ext cx="645925" cy="762000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73650" y="5695950"/>
            <a:ext cx="1016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30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81A62542-CF8A-4D32-8386-766373A89ADC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574C6B3-12A1-4DCF-8B51-64714B334411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파티클 데이터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9E8C7E-97D4-4BBA-BD90-CA11C76DF6CF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CPU와 HLSL에서 동일한 메모리 구조를 사용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9A14D1-210B-4AFA-8FD0-F00D2D3CC665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BB26548-AC9A-4D38-B9DC-137A8B291E48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PARTICLE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B7D2397-FD30-41F3-A6BC-608DCBDE6543}"/>
              </a:ext>
            </a:extLst>
          </p:cNvPr>
          <p:cNvSpPr>
            <a:spLocks noGrp="1"/>
          </p:cNvSpPr>
          <p:nvPr/>
        </p:nvSpPr>
        <p:spPr>
          <a:xfrm>
            <a:off x="647700" y="2343150"/>
            <a:ext cx="4857750" cy="285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위치·속도와 현재 나이·수명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시작/종료 색상과 크기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회전·회전 속도와 랜덤 시드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항력·중력·충돌 반경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이동 방향 늘어짐과 플립북 프레임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77B43AC-89F3-48CD-9824-A681038C1E35}"/>
              </a:ext>
            </a:extLst>
          </p:cNvPr>
          <p:cNvSpPr>
            <a:spLocks noGrp="1"/>
          </p:cNvSpPr>
          <p:nvPr/>
        </p:nvSpPr>
        <p:spPr>
          <a:xfrm>
            <a:off x="5943600" y="1952625"/>
            <a:ext cx="19050" cy="33337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9786AE-82F5-4916-A918-E2A05B5C7422}"/>
              </a:ext>
            </a:extLst>
          </p:cNvPr>
          <p:cNvSpPr>
            <a:spLocks noGrp="1"/>
          </p:cNvSpPr>
          <p:nvPr/>
        </p:nvSpPr>
        <p:spPr>
          <a:xfrm>
            <a:off x="641985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EMITTER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C0C6F39-588B-4BDE-962B-A6B97426E9A9}"/>
              </a:ext>
            </a:extLst>
          </p:cNvPr>
          <p:cNvSpPr>
            <a:spLocks noGrp="1"/>
          </p:cNvSpPr>
          <p:nvPr/>
        </p:nvSpPr>
        <p:spPr>
          <a:xfrm>
            <a:off x="6419850" y="2343150"/>
            <a:ext cx="4857750" cy="2381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위치와 이동 방향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반경과 효과 세기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지속시간과 소유자 정보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게임 이벤트의 공통 입력으로 변환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819D06E-9C20-456C-8603-E822D2551D0C}"/>
              </a:ext>
            </a:extLst>
          </p:cNvPr>
          <p:cNvSpPr>
            <a:spLocks noGrp="1"/>
          </p:cNvSpPr>
          <p:nvPr/>
        </p:nvSpPr>
        <p:spPr>
          <a:xfrm>
            <a:off x="647700" y="5524500"/>
            <a:ext cx="10725150" cy="552450"/>
          </a:xfrm>
          <a:prstGeom prst="roundRect">
            <a:avLst>
              <a:gd name="adj" fmla="val 13793"/>
            </a:avLst>
          </a:prstGeom>
          <a:solidFill>
            <a:srgbClr val="FCEAF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FF8C285-F863-4C99-9912-1709758A9539}"/>
              </a:ext>
            </a:extLst>
          </p:cNvPr>
          <p:cNvSpPr>
            <a:spLocks noGrp="1"/>
          </p:cNvSpPr>
          <p:nvPr/>
        </p:nvSpPr>
        <p:spPr>
          <a:xfrm>
            <a:off x="876300" y="5676900"/>
            <a:ext cx="10096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A7236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72362"/>
                </a:solidFill>
                <a:latin typeface="Malgun Gothic"/>
                <a:ea typeface="Malgun Gothic"/>
                <a:cs typeface="Malgun Gothic"/>
              </a:rPr>
              <a:t>공통 구조를 기준으로 효과별 Compute 커널과 Emitter 파라미터를 연결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76A136-9D1C-44D2-8177-AB6DA1FD168D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84041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24A0F63F-99D2-4A19-A951-3C291D47415A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BB979B-1C83-4A49-8CD1-96F712748652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GPU Compute 파이프라인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689D89-0CCA-48C9-9334-ADD9CC09182E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RWStructuredBuffer 기반 UAV에서 파티클 상태를 병렬 갱신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BF1A4B-1E49-45BF-9A1C-9F72B15AC63F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0C80006-D848-400D-89DD-491DF403EA18}"/>
              </a:ext>
            </a:extLst>
          </p:cNvPr>
          <p:cNvSpPr>
            <a:spLocks noGrp="1"/>
          </p:cNvSpPr>
          <p:nvPr/>
        </p:nvSpPr>
        <p:spPr>
          <a:xfrm>
            <a:off x="4000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F22A3E1-90B8-487A-8C7D-52C2DACABBA8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187F930-5B90-4972-A9B3-69040395472A}"/>
              </a:ext>
            </a:extLst>
          </p:cNvPr>
          <p:cNvSpPr>
            <a:spLocks noGrp="1"/>
          </p:cNvSpPr>
          <p:nvPr/>
        </p:nvSpPr>
        <p:spPr>
          <a:xfrm>
            <a:off x="5715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Root Constants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E566EF0-F26D-4CED-8AD1-6BE79603BD33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프레임 시간과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Emitter 입력</a:t>
            </a: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BE8D9246-337D-4890-B6CE-555673D0F5EC}"/>
              </a:ext>
            </a:extLst>
          </p:cNvPr>
          <p:cNvSpPr>
            <a:spLocks noGrp="1"/>
          </p:cNvSpPr>
          <p:nvPr/>
        </p:nvSpPr>
        <p:spPr>
          <a:xfrm>
            <a:off x="220980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C2B34-1BCD-4AA4-996A-778D5FA81565}"/>
              </a:ext>
            </a:extLst>
          </p:cNvPr>
          <p:cNvSpPr>
            <a:spLocks noGrp="1"/>
          </p:cNvSpPr>
          <p:nvPr/>
        </p:nvSpPr>
        <p:spPr>
          <a:xfrm>
            <a:off x="273367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BDEF5-EA5A-4905-8200-50E453F258E8}"/>
              </a:ext>
            </a:extLst>
          </p:cNvPr>
          <p:cNvSpPr>
            <a:spLocks noGrp="1"/>
          </p:cNvSpPr>
          <p:nvPr/>
        </p:nvSpPr>
        <p:spPr>
          <a:xfrm>
            <a:off x="290512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42A1C0-73AD-4270-A9FD-B09172F96FA5}"/>
              </a:ext>
            </a:extLst>
          </p:cNvPr>
          <p:cNvSpPr>
            <a:spLocks noGrp="1"/>
          </p:cNvSpPr>
          <p:nvPr/>
        </p:nvSpPr>
        <p:spPr>
          <a:xfrm>
            <a:off x="290512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UAV 전환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2C9B27-32CA-4016-992E-8E3A82327470}"/>
              </a:ext>
            </a:extLst>
          </p:cNvPr>
          <p:cNvSpPr>
            <a:spLocks noGrp="1"/>
          </p:cNvSpPr>
          <p:nvPr/>
        </p:nvSpPr>
        <p:spPr>
          <a:xfrm>
            <a:off x="290512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쓰기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상태 준비</a:t>
            </a:r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69A670F7-4EF0-415B-8532-57ABE9A488BC}"/>
              </a:ext>
            </a:extLst>
          </p:cNvPr>
          <p:cNvSpPr>
            <a:spLocks noGrp="1"/>
          </p:cNvSpPr>
          <p:nvPr/>
        </p:nvSpPr>
        <p:spPr>
          <a:xfrm>
            <a:off x="454342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AAB422F-99EA-4783-9584-5F677E50DAAD}"/>
              </a:ext>
            </a:extLst>
          </p:cNvPr>
          <p:cNvSpPr>
            <a:spLocks noGrp="1"/>
          </p:cNvSpPr>
          <p:nvPr/>
        </p:nvSpPr>
        <p:spPr>
          <a:xfrm>
            <a:off x="506730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CEAF3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785FC13-446D-4F46-B4D1-08121CA1F7EE}"/>
              </a:ext>
            </a:extLst>
          </p:cNvPr>
          <p:cNvSpPr>
            <a:spLocks noGrp="1"/>
          </p:cNvSpPr>
          <p:nvPr/>
        </p:nvSpPr>
        <p:spPr>
          <a:xfrm>
            <a:off x="523875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D3EDE1C-13EB-42DE-80F6-5625DFA42F71}"/>
              </a:ext>
            </a:extLst>
          </p:cNvPr>
          <p:cNvSpPr>
            <a:spLocks noGrp="1"/>
          </p:cNvSpPr>
          <p:nvPr/>
        </p:nvSpPr>
        <p:spPr>
          <a:xfrm>
            <a:off x="523875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Dispatch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C7CB04-00BA-4DF8-9592-44D5A321FB85}"/>
              </a:ext>
            </a:extLst>
          </p:cNvPr>
          <p:cNvSpPr>
            <a:spLocks noGrp="1"/>
          </p:cNvSpPr>
          <p:nvPr/>
        </p:nvSpPr>
        <p:spPr>
          <a:xfrm>
            <a:off x="523875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256 threads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병렬 갱신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8FBEAA17-6508-42EE-90A2-BD6762ADDC89}"/>
              </a:ext>
            </a:extLst>
          </p:cNvPr>
          <p:cNvSpPr>
            <a:spLocks noGrp="1"/>
          </p:cNvSpPr>
          <p:nvPr/>
        </p:nvSpPr>
        <p:spPr>
          <a:xfrm>
            <a:off x="687705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486E5C4-D4BF-4E0C-A6F5-0BEE9FBFA4A3}"/>
              </a:ext>
            </a:extLst>
          </p:cNvPr>
          <p:cNvSpPr>
            <a:spLocks noGrp="1"/>
          </p:cNvSpPr>
          <p:nvPr/>
        </p:nvSpPr>
        <p:spPr>
          <a:xfrm>
            <a:off x="740092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5227B77-5AF3-47F7-A7B6-9278ED80CDD7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C0B5C3B-2882-4F15-A156-B53B83254C72}"/>
              </a:ext>
            </a:extLst>
          </p:cNvPr>
          <p:cNvSpPr>
            <a:spLocks noGrp="1"/>
          </p:cNvSpPr>
          <p:nvPr/>
        </p:nvSpPr>
        <p:spPr>
          <a:xfrm>
            <a:off x="757237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Simulation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866CF26-1DF0-41FE-8319-D212D95611DB}"/>
              </a:ext>
            </a:extLst>
          </p:cNvPr>
          <p:cNvSpPr>
            <a:spLocks noGrp="1"/>
          </p:cNvSpPr>
          <p:nvPr/>
        </p:nvSpPr>
        <p:spPr>
          <a:xfrm>
            <a:off x="757237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중력·항력·난류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충돌·재생성</a:t>
            </a: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29B32172-1891-4FCD-9041-E5D358920F74}"/>
              </a:ext>
            </a:extLst>
          </p:cNvPr>
          <p:cNvSpPr>
            <a:spLocks noGrp="1"/>
          </p:cNvSpPr>
          <p:nvPr/>
        </p:nvSpPr>
        <p:spPr>
          <a:xfrm>
            <a:off x="921067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8C09B8B-6AE3-47F9-9971-35A7FB4E8EDD}"/>
              </a:ext>
            </a:extLst>
          </p:cNvPr>
          <p:cNvSpPr>
            <a:spLocks noGrp="1"/>
          </p:cNvSpPr>
          <p:nvPr/>
        </p:nvSpPr>
        <p:spPr>
          <a:xfrm>
            <a:off x="97345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6AB6D79-0AC7-4C9F-A49F-8BAF0FB3D14C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0198C12-7994-4138-8360-1820EBABD9CF}"/>
              </a:ext>
            </a:extLst>
          </p:cNvPr>
          <p:cNvSpPr>
            <a:spLocks noGrp="1"/>
          </p:cNvSpPr>
          <p:nvPr/>
        </p:nvSpPr>
        <p:spPr>
          <a:xfrm>
            <a:off x="99060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SRV 전환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32E6C49-8356-4B63-BD5E-B2575184F676}"/>
              </a:ext>
            </a:extLst>
          </p:cNvPr>
          <p:cNvSpPr>
            <a:spLocks noGrp="1"/>
          </p:cNvSpPr>
          <p:nvPr/>
        </p:nvSpPr>
        <p:spPr>
          <a:xfrm>
            <a:off x="99060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그래픽스 렌더링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상태 복귀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590CDE-D4BD-4BF4-946B-C44B62963F70}"/>
              </a:ext>
            </a:extLst>
          </p:cNvPr>
          <p:cNvSpPr>
            <a:spLocks noGrp="1"/>
          </p:cNvSpPr>
          <p:nvPr/>
        </p:nvSpPr>
        <p:spPr>
          <a:xfrm>
            <a:off x="647700" y="4686300"/>
            <a:ext cx="104775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위치·속도·회전·수명·플립북 프레임을 GPU에서 갱신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파티클별 고정 시드로 재현 가능한 분포 생성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지면 충돌과 반동, 수명 종료 후 재생성 처리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288EDC6-35BF-4E7F-A659-06F0D91A4C1A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83545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EBE41FBC-D693-4167-ABD3-1CF289FA57E6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06A46A2-EC99-4E26-AB1A-AC4ECE9ECBF1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효과 런타임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5FA5D8A-CABD-4B04-83F9-60017861EA38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공통 시스템에서 효과별 리소스와 Compute 엔트리를 등록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8A3FBF-D699-43F5-A61B-D7FCD18ACAA8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F079ABD-BF20-41B8-9D47-F31838698FD6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Game Event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A0117F4-EB50-4537-B6F2-6A97FEA84889}"/>
              </a:ext>
            </a:extLst>
          </p:cNvPr>
          <p:cNvSpPr>
            <a:spLocks noGrp="1"/>
          </p:cNvSpPr>
          <p:nvPr/>
        </p:nvSpPr>
        <p:spPr>
          <a:xfrm>
            <a:off x="2800350" y="19335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스킬 효과 타입과 위치·방향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A4190B-1E00-4645-B71B-36E867AE99B4}"/>
              </a:ext>
            </a:extLst>
          </p:cNvPr>
          <p:cNvSpPr>
            <a:spLocks noGrp="1"/>
          </p:cNvSpPr>
          <p:nvPr/>
        </p:nvSpPr>
        <p:spPr>
          <a:xfrm>
            <a:off x="647700" y="23812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6B4DE6-4B54-4612-9906-E6AE3C7F26E6}"/>
              </a:ext>
            </a:extLst>
          </p:cNvPr>
          <p:cNvSpPr>
            <a:spLocks noGrp="1"/>
          </p:cNvSpPr>
          <p:nvPr/>
        </p:nvSpPr>
        <p:spPr>
          <a:xfrm>
            <a:off x="647700" y="27622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Runtime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8C2DA74-6D2B-4F59-A0CF-5E6C919FAE6E}"/>
              </a:ext>
            </a:extLst>
          </p:cNvPr>
          <p:cNvSpPr>
            <a:spLocks noGrp="1"/>
          </p:cNvSpPr>
          <p:nvPr/>
        </p:nvSpPr>
        <p:spPr>
          <a:xfrm>
            <a:off x="2800350" y="27717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전용 파티클 풀과 Emitter 상태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7494284-E084-498E-B998-0B37DA488F26}"/>
              </a:ext>
            </a:extLst>
          </p:cNvPr>
          <p:cNvSpPr>
            <a:spLocks noGrp="1"/>
          </p:cNvSpPr>
          <p:nvPr/>
        </p:nvSpPr>
        <p:spPr>
          <a:xfrm>
            <a:off x="647700" y="32194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118B82-32F0-45B0-ADAE-0429170748C3}"/>
              </a:ext>
            </a:extLst>
          </p:cNvPr>
          <p:cNvSpPr>
            <a:spLocks noGrp="1"/>
          </p:cNvSpPr>
          <p:nvPr/>
        </p:nvSpPr>
        <p:spPr>
          <a:xfrm>
            <a:off x="647700" y="36004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Compute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D243772-E6A1-4306-8EFA-CB843187ADA7}"/>
              </a:ext>
            </a:extLst>
          </p:cNvPr>
          <p:cNvSpPr>
            <a:spLocks noGrp="1"/>
          </p:cNvSpPr>
          <p:nvPr/>
        </p:nvSpPr>
        <p:spPr>
          <a:xfrm>
            <a:off x="2800350" y="36099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Shader 객체와 엔트리 선택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96E312A-A344-4D84-9AA3-72C269900780}"/>
              </a:ext>
            </a:extLst>
          </p:cNvPr>
          <p:cNvSpPr>
            <a:spLocks noGrp="1"/>
          </p:cNvSpPr>
          <p:nvPr/>
        </p:nvSpPr>
        <p:spPr>
          <a:xfrm>
            <a:off x="647700" y="40576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03DC7F-AA6A-41EE-BB12-FD96AD4A3F82}"/>
              </a:ext>
            </a:extLst>
          </p:cNvPr>
          <p:cNvSpPr>
            <a:spLocks noGrp="1"/>
          </p:cNvSpPr>
          <p:nvPr/>
        </p:nvSpPr>
        <p:spPr>
          <a:xfrm>
            <a:off x="647700" y="44386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Render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722286F-4EBA-40A7-818F-24C57062636B}"/>
              </a:ext>
            </a:extLst>
          </p:cNvPr>
          <p:cNvSpPr>
            <a:spLocks noGrp="1"/>
          </p:cNvSpPr>
          <p:nvPr/>
        </p:nvSpPr>
        <p:spPr>
          <a:xfrm>
            <a:off x="2800350" y="44481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텍스처 슬롯과 활성 상태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F9B064-97F1-4A36-8AFE-38FC1B1BC3E7}"/>
              </a:ext>
            </a:extLst>
          </p:cNvPr>
          <p:cNvSpPr>
            <a:spLocks noGrp="1"/>
          </p:cNvSpPr>
          <p:nvPr/>
        </p:nvSpPr>
        <p:spPr>
          <a:xfrm>
            <a:off x="647700" y="48958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03FE7F-FDA2-4171-A687-D982E1940F2C}"/>
              </a:ext>
            </a:extLst>
          </p:cNvPr>
          <p:cNvSpPr>
            <a:spLocks noGrp="1"/>
          </p:cNvSpPr>
          <p:nvPr/>
        </p:nvSpPr>
        <p:spPr>
          <a:xfrm>
            <a:off x="685800" y="53721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3162B8-FA5F-434D-AA8C-8DE81BB1AE6F}"/>
              </a:ext>
            </a:extLst>
          </p:cNvPr>
          <p:cNvSpPr>
            <a:spLocks noGrp="1"/>
          </p:cNvSpPr>
          <p:nvPr/>
        </p:nvSpPr>
        <p:spPr>
          <a:xfrm>
            <a:off x="685800" y="599122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등록된 스킬 파티클 런타임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62AB49-B4D6-4CA2-8B91-265BC0269B78}"/>
              </a:ext>
            </a:extLst>
          </p:cNvPr>
          <p:cNvSpPr>
            <a:spLocks noGrp="1"/>
          </p:cNvSpPr>
          <p:nvPr/>
        </p:nvSpPr>
        <p:spPr>
          <a:xfrm>
            <a:off x="4286250" y="53721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123B09-D042-4E4D-A2AB-6A9231BE1888}"/>
              </a:ext>
            </a:extLst>
          </p:cNvPr>
          <p:cNvSpPr>
            <a:spLocks noGrp="1"/>
          </p:cNvSpPr>
          <p:nvPr/>
        </p:nvSpPr>
        <p:spPr>
          <a:xfrm>
            <a:off x="4286250" y="599122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Shader 엔트리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4CE8DCF-30EF-4F7B-8FB9-0216F572267B}"/>
              </a:ext>
            </a:extLst>
          </p:cNvPr>
          <p:cNvSpPr>
            <a:spLocks noGrp="1"/>
          </p:cNvSpPr>
          <p:nvPr/>
        </p:nvSpPr>
        <p:spPr>
          <a:xfrm>
            <a:off x="7734300" y="5553075"/>
            <a:ext cx="352425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유사 효과는 커널을 재사용하고 Emitter 값과 텍스처를 변경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502F8B9-E6B2-459D-B0F6-68947D76B888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09236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1BC6B8F9-130F-4C11-BC6F-D9EEA89FEF24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555AC9E-3624-40FF-B4D3-210C0EF9E7C7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파티클 렌더링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18C7DB-8C69-40F6-9080-57AEC83144F2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별도 정점 버퍼 없이 쿼드를 생성하고 수명에 따라 표현을 변화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CF6F6FC-BDEC-447B-8B7E-EC45B59EE8BE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71FC5F-AA07-4FF5-8C1C-3128B7EBAEA9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GEOMETRY &amp; ANIMATION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440CBC9-D01F-4FCE-9338-BD744CA8FECC}"/>
              </a:ext>
            </a:extLst>
          </p:cNvPr>
          <p:cNvSpPr>
            <a:spLocks noGrp="1"/>
          </p:cNvSpPr>
          <p:nvPr/>
        </p:nvSpPr>
        <p:spPr>
          <a:xfrm>
            <a:off x="647700" y="2343150"/>
            <a:ext cx="4857750" cy="2333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SV_VertexID 기반 파티클 쿼드 생성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카메라 방향을 이용한 빌보드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속도 방향에 따른 늘어짐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색상·크기·회전·플립북 보간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4F3332-A238-4767-9166-9F9F81A5E397}"/>
              </a:ext>
            </a:extLst>
          </p:cNvPr>
          <p:cNvSpPr>
            <a:spLocks noGrp="1"/>
          </p:cNvSpPr>
          <p:nvPr/>
        </p:nvSpPr>
        <p:spPr>
          <a:xfrm>
            <a:off x="5943600" y="1952625"/>
            <a:ext cx="19050" cy="300037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621D958-6D9D-4A8B-8482-C2491BB04E4A}"/>
              </a:ext>
            </a:extLst>
          </p:cNvPr>
          <p:cNvSpPr>
            <a:spLocks noGrp="1"/>
          </p:cNvSpPr>
          <p:nvPr/>
        </p:nvSpPr>
        <p:spPr>
          <a:xfrm>
            <a:off x="641985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BLEND &amp; DEPTH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9A9CB02-393B-48C9-8C94-E45B160B90F0}"/>
              </a:ext>
            </a:extLst>
          </p:cNvPr>
          <p:cNvSpPr>
            <a:spLocks noGrp="1"/>
          </p:cNvSpPr>
          <p:nvPr/>
        </p:nvSpPr>
        <p:spPr>
          <a:xfrm>
            <a:off x="6419850" y="2343150"/>
            <a:ext cx="4857750" cy="2333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가산 혼합 기반 발광 표현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깊이 쓰기 없이 깊이 검사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래스터·레이 트레이싱 깊이 선택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장면 깊이 뒤의 파티클 제거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7700" y="5067300"/>
            <a:ext cx="2286000" cy="914400"/>
          </a:xfrm>
          <a:prstGeom prst="rect">
            <a:avLst/>
          </a:prstGeom>
        </p:spPr>
      </p:pic>
      <p:pic>
        <p:nvPicPr>
          <p:cNvPr id="25" name="그림 2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71850" y="5095875"/>
            <a:ext cx="2286000" cy="857250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762750" y="5048250"/>
            <a:ext cx="952500" cy="952500"/>
          </a:xfrm>
          <a:prstGeom prst="rect">
            <a:avLst/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486900" y="5048250"/>
            <a:ext cx="952500" cy="9525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16AA3698-A8F2-4E9E-85A2-A8834526AF1C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57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133AC7EF-23E6-4D6B-9FC7-FE41A6D22D1E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3414505-61D7-478C-92F3-A42C7CC4FC6D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게임 연동과 생성형 AI 활용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6B60ADC-37C1-4E13-9C2D-B94EDDC64D7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실행 범위와 GPU 리소스는 직접 통제하고 효과 제작에 AI를 보조적으로 활용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18254D-F338-4A57-9554-C8159538D86F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37645E1-8FBF-4353-B35B-A9385B7A61B6}"/>
              </a:ext>
            </a:extLst>
          </p:cNvPr>
          <p:cNvSpPr>
            <a:spLocks noGrp="1"/>
          </p:cNvSpPr>
          <p:nvPr/>
        </p:nvSpPr>
        <p:spPr>
          <a:xfrm>
            <a:off x="64770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CPU / GPU HYBRID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220C14-7640-478C-BAF2-67799C160914}"/>
              </a:ext>
            </a:extLst>
          </p:cNvPr>
          <p:cNvSpPr>
            <a:spLocks noGrp="1"/>
          </p:cNvSpPr>
          <p:nvPr/>
        </p:nvSpPr>
        <p:spPr>
          <a:xfrm>
            <a:off x="647700" y="2305050"/>
            <a:ext cx="5143500" cy="2190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지속적으로 많은 입자를 쓰는 효과는 Compute Shader에서 갱신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게임 오브젝트와 직접 연결되거나 적은 효과는 CPU에서 갱신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SpawnSkillEffect로 네트워크 효과 이벤트와 런타임을 연결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반경 36, 세기 60, 지속시간 4초로 입력 범위를 제한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47637A-392C-4B18-89FC-6870F7875B0C}"/>
              </a:ext>
            </a:extLst>
          </p:cNvPr>
          <p:cNvSpPr>
            <a:spLocks noGrp="1"/>
          </p:cNvSpPr>
          <p:nvPr/>
        </p:nvSpPr>
        <p:spPr>
          <a:xfrm>
            <a:off x="6096000" y="1952625"/>
            <a:ext cx="19050" cy="33337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BA3CE9-9602-4519-9C31-6C6DD1BD14F3}"/>
              </a:ext>
            </a:extLst>
          </p:cNvPr>
          <p:cNvSpPr>
            <a:spLocks noGrp="1"/>
          </p:cNvSpPr>
          <p:nvPr/>
        </p:nvSpPr>
        <p:spPr>
          <a:xfrm>
            <a:off x="653415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GENERATIVE AI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BCC342-4EA0-458E-A5AA-2C12763FB62E}"/>
              </a:ext>
            </a:extLst>
          </p:cNvPr>
          <p:cNvSpPr>
            <a:spLocks noGrp="1"/>
          </p:cNvSpPr>
          <p:nvPr/>
        </p:nvSpPr>
        <p:spPr>
          <a:xfrm>
            <a:off x="6534150" y="2305050"/>
            <a:ext cx="4762500" cy="2190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효과별 초기 이동 패턴과 분포 코드 작성 보조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색상·크기·속도·수명 파라미터 조합 탐색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공통 Particle 구조와 등록된 엔트리 안에서만 사용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성능·안정성·게임 이벤트 연결은 직접 설계하고 검증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A304831-3F46-4781-A09E-E24A0A02307F}"/>
              </a:ext>
            </a:extLst>
          </p:cNvPr>
          <p:cNvSpPr>
            <a:spLocks noGrp="1"/>
          </p:cNvSpPr>
          <p:nvPr/>
        </p:nvSpPr>
        <p:spPr>
          <a:xfrm>
            <a:off x="647700" y="5514975"/>
            <a:ext cx="10648950" cy="523875"/>
          </a:xfrm>
          <a:prstGeom prst="roundRect">
            <a:avLst>
              <a:gd name="adj" fmla="val 14545"/>
            </a:avLst>
          </a:prstGeom>
          <a:solidFill>
            <a:srgbClr val="EAF8F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DA32946-D5B1-450D-84D8-3E1E11B18691}"/>
              </a:ext>
            </a:extLst>
          </p:cNvPr>
          <p:cNvSpPr>
            <a:spLocks noGrp="1"/>
          </p:cNvSpPr>
          <p:nvPr/>
        </p:nvSpPr>
        <p:spPr>
          <a:xfrm>
            <a:off x="866775" y="5657850"/>
            <a:ext cx="10096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rPr>
              <a:t>AI는 시각 표현 제작을 보조했고 엔진 구조와 실행 범위를 대체하지 않았습니다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6F84CB-3CCF-4AE0-872C-5DF6A9E16996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9745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D4CDEA47-ECFC-47BE-A74E-A5F0C66867E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7FDCA62-D4E3-4F1E-8DA3-90A57FD189E9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담당 업무 요약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8D30B34-8FCD-49FD-A0FA-059E3CDC1823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7A10EF1-C2D3-436F-BA3C-A3307CE4652F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AUTO LOD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D435D0-827A-42DB-AD31-AE09C7A5A02E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49530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런타임 메시 단순화와 캐시, 거리 기반 Raster LOD 구현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LOD 인스턴싱과 서브메시 제한으로 드로우콜 절감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LOD BLAS와 Hit Group 교체를 포함한 DXR 경로 확장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877FEE-5DB3-47BF-A65D-BFA883537D77}"/>
              </a:ext>
            </a:extLst>
          </p:cNvPr>
          <p:cNvSpPr>
            <a:spLocks noGrp="1"/>
          </p:cNvSpPr>
          <p:nvPr/>
        </p:nvSpPr>
        <p:spPr>
          <a:xfrm>
            <a:off x="5981700" y="1924050"/>
            <a:ext cx="19050" cy="261937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A0283C1-5534-4EE4-9392-CF7814ADB88A}"/>
              </a:ext>
            </a:extLst>
          </p:cNvPr>
          <p:cNvSpPr>
            <a:spLocks noGrp="1"/>
          </p:cNvSpPr>
          <p:nvPr/>
        </p:nvSpPr>
        <p:spPr>
          <a:xfrm>
            <a:off x="643890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GPU PARTICLE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8D2CE-8A06-4C7F-861F-643FED54557C}"/>
              </a:ext>
            </a:extLst>
          </p:cNvPr>
          <p:cNvSpPr>
            <a:spLocks noGrp="1"/>
          </p:cNvSpPr>
          <p:nvPr/>
        </p:nvSpPr>
        <p:spPr>
          <a:xfrm>
            <a:off x="6438900" y="2305050"/>
            <a:ext cx="49530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Particle / Emitter 구조와 UAV Compute Pipeline 구현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빌보드·플립북·깊이 처리를 포함한 렌더링 파이프라인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22종 효과 런타임과 게임 이벤트 연동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32A3D7D-AC26-4BCB-93B4-48793DDFE2CD}"/>
              </a:ext>
            </a:extLst>
          </p:cNvPr>
          <p:cNvSpPr>
            <a:spLocks noGrp="1"/>
          </p:cNvSpPr>
          <p:nvPr/>
        </p:nvSpPr>
        <p:spPr>
          <a:xfrm>
            <a:off x="685800" y="5410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TECH STACK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7474466-AAFF-4EDA-AC90-102D51EA2BF8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572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C++   DirectX 12   HLSL   Compute Shader   UAV/SRV   DXR   BLAS/TLAS   Mesh Simplification   Billboard Rendering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3CE000-E59E-4DDE-BA4B-EF00917CFAF1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61589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8439F73-22A1-4B03-AB68-34FB25D865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A398EEA-7AEB-44AB-B29C-F9E01EC16EEE}"/>
              </a:ext>
            </a:extLst>
          </p:cNvPr>
          <p:cNvSpPr>
            <a:spLocks noGrp="1"/>
          </p:cNvSpPr>
          <p:nvPr/>
        </p:nvSpPr>
        <p:spPr>
          <a:xfrm>
            <a:off x="723900" y="10001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GRAPHICS SYSTEM DEVELOPMENT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A3E5C1B-6D8A-4B14-90D3-CD4249C3CCED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74295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4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THANK YOU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F8AB6C-4464-44B1-94E4-3DF9540CF776}"/>
              </a:ext>
            </a:extLst>
          </p:cNvPr>
          <p:cNvSpPr>
            <a:spLocks noGrp="1"/>
          </p:cNvSpPr>
          <p:nvPr/>
        </p:nvSpPr>
        <p:spPr>
          <a:xfrm>
            <a:off x="742950" y="2800350"/>
            <a:ext cx="83820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rPr>
              <a:t>PulseCity 팀 프로젝트에서</a:t>
            </a:r>
          </a:p>
          <a:p>
            <a:pPr algn="l">
              <a:def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rPr>
              <a:t>Auto LOD와 GPU 파티클 시스템을 담당했습니다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A0B7DB-84EB-4053-8534-7E10F0AA7501}"/>
              </a:ext>
            </a:extLst>
          </p:cNvPr>
          <p:cNvSpPr>
            <a:spLocks noGrp="1"/>
          </p:cNvSpPr>
          <p:nvPr/>
        </p:nvSpPr>
        <p:spPr>
          <a:xfrm>
            <a:off x="742950" y="4905375"/>
            <a:ext cx="4953000" cy="9525"/>
          </a:xfrm>
          <a:prstGeom prst="rect">
            <a:avLst/>
          </a:prstGeom>
          <a:solidFill>
            <a:srgbClr val="6F838E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598BAF1-C85A-4E9E-AB22-1153AFFB2EB9}"/>
              </a:ext>
            </a:extLst>
          </p:cNvPr>
          <p:cNvSpPr>
            <a:spLocks noGrp="1"/>
          </p:cNvSpPr>
          <p:nvPr/>
        </p:nvSpPr>
        <p:spPr>
          <a:xfrm>
            <a:off x="742950" y="5181600"/>
            <a:ext cx="64770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임동건</a:t>
            </a: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· 010-</a:t>
            </a:r>
            <a:r>
              <a:rPr lang="en-US"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6690</a:t>
            </a: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-</a:t>
            </a:r>
            <a:r>
              <a:rPr lang="en-US"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6923</a:t>
            </a:r>
            <a:endParaRPr sz="1350" b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093FD3-0DBD-4DD6-B8AA-98D7F35CFB0C}"/>
              </a:ext>
            </a:extLst>
          </p:cNvPr>
          <p:cNvSpPr>
            <a:spLocks noGrp="1"/>
          </p:cNvSpPr>
          <p:nvPr/>
        </p:nvSpPr>
        <p:spPr>
          <a:xfrm>
            <a:off x="742950" y="5610225"/>
            <a:ext cx="647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94A7B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94A7B1"/>
                </a:solidFill>
                <a:latin typeface="Malgun Gothic"/>
                <a:ea typeface="Malgun Gothic"/>
                <a:cs typeface="Malgun Gothic"/>
              </a:rPr>
              <a:t>do020415@naver.com · GitHub 링크 입력</a:t>
            </a:r>
          </a:p>
        </p:txBody>
      </p:sp>
    </p:spTree>
    <p:extLst>
      <p:ext uri="{BB962C8B-B14F-4D97-AF65-F5344CB8AC3E}">
        <p14:creationId xmlns:p14="http://schemas.microsoft.com/office/powerpoint/2010/main" val="11851023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1348</Words>
  <Application>Microsoft Office PowerPoint</Application>
  <DocSecurity>0</DocSecurity>
  <PresentationFormat>와이드스크린</PresentationFormat>
  <Paragraphs>294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Malgun Gothic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Nai Hoon Jung</cp:lastModifiedBy>
  <cp:revision>2</cp:revision>
  <dcterms:created xsi:type="dcterms:W3CDTF">2026-09-21T09:33:42Z</dcterms:created>
  <dcterms:modified xsi:type="dcterms:W3CDTF">2026-09-21T11:03:58Z</dcterms:modified>
</cp:coreProperties>
</file>