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54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594" y="114"/>
      </p:cViewPr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presProps" Target="presProps.xml"  /><Relationship Id="rId24" Type="http://schemas.openxmlformats.org/officeDocument/2006/relationships/viewProps" Target="viewProps.xml"  /><Relationship Id="rId25" Type="http://schemas.openxmlformats.org/officeDocument/2006/relationships/theme" Target="theme/theme1.xml"  /><Relationship Id="rId26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5282F153-3F37-0F45-9E97-73ACFA13230C}" type="datetime1">
              <a:rPr lang="en-US"/>
              <a:pPr lvl="0">
                <a:defRPr/>
              </a:pPr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  <a:endParaRPr lang="en-US"/>
          </a:p>
          <a:p>
            <a:pPr lvl="1">
              <a:defRPr/>
            </a:pPr>
            <a:r>
              <a:rPr lang="en-US"/>
              <a:t>Second level</a:t>
            </a:r>
            <a:endParaRPr lang="en-US"/>
          </a:p>
          <a:p>
            <a:pPr lvl="2">
              <a:defRPr/>
            </a:pPr>
            <a:r>
              <a:rPr lang="en-US"/>
              <a:t>Third level</a:t>
            </a:r>
            <a:endParaRPr lang="en-US"/>
          </a:p>
          <a:p>
            <a:pPr lvl="3">
              <a:defRPr/>
            </a:pPr>
            <a:r>
              <a:rPr lang="en-US"/>
              <a:t>Fourth level</a:t>
            </a:r>
            <a:endParaRPr lang="en-US"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CE5E9CC1-C706-0F49-92D6-E571CC5EEA8F}" type="slidenum">
              <a:rPr lang="en-US"/>
              <a:pPr lvl="0"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F7021451-1387-4CA6-816F-3879F97B5CBC}" type="slidenum">
              <a:rPr lang="en-US"/>
              <a:pPr lvl="0"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4.xml"  /><Relationship Id="rId3" Type="http://schemas.openxmlformats.org/officeDocument/2006/relationships/image" Target="../media/image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7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4.xml"  /><Relationship Id="rId3" Type="http://schemas.openxmlformats.org/officeDocument/2006/relationships/image" Target="../media/image11.png"  /><Relationship Id="rId4" Type="http://schemas.openxmlformats.org/officeDocument/2006/relationships/image" Target="../media/image12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3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4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image" Target="../media/image15.png"  /><Relationship Id="rId3" Type="http://schemas.openxmlformats.org/officeDocument/2006/relationships/image" Target="../media/image16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image" Target="../media/image25.png"  /><Relationship Id="rId2" Type="http://schemas.openxmlformats.org/officeDocument/2006/relationships/image" Target="../media/image17.png"  /><Relationship Id="rId3" Type="http://schemas.openxmlformats.org/officeDocument/2006/relationships/image" Target="../media/image18.png"  /><Relationship Id="rId4" Type="http://schemas.openxmlformats.org/officeDocument/2006/relationships/image" Target="../media/image19.png"  /><Relationship Id="rId5" Type="http://schemas.openxmlformats.org/officeDocument/2006/relationships/image" Target="../media/image20.png"  /><Relationship Id="rId6" Type="http://schemas.openxmlformats.org/officeDocument/2006/relationships/image" Target="../media/image21.png"  /><Relationship Id="rId7" Type="http://schemas.openxmlformats.org/officeDocument/2006/relationships/image" Target="../media/image22.png"  /><Relationship Id="rId8" Type="http://schemas.openxmlformats.org/officeDocument/2006/relationships/image" Target="../media/image23.png"  /><Relationship Id="rId9" Type="http://schemas.openxmlformats.org/officeDocument/2006/relationships/image" Target="../media/image24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5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6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2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23B"/>
          </a:solidFill>
          <a:ln/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66927" y="2468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 kern="0" spc="800">
                <a:solidFill>
                  <a:srgbClr val="E0A15A"/>
                </a:solidFill>
                <a:latin typeface="Arial"/>
                <a:ea typeface="Arial"/>
                <a:cs typeface="Arial"/>
              </a:rPr>
              <a:t>PORTFOLIO</a:t>
            </a:r>
            <a:endParaRPr lang="en-US" sz="1600"/>
          </a:p>
        </p:txBody>
      </p:sp>
      <p:sp>
        <p:nvSpPr>
          <p:cNvPr id="4" name="Text 2"/>
          <p:cNvSpPr/>
          <p:nvPr/>
        </p:nvSpPr>
        <p:spPr>
          <a:xfrm>
            <a:off x="566927" y="29260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5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게임 기획</a:t>
            </a:r>
            <a:r>
              <a:rPr lang="ko-KR" altLang="en-US" sz="5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포트폴리오</a:t>
            </a:r>
          </a:p>
        </p:txBody>
      </p:sp>
      <p:sp>
        <p:nvSpPr>
          <p:cNvPr id="6" name="Shape 4"/>
          <p:cNvSpPr/>
          <p:nvPr/>
        </p:nvSpPr>
        <p:spPr>
          <a:xfrm>
            <a:off x="585216" y="4343400"/>
            <a:ext cx="2926080" cy="0"/>
          </a:xfrm>
          <a:prstGeom prst="line">
            <a:avLst/>
          </a:prstGeom>
          <a:noFill/>
          <a:ln w="25400">
            <a:solidFill>
              <a:srgbClr val="C8622E"/>
            </a:solidFill>
            <a:prstDash val="solid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66928" y="45262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진성준</a:t>
            </a: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한국공학대학교 게임공학과  ·  4학년</a:t>
            </a: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010-7770-2108   ·   </a:t>
            </a:r>
            <a:r>
              <a:rPr lang="en-US" altLang="ko-KR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@naver.com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INDEX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목차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</a:t>
            </a:r>
            <a:endParaRPr lang="en-US" sz="2000"/>
          </a:p>
        </p:txBody>
      </p:sp>
      <p:sp>
        <p:nvSpPr>
          <p:cNvPr id="6" name="Text 4"/>
          <p:cNvSpPr/>
          <p:nvPr/>
        </p:nvSpPr>
        <p:spPr>
          <a:xfrm>
            <a:off x="1389888" y="171907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자기소개</a:t>
            </a:r>
            <a:endParaRPr lang="en-US" sz="1800"/>
          </a:p>
        </p:txBody>
      </p:sp>
      <p:sp>
        <p:nvSpPr>
          <p:cNvPr id="7" name="Text 5"/>
          <p:cNvSpPr/>
          <p:nvPr/>
        </p:nvSpPr>
        <p:spPr>
          <a:xfrm>
            <a:off x="1389888" y="20299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프로필 · 역량 · 이력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566928" y="2670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4324F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66928" y="2670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02</a:t>
            </a:r>
            <a:endParaRPr lang="en-US" sz="2000"/>
          </a:p>
        </p:txBody>
      </p:sp>
      <p:sp>
        <p:nvSpPr>
          <p:cNvPr id="10" name="Text 8"/>
          <p:cNvSpPr/>
          <p:nvPr/>
        </p:nvSpPr>
        <p:spPr>
          <a:xfrm>
            <a:off x="1389888" y="26517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</a:t>
            </a:r>
            <a:endParaRPr lang="en-US" sz="1800"/>
          </a:p>
        </p:txBody>
      </p:sp>
      <p:sp>
        <p:nvSpPr>
          <p:cNvPr id="11" name="Text 9"/>
          <p:cNvSpPr/>
          <p:nvPr/>
        </p:nvSpPr>
        <p:spPr>
          <a:xfrm>
            <a:off x="1389888" y="29626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소울라이크 × 턴제 전투 시스템 기획</a:t>
            </a:r>
            <a:endParaRPr lang="en-US" sz="1250"/>
          </a:p>
        </p:txBody>
      </p:sp>
      <p:sp>
        <p:nvSpPr>
          <p:cNvPr id="12" name="Shape 10"/>
          <p:cNvSpPr/>
          <p:nvPr/>
        </p:nvSpPr>
        <p:spPr>
          <a:xfrm>
            <a:off x="566928" y="36027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/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66928" y="36027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03</a:t>
            </a:r>
            <a:endParaRPr lang="en-US" sz="2000"/>
          </a:p>
        </p:txBody>
      </p:sp>
      <p:sp>
        <p:nvSpPr>
          <p:cNvPr id="14" name="Text 12"/>
          <p:cNvSpPr/>
          <p:nvPr/>
        </p:nvSpPr>
        <p:spPr>
          <a:xfrm>
            <a:off x="1389888" y="35844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ESCAPE</a:t>
            </a:r>
            <a:endParaRPr lang="en-US" sz="1800"/>
          </a:p>
        </p:txBody>
      </p:sp>
      <p:sp>
        <p:nvSpPr>
          <p:cNvPr id="15" name="Text 13"/>
          <p:cNvSpPr/>
          <p:nvPr/>
        </p:nvSpPr>
        <p:spPr>
          <a:xfrm>
            <a:off x="1389888" y="389534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ko-KR" alt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커맨드 조합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기반</a:t>
            </a:r>
            <a:r>
              <a:rPr lang="ko-KR" alt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턴제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RPG 기획</a:t>
            </a:r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02</a:t>
            </a:r>
            <a:endParaRPr lang="en-US" sz="900"/>
          </a:p>
        </p:txBody>
      </p:sp>
      <p:sp>
        <p:nvSpPr>
          <p:cNvPr id="30" name="IdxBadge 30"/>
          <p:cNvSpPr/>
          <p:nvPr/>
        </p:nvSpPr>
        <p:spPr>
          <a:xfrm>
            <a:off x="566928" y="453542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24324F"/>
          </a:solidFill>
          <a:ln>
            <a:noFill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31" name="IdxNo 31"/>
          <p:cNvSpPr txBox="1"/>
          <p:nvPr/>
        </p:nvSpPr>
        <p:spPr>
          <a:xfrm>
            <a:off x="566928" y="45354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ko-KR" alt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32" name="IdxTitle 32"/>
          <p:cNvSpPr txBox="1"/>
          <p:nvPr/>
        </p:nvSpPr>
        <p:spPr>
          <a:xfrm>
            <a:off x="1389888" y="4517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PulseCity</a:t>
            </a:r>
          </a:p>
        </p:txBody>
      </p:sp>
      <p:sp>
        <p:nvSpPr>
          <p:cNvPr id="33" name="IdxSub 33"/>
          <p:cNvSpPr txBox="1"/>
          <p:nvPr/>
        </p:nvSpPr>
        <p:spPr>
          <a:xfrm>
            <a:off x="1389888" y="48280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다중 접속 슈팅 RPG · 던전 구조 · 몹 배치 · 직업군 설계 (졸업작품)</a:t>
            </a:r>
          </a:p>
        </p:txBody>
      </p:sp>
      <p:sp>
        <p:nvSpPr>
          <p:cNvPr id="34" name="IdxBadge 34"/>
          <p:cNvSpPr/>
          <p:nvPr/>
        </p:nvSpPr>
        <p:spPr>
          <a:xfrm>
            <a:off x="566928" y="546811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6223B"/>
          </a:solidFill>
          <a:ln>
            <a:noFill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35" name="IdxNo 35"/>
          <p:cNvSpPr txBox="1"/>
          <p:nvPr/>
        </p:nvSpPr>
        <p:spPr>
          <a:xfrm>
            <a:off x="566928" y="5468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ko-KR" altLang="en-US" sz="2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36" name="IdxTitle 36"/>
          <p:cNvSpPr txBox="1"/>
          <p:nvPr/>
        </p:nvSpPr>
        <p:spPr>
          <a:xfrm>
            <a:off x="1389888" y="54498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8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종합 · 기타</a:t>
            </a:r>
          </a:p>
        </p:txBody>
      </p:sp>
      <p:sp>
        <p:nvSpPr>
          <p:cNvPr id="37" name="IdxSub 37"/>
          <p:cNvSpPr txBox="1"/>
          <p:nvPr/>
        </p:nvSpPr>
        <p:spPr>
          <a:xfrm>
            <a:off x="1389888" y="57607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기획 철학 · 기타 프로젝트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01  ABOUT ME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자기소개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749040" cy="4480560"/>
          </a:xfrm>
          <a:prstGeom prst="roundRect">
            <a:avLst>
              <a:gd name="adj" fmla="val 1707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20116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진성준</a:t>
            </a:r>
            <a:endParaRPr lang="en-US" sz="2600"/>
          </a:p>
        </p:txBody>
      </p:sp>
      <p:sp>
        <p:nvSpPr>
          <p:cNvPr id="6" name="Text 4"/>
          <p:cNvSpPr/>
          <p:nvPr/>
        </p:nvSpPr>
        <p:spPr>
          <a:xfrm>
            <a:off x="841248" y="2487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e0a15a"/>
                </a:solidFill>
                <a:latin typeface="Arial"/>
                <a:ea typeface="Arial"/>
                <a:cs typeface="Arial"/>
              </a:rPr>
              <a:t>Jin Seongjun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841248" y="28803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endParaRPr lang="en-US" sz="1350" i="1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 6"/>
          <p:cNvSpPr/>
          <p:nvPr/>
        </p:nvSpPr>
        <p:spPr>
          <a:xfrm>
            <a:off x="841248" y="3520440"/>
            <a:ext cx="3291840" cy="2560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학력</a:t>
            </a:r>
            <a:endParaRPr lang="en-US" sz="1200" b="1">
              <a:solidFill>
                <a:srgbClr val="e0a15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한국공학대학교 게임공학과</a:t>
            </a:r>
            <a:endParaRPr lang="en-US" sz="120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1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2026.02 졸업예정</a:t>
            </a:r>
            <a:endParaRPr lang="en-US" sz="11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60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lang="en-US" sz="60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연락처</a:t>
            </a:r>
            <a:endParaRPr lang="en-US" sz="1200" b="1">
              <a:solidFill>
                <a:srgbClr val="e0a15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sz="12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010-7770-2108</a:t>
            </a:r>
            <a:endParaRPr lang="en-US" sz="120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2000"/>
              </a:lnSpc>
              <a:buNone/>
              <a:defRPr/>
            </a:pPr>
            <a:r>
              <a:rPr lang="en-US" altLang="ko-KR" sz="115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15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@naver.com</a:t>
            </a:r>
            <a:endParaRPr lang="en-US" sz="115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Text 7"/>
          <p:cNvSpPr/>
          <p:nvPr/>
        </p:nvSpPr>
        <p:spPr>
          <a:xfrm>
            <a:off x="4681728" y="1783080"/>
            <a:ext cx="69430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핵심 역량</a:t>
            </a:r>
            <a:endParaRPr lang="en-US" sz="1600"/>
          </a:p>
        </p:txBody>
      </p:sp>
      <p:sp>
        <p:nvSpPr>
          <p:cNvPr id="10" name="Shape 8"/>
          <p:cNvSpPr/>
          <p:nvPr/>
        </p:nvSpPr>
        <p:spPr>
          <a:xfrm>
            <a:off x="4681728" y="219456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681728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기획</a:t>
            </a:r>
            <a:endParaRPr lang="en-US" sz="1250"/>
          </a:p>
        </p:txBody>
      </p:sp>
      <p:sp>
        <p:nvSpPr>
          <p:cNvPr id="12" name="Text 10"/>
          <p:cNvSpPr/>
          <p:nvPr/>
        </p:nvSpPr>
        <p:spPr>
          <a:xfrm>
            <a:off x="6236208" y="2194560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전투·시스템 설계 /</a:t>
            </a:r>
            <a:r>
              <a:rPr lang="en-US" altLang="ko-KR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플레이어 경험 설계</a:t>
            </a:r>
            <a:endParaRPr lang="en-US" sz="125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681728" y="276148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681728" y="27614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문서화</a:t>
            </a:r>
            <a:endParaRPr lang="en-US" sz="1250"/>
          </a:p>
        </p:txBody>
      </p:sp>
      <p:sp>
        <p:nvSpPr>
          <p:cNvPr id="15" name="Text 13"/>
          <p:cNvSpPr/>
          <p:nvPr/>
        </p:nvSpPr>
        <p:spPr>
          <a:xfrm>
            <a:off x="6236208" y="2761488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시스템 정의서 / 발표·제안서 / 반복 개선(피드백 반영)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4681728" y="3328416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681728" y="33284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구현 이해</a:t>
            </a:r>
            <a:endParaRPr lang="en-US" sz="1250"/>
          </a:p>
        </p:txBody>
      </p:sp>
      <p:sp>
        <p:nvSpPr>
          <p:cNvPr id="18" name="Text 16"/>
          <p:cNvSpPr/>
          <p:nvPr/>
        </p:nvSpPr>
        <p:spPr>
          <a:xfrm>
            <a:off x="6236208" y="3328416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C++ · 게임 서버(Zone 분산·프로토콜 설계)</a:t>
            </a:r>
            <a:endParaRPr lang="en-US" sz="125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81728" y="389534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681728" y="389534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도구</a:t>
            </a:r>
            <a:endParaRPr lang="en-US" sz="1250"/>
          </a:p>
        </p:txBody>
      </p:sp>
      <p:sp>
        <p:nvSpPr>
          <p:cNvPr id="21" name="Text 19"/>
          <p:cNvSpPr/>
          <p:nvPr/>
        </p:nvSpPr>
        <p:spPr>
          <a:xfrm>
            <a:off x="6236208" y="3895344"/>
            <a:ext cx="538855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Git</a:t>
            </a:r>
            <a:endParaRPr lang="en-US" sz="1250"/>
          </a:p>
        </p:txBody>
      </p:sp>
      <p:sp>
        <p:nvSpPr>
          <p:cNvPr id="22" name="Text 20"/>
          <p:cNvSpPr/>
          <p:nvPr/>
        </p:nvSpPr>
        <p:spPr>
          <a:xfrm>
            <a:off x="4681728" y="4599432"/>
            <a:ext cx="69430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주요 프로젝트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4681728" y="4965192"/>
            <a:ext cx="6943039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PulseCity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DX12 온라인 RPG · 기획 + 서버 담당 (졸업작품)</a:t>
            </a:r>
            <a:endParaRPr lang="en-US" sz="125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소울라이크×턴제 전투 시스템 기획</a:t>
            </a:r>
            <a:endParaRPr lang="en-US" sz="125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ESCAPE  </a:t>
            </a:r>
            <a:r>
              <a:rPr lang="en-US" sz="12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스트레스 기반 커맨드 RPG 기획</a:t>
            </a:r>
            <a:endParaRPr lang="en-US" sz="125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PROJECT — 무진기행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무진기행 (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霧津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紀行)</a:t>
            </a:r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마을의 저주를 풀기 위해 원념체를 쓰러뜨리고 마을의 수수께끼를 푸는 게임</a:t>
            </a:r>
            <a:endParaRPr lang="en-US" sz="135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566928" y="2103120"/>
          <a:ext cx="5943600" cy="2304288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장르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소울라이크 + 턴제 RPG (하이브리드)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플랫폼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PC / 싱글플레이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역할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전투 시스템 기획 (단독)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산출물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시스템 정의서 · 3회 발표 · 보스/던전 설계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기간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2025.03 ~ 2025.06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도구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기획서 · 발표자료 · 레퍼런스 분석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76288" y="2103120"/>
            <a:ext cx="4748479" cy="3566160"/>
          </a:xfrm>
          <a:prstGeom prst="roundRect">
            <a:avLst>
              <a:gd name="adj" fmla="val 179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7" name="Image 0" descr="img/mj_dungeo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091528" y="2240280"/>
            <a:ext cx="4226560" cy="23774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76288" y="5257800"/>
            <a:ext cx="474847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던전 컨셉 — 저주로 뒤틀린 공간(스톰빌 성</a:t>
            </a:r>
            <a:r>
              <a:rPr lang="ko-KR" alt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alt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엘든링</a:t>
            </a:r>
            <a:r>
              <a:rPr 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0" name="Text 6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5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핵심 설계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왜 이렇게 설계했는가: 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플레이어에게 페이즈를 부여한다</a:t>
            </a:r>
            <a:endParaRPr lang="ko-KR" altLang="en-US" sz="29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795528" y="18745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문제</a:t>
            </a:r>
            <a:endParaRPr lang="en-US" sz="14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5528" y="2240280"/>
            <a:ext cx="4983480" cy="12344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소울라이크의 속도감과 턴제의 전략성을 한 번에? </a:t>
            </a:r>
            <a:endParaRPr 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전통적 '번갈아 공격' 턴제로는 두 장르를 애매하게 접합할 뿐, 둘 다 놓친다.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6053328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34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3400"/>
          </a:p>
        </p:txBody>
      </p:sp>
      <p:sp>
        <p:nvSpPr>
          <p:cNvPr id="8" name="Shape 6"/>
          <p:cNvSpPr/>
          <p:nvPr/>
        </p:nvSpPr>
        <p:spPr>
          <a:xfrm>
            <a:off x="6693408" y="1737360"/>
            <a:ext cx="4931359" cy="1828800"/>
          </a:xfrm>
          <a:prstGeom prst="roundRect">
            <a:avLst>
              <a:gd name="adj" fmla="val 3500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922008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해결</a:t>
            </a:r>
            <a:endParaRPr lang="en-US" sz="1400" b="1">
              <a:solidFill>
                <a:srgbClr val="e0a15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922008" y="2240280"/>
            <a:ext cx="4474159" cy="12344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</a:t>
            </a:r>
            <a:r>
              <a:rPr lang="ko-KR" alt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페이즈</a:t>
            </a: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 개념만 차용하고 </a:t>
            </a:r>
            <a:r>
              <a:rPr lang="ko-KR" alt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페이즈는</a:t>
            </a: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플레이어에게만 부여. </a:t>
            </a:r>
            <a:endParaRPr lang="en-US" sz="130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적은 </a:t>
            </a:r>
            <a:r>
              <a:rPr lang="ko-KR" alt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없이 자기 패턴대로 실시간 행동 → </a:t>
            </a:r>
            <a:endParaRPr lang="en-US" sz="130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적의 위협감 + 플레이어의 계획적 자원 운용을 동시에 확보.</a:t>
            </a:r>
            <a:endParaRPr lang="en-US" sz="1300"/>
          </a:p>
        </p:txBody>
      </p:sp>
      <p:sp>
        <p:nvSpPr>
          <p:cNvPr id="11" name="Shape 9"/>
          <p:cNvSpPr/>
          <p:nvPr/>
        </p:nvSpPr>
        <p:spPr>
          <a:xfrm>
            <a:off x="56692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9552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1</a:t>
            </a:r>
            <a:endParaRPr lang="en-US" sz="2600"/>
          </a:p>
        </p:txBody>
      </p:sp>
      <p:sp>
        <p:nvSpPr>
          <p:cNvPr id="13" name="Text 11"/>
          <p:cNvSpPr/>
          <p:nvPr/>
        </p:nvSpPr>
        <p:spPr>
          <a:xfrm>
            <a:off x="79552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ko-KR" alt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페이즈는</a:t>
            </a: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플레이어에게만</a:t>
            </a:r>
            <a:endParaRPr lang="en-US" sz="14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9552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공격</a:t>
            </a:r>
            <a:r>
              <a:rPr lang="ko-KR" alt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페이즈</a:t>
            </a: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/ 방어</a:t>
            </a:r>
            <a:r>
              <a:rPr lang="ko-KR" alt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페이즈</a:t>
            </a: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로 분리</a:t>
            </a:r>
            <a:endParaRPr lang="en-US" sz="12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27024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4988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2</a:t>
            </a:r>
            <a:endParaRPr lang="en-US" sz="2600"/>
          </a:p>
        </p:txBody>
      </p:sp>
      <p:sp>
        <p:nvSpPr>
          <p:cNvPr id="17" name="Text 15"/>
          <p:cNvSpPr/>
          <p:nvPr/>
        </p:nvSpPr>
        <p:spPr>
          <a:xfrm>
            <a:off x="449884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적은 실시간 패턴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449884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ko-KR" alt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없이 자유 행동 → 소울라이크</a:t>
            </a:r>
            <a:r>
              <a:rPr lang="ko-KR" alt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 위협감</a:t>
            </a:r>
            <a:endParaRPr lang="en-US" sz="12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7973568" y="3886200"/>
            <a:ext cx="3474720" cy="1691640"/>
          </a:xfrm>
          <a:prstGeom prst="roundRect">
            <a:avLst>
              <a:gd name="adj" fmla="val 3784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02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3</a:t>
            </a:r>
            <a:endParaRPr lang="en-US" sz="2600"/>
          </a:p>
        </p:txBody>
      </p:sp>
      <p:sp>
        <p:nvSpPr>
          <p:cNvPr id="21" name="Text 19"/>
          <p:cNvSpPr/>
          <p:nvPr/>
        </p:nvSpPr>
        <p:spPr>
          <a:xfrm>
            <a:off x="8202168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계획 = 재미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8202168" y="4983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제한된 에너지 배분이 전략의 핵심</a:t>
            </a:r>
            <a:endParaRPr lang="en-US" sz="1200"/>
          </a:p>
        </p:txBody>
      </p:sp>
      <p:sp>
        <p:nvSpPr>
          <p:cNvPr id="23" name="Text 2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4" name="Text 22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05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코어 시스템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공격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페이즈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/ 방어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페이즈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· 약점 간파 · 동료 연계</a:t>
            </a:r>
            <a:endParaRPr lang="en-US" sz="29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196596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공격</a:t>
            </a:r>
            <a:r>
              <a:rPr lang="ko-KR" altLang="en-US"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페이즈</a:t>
            </a:r>
            <a:r>
              <a:rPr lang="en-US"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↔ 방어</a:t>
            </a:r>
            <a:r>
              <a:rPr lang="ko-KR" altLang="en-US"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페이즈</a:t>
            </a:r>
            <a:endParaRPr lang="ko-KR" altLang="en-US" sz="16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4315968" y="196596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각 </a:t>
            </a:r>
            <a:r>
              <a:rPr lang="ko-KR" alt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페이즈는</a:t>
            </a: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 고유 에너지를 소모. 소진 시 반대 턴으로 자동 스위치. </a:t>
            </a:r>
            <a:endParaRPr lang="en-US" sz="13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스킬마다 위력·코스트가 달라 '무엇에 배분할까'가 전략.</a:t>
            </a:r>
            <a:endParaRPr lang="en-US" sz="130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41248" y="342900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약점 간파 (그로기)</a:t>
            </a:r>
            <a:endParaRPr lang="en-US" sz="1600"/>
          </a:p>
        </p:txBody>
      </p:sp>
      <p:sp>
        <p:nvSpPr>
          <p:cNvPr id="9" name="Text 7"/>
          <p:cNvSpPr/>
          <p:nvPr/>
        </p:nvSpPr>
        <p:spPr>
          <a:xfrm>
            <a:off x="4315968" y="342900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명중할 때마다 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방어도가 줄어듦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. </a:t>
            </a:r>
            <a:endParaRPr 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적의 방어도 소진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시 증폭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된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강공격 → 명중하면 적 기절 + 에너지 </a:t>
            </a:r>
            <a:r>
              <a:rPr lang="ko-KR" alt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모두 </a:t>
            </a: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회복 + 추가 턴.</a:t>
            </a:r>
            <a:endParaRPr 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57839" cy="1325880"/>
          </a:xfrm>
          <a:prstGeom prst="roundRect">
            <a:avLst>
              <a:gd name="adj" fmla="val 48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41248" y="4892040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동료 연계 공격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4315968" y="4892040"/>
            <a:ext cx="7034479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3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패링·약점 간파 등 특정 조건 달성 시 동료가 순간 개입해 추가타/버프. </a:t>
            </a:r>
            <a:endParaRPr lang="en-US" sz="13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19048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endParaRPr lang="en-US" sz="1050" i="1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06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무진기행 — 적 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곡선: 잡몹 → 중간보스 3종 (가르치는 적)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432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잡몹은 길잡이·자기효능감 담당(단순 패턴). 중간보스 3종은 '유사 착장·유사 패턴'으로 방어/공격 타이밍을 가르치는 학습의 장.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img/mj_knight_sp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008" y="2194560"/>
            <a:ext cx="1764559" cy="1737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 기사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4980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사거리 + 후딜레이 강공격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7024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1" descr="img/mj_knight_d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5639" y="2194560"/>
            <a:ext cx="2403939" cy="17373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5312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쌍검 기사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45312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공격 · 빠른 템포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973568" y="2057400"/>
            <a:ext cx="347472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2" descr="img/mj_knight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0387" y="2194560"/>
            <a:ext cx="2021082" cy="1737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56448" y="39502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방패 기사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156448" y="42793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방어·막기 · 반격 유도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66928" y="5029200"/>
            <a:ext cx="11057839" cy="868680"/>
          </a:xfrm>
          <a:prstGeom prst="roundRect">
            <a:avLst>
              <a:gd name="adj" fmla="val 736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/>
          <p:nvPr/>
        </p:nvSpPr>
        <p:spPr>
          <a:xfrm>
            <a:off x="841248" y="5029200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E0A1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  </a:t>
            </a:r>
            <a:r>
              <a:rPr lang="en-US" sz="125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후딜레이가 큰 공격일수록 공격 창을 넓게 → 타이밍을 '암시'. 피격 시 반격 패턴으로 전환해 무지성 공격을 억제.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진성준  ·  게임 시스템 기획 포트폴리오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02  무진기행 — 보스전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학습의 검증: 패턴 융합 + 마지막 패턴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의 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신호</a:t>
            </a:r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212080" cy="3931920"/>
          </a:xfrm>
          <a:prstGeom prst="roundRect">
            <a:avLst>
              <a:gd name="adj" fmla="val 16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5" name="Image 0" descr="img/mj_bos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85007" y="1920240"/>
            <a:ext cx="4375922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49808" y="402336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보스 '떠도는 머리' — 세 중간보스의 머리를 쥔 그림자 괴물</a:t>
            </a:r>
            <a:endParaRPr lang="en-US" sz="1200"/>
          </a:p>
        </p:txBody>
      </p:sp>
      <p:sp>
        <p:nvSpPr>
          <p:cNvPr id="7" name="Text 4"/>
          <p:cNvSpPr/>
          <p:nvPr/>
        </p:nvSpPr>
        <p:spPr>
          <a:xfrm>
            <a:off x="749808" y="443484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세 중간보스의 패턴을 모두 구사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3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→ 플레이어는 학습한 타이밍으로 대응</a:t>
            </a:r>
            <a:endParaRPr lang="en-US" sz="1300"/>
          </a:p>
        </p:txBody>
      </p:sp>
      <p:sp>
        <p:nvSpPr>
          <p:cNvPr id="8" name="Shape 5"/>
          <p:cNvSpPr/>
          <p:nvPr/>
        </p:nvSpPr>
        <p:spPr>
          <a:xfrm>
            <a:off x="6053328" y="1783080"/>
            <a:ext cx="5571439" cy="1874520"/>
          </a:xfrm>
          <a:prstGeom prst="roundRect">
            <a:avLst>
              <a:gd name="adj" fmla="val 341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281928" y="1920240"/>
            <a:ext cx="51142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정형화 + 변속</a:t>
            </a:r>
            <a:endParaRPr lang="en-US" sz="1500"/>
          </a:p>
        </p:txBody>
      </p:sp>
      <p:sp>
        <p:nvSpPr>
          <p:cNvPr id="10" name="Text 7"/>
          <p:cNvSpPr/>
          <p:nvPr/>
        </p:nvSpPr>
        <p:spPr>
          <a:xfrm>
            <a:off x="6281928" y="2286000"/>
            <a:ext cx="5114239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패턴을 무작위 순서로 돌리되 '다음 순서'는 예측 가능하게. 대신 공격 템포에 변속(빠름/느림 이지선다)을 걸어 심리전 유발 → 반복 트라이의 지루함 상쇄.</a:t>
            </a:r>
            <a:endParaRPr lang="en-US" sz="1250"/>
          </a:p>
        </p:txBody>
      </p:sp>
      <p:sp>
        <p:nvSpPr>
          <p:cNvPr id="11" name="Shape 8"/>
          <p:cNvSpPr/>
          <p:nvPr/>
        </p:nvSpPr>
        <p:spPr>
          <a:xfrm>
            <a:off x="6053328" y="3794760"/>
            <a:ext cx="5571439" cy="192024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6281928" y="3931920"/>
            <a:ext cx="511423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다중 패턴 &amp; 마지막 신호</a:t>
            </a:r>
            <a:endParaRPr lang="en-US" sz="1500"/>
          </a:p>
        </p:txBody>
      </p:sp>
      <p:pic>
        <p:nvPicPr>
          <p:cNvPr id="13" name="Image 1" descr="img/mj_lastpattern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35614" y="4297680"/>
            <a:ext cx="2606867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281928" y="5138928"/>
            <a:ext cx="5114239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보스는 패턴 1~3개를 연속 시전 → 언제 끝날지 모름. '마지막 패턴' 때 테두리 발광으로 공격 기회를 명확히 알림.</a:t>
            </a:r>
            <a:endParaRPr lang="en-US" sz="1150"/>
          </a:p>
        </p:txBody>
      </p:sp>
      <p:sp>
        <p:nvSpPr>
          <p:cNvPr id="15" name="Text 11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6" name="Text 12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08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0">
    <p:bg>
      <p:bgPr shadeToTitle="0">
        <a:solidFill>
          <a:srgbClr val="16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02  무진기행 — 정리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모든 시스템은 '플레이어</a:t>
            </a:r>
            <a:r>
              <a:rPr lang="ko-KR" alt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lang="en-US"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경험'에서</a:t>
            </a:r>
            <a:endParaRPr lang="en-US" sz="26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공격/방어턴</a:t>
            </a:r>
            <a:r>
              <a:rPr lang="ko-KR" alt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 페이즈 </a:t>
            </a: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자원</a:t>
            </a:r>
            <a:endParaRPr lang="en-US" sz="1500" b="1">
              <a:solidFill>
                <a:srgbClr val="e0a15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제한된 에너지를 어디에 쓸까 — 계획의 재미</a:t>
            </a:r>
            <a:endParaRPr lang="en-US" sz="1250"/>
          </a:p>
        </p:txBody>
      </p:sp>
      <p:sp>
        <p:nvSpPr>
          <p:cNvPr id="7" name="Shape 5"/>
          <p:cNvSpPr/>
          <p:nvPr/>
        </p:nvSpPr>
        <p:spPr>
          <a:xfrm>
            <a:off x="6144768" y="173736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00800" y="18836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약점 간파(그로기)</a:t>
            </a:r>
            <a:endParaRPr lang="en-US" sz="1500"/>
          </a:p>
        </p:txBody>
      </p:sp>
      <p:sp>
        <p:nvSpPr>
          <p:cNvPr id="9" name="Text 7"/>
          <p:cNvSpPr/>
          <p:nvPr/>
        </p:nvSpPr>
        <p:spPr>
          <a:xfrm>
            <a:off x="6400800" y="2240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꾸준한 명중 → 기절+추가턴의 큰 보상</a:t>
            </a:r>
            <a:endParaRPr lang="en-US" sz="125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2960" y="31181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중간보스 3종</a:t>
            </a:r>
            <a:endParaRPr lang="en-US" sz="1500"/>
          </a:p>
        </p:txBody>
      </p:sp>
      <p:sp>
        <p:nvSpPr>
          <p:cNvPr id="12" name="Text 10"/>
          <p:cNvSpPr/>
          <p:nvPr/>
        </p:nvSpPr>
        <p:spPr>
          <a:xfrm>
            <a:off x="822960" y="3474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'이 셋은 비슷하다' → 타이밍 학습의 성취</a:t>
            </a:r>
            <a:endParaRPr lang="en-US" sz="1250"/>
          </a:p>
        </p:txBody>
      </p:sp>
      <p:sp>
        <p:nvSpPr>
          <p:cNvPr id="13" name="Shape 11"/>
          <p:cNvSpPr/>
          <p:nvPr/>
        </p:nvSpPr>
        <p:spPr>
          <a:xfrm>
            <a:off x="6144768" y="297180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0" y="31181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보스 패턴 융합</a:t>
            </a:r>
            <a:endParaRPr lang="en-US" sz="1500"/>
          </a:p>
        </p:txBody>
      </p:sp>
      <p:sp>
        <p:nvSpPr>
          <p:cNvPr id="15" name="Text 13"/>
          <p:cNvSpPr/>
          <p:nvPr/>
        </p:nvSpPr>
        <p:spPr>
          <a:xfrm>
            <a:off x="6400800" y="34747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학습을 실전에서 검증 → 자기효능감</a:t>
            </a:r>
            <a:endParaRPr lang="en-US" sz="1250"/>
          </a:p>
        </p:txBody>
      </p:sp>
      <p:sp>
        <p:nvSpPr>
          <p:cNvPr id="16" name="Shape 14"/>
          <p:cNvSpPr/>
          <p:nvPr/>
        </p:nvSpPr>
        <p:spPr>
          <a:xfrm>
            <a:off x="566928" y="420624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2960" y="43525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변속·다중패턴</a:t>
            </a:r>
            <a:endParaRPr lang="en-US" sz="1500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심리전·긴장, 반복의 지루함 상쇄</a:t>
            </a:r>
            <a:endParaRPr lang="en-US" sz="1250"/>
          </a:p>
        </p:txBody>
      </p:sp>
      <p:sp>
        <p:nvSpPr>
          <p:cNvPr id="19" name="Shape 17"/>
          <p:cNvSpPr/>
          <p:nvPr/>
        </p:nvSpPr>
        <p:spPr>
          <a:xfrm>
            <a:off x="6144768" y="4206240"/>
            <a:ext cx="5349240" cy="1051560"/>
          </a:xfrm>
          <a:prstGeom prst="roundRect">
            <a:avLst>
              <a:gd name="adj" fmla="val 6087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0" y="435254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마지막 패턴 신호</a:t>
            </a:r>
            <a:endParaRPr lang="en-US" sz="1500"/>
          </a:p>
        </p:txBody>
      </p:sp>
      <p:sp>
        <p:nvSpPr>
          <p:cNvPr id="21" name="Text 19"/>
          <p:cNvSpPr/>
          <p:nvPr/>
        </p:nvSpPr>
        <p:spPr>
          <a:xfrm>
            <a:off x="6400800" y="47091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ko-KR" alt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공격할 기회를 알려수는 수단</a:t>
            </a:r>
            <a:endParaRPr lang="ko-KR" altLang="en-US" sz="125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3" name="Text 21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09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Slide 1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PROJECT — ESCAPE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ESCAPE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50" i="1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기억을 잃고 꿈에 갇힌 주인공이 꿈 속 괴물을 쓰러뜨리고 탈출하는 턴제 RPG</a:t>
            </a:r>
            <a:endParaRPr lang="en-US" sz="13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66928" y="2843784"/>
          <a:ext cx="5943600" cy="1536192"/>
        </p:xfrm>
        <a:graphic>
          <a:graphicData uri="http://schemas.openxmlformats.org/drawingml/2006/table">
            <a:tbl>
              <a:tblGrid>
                <a:gridCol w="1554480"/>
                <a:gridCol w="4389120"/>
              </a:tblGrid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장르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커맨드 조합 턴제 RPG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핵심 전투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5개 구슬에 커맨드를 채워 콤보를 조합해 전투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역할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전투·시스템 기획 (단독)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세계관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38100" tIns="38100" rIns="38100" bIns="38100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꿈 탈출 — 여러 테마의 던전(꿈)으로 구성</a:t>
                      </a:r>
                      <a:endParaRPr lang="en-US" sz="1200"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76288" y="2103120"/>
            <a:ext cx="4748479" cy="3566160"/>
          </a:xfrm>
          <a:prstGeom prst="roundRect">
            <a:avLst>
              <a:gd name="adj" fmla="val 179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lvl="0">
              <a:defRPr/>
            </a:pPr>
            <a:endParaRPr lang="ko-KR" altLang="en-US"/>
          </a:p>
        </p:txBody>
      </p:sp>
      <p:pic>
        <p:nvPicPr>
          <p:cNvPr id="7" name="Image 0" descr="img/es_comman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967728" y="2523571"/>
            <a:ext cx="4474159" cy="217661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876288" y="5029200"/>
            <a:ext cx="4748479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커맨드를 조합해 콤보를 시전하는 전투 화면</a:t>
            </a:r>
            <a:endParaRPr lang="en-US" sz="1100"/>
          </a:p>
        </p:txBody>
      </p:sp>
      <p:sp>
        <p:nvSpPr>
          <p:cNvPr id="9" name="Text 5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0" name="Text 6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10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핵심 전투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커맨드를 조합해 '콤보'를 만든다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5개의 구슬(방향키)에 커맨드를 채워 콤보를 발동. 커맨드는 조합과 연계가 전투의 축이 되도록 설계했다.</a:t>
            </a:r>
            <a:endParaRPr lang="en-US" sz="1300"/>
          </a:p>
        </p:txBody>
      </p:sp>
      <p:sp>
        <p:nvSpPr>
          <p:cNvPr id="5" name="Shape 3"/>
          <p:cNvSpPr/>
          <p:nvPr/>
        </p:nvSpPr>
        <p:spPr>
          <a:xfrm>
            <a:off x="566928" y="2057400"/>
            <a:ext cx="5852160" cy="1874520"/>
          </a:xfrm>
          <a:prstGeom prst="roundRect">
            <a:avLst>
              <a:gd name="adj" fmla="val 341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2개 이상 커맨드 → 하나의 콤보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544068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기존 특수공격은 한 번에 하나뿐. 콤보는 2개 이상을 묶어 발동 → </a:t>
            </a:r>
            <a:r>
              <a:rPr lang="en-US"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콤보 사이의 '연계'를 유도.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예) a로 기름을 뿌리고 → b로 불을 붙인다 / a로 방어력을 깎고 → b로 공격.</a:t>
            </a:r>
            <a:endParaRPr lang="en-US" sz="1250"/>
          </a:p>
        </p:txBody>
      </p:sp>
      <p:sp>
        <p:nvSpPr>
          <p:cNvPr id="8" name="Shape 6"/>
          <p:cNvSpPr/>
          <p:nvPr/>
        </p:nvSpPr>
        <p:spPr>
          <a:xfrm>
            <a:off x="6601968" y="2057400"/>
            <a:ext cx="5022799" cy="1874520"/>
          </a:xfrm>
          <a:prstGeom prst="roundRect">
            <a:avLst>
              <a:gd name="adj" fmla="val 341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9" name="Image 0" descr="img/es_combolis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340476" y="2194560"/>
            <a:ext cx="3500063" cy="1600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9552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콤보 습득</a:t>
            </a:r>
            <a:endParaRPr lang="en-US" sz="1450"/>
          </a:p>
        </p:txBody>
      </p:sp>
      <p:sp>
        <p:nvSpPr>
          <p:cNvPr id="12" name="Text 9"/>
          <p:cNvSpPr/>
          <p:nvPr/>
        </p:nvSpPr>
        <p:spPr>
          <a:xfrm>
            <a:off x="79552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우연히 발견하거나 특정 NPC에게 학습. 전투 중 콤보 리스트로 확인(적용 증강도 표시).</a:t>
            </a:r>
            <a:endParaRPr lang="en-US" sz="1200"/>
          </a:p>
        </p:txBody>
      </p:sp>
      <p:sp>
        <p:nvSpPr>
          <p:cNvPr id="13" name="Shape 10"/>
          <p:cNvSpPr/>
          <p:nvPr/>
        </p:nvSpPr>
        <p:spPr>
          <a:xfrm>
            <a:off x="427024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49884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빗나간 입력</a:t>
            </a:r>
            <a:endParaRPr lang="en-US" sz="1450"/>
          </a:p>
        </p:txBody>
      </p:sp>
      <p:sp>
        <p:nvSpPr>
          <p:cNvPr id="15" name="Text 12"/>
          <p:cNvSpPr/>
          <p:nvPr/>
        </p:nvSpPr>
        <p:spPr>
          <a:xfrm>
            <a:off x="449884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콤보가 아니면 기본 타격 + 유사 콤보를 '?'로 리스트에 추가 → 탐색의 힌트.</a:t>
            </a:r>
            <a:endParaRPr lang="en-US" sz="1200"/>
          </a:p>
        </p:txBody>
      </p:sp>
      <p:sp>
        <p:nvSpPr>
          <p:cNvPr id="16" name="Shape 13"/>
          <p:cNvSpPr/>
          <p:nvPr/>
        </p:nvSpPr>
        <p:spPr>
          <a:xfrm>
            <a:off x="7973568" y="4114800"/>
            <a:ext cx="3474720" cy="1600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202168" y="42611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필살기</a:t>
            </a:r>
            <a:endParaRPr lang="en-US" sz="1450"/>
          </a:p>
        </p:txBody>
      </p:sp>
      <p:sp>
        <p:nvSpPr>
          <p:cNvPr id="18" name="Text 15"/>
          <p:cNvSpPr/>
          <p:nvPr/>
        </p:nvSpPr>
        <p:spPr>
          <a:xfrm>
            <a:off x="8202168" y="4645152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8000"/>
              </a:lnSpc>
              <a:buNone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'할 수 있어' 포인트 10을 모으면 필살기 시전 가능.</a:t>
            </a:r>
            <a:endParaRPr lang="en-US" sz="1200"/>
          </a:p>
        </p:txBody>
      </p:sp>
      <p:sp>
        <p:nvSpPr>
          <p:cNvPr id="19" name="Text 16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0" name="Text 17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11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ESCAPE — 성장 &amp; 협력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증강으로 콤보를 키우고, 동료와 연계한다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931920"/>
          </a:xfrm>
          <a:prstGeom prst="roundRect">
            <a:avLst>
              <a:gd name="adj" fmla="val 162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862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증강 (Augment)</a:t>
            </a:r>
            <a:endParaRPr lang="en-US" sz="1500" dirty="0"/>
          </a:p>
        </p:txBody>
      </p:sp>
      <p:pic>
        <p:nvPicPr>
          <p:cNvPr id="6" name="Image 0" descr="img/es_aug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6448" y="2286000"/>
            <a:ext cx="3007360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840480"/>
            <a:ext cx="5029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레시피를 주우면 콤보에 증강이 부착된다.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실버 · 골드 · 다이아 등급 — 높을수록 강한 효과.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6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'특정 콤보', '특정 커맨드 포함' 등 적용 조건이 포괄적. 같은 스킬에 2개 이상 보유 시 골라 장착.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36208" y="1783080"/>
            <a:ext cx="5388559" cy="3931920"/>
          </a:xfrm>
          <a:prstGeom prst="roundRect">
            <a:avLst>
              <a:gd name="adj" fmla="val 1628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464808" y="19202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0A1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 연계 공격</a:t>
            </a:r>
            <a:endParaRPr lang="en-US" sz="1500" dirty="0"/>
          </a:p>
        </p:txBody>
      </p:sp>
      <p:pic>
        <p:nvPicPr>
          <p:cNvPr id="10" name="Image 1" descr="img/es_comb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76" y="2286000"/>
            <a:ext cx="3122023" cy="1554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64808" y="3931920"/>
            <a:ext cx="4839919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커맨드 공격 중 좌/우 방향키로 동료 연계 발동.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EAF0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동료의 연계에도 커맨드 입력이 가능 — 적 특성에 맞춰 다른 콤보 활용.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구슬을 5개 온전히 주지 않아(적게 부여) 남발을 막고 리스크·리턴을 조절.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진성준  ·  게임 시스템 기획 포트폴리오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C76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자원 제한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스트레스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하이 리턴</a:t>
            </a:r>
            <a:r>
              <a:rPr lang="en-US" altLang="ko-KR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 하이 리스크</a:t>
            </a:r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마나를 없앤 대신, 커맨드·피격이 스트레스를 쌓는다. 강함을 난사하지 못하게 하는 자원 관리 축이다.</a:t>
            </a:r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5486400" cy="3611880"/>
          </a:xfrm>
          <a:prstGeom prst="roundRect">
            <a:avLst>
              <a:gd name="adj" fmla="val 1772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스트레스 100 → 붕괴</a:t>
            </a:r>
            <a:endParaRPr lang="en-US" sz="150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공격·피격으로 스트레스 누적, 100이 되면 '붕괴' 상태.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붕괴 유형 5종 — 충동 / 공포 / 불안 / 기억왜곡 / 우울. 각기 다른 패널티(연계 불가, 콤보 망각, 명중률 하락 등).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핵심 원칙: 스트레스 획득량 &gt; 감소량. 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ko-KR" altLang="en-US" sz="12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스트레스 </a:t>
            </a:r>
            <a:r>
              <a:rPr lang="en-US" sz="12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감소(힐·치명타·회피·격파)는 '행운'이어야 한다.</a:t>
            </a:r>
          </a:p>
        </p:txBody>
      </p:sp>
      <p:sp>
        <p:nvSpPr>
          <p:cNvPr id="8" name="Shape 6"/>
          <p:cNvSpPr/>
          <p:nvPr/>
        </p:nvSpPr>
        <p:spPr>
          <a:xfrm>
            <a:off x="6236208" y="2103120"/>
            <a:ext cx="5388559" cy="3611880"/>
          </a:xfrm>
          <a:prstGeom prst="roundRect">
            <a:avLst>
              <a:gd name="adj" fmla="val 1772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464808" y="22402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붕괴 탈출: 심호흡 vs 극복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6464808" y="2606040"/>
            <a:ext cx="4839919" cy="3017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심호흡 — 턴을 스킵하고 리듬에 맞춰 방향키 입력, 정확할수록 스트레스 감소↑. 안정적 탈출.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극복 — 붕괴 중 공격 시 확률적으로 즉시 탈출 + 스트레스 0 + 위력↑ + 추가 턴. 한 방 역전. (다키스트던전 '기적' 영감)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  <a:defRPr/>
            </a:pP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→ '안전한 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'과 '도박적 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' 사이</a:t>
            </a:r>
            <a:r>
              <a:rPr lang="ko-KR" alt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lang="en-US"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긴장을 만든다.</a:t>
            </a:r>
          </a:p>
        </p:txBody>
      </p:sp>
      <p:sp>
        <p:nvSpPr>
          <p:cNvPr id="11" name="Text 9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13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03  ESCAPE — 맵 기믹 &amp; 던전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환경이 전투를 바꾸고, 던전마다 테마가 다르다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2331720"/>
          </a:xfrm>
          <a:prstGeom prst="roundRect">
            <a:avLst>
              <a:gd name="adj" fmla="val 274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22960" y="1901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맵 기믹 — 환경이 콤보·스트레스를 바꾼다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5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맵에 따라 약/중/강 공격 콤보의 위력과 스트레스 증감이 달라진다</a:t>
            </a:r>
          </a:p>
          <a:p>
            <a:pPr marL="0" indent="0">
              <a:lnSpc>
                <a:spcPct val="115000"/>
              </a:lnSpc>
              <a:buNone/>
              <a:defRPr/>
            </a:pPr>
            <a:r>
              <a:rPr lang="en-US" sz="115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같은 콤보도 맵마다 다른 판단을 요구.</a:t>
            </a:r>
            <a:endParaRPr lang="en-US" sz="1150"/>
          </a:p>
        </p:txBody>
      </p:sp>
      <p:pic>
        <p:nvPicPr>
          <p:cNvPr id="7" name="Image 0" descr="img/es_adrenalin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54954" y="2971800"/>
            <a:ext cx="1441468" cy="1005840"/>
          </a:xfrm>
          <a:prstGeom prst="rect">
            <a:avLst/>
          </a:prstGeom>
        </p:spPr>
      </p:pic>
      <p:pic>
        <p:nvPicPr>
          <p:cNvPr id="8" name="Image 1" descr="img/es_serotonin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910338" y="2971800"/>
            <a:ext cx="14513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" y="39502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95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아드레날린맵: 강공격↑·스트레스↑</a:t>
            </a:r>
            <a:endParaRPr lang="en-US" sz="950"/>
          </a:p>
        </p:txBody>
      </p:sp>
      <p:sp>
        <p:nvSpPr>
          <p:cNvPr id="10" name="Text 6"/>
          <p:cNvSpPr/>
          <p:nvPr/>
        </p:nvSpPr>
        <p:spPr>
          <a:xfrm>
            <a:off x="3401568" y="395020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95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세로토닌맵: 공격↓·스트레스 감소</a:t>
            </a:r>
            <a:endParaRPr lang="en-US" sz="950"/>
          </a:p>
        </p:txBody>
      </p:sp>
      <p:sp>
        <p:nvSpPr>
          <p:cNvPr id="11" name="Shape 7"/>
          <p:cNvSpPr/>
          <p:nvPr/>
        </p:nvSpPr>
        <p:spPr>
          <a:xfrm>
            <a:off x="6236208" y="1783080"/>
            <a:ext cx="5388559" cy="2331720"/>
          </a:xfrm>
          <a:prstGeom prst="roundRect">
            <a:avLst>
              <a:gd name="adj" fmla="val 274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464808" y="1901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던전 = 각기 다른 '꿈' 테마</a:t>
            </a:r>
            <a:endParaRPr lang="en-US" sz="1400"/>
          </a:p>
        </p:txBody>
      </p:sp>
      <p:sp>
        <p:nvSpPr>
          <p:cNvPr id="13" name="Text 9"/>
          <p:cNvSpPr/>
          <p:nvPr/>
        </p:nvSpPr>
        <p:spPr>
          <a:xfrm>
            <a:off x="6464808" y="2240280"/>
            <a:ext cx="4839919" cy="17373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꿈 속 세계라 던전마다 세계관·기믹·적이 전혀 다르다.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아래는 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잡몹→엘리트→보스의 학습 완충 구조를 설계·시연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하였다</a:t>
            </a:r>
            <a:r>
              <a:rPr 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  <p:sp>
        <p:nvSpPr>
          <p:cNvPr id="14" name="Shape 10"/>
          <p:cNvSpPr/>
          <p:nvPr/>
        </p:nvSpPr>
        <p:spPr>
          <a:xfrm>
            <a:off x="566928" y="4297680"/>
            <a:ext cx="11057839" cy="1417320"/>
          </a:xfrm>
          <a:prstGeom prst="roundRect">
            <a:avLst>
              <a:gd name="adj" fmla="val 4516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5" name="Text 11"/>
          <p:cNvSpPr/>
          <p:nvPr/>
        </p:nvSpPr>
        <p:spPr>
          <a:xfrm>
            <a:off x="822960" y="44074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던전 예시 — 우울증 테마 (여러 던전 중 하나)</a:t>
            </a:r>
            <a:endParaRPr lang="en-US" sz="1250"/>
          </a:p>
        </p:txBody>
      </p:sp>
      <p:sp>
        <p:nvSpPr>
          <p:cNvPr id="16" name="Shape 12"/>
          <p:cNvSpPr/>
          <p:nvPr/>
        </p:nvSpPr>
        <p:spPr>
          <a:xfrm>
            <a:off x="8412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3"/>
          <p:cNvSpPr/>
          <p:nvPr/>
        </p:nvSpPr>
        <p:spPr>
          <a:xfrm>
            <a:off x="9784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잡몹</a:t>
            </a:r>
            <a:endParaRPr lang="en-US" sz="1300"/>
          </a:p>
        </p:txBody>
      </p:sp>
      <p:sp>
        <p:nvSpPr>
          <p:cNvPr id="18" name="Text 14"/>
          <p:cNvSpPr/>
          <p:nvPr/>
        </p:nvSpPr>
        <p:spPr>
          <a:xfrm>
            <a:off x="9784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길잡이 · 자기효능감</a:t>
            </a:r>
            <a:endParaRPr lang="en-US" sz="1050"/>
          </a:p>
        </p:txBody>
      </p:sp>
      <p:sp>
        <p:nvSpPr>
          <p:cNvPr id="19" name="Text 15"/>
          <p:cNvSpPr/>
          <p:nvPr/>
        </p:nvSpPr>
        <p:spPr>
          <a:xfrm>
            <a:off x="4041648" y="4754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800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1800"/>
          </a:p>
        </p:txBody>
      </p:sp>
      <p:sp>
        <p:nvSpPr>
          <p:cNvPr id="20" name="Shape 16"/>
          <p:cNvSpPr/>
          <p:nvPr/>
        </p:nvSpPr>
        <p:spPr>
          <a:xfrm>
            <a:off x="44988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46360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엘리트</a:t>
            </a:r>
            <a:endParaRPr lang="en-US" sz="1300"/>
          </a:p>
        </p:txBody>
      </p:sp>
      <p:sp>
        <p:nvSpPr>
          <p:cNvPr id="22" name="Text 18"/>
          <p:cNvSpPr/>
          <p:nvPr/>
        </p:nvSpPr>
        <p:spPr>
          <a:xfrm>
            <a:off x="46360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난이도 완충 · 보스 패턴 예고</a:t>
            </a:r>
            <a:endParaRPr lang="en-US" sz="1050"/>
          </a:p>
        </p:txBody>
      </p:sp>
      <p:sp>
        <p:nvSpPr>
          <p:cNvPr id="23" name="Text 19"/>
          <p:cNvSpPr/>
          <p:nvPr/>
        </p:nvSpPr>
        <p:spPr>
          <a:xfrm>
            <a:off x="7699248" y="4754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en-US" sz="1800">
                <a:solidFill>
                  <a:srgbClr val="C8622E"/>
                </a:solidFill>
                <a:latin typeface="Arial"/>
                <a:ea typeface="Arial"/>
                <a:cs typeface="Arial"/>
              </a:rPr>
              <a:t>→</a:t>
            </a:r>
            <a:endParaRPr lang="en-US" sz="1800"/>
          </a:p>
        </p:txBody>
      </p:sp>
      <p:sp>
        <p:nvSpPr>
          <p:cNvPr id="24" name="Shape 20"/>
          <p:cNvSpPr/>
          <p:nvPr/>
        </p:nvSpPr>
        <p:spPr>
          <a:xfrm>
            <a:off x="8156448" y="475488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5" name="Text 21"/>
          <p:cNvSpPr/>
          <p:nvPr/>
        </p:nvSpPr>
        <p:spPr>
          <a:xfrm>
            <a:off x="8293608" y="48280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보스</a:t>
            </a:r>
            <a:endParaRPr lang="en-US" sz="1300"/>
          </a:p>
        </p:txBody>
      </p:sp>
      <p:sp>
        <p:nvSpPr>
          <p:cNvPr id="26" name="Text 22"/>
          <p:cNvSpPr/>
          <p:nvPr/>
        </p:nvSpPr>
        <p:spPr>
          <a:xfrm>
            <a:off x="8293608" y="5120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학습한 대응의 검증</a:t>
            </a:r>
            <a:endParaRPr lang="en-US" sz="1050"/>
          </a:p>
        </p:txBody>
      </p:sp>
      <p:sp>
        <p:nvSpPr>
          <p:cNvPr id="27" name="Text 23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28" name="Text 24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14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 2"/>
          <p:cNvSpPr txBox="1"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00" b="1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04  PROJECT — PulseCity</a:t>
            </a:r>
            <a:endParaRPr lang="ko-KR" altLang="en-US" sz="1200" b="1" spc="200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itle 3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PulseCity</a:t>
            </a:r>
            <a:endParaRPr lang="ko-KR" altLang="en-US" sz="29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Subtitle 4"/>
          <p:cNvSpPr txBox="1"/>
          <p:nvPr/>
        </p:nvSpPr>
        <p:spPr>
          <a:xfrm>
            <a:off x="566928" y="14813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3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근미래의 거대도시에서 용병이 되어 의뢰를 해결하고 던전을 클리어하는 다중 접속 슈팅 RPG</a:t>
            </a:r>
            <a:endParaRPr lang="ko-KR" altLang="en-US" sz="1350">
              <a:solidFill>
                <a:srgbClr val="24324f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566928" y="2103120"/>
          <a:ext cx="5943600" cy="1152144"/>
        </p:xfrm>
        <a:graphic>
          <a:graphicData uri="http://schemas.openxmlformats.org/drawingml/2006/table">
            <a:tbl>
              <a:tblGrid>
                <a:gridCol w="1554480"/>
                <a:gridCol w="4389120"/>
              </a:tblGrid>
              <a:tr h="384048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장르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다중 접속 RPG · 슈터 · 오픈월드</a:t>
                      </a:r>
                      <a:endParaRPr lang="ko-KR" altLang="en-US" sz="120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담당 역할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기획 + 서버 (3인 팀 · 졸업작품)</a:t>
                      </a:r>
                      <a:endParaRPr lang="ko-KR" altLang="en-US" sz="120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수록 범위</a:t>
                      </a:r>
                      <a:endParaRPr lang="ko-KR" altLang="en-US" sz="1200" b="1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20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던전 구조 · 몹 배치 · 직업군 설계</a:t>
                      </a:r>
                      <a:endParaRPr lang="ko-KR" altLang="en-US" sz="120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FlowCard 6"/>
          <p:cNvSpPr/>
          <p:nvPr/>
        </p:nvSpPr>
        <p:spPr>
          <a:xfrm>
            <a:off x="566928" y="4279392"/>
            <a:ext cx="5943600" cy="1389888"/>
          </a:xfrm>
          <a:prstGeom prst="roundRect">
            <a:avLst>
              <a:gd name="adj" fmla="val 5263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Text 7"/>
          <p:cNvSpPr txBox="1"/>
          <p:nvPr/>
        </p:nvSpPr>
        <p:spPr>
          <a:xfrm>
            <a:off x="804672" y="4370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5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플레이 흐름</a:t>
            </a:r>
            <a:endParaRPr lang="ko-KR" altLang="en-US" sz="125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Step 8"/>
          <p:cNvSpPr/>
          <p:nvPr/>
        </p:nvSpPr>
        <p:spPr>
          <a:xfrm>
            <a:off x="804672" y="4754880"/>
            <a:ext cx="1572768" cy="77724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914400" y="48188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의뢰 수락</a:t>
            </a:r>
            <a:endParaRPr lang="ko-KR" altLang="en-US" sz="12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914400" y="50840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  <a:defRPr/>
            </a:pPr>
            <a:r>
              <a:rPr lang="ko-KR" altLang="en-US" sz="9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경찰 · 기업 · 갱단 · 개인 의뢰</a:t>
            </a:r>
            <a:endParaRPr lang="ko-KR" altLang="en-US" sz="95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 11"/>
          <p:cNvSpPr txBox="1"/>
          <p:nvPr/>
        </p:nvSpPr>
        <p:spPr>
          <a:xfrm>
            <a:off x="2377440" y="4754880"/>
            <a:ext cx="347472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ko-KR" altLang="en-US" sz="16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→</a:t>
            </a:r>
            <a:endParaRPr lang="ko-KR" altLang="en-US" sz="16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2" name="Step 12"/>
          <p:cNvSpPr/>
          <p:nvPr/>
        </p:nvSpPr>
        <p:spPr>
          <a:xfrm>
            <a:off x="2724912" y="4754880"/>
            <a:ext cx="1572768" cy="77724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2834640" y="48188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던전 클리어</a:t>
            </a:r>
            <a:endParaRPr lang="ko-KR" altLang="en-US" sz="12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2834640" y="50840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  <a:defRPr/>
            </a:pPr>
            <a:r>
              <a:rPr lang="ko-KR" altLang="en-US" sz="9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메인 의뢰는 던전 수행 필수</a:t>
            </a:r>
            <a:endParaRPr lang="ko-KR" altLang="en-US" sz="95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Text 15"/>
          <p:cNvSpPr txBox="1"/>
          <p:nvPr/>
        </p:nvSpPr>
        <p:spPr>
          <a:xfrm>
            <a:off x="4297680" y="4754880"/>
            <a:ext cx="347472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ko-KR" altLang="en-US" sz="16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→</a:t>
            </a:r>
            <a:endParaRPr lang="ko-KR" altLang="en-US" sz="16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Step 16"/>
          <p:cNvSpPr/>
          <p:nvPr/>
        </p:nvSpPr>
        <p:spPr>
          <a:xfrm>
            <a:off x="4645152" y="4754880"/>
            <a:ext cx="1572768" cy="77724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4754880" y="48188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스토리 진행</a:t>
            </a:r>
            <a:endParaRPr lang="ko-KR" altLang="en-US" sz="12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4754880" y="508406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  <a:defRPr/>
            </a:pPr>
            <a:r>
              <a:rPr lang="ko-KR" altLang="en-US" sz="95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메인스토리를 밀고 엔딩까지</a:t>
            </a:r>
            <a:endParaRPr lang="ko-KR" altLang="en-US" sz="95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ArtCard 19"/>
          <p:cNvSpPr/>
          <p:nvPr/>
        </p:nvSpPr>
        <p:spPr>
          <a:xfrm>
            <a:off x="6876288" y="2103120"/>
            <a:ext cx="4745736" cy="3566160"/>
          </a:xfrm>
          <a:prstGeom prst="roundRect">
            <a:avLst>
              <a:gd name="adj" fmla="val 2307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20" name="Image 20" descr="컨셉 아트 — 용병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2128" y="2212848"/>
            <a:ext cx="2734056" cy="2926080"/>
          </a:xfrm>
          <a:prstGeom prst="rect">
            <a:avLst/>
          </a:prstGeom>
        </p:spPr>
      </p:pic>
      <p:sp>
        <p:nvSpPr>
          <p:cNvPr id="21" name="Text 21"/>
          <p:cNvSpPr txBox="1"/>
          <p:nvPr/>
        </p:nvSpPr>
        <p:spPr>
          <a:xfrm>
            <a:off x="6876288" y="5230368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ko-KR" altLang="en-US" sz="11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컨셉 아트 — 용병집단에 소속된 플레이어</a:t>
            </a:r>
            <a:endParaRPr lang="ko-KR" altLang="en-US" sz="1100" i="1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" name="Footer 22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ko-KR" altLang="en-US" sz="9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PageNo 23"/>
          <p:cNvSpPr txBox="1"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  <a:defRPr/>
            </a:pPr>
            <a:r>
              <a:rPr lang="ko-KR" alt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15</a:t>
            </a:r>
            <a:endParaRPr lang="ko-KR" altLang="en-US" sz="9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 2"/>
          <p:cNvSpPr txBox="1"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00" b="1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04  PulseCity — 던전 구조</a:t>
            </a:r>
            <a:endParaRPr lang="ko-KR" altLang="en-US" sz="1200" b="1" spc="200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itle 3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회사 건물 던전: 로비 → 사무실 → 보스방</a:t>
            </a:r>
            <a:endParaRPr lang="ko-KR" altLang="en-US" sz="29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MapCard 4"/>
          <p:cNvSpPr/>
          <p:nvPr/>
        </p:nvSpPr>
        <p:spPr>
          <a:xfrm>
            <a:off x="566928" y="1691640"/>
            <a:ext cx="5120640" cy="3794760"/>
          </a:xfrm>
          <a:prstGeom prst="roundRect">
            <a:avLst>
              <a:gd name="adj" fmla="val 2168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5" name="Image 5" descr="던전 평면도 (2층 위, 1층 아래)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69807" y="1783080"/>
            <a:ext cx="4314881" cy="3383280"/>
          </a:xfrm>
          <a:prstGeom prst="rect">
            <a:avLst/>
          </a:prstGeom>
        </p:spPr>
      </p:pic>
      <p:sp>
        <p:nvSpPr>
          <p:cNvPr id="6" name="Text 6"/>
          <p:cNvSpPr txBox="1"/>
          <p:nvPr/>
        </p:nvSpPr>
        <p:spPr>
          <a:xfrm>
            <a:off x="566928" y="51937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ko-KR" altLang="en-US" sz="1000" i="1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던전 평면도 — 2층(위) · 1층(아래)</a:t>
            </a:r>
            <a:endParaRPr lang="ko-KR" altLang="en-US" sz="1000" i="1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Card 7"/>
          <p:cNvSpPr/>
          <p:nvPr/>
        </p:nvSpPr>
        <p:spPr>
          <a:xfrm>
            <a:off x="5916168" y="1691640"/>
            <a:ext cx="5705856" cy="1170432"/>
          </a:xfrm>
          <a:prstGeom prst="roundRect">
            <a:avLst>
              <a:gd name="adj" fmla="val 625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Badge 8"/>
          <p:cNvSpPr/>
          <p:nvPr/>
        </p:nvSpPr>
        <p:spPr>
          <a:xfrm>
            <a:off x="6099048" y="1874520"/>
            <a:ext cx="384048" cy="384048"/>
          </a:xfrm>
          <a:prstGeom prst="ellipse">
            <a:avLst/>
          </a:prstGeom>
          <a:solidFill>
            <a:srgbClr val="c8622e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ko-KR" altLang="en-US"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lang="ko-KR" altLang="en-US" sz="13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6629400" y="18196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3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1층 · 로비 — 갈수록 넓어지는 방</a:t>
            </a:r>
            <a:endParaRPr lang="ko-KR" altLang="en-US" sz="135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Text 10"/>
          <p:cNvSpPr txBox="1"/>
          <p:nvPr/>
        </p:nvSpPr>
        <p:spPr>
          <a:xfrm>
            <a:off x="6629400" y="2148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5000"/>
              </a:lnSpc>
              <a:buNone/>
              <a:defRPr/>
            </a:pPr>
            <a:r>
              <a:rPr lang="ko-KR" altLang="en-US" sz="11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입구 → 대기실 → 광장 순으로 공간이 커진다. 좁은 곳에서 트인 곳으로 나아가는 확장감을 준다.</a:t>
            </a:r>
            <a:endParaRPr lang="ko-KR" altLang="en-US" sz="11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Card 11"/>
          <p:cNvSpPr/>
          <p:nvPr/>
        </p:nvSpPr>
        <p:spPr>
          <a:xfrm>
            <a:off x="5916168" y="2985516"/>
            <a:ext cx="5705856" cy="1170432"/>
          </a:xfrm>
          <a:prstGeom prst="roundRect">
            <a:avLst>
              <a:gd name="adj" fmla="val 6250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2" name="Badge 12"/>
          <p:cNvSpPr/>
          <p:nvPr/>
        </p:nvSpPr>
        <p:spPr>
          <a:xfrm>
            <a:off x="6099048" y="3168396"/>
            <a:ext cx="384048" cy="384048"/>
          </a:xfrm>
          <a:prstGeom prst="ellipse">
            <a:avLst/>
          </a:prstGeom>
          <a:solidFill>
            <a:srgbClr val="c8622e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ko-KR" altLang="en-US"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lang="ko-KR" altLang="en-US" sz="13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6629400" y="31135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35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2층 · 사무실 — 방마다 다른 전투</a:t>
            </a:r>
            <a:endParaRPr lang="ko-KR" altLang="en-US" sz="135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Text 14"/>
          <p:cNvSpPr txBox="1"/>
          <p:nvPr/>
        </p:nvSpPr>
        <p:spPr>
          <a:xfrm>
            <a:off x="6629400" y="344271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5000"/>
              </a:lnSpc>
              <a:buNone/>
              <a:defRPr/>
            </a:pPr>
            <a:r>
              <a:rPr lang="ko-KR" altLang="en-US" sz="11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방마다 몬스터 배치가 달라 수색하는 재미를 준다. 가장 넓은 중앙 방은 몬스터가 가장 많다</a:t>
            </a:r>
            <a:r>
              <a:rPr lang="en-US" altLang="ko-KR" sz="1100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lang="en-US" altLang="ko-KR" sz="1100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Card 15"/>
          <p:cNvSpPr/>
          <p:nvPr/>
        </p:nvSpPr>
        <p:spPr>
          <a:xfrm>
            <a:off x="5916168" y="4279392"/>
            <a:ext cx="5705856" cy="1170432"/>
          </a:xfrm>
          <a:prstGeom prst="roundRect">
            <a:avLst>
              <a:gd name="adj" fmla="val 6250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6" name="Badge 16"/>
          <p:cNvSpPr/>
          <p:nvPr/>
        </p:nvSpPr>
        <p:spPr>
          <a:xfrm>
            <a:off x="6099048" y="4462272"/>
            <a:ext cx="384048" cy="384048"/>
          </a:xfrm>
          <a:prstGeom prst="ellipse">
            <a:avLst/>
          </a:prstGeom>
          <a:solidFill>
            <a:srgbClr val="c8622e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  <a:defRPr/>
            </a:pPr>
            <a:r>
              <a:rPr lang="ko-KR" altLang="en-US"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lang="ko-KR" altLang="en-US" sz="1300" b="1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Text 17"/>
          <p:cNvSpPr txBox="1"/>
          <p:nvPr/>
        </p:nvSpPr>
        <p:spPr>
          <a:xfrm>
            <a:off x="6629400" y="44074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35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보스방 — 코어 3개를 부수고 보스 공략</a:t>
            </a:r>
            <a:endParaRPr lang="ko-KR" altLang="en-US" sz="1350" b="1">
              <a:solidFill>
                <a:srgbClr val="e0a15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8" name="Text 18"/>
          <p:cNvSpPr txBox="1"/>
          <p:nvPr/>
        </p:nvSpPr>
        <p:spPr>
          <a:xfrm>
            <a:off x="6629400" y="47365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5000"/>
              </a:lnSpc>
              <a:buNone/>
              <a:defRPr/>
            </a:pPr>
            <a:r>
              <a:rPr lang="ko-KR" altLang="en-US" sz="11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넓은 단일 방, 보스방 중앙을 차지하는 거대한 고정형 포탑 보스. 코어 3개를 모두 파괴해야 보스에게 피해를 줄 수 있다.</a:t>
            </a:r>
            <a:endParaRPr lang="ko-KR" altLang="en-US" sz="11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9" name="Bar 19"/>
          <p:cNvSpPr/>
          <p:nvPr/>
        </p:nvSpPr>
        <p:spPr>
          <a:xfrm>
            <a:off x="566928" y="5669280"/>
            <a:ext cx="11055096" cy="640080"/>
          </a:xfrm>
          <a:prstGeom prst="roundRect">
            <a:avLst>
              <a:gd name="adj" fmla="val 1428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0" name="BarText 20"/>
          <p:cNvSpPr txBox="1"/>
          <p:nvPr/>
        </p:nvSpPr>
        <p:spPr>
          <a:xfrm>
            <a:off x="841248" y="566928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lnSpc>
                <a:spcPct val="115000"/>
              </a:lnSpc>
              <a:buNone/>
              <a:defRPr/>
            </a:pPr>
            <a:r>
              <a:rPr lang="ko-KR" alt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설계 의도  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공간이 넓어질수록 전투 규모도 함께 커지게 하여, 로비에서 보스방까지 긴장감이 쌓이는 흐름을 만들었다.</a:t>
            </a:r>
            <a:endParaRPr lang="ko-KR" altLang="en-US" sz="12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1" name="Footer 21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ko-KR" altLang="en-US" sz="9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" name="PageNo 22"/>
          <p:cNvSpPr txBox="1"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  <a:defRPr/>
            </a:pPr>
            <a:r>
              <a:rPr lang="ko-KR" alt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16</a:t>
            </a:r>
            <a:endParaRPr lang="ko-KR" altLang="en-US" sz="9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 2"/>
          <p:cNvSpPr txBox="1"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00" b="1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04  PulseCity — 몹 배치</a:t>
            </a:r>
            <a:endParaRPr lang="ko-KR" altLang="en-US" sz="1200" b="1" spc="200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" name="Title 3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방마다 다른 몹 구성으로 전투에 변화를 준다</a:t>
            </a:r>
            <a:endParaRPr lang="ko-KR" altLang="en-US" sz="29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66928" y="1691640"/>
          <a:ext cx="7086600" cy="3273552"/>
        </p:xfrm>
        <a:graphic>
          <a:graphicData uri="http://schemas.openxmlformats.org/drawingml/2006/table">
            <a:tbl>
              <a:tblGrid>
                <a:gridCol w="1554480"/>
                <a:gridCol w="3017520"/>
                <a:gridCol w="2514600"/>
              </a:tblGrid>
              <a:tr h="310896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구역</a:t>
                      </a:r>
                      <a:endParaRPr lang="ko-KR" altLang="en-US" sz="1100" b="1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몹 구성</a:t>
                      </a:r>
                      <a:endParaRPr lang="ko-KR" altLang="en-US" sz="1100" b="1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배치 의도</a:t>
                      </a:r>
                      <a:endParaRPr lang="ko-KR" altLang="en-US" sz="1100" b="1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16223b"/>
                    </a:solidFill>
                  </a:tcPr>
                </a:tc>
              </a:tr>
              <a:tr h="493776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1층 입구 · 대기실</a:t>
                      </a:r>
                      <a:endParaRPr lang="ko-KR" altLang="en-US" sz="1100" b="1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경호로봇 ×4  →   경호로봇 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 </a:t>
                      </a: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첫 전투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1층 광장</a:t>
                      </a:r>
                      <a:endParaRPr lang="ko-KR" altLang="en-US" sz="1100" b="1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경호로봇 ×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터렛 ×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  <a:endParaRPr lang="en-US" altLang="ko-KR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1층 최대 규모의 전투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2층 왼쪽 방</a:t>
                      </a:r>
                      <a:endParaRPr lang="ko-KR" altLang="en-US" sz="1100" b="1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경호로봇 ×3 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경호로봇 ×2 · 터렛 ×1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몹의 조합이 방마다 다르다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2층 오른쪽 방</a:t>
                      </a:r>
                      <a:endParaRPr lang="ko-KR" altLang="en-US" sz="1100" b="1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터렛 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 3</a:t>
                      </a:r>
                      <a:b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</a:b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경호로봇 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 1 </a:t>
                      </a: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터렛 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x 2</a:t>
                      </a:r>
                      <a:endParaRPr lang="en-US" altLang="ko-KR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몹의 조합이 방마다 다르다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2층 중앙 방</a:t>
                      </a:r>
                      <a:endParaRPr lang="ko-KR" altLang="en-US" sz="1100" b="1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경호로봇 ×4  · 터렛 ×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3</a:t>
                      </a:r>
                      <a:endParaRPr lang="en-US" altLang="ko-KR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몹이 가장 많은 방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buNone/>
                        <a:defRPr/>
                      </a:pPr>
                      <a:r>
                        <a:rPr lang="ko-KR" altLang="en-US" sz="1100" b="1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보스방</a:t>
                      </a:r>
                      <a:endParaRPr lang="ko-KR" altLang="en-US" sz="1100" b="1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거대 고정형 보스 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</a:t>
                      </a: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포탑 </a:t>
                      </a:r>
                      <a:r>
                        <a:rPr lang="en-US" altLang="ko-KR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)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vert="horz" lIns="91440" tIns="36576" rIns="73152" bIns="36576" anchor="ctr" anchorCtr="0"/>
                    <a:p>
                      <a:pPr marL="0" indent="0" algn="l">
                        <a:lnSpc>
                          <a:spcPct val="105000"/>
                        </a:lnSpc>
                        <a:buNone/>
                        <a:defRPr/>
                      </a:pPr>
                      <a:r>
                        <a:rPr lang="ko-KR" altLang="en-US" sz="1050">
                          <a:solidFill>
                            <a:srgbClr val="1f26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코어 3개 파괴 후 보스 타격 가능</a:t>
                      </a:r>
                      <a:endParaRPr lang="ko-KR" altLang="en-US" sz="1050">
                        <a:solidFill>
                          <a:srgbClr val="1f2637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91440" marR="73152" marT="36576" marB="36576" anchor="ctr">
                    <a:lnL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d9dee6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5"/>
          <p:cNvSpPr txBox="1"/>
          <p:nvPr/>
        </p:nvSpPr>
        <p:spPr>
          <a:xfrm>
            <a:off x="7863840" y="1691640"/>
            <a:ext cx="3758184" cy="310896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1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몬스터 4종</a:t>
            </a:r>
            <a:endParaRPr lang="ko-KR" altLang="en-US" sz="1100" b="1">
              <a:solidFill>
                <a:srgbClr val="1f26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MobCard 6"/>
          <p:cNvSpPr/>
          <p:nvPr/>
        </p:nvSpPr>
        <p:spPr>
          <a:xfrm>
            <a:off x="7863840" y="2002536"/>
            <a:ext cx="1819656" cy="1673352"/>
          </a:xfrm>
          <a:prstGeom prst="roundRect">
            <a:avLst>
              <a:gd name="adj" fmla="val 382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7" name="Image 7" descr="경호로봇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001000" y="2112264"/>
            <a:ext cx="1545336" cy="835317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8001000" y="2990088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경호로봇</a:t>
            </a:r>
            <a:endParaRPr lang="ko-KR" altLang="en-US" sz="12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Text 9"/>
          <p:cNvSpPr txBox="1"/>
          <p:nvPr/>
        </p:nvSpPr>
        <p:spPr>
          <a:xfrm>
            <a:off x="8001000" y="3236976"/>
            <a:ext cx="1545336" cy="402336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05000"/>
              </a:lnSpc>
              <a:buNone/>
              <a:defRPr/>
            </a:pPr>
            <a:r>
              <a:rPr lang="ko-KR" altLang="en-US" sz="9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표준 스탯의 기본 몹 (체력 · 화력 · 속도 중간)</a:t>
            </a:r>
            <a:endParaRPr lang="ko-KR" altLang="en-US" sz="950">
              <a:solidFill>
                <a:srgbClr val="24324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MobCard 10"/>
          <p:cNvSpPr/>
          <p:nvPr/>
        </p:nvSpPr>
        <p:spPr>
          <a:xfrm>
            <a:off x="9802368" y="2002536"/>
            <a:ext cx="1819656" cy="1673352"/>
          </a:xfrm>
          <a:prstGeom prst="roundRect">
            <a:avLst>
              <a:gd name="adj" fmla="val 3825"/>
            </a:avLst>
          </a:prstGeom>
          <a:solidFill>
            <a:srgbClr val="f4f6fa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pic>
        <p:nvPicPr>
          <p:cNvPr id="11" name="Image 11" descr="터렛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9939528" y="2112264"/>
            <a:ext cx="1545336" cy="835317"/>
          </a:xfrm>
          <a:prstGeom prst="rect">
            <a:avLst/>
          </a:prstGeom>
        </p:spPr>
      </p:pic>
      <p:sp>
        <p:nvSpPr>
          <p:cNvPr id="12" name="Text 12"/>
          <p:cNvSpPr txBox="1"/>
          <p:nvPr/>
        </p:nvSpPr>
        <p:spPr>
          <a:xfrm>
            <a:off x="9939528" y="2990088"/>
            <a:ext cx="1545336" cy="237744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12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터렛</a:t>
            </a:r>
            <a:endParaRPr lang="ko-KR" altLang="en-US" sz="1200" b="1">
              <a:solidFill>
                <a:srgbClr val="c862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 13"/>
          <p:cNvSpPr txBox="1"/>
          <p:nvPr/>
        </p:nvSpPr>
        <p:spPr>
          <a:xfrm>
            <a:off x="9939528" y="3236976"/>
            <a:ext cx="1545336" cy="402336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05000"/>
              </a:lnSpc>
              <a:buNone/>
              <a:defRPr/>
            </a:pPr>
            <a:r>
              <a:rPr lang="ko-KR" altLang="en-US" sz="9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고정형 · 고화력</a:t>
            </a:r>
            <a:endParaRPr lang="ko-KR" altLang="en-US" sz="950">
              <a:solidFill>
                <a:srgbClr val="24324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2" name="Bar 22"/>
          <p:cNvSpPr/>
          <p:nvPr/>
        </p:nvSpPr>
        <p:spPr>
          <a:xfrm>
            <a:off x="566928" y="5669280"/>
            <a:ext cx="11055096" cy="640080"/>
          </a:xfrm>
          <a:prstGeom prst="roundRect">
            <a:avLst>
              <a:gd name="adj" fmla="val 1428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23" name="BarText 23"/>
          <p:cNvSpPr txBox="1"/>
          <p:nvPr/>
        </p:nvSpPr>
        <p:spPr>
          <a:xfrm>
            <a:off x="841248" y="566928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lnSpc>
                <a:spcPct val="115000"/>
              </a:lnSpc>
              <a:buNone/>
              <a:defRPr/>
            </a:pPr>
            <a:r>
              <a:rPr lang="ko-KR" alt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설계 의도  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플레이어는 층의 모든 몬스터를 없애야 다음 층으로 올라갈수있기 때문에 방 마다 요구하는 전투 유형을 달리하였다</a:t>
            </a:r>
            <a:endParaRPr lang="ko-KR" altLang="en-US" sz="1200">
              <a:solidFill>
                <a:srgbClr val="eaf0fa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4" name="Footer 24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  <a:defRPr/>
            </a:pPr>
            <a:r>
              <a:rPr lang="ko-KR" alt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ko-KR" altLang="en-US" sz="9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PageNo 25"/>
          <p:cNvSpPr txBox="1"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  <a:defRPr/>
            </a:pPr>
            <a:r>
              <a:rPr lang="ko-KR" alt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17</a:t>
            </a:r>
            <a:endParaRPr lang="ko-KR" altLang="en-US" sz="900">
              <a:solidFill>
                <a:srgbClr val="6c7686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 2"/>
          <p:cNvSpPr txBox="1"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200" b="1" spc="200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04  PulseCity — 직업군</a:t>
            </a:r>
          </a:p>
        </p:txBody>
      </p:sp>
      <p:sp>
        <p:nvSpPr>
          <p:cNvPr id="3" name="Title 3"/>
          <p:cNvSpPr txBox="1"/>
          <p:nvPr/>
        </p:nvSpPr>
        <p:spPr>
          <a:xfrm>
            <a:off x="566928" y="71323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29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3개 직업군 · 9개 직업의 역할 설계</a:t>
            </a:r>
          </a:p>
        </p:txBody>
      </p:sp>
      <p:sp>
        <p:nvSpPr>
          <p:cNvPr id="4" name="GroupHead 4"/>
          <p:cNvSpPr/>
          <p:nvPr/>
        </p:nvSpPr>
        <p:spPr>
          <a:xfrm>
            <a:off x="566928" y="169164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5" name="Text 5"/>
          <p:cNvSpPr txBox="1"/>
          <p:nvPr/>
        </p:nvSpPr>
        <p:spPr>
          <a:xfrm>
            <a:off x="749808" y="17647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돌격군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749808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수동적으로 맞기만 하는 탱커가 아니라, 각자의 '생존 기제'로 최전방을 돌파한다</a:t>
            </a:r>
          </a:p>
        </p:txBody>
      </p:sp>
      <p:sp>
        <p:nvSpPr>
          <p:cNvPr id="7" name="JobCard 7"/>
          <p:cNvSpPr/>
          <p:nvPr/>
        </p:nvSpPr>
        <p:spPr>
          <a:xfrm>
            <a:off x="566928" y="2697480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8" name="Image 8" descr="저거넛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793492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9" name="Text 9"/>
          <p:cNvSpPr txBox="1"/>
          <p:nvPr/>
        </p:nvSpPr>
        <p:spPr>
          <a:xfrm>
            <a:off x="1508760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저거넛</a:t>
            </a:r>
            <a:r>
              <a:rPr lang="ko-KR" altLang="en-US" sz="10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   머신건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1508760" y="3081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열기 게이지를 관리하며 버티는 리스크형 탱커</a:t>
            </a:r>
          </a:p>
        </p:txBody>
      </p:sp>
      <p:sp>
        <p:nvSpPr>
          <p:cNvPr id="11" name="JobCard 11"/>
          <p:cNvSpPr/>
          <p:nvPr/>
        </p:nvSpPr>
        <p:spPr>
          <a:xfrm>
            <a:off x="566928" y="3630168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12" name="Image 12" descr="프로스트 가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726180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13" name="Text 13"/>
          <p:cNvSpPr txBox="1"/>
          <p:nvPr/>
        </p:nvSpPr>
        <p:spPr>
          <a:xfrm>
            <a:off x="1508760" y="37216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프로스트 가드</a:t>
            </a:r>
            <a:r>
              <a:rPr lang="ko-KR" altLang="en-US" sz="10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   샷건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1508760" y="40142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얼음 스킬과 패링으로 버티는 근접 탱커</a:t>
            </a:r>
          </a:p>
        </p:txBody>
      </p:sp>
      <p:sp>
        <p:nvSpPr>
          <p:cNvPr id="15" name="JobCard 15"/>
          <p:cNvSpPr/>
          <p:nvPr/>
        </p:nvSpPr>
        <p:spPr>
          <a:xfrm>
            <a:off x="566928" y="4562856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16" name="Image 16" descr="이지스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658868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17" name="Text 17"/>
          <p:cNvSpPr txBox="1"/>
          <p:nvPr/>
        </p:nvSpPr>
        <p:spPr>
          <a:xfrm>
            <a:off x="1508760" y="4654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이지스</a:t>
            </a:r>
            <a:r>
              <a:rPr lang="ko-KR" altLang="en-US" sz="10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   권총 · 방패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1508760" y="494690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기동성을 갖춘 방패 수호자</a:t>
            </a:r>
          </a:p>
        </p:txBody>
      </p:sp>
      <p:sp>
        <p:nvSpPr>
          <p:cNvPr id="19" name="GroupHead 19"/>
          <p:cNvSpPr/>
          <p:nvPr/>
        </p:nvSpPr>
        <p:spPr>
          <a:xfrm>
            <a:off x="4311396" y="169164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20" name="Text 20"/>
          <p:cNvSpPr txBox="1"/>
          <p:nvPr/>
        </p:nvSpPr>
        <p:spPr>
          <a:xfrm>
            <a:off x="4494276" y="17647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유틸군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4494276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총기 화력보다 스킬 운용(뇌지컬)으로 전황을 유리하게 만드는 '판 깔기'</a:t>
            </a:r>
          </a:p>
        </p:txBody>
      </p:sp>
      <p:sp>
        <p:nvSpPr>
          <p:cNvPr id="22" name="JobCard 22"/>
          <p:cNvSpPr/>
          <p:nvPr/>
        </p:nvSpPr>
        <p:spPr>
          <a:xfrm>
            <a:off x="4311396" y="2697480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23" name="Image 23" descr="드론 오퍼레이터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556" y="2793492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24" name="Text 24"/>
          <p:cNvSpPr txBox="1"/>
          <p:nvPr/>
        </p:nvSpPr>
        <p:spPr>
          <a:xfrm>
            <a:off x="5253228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드론 오퍼레이터</a:t>
            </a:r>
            <a:r>
              <a:rPr lang="ko-KR" altLang="en-US" sz="10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   권총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5253228" y="3081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드론 3기로 아군을 지원하고 전장을 정찰</a:t>
            </a:r>
          </a:p>
        </p:txBody>
      </p:sp>
      <p:sp>
        <p:nvSpPr>
          <p:cNvPr id="26" name="JobCard 26"/>
          <p:cNvSpPr/>
          <p:nvPr/>
        </p:nvSpPr>
        <p:spPr>
          <a:xfrm>
            <a:off x="4311396" y="3630168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27" name="Image 27" descr="해커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8556" y="3726180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28" name="Text 28"/>
          <p:cNvSpPr txBox="1"/>
          <p:nvPr/>
        </p:nvSpPr>
        <p:spPr>
          <a:xfrm>
            <a:off x="5253228" y="37216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해커</a:t>
            </a:r>
            <a:r>
              <a:rPr lang="ko-KR" altLang="en-US" sz="10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   SMG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5253228" y="40142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해킹과 홀로그램으로 적을 기만하는 트릭스터</a:t>
            </a:r>
          </a:p>
        </p:txBody>
      </p:sp>
      <p:sp>
        <p:nvSpPr>
          <p:cNvPr id="30" name="JobCard 30"/>
          <p:cNvSpPr/>
          <p:nvPr/>
        </p:nvSpPr>
        <p:spPr>
          <a:xfrm>
            <a:off x="4311396" y="4562856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31" name="Image 31" descr="투척병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8556" y="4658868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32" name="Text 32"/>
          <p:cNvSpPr txBox="1"/>
          <p:nvPr/>
        </p:nvSpPr>
        <p:spPr>
          <a:xfrm>
            <a:off x="5253228" y="4654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투척병</a:t>
            </a:r>
            <a:r>
              <a:rPr lang="ko-KR" altLang="en-US" sz="10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   유탄 발사기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5253228" y="494690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장판 · 디버프 유탄으로 공간을 지배하는 설계자</a:t>
            </a:r>
          </a:p>
        </p:txBody>
      </p:sp>
      <p:sp>
        <p:nvSpPr>
          <p:cNvPr id="34" name="GroupHead 34"/>
          <p:cNvSpPr/>
          <p:nvPr/>
        </p:nvSpPr>
        <p:spPr>
          <a:xfrm>
            <a:off x="8055864" y="169164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8238744" y="176479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5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공격군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8238744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스킬 의존도를 낮추고, 에임 · 무빙 등 컨트롤이 곧 전투력이 된다</a:t>
            </a:r>
          </a:p>
        </p:txBody>
      </p:sp>
      <p:sp>
        <p:nvSpPr>
          <p:cNvPr id="37" name="JobCard 37"/>
          <p:cNvSpPr/>
          <p:nvPr/>
        </p:nvSpPr>
        <p:spPr>
          <a:xfrm>
            <a:off x="8055864" y="2697480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38" name="Image 38" descr="스나이퍼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3024" y="2793492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39" name="Text 39"/>
          <p:cNvSpPr txBox="1"/>
          <p:nvPr/>
        </p:nvSpPr>
        <p:spPr>
          <a:xfrm>
            <a:off x="8997696" y="27889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스나이퍼</a:t>
            </a:r>
            <a:r>
              <a:rPr lang="ko-KR" altLang="en-US" sz="10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   SR · DMR</a:t>
            </a:r>
          </a:p>
        </p:txBody>
      </p:sp>
      <p:sp>
        <p:nvSpPr>
          <p:cNvPr id="40" name="Text 40"/>
          <p:cNvSpPr txBox="1"/>
          <p:nvPr/>
        </p:nvSpPr>
        <p:spPr>
          <a:xfrm>
            <a:off x="8997696" y="308152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원거리 정밀 타격으로 한 방의 위력을 노린다</a:t>
            </a:r>
          </a:p>
        </p:txBody>
      </p:sp>
      <p:sp>
        <p:nvSpPr>
          <p:cNvPr id="41" name="JobCard 41"/>
          <p:cNvSpPr/>
          <p:nvPr/>
        </p:nvSpPr>
        <p:spPr>
          <a:xfrm>
            <a:off x="8055864" y="3630168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42" name="Image 42" descr="돌격소총수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3024" y="3726180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43" name="Text 43"/>
          <p:cNvSpPr txBox="1"/>
          <p:nvPr/>
        </p:nvSpPr>
        <p:spPr>
          <a:xfrm>
            <a:off x="8997696" y="372160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돌격소총수</a:t>
            </a:r>
            <a:r>
              <a:rPr lang="ko-KR" altLang="en-US" sz="1000" b="1">
                <a:solidFill>
                  <a:srgbClr val="C8622E"/>
                </a:solidFill>
                <a:latin typeface="맑은 고딕"/>
                <a:ea typeface="맑은 고딕"/>
                <a:cs typeface="맑은 고딕"/>
              </a:rPr>
              <a:t>   소총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8997696" y="40142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달리며 쏘는 런 앤 건, 중거리 지속딜</a:t>
            </a:r>
          </a:p>
        </p:txBody>
      </p:sp>
      <p:sp>
        <p:nvSpPr>
          <p:cNvPr id="45" name="JobCard 45"/>
          <p:cNvSpPr/>
          <p:nvPr/>
        </p:nvSpPr>
        <p:spPr>
          <a:xfrm>
            <a:off x="8055864" y="4562856"/>
            <a:ext cx="3566160" cy="850392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/>
            <a:endParaRPr lang="ko-KR" altLang="en-US"/>
          </a:p>
        </p:txBody>
      </p:sp>
      <p:pic>
        <p:nvPicPr>
          <p:cNvPr id="46" name="Image 46" descr="쌍권총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93024" y="4658868"/>
            <a:ext cx="658368" cy="658368"/>
          </a:xfrm>
          <a:prstGeom prst="ellipse">
            <a:avLst/>
          </a:prstGeom>
          <a:ln w="25400">
            <a:solidFill>
              <a:srgbClr val="E0A15A"/>
            </a:solidFill>
          </a:ln>
        </p:spPr>
      </p:pic>
      <p:sp>
        <p:nvSpPr>
          <p:cNvPr id="47" name="Text 47"/>
          <p:cNvSpPr txBox="1"/>
          <p:nvPr/>
        </p:nvSpPr>
        <p:spPr>
          <a:xfrm>
            <a:off x="8997696" y="4654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1300" b="1">
                <a:solidFill>
                  <a:srgbClr val="1F2637"/>
                </a:solidFill>
                <a:latin typeface="맑은 고딕"/>
                <a:ea typeface="맑은 고딕"/>
                <a:cs typeface="맑은 고딕"/>
              </a:rPr>
              <a:t>쌍권총</a:t>
            </a:r>
          </a:p>
        </p:txBody>
      </p:sp>
      <p:sp>
        <p:nvSpPr>
          <p:cNvPr id="48" name="Text 48"/>
          <p:cNvSpPr txBox="1"/>
          <p:nvPr/>
        </p:nvSpPr>
        <p:spPr>
          <a:xfrm>
            <a:off x="8997696" y="494690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ko-KR" altLang="en-US" sz="1050">
                <a:solidFill>
                  <a:srgbClr val="24324F"/>
                </a:solidFill>
                <a:latin typeface="맑은 고딕"/>
                <a:ea typeface="맑은 고딕"/>
                <a:cs typeface="맑은 고딕"/>
              </a:rPr>
              <a:t>근접 순간 화력이 가장 강한 하이 리스크 하이 리턴</a:t>
            </a:r>
          </a:p>
        </p:txBody>
      </p:sp>
      <p:sp>
        <p:nvSpPr>
          <p:cNvPr id="49" name="Bar 49"/>
          <p:cNvSpPr/>
          <p:nvPr/>
        </p:nvSpPr>
        <p:spPr>
          <a:xfrm>
            <a:off x="566928" y="5669280"/>
            <a:ext cx="11055096" cy="640080"/>
          </a:xfrm>
          <a:prstGeom prst="roundRect">
            <a:avLst>
              <a:gd name="adj" fmla="val 14285"/>
            </a:avLst>
          </a:prstGeom>
          <a:solidFill>
            <a:srgbClr val="16223B"/>
          </a:solidFill>
          <a:ln w="12700">
            <a:solidFill>
              <a:srgbClr val="D9DEE6"/>
            </a:solidFill>
            <a:prstDash val="solid"/>
          </a:ln>
        </p:spPr>
        <p:txBody>
          <a:bodyPr anchor="ctr"/>
          <a:lstStyle/>
          <a:p>
            <a:pPr algn="ctr"/>
            <a:endParaRPr lang="ko-KR" altLang="en-US"/>
          </a:p>
        </p:txBody>
      </p:sp>
      <p:sp>
        <p:nvSpPr>
          <p:cNvPr id="50" name="BarText 50"/>
          <p:cNvSpPr txBox="1"/>
          <p:nvPr/>
        </p:nvSpPr>
        <p:spPr>
          <a:xfrm>
            <a:off x="841248" y="566928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ko-KR" altLang="en-US" sz="1200" b="1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설계 의도  </a:t>
            </a:r>
            <a:r>
              <a:rPr lang="ko-KR" altLang="en-US" sz="12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직업군마다 플레이어에게 요구하는 능력을 분리했다 — 생존 기제 운용(돌격) · 스킬 판단(유틸) · 에임과 무빙(공격). 에임에 자신이 없어도 스킬 판단으로 활약할 수 있다.</a:t>
            </a:r>
          </a:p>
        </p:txBody>
      </p:sp>
      <p:sp>
        <p:nvSpPr>
          <p:cNvPr id="51" name="Footer 51"/>
          <p:cNvSpPr txBox="1"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ko-KR" alt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</a:p>
        </p:txBody>
      </p:sp>
      <p:sp>
        <p:nvSpPr>
          <p:cNvPr id="52" name="PageNo 52"/>
          <p:cNvSpPr txBox="1"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ko-KR" alt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2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200" b="1" kern="0" spc="2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05  PHILOSOPHY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언제나 플레이어</a:t>
            </a:r>
            <a:r>
              <a:rPr lang="ko-KR" alt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의 경험</a:t>
            </a:r>
            <a:r>
              <a:rPr lang="en-US" sz="2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에서 시작한다</a:t>
            </a:r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1</a:t>
            </a:r>
            <a:endParaRPr lang="en-US" sz="4000"/>
          </a:p>
        </p:txBody>
      </p:sp>
      <p:sp>
        <p:nvSpPr>
          <p:cNvPr id="6" name="Text 4"/>
          <p:cNvSpPr/>
          <p:nvPr/>
        </p:nvSpPr>
        <p:spPr>
          <a:xfrm>
            <a:off x="84124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ko-KR" alt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유저의 플레이 예상</a:t>
            </a:r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기능이 아니라 '의도한 플레이어 경험'을 먼저 정의하고 시스템을 거기서 도출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27024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4456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2</a:t>
            </a:r>
            <a:endParaRPr lang="en-US" sz="4000"/>
          </a:p>
        </p:txBody>
      </p:sp>
      <p:sp>
        <p:nvSpPr>
          <p:cNvPr id="10" name="Text 8"/>
          <p:cNvSpPr/>
          <p:nvPr/>
        </p:nvSpPr>
        <p:spPr>
          <a:xfrm>
            <a:off x="454456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학습 곡선 설계</a:t>
            </a:r>
            <a:endParaRPr lang="en-US" sz="1700"/>
          </a:p>
        </p:txBody>
      </p:sp>
      <p:sp>
        <p:nvSpPr>
          <p:cNvPr id="11" name="Text 9"/>
          <p:cNvSpPr/>
          <p:nvPr/>
        </p:nvSpPr>
        <p:spPr>
          <a:xfrm>
            <a:off x="454456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무엇을 가르치고 어디서 검증할지 — </a:t>
            </a: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적·난이도를 학습 단계로 구성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7973568" y="2194560"/>
            <a:ext cx="3474720" cy="3017520"/>
          </a:xfrm>
          <a:prstGeom prst="roundRect">
            <a:avLst>
              <a:gd name="adj" fmla="val 2121"/>
            </a:avLst>
          </a:prstGeom>
          <a:solidFill>
            <a:srgbClr val="24324F"/>
          </a:solidFill>
          <a:ln w="12700">
            <a:solidFill>
              <a:srgbClr val="D9DEE6"/>
            </a:solidFill>
            <a:prstDash val="solid"/>
          </a:ln>
          <a:effectLst>
            <a:outerShdw blurRad="88900" dist="25400" dir="5400000" algn="bl" rotWithShape="0">
              <a:srgbClr val="000000">
                <a:alpha val="12000"/>
              </a:srgbClr>
            </a:outerShdw>
          </a:effectLst>
        </p:spPr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247888" y="2377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rgbClr val="C8622E"/>
                </a:solidFill>
                <a:latin typeface="Arial"/>
                <a:ea typeface="Arial"/>
                <a:cs typeface="Arial"/>
              </a:rPr>
              <a:t>3</a:t>
            </a:r>
            <a:endParaRPr lang="en-US" sz="4000"/>
          </a:p>
        </p:txBody>
      </p:sp>
      <p:sp>
        <p:nvSpPr>
          <p:cNvPr id="14" name="Text 12"/>
          <p:cNvSpPr/>
          <p:nvPr/>
        </p:nvSpPr>
        <p:spPr>
          <a:xfrm>
            <a:off x="8247888" y="3200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구현을 아는 판단</a:t>
            </a:r>
            <a:endParaRPr lang="en-US" sz="1700"/>
          </a:p>
        </p:txBody>
      </p:sp>
      <p:sp>
        <p:nvSpPr>
          <p:cNvPr id="15" name="Text 13"/>
          <p:cNvSpPr/>
          <p:nvPr/>
        </p:nvSpPr>
        <p:spPr>
          <a:xfrm>
            <a:off x="8247888" y="37947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서버를 직접 다뤄본 감각으로 </a:t>
            </a:r>
          </a:p>
          <a:p>
            <a:pPr marL="0" indent="0">
              <a:lnSpc>
                <a:spcPct val="125000"/>
              </a:lnSpc>
              <a:buNone/>
              <a:defRPr/>
            </a:pPr>
            <a:r>
              <a:rPr lang="en-US" sz="13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'구현 가능한' 기획을 제시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l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진성준  ·  게임 시스템 기획 포트폴리오</a:t>
            </a:r>
            <a:endParaRPr lang="en-US" sz="900"/>
          </a:p>
        </p:txBody>
      </p:sp>
      <p:sp>
        <p:nvSpPr>
          <p:cNvPr id="17" name="Text 15"/>
          <p:cNvSpPr/>
          <p:nvPr/>
        </p:nvSpPr>
        <p:spPr>
          <a:xfrm>
            <a:off x="11094415" y="6473952"/>
            <a:ext cx="530352" cy="27432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indent="0" algn="r">
              <a:buNone/>
              <a:defRPr/>
            </a:pPr>
            <a:r>
              <a:rPr lang="en-US" sz="900">
                <a:solidFill>
                  <a:srgbClr val="6C7686"/>
                </a:solidFill>
                <a:latin typeface="맑은 고딕"/>
                <a:ea typeface="맑은 고딕"/>
                <a:cs typeface="맑은 고딕"/>
              </a:rPr>
              <a:t>19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22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688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감사합니다</a:t>
            </a:r>
            <a:endParaRPr lang="en-US" sz="4400"/>
          </a:p>
        </p:txBody>
      </p:sp>
      <p:sp>
        <p:nvSpPr>
          <p:cNvPr id="3" name="Text 1"/>
          <p:cNvSpPr/>
          <p:nvPr/>
        </p:nvSpPr>
        <p:spPr>
          <a:xfrm>
            <a:off x="566928" y="3429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800">
                <a:solidFill>
                  <a:srgbClr val="E0A15A"/>
                </a:solidFill>
                <a:latin typeface="맑은 고딕"/>
                <a:ea typeface="맑은 고딕"/>
                <a:cs typeface="맑은 고딕"/>
              </a:rPr>
              <a:t>진성준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>
          <a:xfrm>
            <a:off x="585216" y="3977640"/>
            <a:ext cx="2743200" cy="0"/>
          </a:xfrm>
          <a:prstGeom prst="line">
            <a:avLst/>
          </a:prstGeom>
          <a:noFill/>
          <a:ln w="25400">
            <a:solidFill>
              <a:srgbClr val="C8622E"/>
            </a:solidFill>
            <a:prstDash val="solid"/>
          </a:ln>
        </p:spPr>
        <p:txBody>
          <a:bodyPr wrap="square"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4160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010-7770-2108   ·   </a:t>
            </a:r>
            <a:r>
              <a:rPr lang="en-US" altLang="ko-KR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wlstjdwns2108</a:t>
            </a:r>
            <a:r>
              <a:rPr lang="en-US" sz="1400">
                <a:solidFill>
                  <a:srgbClr val="EAF0FA"/>
                </a:solidFill>
                <a:latin typeface="맑은 고딕"/>
                <a:ea typeface="맑은 고딕"/>
                <a:cs typeface="맑은 고딕"/>
              </a:rPr>
              <a:t>@naver.com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Times New Roman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Times New Roman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1597</ep:Words>
  <ep:PresentationFormat>와이드스크린</ep:PresentationFormat>
  <ep:Paragraphs>282</ep:Paragraphs>
  <ep:Slides>20</ep:Slides>
  <ep:Notes>16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ep:HeadingPairs>
  <ep:TitlesOfParts>
    <vt:vector size="21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2026-07-06T02:37:10.000</dcterms:created>
  <dc:creator>진성준</dc:creator>
  <cp:lastModifiedBy>진성준</cp:lastModifiedBy>
  <dcterms:modified xsi:type="dcterms:W3CDTF">2026-09-21T09:15:10.688</dcterms:modified>
  <cp:revision>45</cp:revision>
  <dc:subject>PptxGenJS Presentation</dc:subject>
  <dc:title>진성준 게임 시스템 기획 포트폴리오</dc:title>
  <cp:version/>
</cp:coreProperties>
</file>