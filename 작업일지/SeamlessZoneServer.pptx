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14"/>
  </p:notesMasterIdLst>
  <p:sldIdLst>
    <p:sldId id="503" r:id="rId2"/>
    <p:sldId id="484" r:id="rId3"/>
    <p:sldId id="504" r:id="rId4"/>
    <p:sldId id="505" r:id="rId5"/>
    <p:sldId id="485" r:id="rId6"/>
    <p:sldId id="486" r:id="rId7"/>
    <p:sldId id="487" r:id="rId8"/>
    <p:sldId id="488" r:id="rId9"/>
    <p:sldId id="489" r:id="rId10"/>
    <p:sldId id="490" r:id="rId11"/>
    <p:sldId id="498" r:id="rId12"/>
    <p:sldId id="502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6D571"/>
    <a:srgbClr val="9966FF"/>
    <a:srgbClr val="5C584A"/>
    <a:srgbClr val="D9BC29"/>
    <a:srgbClr val="006699"/>
    <a:srgbClr val="60CA95"/>
    <a:srgbClr val="DEC33C"/>
    <a:srgbClr val="E5D0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67" autoAdjust="0"/>
    <p:restoredTop sz="94657" autoAdjust="0"/>
  </p:normalViewPr>
  <p:slideViewPr>
    <p:cSldViewPr>
      <p:cViewPr varScale="1">
        <p:scale>
          <a:sx n="91" d="100"/>
          <a:sy n="91" d="100"/>
        </p:scale>
        <p:origin x="1764" y="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224D656-B529-499A-AA80-82A0DE918BA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2" descr="Miller Blu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32"/>
          <p:cNvSpPr>
            <a:spLocks noChangeArrowheads="1"/>
          </p:cNvSpPr>
          <p:nvPr userDrawn="1"/>
        </p:nvSpPr>
        <p:spPr bwMode="ltGray">
          <a:xfrm>
            <a:off x="381000" y="1371600"/>
            <a:ext cx="8001000" cy="533400"/>
          </a:xfrm>
          <a:prstGeom prst="rect">
            <a:avLst/>
          </a:prstGeom>
          <a:solidFill>
            <a:srgbClr val="5C584A"/>
          </a:solidFill>
          <a:ln w="9525">
            <a:solidFill>
              <a:srgbClr val="433F37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33888" name="Rectangle 96"/>
          <p:cNvSpPr>
            <a:spLocks noGrp="1" noChangeArrowheads="1"/>
          </p:cNvSpPr>
          <p:nvPr>
            <p:ph type="subTitle" idx="1"/>
          </p:nvPr>
        </p:nvSpPr>
        <p:spPr>
          <a:xfrm>
            <a:off x="762000" y="2057400"/>
            <a:ext cx="7391400" cy="3962400"/>
          </a:xfrm>
        </p:spPr>
        <p:txBody>
          <a:bodyPr/>
          <a:lstStyle>
            <a:lvl1pPr marL="0" indent="0" algn="ctr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Chapter title goes here</a:t>
            </a:r>
          </a:p>
          <a:p>
            <a:endParaRPr lang="ko-KR" altLang="en-US"/>
          </a:p>
        </p:txBody>
      </p:sp>
      <p:sp>
        <p:nvSpPr>
          <p:cNvPr id="33922" name="Rectangle 130"/>
          <p:cNvSpPr>
            <a:spLocks noGrp="1" noChangeArrowheads="1"/>
          </p:cNvSpPr>
          <p:nvPr>
            <p:ph type="ctrTitle"/>
          </p:nvPr>
        </p:nvSpPr>
        <p:spPr>
          <a:xfrm>
            <a:off x="838200" y="609600"/>
            <a:ext cx="7391400" cy="533400"/>
          </a:xfrm>
        </p:spPr>
        <p:txBody>
          <a:bodyPr anchor="b"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CHAPTER X</a:t>
            </a:r>
          </a:p>
        </p:txBody>
      </p:sp>
    </p:spTree>
    <p:extLst>
      <p:ext uri="{BB962C8B-B14F-4D97-AF65-F5344CB8AC3E}">
        <p14:creationId xmlns:p14="http://schemas.microsoft.com/office/powerpoint/2010/main" val="329896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99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96300" y="0"/>
            <a:ext cx="609600" cy="381000"/>
          </a:xfrm>
          <a:ln/>
        </p:spPr>
        <p:txBody>
          <a:bodyPr anchor="t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ko-KR" dirty="0"/>
              <a:t>1-</a:t>
            </a:r>
            <a:fld id="{C712B28A-EC0D-40DB-9AD2-AB2F2D828E0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821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2880006A-DCBC-41E4-91F0-5BE298C43C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079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1529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33900" y="1676400"/>
            <a:ext cx="41529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F4FE315D-8405-46D1-9790-9613D88CD9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653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D8D22F5A-F0C9-4357-96C2-DC8C0BEED0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219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5F388984-6E74-42A9-8704-3BBB56D506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003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53C158BB-AA41-41FB-8E19-6824AD532D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0147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014BEA80-846A-4149-9860-7920C38531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79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AA7DAA06-2EFA-40FE-AA23-D20281727A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672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F98A68C5-6B10-41CE-BDA3-784F72B12FD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23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72250" y="228600"/>
            <a:ext cx="2114550" cy="60198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191250" cy="60198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9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2-</a:t>
            </a:r>
            <a:fld id="{69BC96C3-83F2-44F4-84C0-A19DC2D358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084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5" descr="Miller Blu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95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458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28" name="Rectangle 96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524000"/>
            <a:ext cx="8458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Second level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 Fifth level</a:t>
            </a:r>
          </a:p>
        </p:txBody>
      </p:sp>
      <p:sp>
        <p:nvSpPr>
          <p:cNvPr id="22627" name="Rectangle 9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8792"/>
            <a:ext cx="609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i="1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r>
              <a:rPr lang="en-US" altLang="ko-KR" dirty="0"/>
              <a:t>1-</a:t>
            </a:r>
            <a:fld id="{8AA83A4D-7B1E-44CE-8FAE-33EA5A7C096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30" name="Rectangle 118"/>
          <p:cNvSpPr>
            <a:spLocks noChangeArrowheads="1"/>
          </p:cNvSpPr>
          <p:nvPr userDrawn="1"/>
        </p:nvSpPr>
        <p:spPr bwMode="ltGray">
          <a:xfrm>
            <a:off x="202223" y="1219200"/>
            <a:ext cx="8458200" cy="228600"/>
          </a:xfrm>
          <a:prstGeom prst="rect">
            <a:avLst/>
          </a:prstGeom>
          <a:solidFill>
            <a:srgbClr val="5C584A"/>
          </a:solidFill>
          <a:ln w="38100">
            <a:solidFill>
              <a:srgbClr val="433F37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ko-KR" altLang="en-US">
              <a:ea typeface="굴림" charset="-127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49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굴림" panose="020B0600000101010101" pitchFamily="50" charset="-127"/>
          <a:ea typeface="굴림" panose="020B0600000101010101" pitchFamily="50" charset="-127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굴림체" pitchFamily="49" charset="-127"/>
          <a:ea typeface="굴림체" pitchFamily="49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굴림체" pitchFamily="49" charset="-127"/>
          <a:ea typeface="굴림체" pitchFamily="49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굴림체" pitchFamily="49" charset="-127"/>
          <a:ea typeface="굴림체" pitchFamily="49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굴림체" pitchFamily="49" charset="-127"/>
          <a:ea typeface="굴림체" pitchFamily="49" charset="-127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Times New Roman" pitchFamily="18" charset="0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714375" indent="-257175" algn="l" rtl="0" eaLnBrk="0" fontAlgn="base" hangingPunct="0">
        <a:spcBef>
          <a:spcPct val="20000"/>
        </a:spcBef>
        <a:spcAft>
          <a:spcPct val="0"/>
        </a:spcAft>
        <a:buSzPct val="90000"/>
        <a:buFont typeface="굴림체" panose="020B0609000101010101" pitchFamily="49" charset="-127"/>
        <a:buChar char="−"/>
        <a:defRPr sz="28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  <a:sym typeface="Wingdings" panose="05000000000000000000" pitchFamily="2" charset="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  <a:sym typeface="Wingdings" panose="05000000000000000000" pitchFamily="2" charset="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3366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3366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3366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3366"/>
          </a:solidFill>
          <a:latin typeface="+mn-lt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0D41-0C52-F3C5-10FC-5BCE9AD5F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5CFA32D9-BF69-2F04-0DF0-4C7C07517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Seamless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7C0D6B-C242-26FC-951F-090A3DBB5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  <a:endParaRPr lang="en-US" altLang="ko-KR" dirty="0"/>
          </a:p>
          <a:p>
            <a:pPr lvl="1"/>
            <a:r>
              <a:rPr lang="ko-KR" altLang="en-US" dirty="0"/>
              <a:t>커다란 월드를 </a:t>
            </a:r>
            <a:r>
              <a:rPr lang="ko-KR" altLang="en-US" dirty="0" err="1"/>
              <a:t>여러서버에서</a:t>
            </a:r>
            <a:r>
              <a:rPr lang="ko-KR" altLang="en-US" dirty="0"/>
              <a:t> 분할해서 서비스하는데</a:t>
            </a:r>
            <a:r>
              <a:rPr lang="en-US" altLang="ko-KR" dirty="0"/>
              <a:t>,  </a:t>
            </a:r>
            <a:r>
              <a:rPr lang="ko-KR" altLang="en-US" dirty="0"/>
              <a:t>이동 시 서버사이를 건너가는 것이 느껴지지 않는 구현방식</a:t>
            </a:r>
          </a:p>
          <a:p>
            <a:r>
              <a:rPr lang="ko-KR" altLang="en-US" dirty="0"/>
              <a:t>분할 이유 </a:t>
            </a:r>
            <a:r>
              <a:rPr lang="en-US" altLang="ko-KR" dirty="0"/>
              <a:t>: </a:t>
            </a:r>
            <a:r>
              <a:rPr lang="ko-KR" altLang="en-US" dirty="0" err="1"/>
              <a:t>동접을</a:t>
            </a:r>
            <a:r>
              <a:rPr lang="ko-KR" altLang="en-US" dirty="0"/>
              <a:t> 늘리기 위해서</a:t>
            </a:r>
            <a:endParaRPr lang="en-US" altLang="ko-KR" dirty="0"/>
          </a:p>
          <a:p>
            <a:r>
              <a:rPr lang="en-US" altLang="ko-KR" dirty="0"/>
              <a:t>Seamless : </a:t>
            </a:r>
            <a:r>
              <a:rPr lang="ko-KR" altLang="en-US" dirty="0"/>
              <a:t>포털 이동 같은 분할을 불편함을 없애는 행위</a:t>
            </a:r>
            <a:endParaRPr lang="en-US" altLang="ko-KR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B4B94CB-FDCA-E202-653B-C76E180EA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9467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Seamless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서버 구성</a:t>
            </a:r>
            <a:endParaRPr lang="en-US" altLang="ko-KR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2</a:t>
            </a:fld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 bwMode="auto">
          <a:xfrm>
            <a:off x="4422531" y="2590800"/>
            <a:ext cx="2743200" cy="1524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Zone Server 1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422531" y="4114800"/>
            <a:ext cx="2743200" cy="1447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Zone Server 2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524000" y="3106616"/>
            <a:ext cx="1524000" cy="5421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Client-1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600200" y="4677508"/>
            <a:ext cx="1524000" cy="5421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Client-2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타원 4"/>
          <p:cNvSpPr/>
          <p:nvPr/>
        </p:nvSpPr>
        <p:spPr bwMode="auto">
          <a:xfrm>
            <a:off x="5105400" y="3771900"/>
            <a:ext cx="152400" cy="152400"/>
          </a:xfrm>
          <a:prstGeom prst="ellipse">
            <a:avLst/>
          </a:prstGeom>
          <a:solidFill>
            <a:schemeClr val="tx1">
              <a:lumMod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1" name="직선 화살표 연결선 10"/>
          <p:cNvCxnSpPr>
            <a:stCxn id="9" idx="3"/>
            <a:endCxn id="5" idx="2"/>
          </p:cNvCxnSpPr>
          <p:nvPr/>
        </p:nvCxnSpPr>
        <p:spPr bwMode="auto">
          <a:xfrm>
            <a:off x="3048000" y="3377712"/>
            <a:ext cx="2057400" cy="4703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타원 12"/>
          <p:cNvSpPr/>
          <p:nvPr/>
        </p:nvSpPr>
        <p:spPr bwMode="auto">
          <a:xfrm>
            <a:off x="5562600" y="4229100"/>
            <a:ext cx="152400" cy="152400"/>
          </a:xfrm>
          <a:prstGeom prst="ellipse">
            <a:avLst/>
          </a:prstGeom>
          <a:solidFill>
            <a:schemeClr val="tx1">
              <a:lumMod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4" name="직선 화살표 연결선 13"/>
          <p:cNvCxnSpPr>
            <a:stCxn id="10" idx="3"/>
            <a:endCxn id="13" idx="2"/>
          </p:cNvCxnSpPr>
          <p:nvPr/>
        </p:nvCxnSpPr>
        <p:spPr bwMode="auto">
          <a:xfrm flipV="1">
            <a:off x="3124200" y="4305300"/>
            <a:ext cx="2438400" cy="6433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6452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98C9-79D4-D4E6-6773-4C3E0EE7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2841034D-0763-28D1-F511-610E6BAC2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Seamless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404FD8-0250-B894-8F04-C53B7BABD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3200" dirty="0"/>
              <a:t>포털</a:t>
            </a:r>
            <a:endParaRPr lang="en-US" altLang="ko-KR" sz="3200" dirty="0"/>
          </a:p>
          <a:p>
            <a:pPr lvl="1"/>
            <a:r>
              <a:rPr lang="ko-KR" altLang="en-US" sz="2400" dirty="0"/>
              <a:t>아바타가 다른 서버로 이동하기 위해 접촉해야 하는 </a:t>
            </a:r>
            <a:r>
              <a:rPr lang="en-US" altLang="ko-KR" sz="2400" dirty="0"/>
              <a:t>Object</a:t>
            </a:r>
          </a:p>
          <a:p>
            <a:pPr lvl="1"/>
            <a:r>
              <a:rPr lang="en-US" altLang="ko-KR" sz="2400" dirty="0"/>
              <a:t>Loading</a:t>
            </a:r>
            <a:r>
              <a:rPr lang="ko-KR" altLang="en-US" sz="2400" dirty="0"/>
              <a:t>을 수반한다</a:t>
            </a:r>
            <a:r>
              <a:rPr lang="en-US" altLang="ko-KR" sz="2400" dirty="0"/>
              <a:t>.</a:t>
            </a:r>
          </a:p>
          <a:p>
            <a:pPr lvl="2"/>
            <a:r>
              <a:rPr lang="en-US" altLang="ko-KR" sz="1800" dirty="0"/>
              <a:t>1 </a:t>
            </a:r>
            <a:r>
              <a:rPr lang="ko-KR" altLang="en-US" sz="1800" dirty="0"/>
              <a:t>단계 </a:t>
            </a:r>
            <a:r>
              <a:rPr lang="en-US" altLang="ko-KR" sz="1800" dirty="0"/>
              <a:t>: (</a:t>
            </a:r>
            <a:r>
              <a:rPr lang="ko-KR" altLang="en-US" sz="1800" dirty="0"/>
              <a:t>기존서버</a:t>
            </a:r>
            <a:r>
              <a:rPr lang="en-US" altLang="ko-KR" sz="1800" dirty="0"/>
              <a:t>) </a:t>
            </a:r>
            <a:r>
              <a:rPr lang="ko-KR" altLang="en-US" sz="1800" dirty="0"/>
              <a:t>현재 </a:t>
            </a:r>
            <a:r>
              <a:rPr lang="en-US" altLang="ko-KR" sz="1800" dirty="0"/>
              <a:t>Avatar</a:t>
            </a:r>
            <a:r>
              <a:rPr lang="ko-KR" altLang="en-US" sz="1800" dirty="0"/>
              <a:t>의 상태 </a:t>
            </a:r>
            <a:r>
              <a:rPr lang="en-US" altLang="ko-KR" sz="1800" dirty="0"/>
              <a:t>DB </a:t>
            </a:r>
            <a:r>
              <a:rPr lang="ko-KR" altLang="en-US" sz="1800" dirty="0"/>
              <a:t>저장</a:t>
            </a:r>
            <a:endParaRPr lang="en-US" altLang="ko-KR" sz="1800" dirty="0"/>
          </a:p>
          <a:p>
            <a:pPr lvl="2"/>
            <a:r>
              <a:rPr lang="en-US" altLang="ko-KR" sz="1800" dirty="0"/>
              <a:t>2 </a:t>
            </a:r>
            <a:r>
              <a:rPr lang="ko-KR" altLang="en-US" sz="1800" dirty="0"/>
              <a:t>단계</a:t>
            </a:r>
            <a:r>
              <a:rPr lang="en-US" altLang="ko-KR" sz="1800" dirty="0"/>
              <a:t> : (</a:t>
            </a:r>
            <a:r>
              <a:rPr lang="ko-KR" altLang="en-US" sz="1800" dirty="0"/>
              <a:t>기존서버</a:t>
            </a:r>
            <a:r>
              <a:rPr lang="en-US" altLang="ko-KR" sz="1800" dirty="0"/>
              <a:t>) </a:t>
            </a:r>
            <a:r>
              <a:rPr lang="ko-KR" altLang="en-US" sz="1800" dirty="0"/>
              <a:t>새 서버 선택</a:t>
            </a:r>
            <a:r>
              <a:rPr lang="en-US" altLang="ko-KR" sz="1800" dirty="0"/>
              <a:t>, </a:t>
            </a:r>
            <a:r>
              <a:rPr lang="ko-KR" altLang="en-US" sz="1800" dirty="0"/>
              <a:t>새 서버에 이동 알림</a:t>
            </a:r>
            <a:endParaRPr lang="en-US" altLang="ko-KR" sz="1800" dirty="0"/>
          </a:p>
          <a:p>
            <a:pPr lvl="2"/>
            <a:r>
              <a:rPr lang="en-US" altLang="ko-KR" sz="1800" dirty="0"/>
              <a:t>3 </a:t>
            </a:r>
            <a:r>
              <a:rPr lang="ko-KR" altLang="en-US" sz="1800" dirty="0"/>
              <a:t>단계 </a:t>
            </a:r>
            <a:r>
              <a:rPr lang="en-US" altLang="ko-KR" sz="1800" dirty="0"/>
              <a:t>: (</a:t>
            </a:r>
            <a:r>
              <a:rPr lang="ko-KR" altLang="en-US" sz="1800" dirty="0"/>
              <a:t>기존서버</a:t>
            </a:r>
            <a:r>
              <a:rPr lang="en-US" altLang="ko-KR" sz="1800" dirty="0"/>
              <a:t>) </a:t>
            </a:r>
            <a:r>
              <a:rPr lang="ko-KR" altLang="en-US" sz="1800" dirty="0"/>
              <a:t>클라이언트에 새 서버 주소 전송</a:t>
            </a:r>
            <a:endParaRPr lang="en-US" altLang="ko-KR" sz="1800" dirty="0"/>
          </a:p>
          <a:p>
            <a:pPr lvl="2"/>
            <a:r>
              <a:rPr lang="en-US" altLang="ko-KR" sz="1800" dirty="0"/>
              <a:t>4 </a:t>
            </a:r>
            <a:r>
              <a:rPr lang="ko-KR" altLang="en-US" sz="1800" dirty="0"/>
              <a:t>단계 </a:t>
            </a:r>
            <a:r>
              <a:rPr lang="en-US" altLang="ko-KR" sz="1800" dirty="0"/>
              <a:t>: (</a:t>
            </a:r>
            <a:r>
              <a:rPr lang="ko-KR" altLang="en-US" sz="1800" dirty="0"/>
              <a:t>기존서버</a:t>
            </a:r>
            <a:r>
              <a:rPr lang="en-US" altLang="ko-KR" sz="1800" dirty="0"/>
              <a:t>, </a:t>
            </a:r>
            <a:r>
              <a:rPr lang="ko-KR" altLang="en-US" sz="1800" dirty="0"/>
              <a:t>클라이언트</a:t>
            </a:r>
            <a:r>
              <a:rPr lang="en-US" altLang="ko-KR" sz="1800" dirty="0"/>
              <a:t>) </a:t>
            </a:r>
            <a:r>
              <a:rPr lang="ko-KR" altLang="en-US" sz="1800" dirty="0"/>
              <a:t>기존서버에서 </a:t>
            </a:r>
            <a:r>
              <a:rPr lang="en-US" altLang="ko-KR" sz="1800" dirty="0"/>
              <a:t>Logout</a:t>
            </a:r>
          </a:p>
          <a:p>
            <a:pPr lvl="2"/>
            <a:r>
              <a:rPr lang="en-US" altLang="ko-KR" sz="1800" dirty="0"/>
              <a:t>5 </a:t>
            </a:r>
            <a:r>
              <a:rPr lang="ko-KR" altLang="en-US" sz="1800" dirty="0"/>
              <a:t>단계 </a:t>
            </a:r>
            <a:r>
              <a:rPr lang="en-US" altLang="ko-KR" sz="1800" dirty="0"/>
              <a:t>: (</a:t>
            </a:r>
            <a:r>
              <a:rPr lang="ko-KR" altLang="en-US" sz="1800" dirty="0"/>
              <a:t>클라이언트</a:t>
            </a:r>
            <a:r>
              <a:rPr lang="en-US" altLang="ko-KR" sz="1800" dirty="0"/>
              <a:t>) </a:t>
            </a:r>
            <a:r>
              <a:rPr lang="ko-KR" altLang="en-US" sz="1800" dirty="0"/>
              <a:t>새 서버에 접속</a:t>
            </a:r>
            <a:endParaRPr lang="en-US" altLang="ko-KR" sz="1800" dirty="0"/>
          </a:p>
          <a:p>
            <a:pPr lvl="1"/>
            <a:r>
              <a:rPr lang="ko-KR" altLang="en-US" sz="2400" dirty="0"/>
              <a:t>장점 </a:t>
            </a:r>
            <a:r>
              <a:rPr lang="en-US" altLang="ko-KR" sz="2400" dirty="0"/>
              <a:t>: </a:t>
            </a:r>
            <a:r>
              <a:rPr lang="ko-KR" altLang="en-US" sz="2400" dirty="0"/>
              <a:t>구현이 쉽다</a:t>
            </a:r>
            <a:r>
              <a:rPr lang="en-US" altLang="ko-KR" sz="2400" dirty="0"/>
              <a:t>.</a:t>
            </a:r>
          </a:p>
          <a:p>
            <a:pPr lvl="1"/>
            <a:r>
              <a:rPr lang="ko-KR" altLang="en-US" sz="2400" dirty="0"/>
              <a:t>단점 </a:t>
            </a:r>
            <a:r>
              <a:rPr lang="en-US" altLang="ko-KR" sz="2400" dirty="0"/>
              <a:t>: </a:t>
            </a:r>
          </a:p>
          <a:p>
            <a:pPr lvl="2"/>
            <a:r>
              <a:rPr lang="ko-KR" altLang="en-US" sz="1800" dirty="0"/>
              <a:t>로딩시간</a:t>
            </a:r>
            <a:endParaRPr lang="en-US" altLang="ko-KR" sz="1800" dirty="0"/>
          </a:p>
          <a:p>
            <a:pPr lvl="2"/>
            <a:r>
              <a:rPr lang="ko-KR" altLang="en-US" sz="1800" dirty="0"/>
              <a:t>이웃 존의 </a:t>
            </a:r>
            <a:r>
              <a:rPr lang="en-US" altLang="ko-KR" sz="1800" dirty="0"/>
              <a:t>Object</a:t>
            </a:r>
            <a:r>
              <a:rPr lang="ko-KR" altLang="en-US" sz="1800" dirty="0"/>
              <a:t>를 볼 수 없고</a:t>
            </a:r>
            <a:r>
              <a:rPr lang="en-US" altLang="ko-KR" sz="1800" dirty="0"/>
              <a:t>,</a:t>
            </a:r>
            <a:r>
              <a:rPr lang="ko-KR" altLang="en-US" sz="1800" dirty="0"/>
              <a:t> 상호작용도 할 수 없다</a:t>
            </a:r>
            <a:r>
              <a:rPr lang="en-US" altLang="ko-KR" sz="1800" dirty="0"/>
              <a:t>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7F6AEB-8A75-A06E-987A-4D5D44E37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6406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06E47-5817-B6A6-BEB5-5FDC3FE6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289A9EAA-A023-3F0B-99B3-B88C7E702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458200" cy="914400"/>
          </a:xfrm>
        </p:spPr>
        <p:txBody>
          <a:bodyPr/>
          <a:lstStyle/>
          <a:p>
            <a:r>
              <a:rPr lang="en-US" altLang="ko-KR" dirty="0"/>
              <a:t>Seamless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778A6C-9F11-58AE-85D2-9185C0677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458200" cy="4724400"/>
          </a:xfrm>
        </p:spPr>
        <p:txBody>
          <a:bodyPr/>
          <a:lstStyle/>
          <a:p>
            <a:r>
              <a:rPr lang="en-US" altLang="ko-KR" dirty="0"/>
              <a:t>Seamless</a:t>
            </a:r>
          </a:p>
          <a:p>
            <a:pPr lvl="1"/>
            <a:r>
              <a:rPr lang="en-US" altLang="ko-KR" dirty="0"/>
              <a:t>Zero </a:t>
            </a:r>
            <a:r>
              <a:rPr lang="ko-KR" altLang="en-US" dirty="0"/>
              <a:t>로딩시간</a:t>
            </a:r>
            <a:endParaRPr lang="en-US" altLang="ko-KR" dirty="0"/>
          </a:p>
          <a:p>
            <a:pPr lvl="2"/>
            <a:r>
              <a:rPr lang="ko-KR" altLang="en-US" dirty="0"/>
              <a:t>기존 서버</a:t>
            </a:r>
            <a:r>
              <a:rPr lang="en-US" altLang="ko-KR" dirty="0"/>
              <a:t>, </a:t>
            </a:r>
            <a:r>
              <a:rPr lang="ko-KR" altLang="en-US" dirty="0" err="1"/>
              <a:t>신서버</a:t>
            </a:r>
            <a:r>
              <a:rPr lang="ko-KR" altLang="en-US" dirty="0"/>
              <a:t> </a:t>
            </a:r>
            <a:r>
              <a:rPr lang="ko-KR" altLang="en-US" dirty="0" err="1"/>
              <a:t>두곳에</a:t>
            </a:r>
            <a:r>
              <a:rPr lang="ko-KR" altLang="en-US" dirty="0"/>
              <a:t> 아바타 동시 존재</a:t>
            </a:r>
            <a:endParaRPr lang="en-US" altLang="ko-KR" dirty="0"/>
          </a:p>
          <a:p>
            <a:pPr lvl="3"/>
            <a:r>
              <a:rPr lang="ko-KR" altLang="en-US" dirty="0"/>
              <a:t>하나는 가짜 </a:t>
            </a:r>
            <a:r>
              <a:rPr lang="en-US" altLang="ko-KR" dirty="0"/>
              <a:t>(Proxy </a:t>
            </a:r>
            <a:r>
              <a:rPr lang="ko-KR" altLang="en-US" dirty="0"/>
              <a:t>또는 클론이라고 불림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/>
              <a:t>가짜는 진짜가 상태 업데이트를 지속적으로 </a:t>
            </a:r>
            <a:r>
              <a:rPr lang="ko-KR" altLang="en-US" dirty="0" err="1"/>
              <a:t>해줌</a:t>
            </a:r>
            <a:endParaRPr lang="en-US" altLang="ko-KR" dirty="0"/>
          </a:p>
          <a:p>
            <a:pPr lvl="2"/>
            <a:r>
              <a:rPr lang="ko-KR" altLang="en-US" dirty="0"/>
              <a:t>아바타 뿐만 </a:t>
            </a:r>
            <a:r>
              <a:rPr lang="ko-KR" altLang="en-US" dirty="0" err="1"/>
              <a:t>아니로</a:t>
            </a:r>
            <a:r>
              <a:rPr lang="ko-KR" altLang="en-US" dirty="0"/>
              <a:t> </a:t>
            </a:r>
            <a:r>
              <a:rPr lang="en-US" altLang="ko-KR" dirty="0"/>
              <a:t>NPC</a:t>
            </a:r>
            <a:r>
              <a:rPr lang="ko-KR" altLang="en-US" dirty="0"/>
              <a:t>도 가짜 존재</a:t>
            </a:r>
            <a:endParaRPr lang="en-US" altLang="ko-KR" dirty="0"/>
          </a:p>
          <a:p>
            <a:pPr lvl="1"/>
            <a:r>
              <a:rPr lang="ko-KR" altLang="en-US" dirty="0"/>
              <a:t>이웃 존의 </a:t>
            </a:r>
            <a:r>
              <a:rPr lang="en-US" altLang="ko-KR" dirty="0"/>
              <a:t>Object</a:t>
            </a:r>
            <a:r>
              <a:rPr lang="ko-KR" altLang="en-US" dirty="0"/>
              <a:t>를 볼 수 있고</a:t>
            </a:r>
            <a:r>
              <a:rPr lang="en-US" altLang="ko-KR" dirty="0"/>
              <a:t>,</a:t>
            </a:r>
            <a:r>
              <a:rPr lang="ko-KR" altLang="en-US" dirty="0"/>
              <a:t> 상호작용도 가능</a:t>
            </a:r>
            <a:endParaRPr lang="en-US" altLang="ko-KR" dirty="0"/>
          </a:p>
          <a:p>
            <a:pPr lvl="2"/>
            <a:r>
              <a:rPr lang="ko-KR" altLang="en-US" dirty="0"/>
              <a:t>가짜를 통해서 상호작용</a:t>
            </a:r>
            <a:endParaRPr lang="en-US" altLang="ko-KR" dirty="0"/>
          </a:p>
          <a:p>
            <a:r>
              <a:rPr lang="en-US" altLang="ko-KR" dirty="0"/>
              <a:t>Proxy</a:t>
            </a:r>
          </a:p>
          <a:p>
            <a:pPr lvl="1"/>
            <a:r>
              <a:rPr lang="ko-KR" altLang="en-US" dirty="0"/>
              <a:t>시야에 보이는 경계선에 있는 객체들의 가짜 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5900B59-3C5F-EB5E-91CC-CF03BF177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96300" y="0"/>
            <a:ext cx="609600" cy="381000"/>
          </a:xfrm>
        </p:spPr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827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 bwMode="auto">
          <a:xfrm>
            <a:off x="2823797" y="4821823"/>
            <a:ext cx="2743200" cy="1524000"/>
          </a:xfrm>
          <a:prstGeom prst="rect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Zone Server 2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Seamless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/>
              <a:t>서버 구성</a:t>
            </a:r>
            <a:endParaRPr lang="en-US" altLang="ko-KR" sz="2800" dirty="0"/>
          </a:p>
          <a:p>
            <a:pPr lvl="1"/>
            <a:r>
              <a:rPr lang="ko-KR" altLang="en-US" sz="2000" dirty="0"/>
              <a:t>경계 영역 </a:t>
            </a:r>
            <a:r>
              <a:rPr lang="en-US" altLang="ko-KR" sz="2000" dirty="0"/>
              <a:t>: </a:t>
            </a:r>
            <a:r>
              <a:rPr lang="ko-KR" altLang="en-US" sz="2000" dirty="0"/>
              <a:t>이웃한 </a:t>
            </a:r>
            <a:r>
              <a:rPr lang="en-US" altLang="ko-KR" sz="2000" dirty="0"/>
              <a:t>Zone Server</a:t>
            </a:r>
            <a:r>
              <a:rPr lang="ko-KR" altLang="en-US" sz="2000" dirty="0"/>
              <a:t>에 정보를 보내 주는 구간</a:t>
            </a:r>
            <a:endParaRPr lang="en-US" altLang="ko-KR" sz="2000" dirty="0"/>
          </a:p>
          <a:p>
            <a:pPr lvl="1"/>
            <a:r>
              <a:rPr lang="ko-KR" altLang="en-US" sz="2000" dirty="0"/>
              <a:t>버퍼 영역 </a:t>
            </a:r>
            <a:r>
              <a:rPr lang="en-US" altLang="ko-KR" sz="2000" dirty="0"/>
              <a:t>: </a:t>
            </a:r>
            <a:r>
              <a:rPr lang="ko-KR" altLang="en-US" sz="2000" dirty="0"/>
              <a:t>잦은 영역 이동 제거를 위한 버퍼</a:t>
            </a:r>
            <a:endParaRPr lang="en-US" altLang="ko-KR" sz="2000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5</a:t>
            </a:fld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 bwMode="auto">
          <a:xfrm>
            <a:off x="2819400" y="3276600"/>
            <a:ext cx="2743200" cy="1524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Zone Server 1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2819400" y="4267200"/>
            <a:ext cx="2743200" cy="5334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타원 4"/>
          <p:cNvSpPr/>
          <p:nvPr/>
        </p:nvSpPr>
        <p:spPr bwMode="auto">
          <a:xfrm>
            <a:off x="3502269" y="4457700"/>
            <a:ext cx="152400" cy="152400"/>
          </a:xfrm>
          <a:prstGeom prst="ellipse">
            <a:avLst/>
          </a:prstGeom>
          <a:solidFill>
            <a:schemeClr val="tx1">
              <a:lumMod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6" name="직선 화살표 연결선 15"/>
          <p:cNvCxnSpPr/>
          <p:nvPr/>
        </p:nvCxnSpPr>
        <p:spPr bwMode="auto">
          <a:xfrm>
            <a:off x="2590800" y="4267200"/>
            <a:ext cx="0" cy="533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8" name="직선 연결선 17"/>
          <p:cNvCxnSpPr/>
          <p:nvPr/>
        </p:nvCxnSpPr>
        <p:spPr bwMode="auto">
          <a:xfrm flipH="1">
            <a:off x="2362200" y="4267200"/>
            <a:ext cx="3581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직선 연결선 19"/>
          <p:cNvCxnSpPr/>
          <p:nvPr/>
        </p:nvCxnSpPr>
        <p:spPr bwMode="auto">
          <a:xfrm flipH="1">
            <a:off x="2370992" y="4800600"/>
            <a:ext cx="357260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623497" y="43646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경계영역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직선 연결선 22"/>
          <p:cNvCxnSpPr/>
          <p:nvPr/>
        </p:nvCxnSpPr>
        <p:spPr bwMode="auto">
          <a:xfrm>
            <a:off x="2362200" y="4038600"/>
            <a:ext cx="3581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직선 연결선 24"/>
          <p:cNvCxnSpPr/>
          <p:nvPr/>
        </p:nvCxnSpPr>
        <p:spPr bwMode="auto">
          <a:xfrm>
            <a:off x="2370992" y="5029200"/>
            <a:ext cx="357260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직선 화살표 연결선 29"/>
          <p:cNvCxnSpPr/>
          <p:nvPr/>
        </p:nvCxnSpPr>
        <p:spPr bwMode="auto">
          <a:xfrm>
            <a:off x="5791200" y="4018085"/>
            <a:ext cx="0" cy="2491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32" name="직선 화살표 연결선 31"/>
          <p:cNvCxnSpPr/>
          <p:nvPr/>
        </p:nvCxnSpPr>
        <p:spPr bwMode="auto">
          <a:xfrm>
            <a:off x="5805854" y="4800600"/>
            <a:ext cx="0" cy="2491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797737" y="402394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Arial" panose="020B0604020202020204" pitchFamily="34" charset="0"/>
                <a:cs typeface="Arial" panose="020B0604020202020204" pitchFamily="34" charset="0"/>
              </a:rPr>
              <a:t>버퍼영역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05854" y="480060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Arial" panose="020B0604020202020204" pitchFamily="34" charset="0"/>
                <a:cs typeface="Arial" panose="020B0604020202020204" pitchFamily="34" charset="0"/>
              </a:rPr>
              <a:t>버퍼영역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60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Seamless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구현</a:t>
            </a:r>
            <a:endParaRPr lang="en-US" altLang="ko-KR" dirty="0"/>
          </a:p>
          <a:p>
            <a:pPr lvl="1"/>
            <a:r>
              <a:rPr lang="ko-KR" altLang="en-US" dirty="0"/>
              <a:t>서버들 사이의 영역 정의</a:t>
            </a:r>
            <a:endParaRPr lang="en-US" altLang="ko-KR" dirty="0"/>
          </a:p>
          <a:p>
            <a:pPr lvl="1"/>
            <a:r>
              <a:rPr lang="en-US" altLang="ko-KR" dirty="0"/>
              <a:t>Global Object ID </a:t>
            </a:r>
            <a:r>
              <a:rPr lang="ko-KR" altLang="en-US" dirty="0"/>
              <a:t>관리 필요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Proxy Object </a:t>
            </a:r>
            <a:r>
              <a:rPr lang="ko-KR" altLang="en-US" dirty="0"/>
              <a:t>정의</a:t>
            </a:r>
            <a:endParaRPr lang="en-US" altLang="ko-KR" dirty="0"/>
          </a:p>
          <a:p>
            <a:pPr lvl="1"/>
            <a:r>
              <a:rPr lang="ko-KR" altLang="en-US" dirty="0"/>
              <a:t>경계 영역 데이터 전송 프로토콜</a:t>
            </a:r>
            <a:endParaRPr lang="en-US" altLang="ko-KR" dirty="0"/>
          </a:p>
          <a:p>
            <a:pPr lvl="1"/>
            <a:r>
              <a:rPr lang="ko-KR" altLang="en-US" dirty="0"/>
              <a:t>클라이언트 핸드 오버 프로토콜</a:t>
            </a:r>
            <a:endParaRPr lang="en-US" altLang="ko-KR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411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Seamless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Proxy Object</a:t>
            </a:r>
          </a:p>
          <a:p>
            <a:pPr lvl="1"/>
            <a:r>
              <a:rPr lang="en-US" altLang="ko-KR" dirty="0"/>
              <a:t>C++</a:t>
            </a:r>
            <a:r>
              <a:rPr lang="ko-KR" altLang="en-US" dirty="0"/>
              <a:t>의 </a:t>
            </a:r>
            <a:r>
              <a:rPr lang="en-US" altLang="ko-KR" dirty="0"/>
              <a:t>Inherit </a:t>
            </a:r>
            <a:r>
              <a:rPr lang="ko-KR" altLang="en-US" dirty="0"/>
              <a:t>기능을 사용하면 완전히 </a:t>
            </a:r>
            <a:r>
              <a:rPr lang="en-US" altLang="ko-KR" dirty="0"/>
              <a:t>transparent</a:t>
            </a:r>
            <a:r>
              <a:rPr lang="ko-KR" altLang="en-US" dirty="0"/>
              <a:t>하게 구현할 수도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서버 구조를 객체 기반으로 재구성해야 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Read</a:t>
            </a:r>
            <a:r>
              <a:rPr lang="ko-KR" altLang="en-US" dirty="0"/>
              <a:t>가 아닌 </a:t>
            </a:r>
            <a:r>
              <a:rPr lang="en-US" altLang="ko-KR" dirty="0"/>
              <a:t>Update </a:t>
            </a:r>
            <a:r>
              <a:rPr lang="ko-KR" altLang="en-US" dirty="0"/>
              <a:t>접근은 모두 </a:t>
            </a:r>
            <a:r>
              <a:rPr lang="en-US" altLang="ko-KR" dirty="0"/>
              <a:t>Method</a:t>
            </a:r>
            <a:r>
              <a:rPr lang="ko-KR" altLang="en-US" dirty="0"/>
              <a:t>를 통해야 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SendPacket</a:t>
            </a:r>
            <a:r>
              <a:rPr lang="ko-KR" altLang="en-US" dirty="0"/>
              <a:t>은 </a:t>
            </a:r>
            <a:r>
              <a:rPr lang="en-US" altLang="ko-KR" dirty="0"/>
              <a:t>Update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824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Seamless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Simple </a:t>
            </a:r>
            <a:r>
              <a:rPr lang="ko-KR" altLang="en-US" dirty="0"/>
              <a:t>구현 </a:t>
            </a:r>
            <a:r>
              <a:rPr lang="en-US" altLang="ko-KR" dirty="0"/>
              <a:t>1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1"/>
            <a:r>
              <a:rPr lang="en-US" altLang="ko-KR" dirty="0"/>
              <a:t>20 X 40 </a:t>
            </a:r>
            <a:r>
              <a:rPr lang="ko-KR" altLang="en-US" dirty="0"/>
              <a:t>월드</a:t>
            </a:r>
            <a:endParaRPr lang="en-US" altLang="ko-KR" dirty="0"/>
          </a:p>
          <a:p>
            <a:pPr lvl="1"/>
            <a:r>
              <a:rPr lang="ko-KR" altLang="en-US" dirty="0"/>
              <a:t>시야 무한대</a:t>
            </a:r>
            <a:endParaRPr lang="en-US" altLang="ko-KR" dirty="0"/>
          </a:p>
          <a:p>
            <a:pPr lvl="1"/>
            <a:r>
              <a:rPr lang="ko-KR" altLang="en-US" dirty="0"/>
              <a:t>서버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endParaRPr lang="en-US" altLang="ko-KR" dirty="0"/>
          </a:p>
          <a:p>
            <a:pPr lvl="1"/>
            <a:r>
              <a:rPr lang="ko-KR" altLang="en-US" dirty="0"/>
              <a:t>클라이언트가 서버를 선택해서 접속</a:t>
            </a:r>
            <a:endParaRPr lang="en-US" altLang="ko-KR" dirty="0"/>
          </a:p>
          <a:p>
            <a:pPr lvl="2"/>
            <a:r>
              <a:rPr lang="ko-KR" altLang="en-US" dirty="0"/>
              <a:t>좌표는 서버가 자기 영역 안에서 </a:t>
            </a:r>
            <a:r>
              <a:rPr lang="en-US" altLang="ko-KR" dirty="0"/>
              <a:t>random</a:t>
            </a:r>
            <a:r>
              <a:rPr lang="ko-KR" altLang="en-US" dirty="0"/>
              <a:t>하게 위치 세팅</a:t>
            </a:r>
            <a:endParaRPr lang="en-US" altLang="ko-KR" dirty="0"/>
          </a:p>
          <a:p>
            <a:pPr lvl="2"/>
            <a:r>
              <a:rPr lang="ko-KR" altLang="en-US" dirty="0"/>
              <a:t>서버가 상대 서버에 접속해서 클라이언트에 패킷 중계</a:t>
            </a:r>
            <a:endParaRPr lang="en-US" altLang="ko-KR" dirty="0"/>
          </a:p>
          <a:p>
            <a:pPr lvl="3"/>
            <a:r>
              <a:rPr lang="ko-KR" altLang="en-US" dirty="0"/>
              <a:t>모든 플레이어는 모든 서버에 </a:t>
            </a:r>
            <a:r>
              <a:rPr lang="en-US" altLang="ko-KR" dirty="0"/>
              <a:t>Clone</a:t>
            </a:r>
            <a:r>
              <a:rPr lang="ko-KR" altLang="en-US" dirty="0"/>
              <a:t>이 존재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3209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</a:t>
            </a:r>
            <a:r>
              <a:rPr lang="ko-KR" altLang="en-US" dirty="0"/>
              <a:t>구현 </a:t>
            </a:r>
            <a:r>
              <a:rPr lang="en-US" altLang="ko-KR" dirty="0"/>
              <a:t>1</a:t>
            </a:r>
            <a:r>
              <a:rPr lang="ko-KR" altLang="en-US" dirty="0"/>
              <a:t>단계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서버 구성</a:t>
            </a:r>
            <a:endParaRPr lang="en-US" altLang="ko-KR" dirty="0"/>
          </a:p>
          <a:p>
            <a:pPr lvl="1"/>
            <a:r>
              <a:rPr lang="ko-KR" altLang="en-US" dirty="0"/>
              <a:t>내부 통신 포트 분리</a:t>
            </a:r>
            <a:endParaRPr lang="en-US" altLang="ko-KR" dirty="0"/>
          </a:p>
          <a:p>
            <a:pPr lvl="2"/>
            <a:r>
              <a:rPr lang="ko-KR" altLang="en-US" dirty="0"/>
              <a:t>다른 네트워크 카드 사용 </a:t>
            </a:r>
            <a:endParaRPr lang="en-US" altLang="ko-KR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9</a:t>
            </a:fld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 bwMode="auto">
          <a:xfrm>
            <a:off x="4876800" y="3190142"/>
            <a:ext cx="2743200" cy="1524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Zone Server 1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876800" y="5105400"/>
            <a:ext cx="2743200" cy="1447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Zone Server 2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 bwMode="auto">
          <a:xfrm>
            <a:off x="5102469" y="4256942"/>
            <a:ext cx="10668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9000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5067300" y="5316415"/>
            <a:ext cx="10668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9001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2025161" y="4215912"/>
            <a:ext cx="1524000" cy="5421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Client-1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2019300" y="5193323"/>
            <a:ext cx="1524000" cy="5421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Client-2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직선 화살표 연결선 12"/>
          <p:cNvCxnSpPr>
            <a:stCxn id="11" idx="3"/>
            <a:endCxn id="2" idx="1"/>
          </p:cNvCxnSpPr>
          <p:nvPr/>
        </p:nvCxnSpPr>
        <p:spPr bwMode="auto">
          <a:xfrm flipV="1">
            <a:off x="3549161" y="4409342"/>
            <a:ext cx="1553308" cy="7766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직선 화살표 연결선 13"/>
          <p:cNvCxnSpPr>
            <a:stCxn id="12" idx="3"/>
          </p:cNvCxnSpPr>
          <p:nvPr/>
        </p:nvCxnSpPr>
        <p:spPr bwMode="auto">
          <a:xfrm>
            <a:off x="3543300" y="5464419"/>
            <a:ext cx="1524000" cy="43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직선 화살표 연결선 16"/>
          <p:cNvCxnSpPr>
            <a:stCxn id="6" idx="0"/>
            <a:endCxn id="23" idx="2"/>
          </p:cNvCxnSpPr>
          <p:nvPr/>
        </p:nvCxnSpPr>
        <p:spPr bwMode="auto">
          <a:xfrm flipV="1">
            <a:off x="6248400" y="4561742"/>
            <a:ext cx="615461" cy="54365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직선 화살표 연결선 19"/>
          <p:cNvCxnSpPr>
            <a:stCxn id="5" idx="2"/>
            <a:endCxn id="24" idx="0"/>
          </p:cNvCxnSpPr>
          <p:nvPr/>
        </p:nvCxnSpPr>
        <p:spPr bwMode="auto">
          <a:xfrm>
            <a:off x="6248400" y="4714142"/>
            <a:ext cx="580292" cy="6022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직사각형 22"/>
          <p:cNvSpPr/>
          <p:nvPr/>
        </p:nvSpPr>
        <p:spPr bwMode="auto">
          <a:xfrm>
            <a:off x="6330461" y="4256942"/>
            <a:ext cx="10668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9010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6295292" y="5316415"/>
            <a:ext cx="10668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9011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504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</a:t>
            </a:r>
            <a:r>
              <a:rPr lang="ko-KR" altLang="en-US" dirty="0"/>
              <a:t>구현 </a:t>
            </a:r>
            <a:r>
              <a:rPr lang="en-US" altLang="ko-KR" dirty="0"/>
              <a:t>1</a:t>
            </a:r>
            <a:r>
              <a:rPr lang="ko-KR" altLang="en-US" dirty="0"/>
              <a:t>단계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프로토콜</a:t>
            </a:r>
            <a:endParaRPr lang="en-US" altLang="ko-KR" dirty="0"/>
          </a:p>
          <a:p>
            <a:pPr lvl="1"/>
            <a:r>
              <a:rPr lang="en-US" altLang="ko-KR" dirty="0"/>
              <a:t>Zone to Zone Protocol</a:t>
            </a:r>
          </a:p>
          <a:p>
            <a:pPr lvl="2"/>
            <a:r>
              <a:rPr lang="en-US" altLang="ko-KR" dirty="0"/>
              <a:t>Client Server </a:t>
            </a:r>
            <a:r>
              <a:rPr lang="ko-KR" altLang="en-US" dirty="0"/>
              <a:t>프로토콜과 동일</a:t>
            </a:r>
            <a:endParaRPr lang="en-US" altLang="ko-KR" dirty="0"/>
          </a:p>
          <a:p>
            <a:pPr lvl="2"/>
            <a:r>
              <a:rPr lang="ko-KR" altLang="en-US" dirty="0"/>
              <a:t>중계만 함</a:t>
            </a:r>
            <a:endParaRPr lang="en-US" altLang="ko-KR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10</a:t>
            </a:fld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 bwMode="auto">
          <a:xfrm>
            <a:off x="4876800" y="3190142"/>
            <a:ext cx="2743200" cy="1524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Zone Server 1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876800" y="5105400"/>
            <a:ext cx="2743200" cy="1447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Zone Server 2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 bwMode="auto">
          <a:xfrm>
            <a:off x="5102469" y="4256942"/>
            <a:ext cx="10668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9000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5067300" y="5316415"/>
            <a:ext cx="10668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9001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2025161" y="4215912"/>
            <a:ext cx="1524000" cy="5421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Client-1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2019300" y="5193323"/>
            <a:ext cx="1524000" cy="5421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Client-2</a:t>
            </a: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직선 화살표 연결선 12"/>
          <p:cNvCxnSpPr>
            <a:stCxn id="11" idx="3"/>
            <a:endCxn id="2" idx="1"/>
          </p:cNvCxnSpPr>
          <p:nvPr/>
        </p:nvCxnSpPr>
        <p:spPr bwMode="auto">
          <a:xfrm flipV="1">
            <a:off x="3549161" y="4409342"/>
            <a:ext cx="1553308" cy="7766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직선 화살표 연결선 13"/>
          <p:cNvCxnSpPr>
            <a:stCxn id="12" idx="3"/>
          </p:cNvCxnSpPr>
          <p:nvPr/>
        </p:nvCxnSpPr>
        <p:spPr bwMode="auto">
          <a:xfrm>
            <a:off x="3543300" y="5464419"/>
            <a:ext cx="1524000" cy="43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직선 화살표 연결선 16"/>
          <p:cNvCxnSpPr>
            <a:stCxn id="6" idx="0"/>
            <a:endCxn id="23" idx="2"/>
          </p:cNvCxnSpPr>
          <p:nvPr/>
        </p:nvCxnSpPr>
        <p:spPr bwMode="auto">
          <a:xfrm flipV="1">
            <a:off x="6248400" y="4561742"/>
            <a:ext cx="615461" cy="54365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직선 화살표 연결선 19"/>
          <p:cNvCxnSpPr>
            <a:stCxn id="5" idx="2"/>
            <a:endCxn id="24" idx="0"/>
          </p:cNvCxnSpPr>
          <p:nvPr/>
        </p:nvCxnSpPr>
        <p:spPr bwMode="auto">
          <a:xfrm>
            <a:off x="6248400" y="4714142"/>
            <a:ext cx="580292" cy="6022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직사각형 22"/>
          <p:cNvSpPr/>
          <p:nvPr/>
        </p:nvSpPr>
        <p:spPr bwMode="auto">
          <a:xfrm>
            <a:off x="6330461" y="4256942"/>
            <a:ext cx="10668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9010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6295292" y="5316415"/>
            <a:ext cx="10668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9011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129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과제 </a:t>
            </a:r>
            <a:r>
              <a:rPr lang="en-US" altLang="ko-KR"/>
              <a:t>8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3200" dirty="0"/>
              <a:t>Sample</a:t>
            </a:r>
            <a:r>
              <a:rPr lang="ko-KR" altLang="en-US" sz="3200" dirty="0"/>
              <a:t>로 제공된 프로그램을 수정하여 </a:t>
            </a:r>
            <a:r>
              <a:rPr lang="en-US" altLang="ko-KR" sz="3200" dirty="0"/>
              <a:t>Seamless </a:t>
            </a:r>
            <a:r>
              <a:rPr lang="ko-KR" altLang="en-US" sz="3200" dirty="0"/>
              <a:t>서버를 </a:t>
            </a:r>
            <a:r>
              <a:rPr lang="ko-KR" altLang="en-US" sz="3200" dirty="0" err="1"/>
              <a:t>완성하시오</a:t>
            </a:r>
            <a:r>
              <a:rPr lang="en-US" altLang="ko-KR" sz="3200" dirty="0"/>
              <a:t>.</a:t>
            </a:r>
          </a:p>
          <a:p>
            <a:pPr lvl="1"/>
            <a:r>
              <a:rPr lang="ko-KR" altLang="en-US" sz="2400" dirty="0"/>
              <a:t>클라이언트 접속 시 </a:t>
            </a:r>
            <a:r>
              <a:rPr lang="ko-KR" altLang="en-US" sz="2400" dirty="0" err="1"/>
              <a:t>랜덤하게</a:t>
            </a:r>
            <a:r>
              <a:rPr lang="ko-KR" altLang="en-US" sz="2400" dirty="0"/>
              <a:t> 서버를 선택</a:t>
            </a:r>
            <a:endParaRPr lang="en-US" altLang="ko-KR" sz="2400" dirty="0"/>
          </a:p>
          <a:p>
            <a:pPr lvl="2"/>
            <a:r>
              <a:rPr lang="en-US" altLang="ko-KR" sz="1600" dirty="0"/>
              <a:t>ID</a:t>
            </a:r>
            <a:r>
              <a:rPr lang="ko-KR" altLang="en-US" sz="1600" dirty="0"/>
              <a:t>에 서버 표시</a:t>
            </a:r>
            <a:endParaRPr lang="en-US" altLang="ko-KR" sz="1600" dirty="0"/>
          </a:p>
          <a:p>
            <a:pPr lvl="1"/>
            <a:r>
              <a:rPr lang="ko-KR" altLang="en-US" sz="2400" dirty="0"/>
              <a:t>서버가 달라도 서로 위치 동기화</a:t>
            </a:r>
            <a:endParaRPr lang="en-US" altLang="ko-KR" sz="2400" dirty="0"/>
          </a:p>
          <a:p>
            <a:pPr lvl="1"/>
            <a:r>
              <a:rPr lang="en-US" altLang="ko-KR" sz="2400" dirty="0"/>
              <a:t>ASIO</a:t>
            </a:r>
            <a:r>
              <a:rPr lang="ko-KR" altLang="en-US" sz="2400" dirty="0"/>
              <a:t>로 구현은 </a:t>
            </a:r>
            <a:r>
              <a:rPr lang="en-US" altLang="ko-KR" sz="2400" dirty="0"/>
              <a:t>Option</a:t>
            </a:r>
          </a:p>
          <a:p>
            <a:r>
              <a:rPr lang="ko-KR" altLang="en-US" sz="3200" dirty="0"/>
              <a:t>제출 </a:t>
            </a:r>
            <a:r>
              <a:rPr lang="en-US" altLang="ko-KR" sz="3200" dirty="0"/>
              <a:t>E-Class</a:t>
            </a:r>
            <a:r>
              <a:rPr lang="ko-KR" altLang="en-US" sz="3200" dirty="0"/>
              <a:t>로 제출</a:t>
            </a:r>
            <a:endParaRPr lang="en-US" altLang="ko-KR" sz="3200" dirty="0"/>
          </a:p>
          <a:p>
            <a:r>
              <a:rPr lang="ko-KR" altLang="en-US" sz="3200" dirty="0"/>
              <a:t>제출 기한 </a:t>
            </a:r>
            <a:r>
              <a:rPr lang="en-US" altLang="ko-KR" sz="3200" dirty="0"/>
              <a:t>5</a:t>
            </a:r>
            <a:r>
              <a:rPr lang="ko-KR" altLang="en-US" sz="3200" dirty="0"/>
              <a:t>월 </a:t>
            </a:r>
            <a:r>
              <a:rPr lang="en-US" altLang="ko-KR" sz="3200" dirty="0"/>
              <a:t>27</a:t>
            </a:r>
            <a:r>
              <a:rPr lang="ko-KR" altLang="en-US" sz="3200" dirty="0"/>
              <a:t>일 오후 </a:t>
            </a:r>
            <a:r>
              <a:rPr lang="en-US" altLang="ko-KR" sz="3200" dirty="0"/>
              <a:t>12</a:t>
            </a:r>
            <a:r>
              <a:rPr lang="ko-KR" altLang="en-US" sz="3200" dirty="0"/>
              <a:t>시</a:t>
            </a:r>
            <a:endParaRPr lang="en-US" altLang="ko-KR" sz="3200" dirty="0"/>
          </a:p>
          <a:p>
            <a:endParaRPr lang="en-US" altLang="ko-KR" sz="3200" dirty="0"/>
          </a:p>
          <a:p>
            <a:pPr lvl="2"/>
            <a:endParaRPr lang="en-US" altLang="ko-KR" sz="1800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11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8732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발표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3200" dirty="0"/>
              <a:t>최재용</a:t>
            </a:r>
            <a:endParaRPr lang="en-US" altLang="ko-KR" sz="3200" dirty="0"/>
          </a:p>
          <a:p>
            <a:r>
              <a:rPr lang="en-US" altLang="ko-KR" sz="3200" dirty="0"/>
              <a:t>Seamless </a:t>
            </a:r>
            <a:r>
              <a:rPr lang="ko-KR" altLang="en-US" sz="3200" dirty="0"/>
              <a:t>구현 단계 </a:t>
            </a:r>
            <a:r>
              <a:rPr lang="en-US" altLang="ko-KR" sz="3200" dirty="0"/>
              <a:t>1</a:t>
            </a:r>
          </a:p>
          <a:p>
            <a:pPr lvl="1"/>
            <a:r>
              <a:rPr lang="ko-KR" altLang="en-US" sz="2400" dirty="0"/>
              <a:t>구현 내용</a:t>
            </a:r>
            <a:endParaRPr lang="en-US" altLang="ko-KR" sz="2400" dirty="0"/>
          </a:p>
          <a:p>
            <a:pPr lvl="1"/>
            <a:r>
              <a:rPr lang="en-US" altLang="ko-KR" sz="2400" dirty="0"/>
              <a:t>Trouble </a:t>
            </a:r>
            <a:r>
              <a:rPr lang="ko-KR" altLang="en-US" sz="2400" dirty="0"/>
              <a:t>과 </a:t>
            </a:r>
            <a:r>
              <a:rPr lang="ko-KR" altLang="en-US" sz="2400" dirty="0" err="1"/>
              <a:t>그해결</a:t>
            </a:r>
            <a:endParaRPr lang="en-US" altLang="ko-KR" sz="2400" dirty="0"/>
          </a:p>
          <a:p>
            <a:pPr lvl="2"/>
            <a:endParaRPr lang="en-US" altLang="ko-KR" sz="1800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2-</a:t>
            </a:r>
            <a:fld id="{C712B28A-EC0D-40DB-9AD2-AB2F2D828E03}" type="slidenum">
              <a:rPr lang="en-US" altLang="ko-KR" smtClean="0"/>
              <a:pPr/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20555019"/>
      </p:ext>
    </p:extLst>
  </p:cSld>
  <p:clrMapOvr>
    <a:masterClrMapping/>
  </p:clrMapOvr>
</p:sld>
</file>

<file path=ppt/theme/theme1.xml><?xml version="1.0" encoding="utf-8"?>
<a:theme xmlns:a="http://schemas.openxmlformats.org/drawingml/2006/main" name="Romanesque">
  <a:themeElements>
    <a:clrScheme name="Romanesque 1">
      <a:dk1>
        <a:srgbClr val="6E6958"/>
      </a:dk1>
      <a:lt1>
        <a:srgbClr val="EAEAEA"/>
      </a:lt1>
      <a:dk2>
        <a:srgbClr val="88826C"/>
      </a:dk2>
      <a:lt2>
        <a:srgbClr val="EDD39F"/>
      </a:lt2>
      <a:accent1>
        <a:srgbClr val="C9C6BB"/>
      </a:accent1>
      <a:accent2>
        <a:srgbClr val="ADA897"/>
      </a:accent2>
      <a:accent3>
        <a:srgbClr val="C3C1BA"/>
      </a:accent3>
      <a:accent4>
        <a:srgbClr val="C8C8C8"/>
      </a:accent4>
      <a:accent5>
        <a:srgbClr val="E1DFDA"/>
      </a:accent5>
      <a:accent6>
        <a:srgbClr val="9C9888"/>
      </a:accent6>
      <a:hlink>
        <a:srgbClr val="DEB54E"/>
      </a:hlink>
      <a:folHlink>
        <a:srgbClr val="A78B3D"/>
      </a:folHlink>
    </a:clrScheme>
    <a:fontScheme name="Romanesque">
      <a:majorFont>
        <a:latin typeface="Times New Roman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Romanesque 1">
        <a:dk1>
          <a:srgbClr val="6E6958"/>
        </a:dk1>
        <a:lt1>
          <a:srgbClr val="EAEAEA"/>
        </a:lt1>
        <a:dk2>
          <a:srgbClr val="88826C"/>
        </a:dk2>
        <a:lt2>
          <a:srgbClr val="EDD39F"/>
        </a:lt2>
        <a:accent1>
          <a:srgbClr val="C9C6BB"/>
        </a:accent1>
        <a:accent2>
          <a:srgbClr val="ADA897"/>
        </a:accent2>
        <a:accent3>
          <a:srgbClr val="C3C1BA"/>
        </a:accent3>
        <a:accent4>
          <a:srgbClr val="C8C8C8"/>
        </a:accent4>
        <a:accent5>
          <a:srgbClr val="E1DFDA"/>
        </a:accent5>
        <a:accent6>
          <a:srgbClr val="9C9888"/>
        </a:accent6>
        <a:hlink>
          <a:srgbClr val="DEB54E"/>
        </a:hlink>
        <a:folHlink>
          <a:srgbClr val="A78B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omanesque 2">
        <a:dk1>
          <a:srgbClr val="523D24"/>
        </a:dk1>
        <a:lt1>
          <a:srgbClr val="FFFFFF"/>
        </a:lt1>
        <a:dk2>
          <a:srgbClr val="5C3324"/>
        </a:dk2>
        <a:lt2>
          <a:srgbClr val="948F60"/>
        </a:lt2>
        <a:accent1>
          <a:srgbClr val="D0CEB8"/>
        </a:accent1>
        <a:accent2>
          <a:srgbClr val="C1BFA1"/>
        </a:accent2>
        <a:accent3>
          <a:srgbClr val="FFFFFF"/>
        </a:accent3>
        <a:accent4>
          <a:srgbClr val="45331D"/>
        </a:accent4>
        <a:accent5>
          <a:srgbClr val="E4E3D8"/>
        </a:accent5>
        <a:accent6>
          <a:srgbClr val="AFAD91"/>
        </a:accent6>
        <a:hlink>
          <a:srgbClr val="E0C036"/>
        </a:hlink>
        <a:folHlink>
          <a:srgbClr val="D1C1A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omanesque 3">
        <a:dk1>
          <a:srgbClr val="333333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DDDDDD"/>
        </a:accent2>
        <a:accent3>
          <a:srgbClr val="FFFFFF"/>
        </a:accent3>
        <a:accent4>
          <a:srgbClr val="2A2A2A"/>
        </a:accent4>
        <a:accent5>
          <a:srgbClr val="F3F3F3"/>
        </a:accent5>
        <a:accent6>
          <a:srgbClr val="C8C8C8"/>
        </a:accent6>
        <a:hlink>
          <a:srgbClr val="969696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omanesque 4">
        <a:dk1>
          <a:srgbClr val="4C4F60"/>
        </a:dk1>
        <a:lt1>
          <a:srgbClr val="EAEAEA"/>
        </a:lt1>
        <a:dk2>
          <a:srgbClr val="6C7188"/>
        </a:dk2>
        <a:lt2>
          <a:srgbClr val="EBCD5D"/>
        </a:lt2>
        <a:accent1>
          <a:srgbClr val="CECFD8"/>
        </a:accent1>
        <a:accent2>
          <a:srgbClr val="A8ABBA"/>
        </a:accent2>
        <a:accent3>
          <a:srgbClr val="BABBC3"/>
        </a:accent3>
        <a:accent4>
          <a:srgbClr val="C8C8C8"/>
        </a:accent4>
        <a:accent5>
          <a:srgbClr val="E3E4E9"/>
        </a:accent5>
        <a:accent6>
          <a:srgbClr val="989BA8"/>
        </a:accent6>
        <a:hlink>
          <a:srgbClr val="E8B550"/>
        </a:hlink>
        <a:folHlink>
          <a:srgbClr val="B79E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omanesque 5">
        <a:dk1>
          <a:srgbClr val="65515B"/>
        </a:dk1>
        <a:lt1>
          <a:srgbClr val="EAEAEA"/>
        </a:lt1>
        <a:dk2>
          <a:srgbClr val="886C7B"/>
        </a:dk2>
        <a:lt2>
          <a:srgbClr val="E9D95F"/>
        </a:lt2>
        <a:accent1>
          <a:srgbClr val="CECFD8"/>
        </a:accent1>
        <a:accent2>
          <a:srgbClr val="AB95A1"/>
        </a:accent2>
        <a:accent3>
          <a:srgbClr val="C3BABF"/>
        </a:accent3>
        <a:accent4>
          <a:srgbClr val="C8C8C8"/>
        </a:accent4>
        <a:accent5>
          <a:srgbClr val="E3E4E9"/>
        </a:accent5>
        <a:accent6>
          <a:srgbClr val="9B8791"/>
        </a:accent6>
        <a:hlink>
          <a:srgbClr val="E8C050"/>
        </a:hlink>
        <a:folHlink>
          <a:srgbClr val="B79E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omanesque 6">
        <a:dk1>
          <a:srgbClr val="333333"/>
        </a:dk1>
        <a:lt1>
          <a:srgbClr val="EAEAEA"/>
        </a:lt1>
        <a:dk2>
          <a:srgbClr val="000000"/>
        </a:dk2>
        <a:lt2>
          <a:srgbClr val="E1D8AB"/>
        </a:lt2>
        <a:accent1>
          <a:srgbClr val="808080"/>
        </a:accent1>
        <a:accent2>
          <a:srgbClr val="5F5F5F"/>
        </a:accent2>
        <a:accent3>
          <a:srgbClr val="AAAAAA"/>
        </a:accent3>
        <a:accent4>
          <a:srgbClr val="C8C8C8"/>
        </a:accent4>
        <a:accent5>
          <a:srgbClr val="C0C0C0"/>
        </a:accent5>
        <a:accent6>
          <a:srgbClr val="555555"/>
        </a:accent6>
        <a:hlink>
          <a:srgbClr val="D95045"/>
        </a:hlink>
        <a:folHlink>
          <a:srgbClr val="DCA23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Designs\Romanesque.pot</Template>
  <TotalTime>7255</TotalTime>
  <Words>450</Words>
  <Application>Microsoft Office PowerPoint</Application>
  <PresentationFormat>화면 슬라이드 쇼(4:3)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굴림</vt:lpstr>
      <vt:lpstr>굴림체</vt:lpstr>
      <vt:lpstr>Arial</vt:lpstr>
      <vt:lpstr>Times New Roman</vt:lpstr>
      <vt:lpstr>Wingdings</vt:lpstr>
      <vt:lpstr>Romanesque</vt:lpstr>
      <vt:lpstr>Seamless</vt:lpstr>
      <vt:lpstr>Seamless</vt:lpstr>
      <vt:lpstr>Seamless</vt:lpstr>
      <vt:lpstr>Seamless</vt:lpstr>
      <vt:lpstr>Seamless</vt:lpstr>
      <vt:lpstr>Seamless</vt:lpstr>
      <vt:lpstr>Seamless</vt:lpstr>
      <vt:lpstr>Seamless</vt:lpstr>
      <vt:lpstr>Simple 구현 1단계</vt:lpstr>
      <vt:lpstr>Simple 구현 1단계</vt:lpstr>
      <vt:lpstr>과제 8</vt:lpstr>
      <vt:lpstr>다음 발표</vt:lpstr>
    </vt:vector>
  </TitlesOfParts>
  <Company>The McGraw-Hill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McGraw-Hill Higher Education</dc:creator>
  <cp:lastModifiedBy>Nai Hoon Jung</cp:lastModifiedBy>
  <cp:revision>272</cp:revision>
  <cp:lastPrinted>1601-01-01T00:00:00Z</cp:lastPrinted>
  <dcterms:created xsi:type="dcterms:W3CDTF">2002-05-01T16:08:26Z</dcterms:created>
  <dcterms:modified xsi:type="dcterms:W3CDTF">2026-01-12T05:17:10Z</dcterms:modified>
</cp:coreProperties>
</file>