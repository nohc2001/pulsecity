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86" r:id="rId21"/>
    <p:sldId id="275" r:id="rId22"/>
    <p:sldId id="276" r:id="rId23"/>
    <p:sldId id="262" r:id="rId24"/>
    <p:sldId id="290" r:id="rId25"/>
    <p:sldId id="291" r:id="rId26"/>
    <p:sldId id="292" r:id="rId27"/>
    <p:sldId id="293" r:id="rId28"/>
    <p:sldId id="259" r:id="rId29"/>
    <p:sldId id="260" r:id="rId30"/>
    <p:sldId id="278" r:id="rId31"/>
    <p:sldId id="283" r:id="rId32"/>
    <p:sldId id="279" r:id="rId33"/>
    <p:sldId id="284" r:id="rId34"/>
    <p:sldId id="285" r:id="rId35"/>
    <p:sldId id="281" r:id="rId36"/>
    <p:sldId id="287" r:id="rId37"/>
    <p:sldId id="288" r:id="rId38"/>
    <p:sldId id="289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9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8C81D3-5E4D-495D-8DE1-4F2327BCEE89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95A5E-4983-45AC-854B-86DE2CB700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886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95A5E-4983-45AC-854B-86DE2CB70077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300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2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.png"/><Relationship Id="rId3" Type="http://schemas.openxmlformats.org/officeDocument/2006/relationships/slide" Target="slide8.xml"/><Relationship Id="rId7" Type="http://schemas.openxmlformats.org/officeDocument/2006/relationships/image" Target="../media/image70.png"/><Relationship Id="rId12" Type="http://schemas.openxmlformats.org/officeDocument/2006/relationships/slide" Target="slide37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11" Type="http://schemas.openxmlformats.org/officeDocument/2006/relationships/image" Target="../media/image9.png"/><Relationship Id="rId5" Type="http://schemas.openxmlformats.org/officeDocument/2006/relationships/image" Target="../media/image7.png"/><Relationship Id="rId10" Type="http://schemas.openxmlformats.org/officeDocument/2006/relationships/image" Target="../media/image80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1.png"/><Relationship Id="rId7" Type="http://schemas.openxmlformats.org/officeDocument/2006/relationships/slide" Target="slide7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60.png"/><Relationship Id="rId18" Type="http://schemas.openxmlformats.org/officeDocument/2006/relationships/slide" Target="slide14.xml"/><Relationship Id="rId26" Type="http://schemas.openxmlformats.org/officeDocument/2006/relationships/image" Target="../media/image22.png"/><Relationship Id="rId3" Type="http://schemas.openxmlformats.org/officeDocument/2006/relationships/slide" Target="slide9.xml"/><Relationship Id="rId21" Type="http://schemas.openxmlformats.org/officeDocument/2006/relationships/slide" Target="slide15.xml"/><Relationship Id="rId7" Type="http://schemas.openxmlformats.org/officeDocument/2006/relationships/image" Target="../media/image140.png"/><Relationship Id="rId12" Type="http://schemas.openxmlformats.org/officeDocument/2006/relationships/slide" Target="slide12.xml"/><Relationship Id="rId17" Type="http://schemas.openxmlformats.org/officeDocument/2006/relationships/image" Target="../media/image19.png"/><Relationship Id="rId25" Type="http://schemas.openxmlformats.org/officeDocument/2006/relationships/image" Target="../media/image200.png"/><Relationship Id="rId2" Type="http://schemas.openxmlformats.org/officeDocument/2006/relationships/image" Target="../media/image14.png"/><Relationship Id="rId16" Type="http://schemas.openxmlformats.org/officeDocument/2006/relationships/image" Target="../media/image170.png"/><Relationship Id="rId20" Type="http://schemas.openxmlformats.org/officeDocument/2006/relationships/image" Target="../media/image20.png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11" Type="http://schemas.openxmlformats.org/officeDocument/2006/relationships/image" Target="../media/image17.png"/><Relationship Id="rId24" Type="http://schemas.openxmlformats.org/officeDocument/2006/relationships/slide" Target="slide16.xml"/><Relationship Id="rId5" Type="http://schemas.openxmlformats.org/officeDocument/2006/relationships/image" Target="../media/image15.png"/><Relationship Id="rId15" Type="http://schemas.openxmlformats.org/officeDocument/2006/relationships/slide" Target="slide13.xml"/><Relationship Id="rId23" Type="http://schemas.openxmlformats.org/officeDocument/2006/relationships/image" Target="../media/image21.png"/><Relationship Id="rId28" Type="http://schemas.openxmlformats.org/officeDocument/2006/relationships/image" Target="../media/image211.png"/><Relationship Id="rId10" Type="http://schemas.openxmlformats.org/officeDocument/2006/relationships/image" Target="../media/image150.png"/><Relationship Id="rId19" Type="http://schemas.openxmlformats.org/officeDocument/2006/relationships/image" Target="../media/image180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1.xml"/><Relationship Id="rId14" Type="http://schemas.openxmlformats.org/officeDocument/2006/relationships/image" Target="../media/image18.png"/><Relationship Id="rId22" Type="http://schemas.openxmlformats.org/officeDocument/2006/relationships/image" Target="../media/image190.png"/><Relationship Id="rId27" Type="http://schemas.openxmlformats.org/officeDocument/2006/relationships/slide" Target="slide17.xml"/><Relationship Id="rId30" Type="http://schemas.openxmlformats.org/officeDocument/2006/relationships/slide" Target="slide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slide" Target="slide21.xml"/><Relationship Id="rId7" Type="http://schemas.openxmlformats.org/officeDocument/2006/relationships/image" Target="../media/image24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2.xml"/><Relationship Id="rId5" Type="http://schemas.openxmlformats.org/officeDocument/2006/relationships/image" Target="../media/image25.png"/><Relationship Id="rId4" Type="http://schemas.openxmlformats.org/officeDocument/2006/relationships/image" Target="../media/image230.png"/><Relationship Id="rId9" Type="http://schemas.openxmlformats.org/officeDocument/2006/relationships/image" Target="../media/image25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4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7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slide" Target="slide27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7" Type="http://schemas.openxmlformats.org/officeDocument/2006/relationships/image" Target="../media/image27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2.xml"/><Relationship Id="rId5" Type="http://schemas.openxmlformats.org/officeDocument/2006/relationships/image" Target="../media/image37.png"/><Relationship Id="rId4" Type="http://schemas.openxmlformats.org/officeDocument/2006/relationships/image" Target="../media/image2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6.xm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B0EEB9EE-D82A-E42E-FCD7-842ED158415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8750524"/>
                  </p:ext>
                </p:extLst>
              </p:nvPr>
            </p:nvGraphicFramePr>
            <p:xfrm>
              <a:off x="8003662" y="4925607"/>
              <a:ext cx="3241000" cy="1823062"/>
            </p:xfrm>
            <a:graphic>
              <a:graphicData uri="http://schemas.microsoft.com/office/powerpoint/2016/slidezoom">
                <pslz:sldZm>
                  <pslz:sldZmObj sldId="288" cId="1454281042">
                    <pslz:zmPr id="{93A88EC4-656D-4BAB-B1B7-CE9C3F364338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41000" cy="18230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B0EEB9EE-D82A-E42E-FCD7-842ED15841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003662" y="4925607"/>
                <a:ext cx="3241000" cy="18230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104237" y="868680"/>
            <a:ext cx="120877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Particle Management &amp; Update</a:t>
            </a:r>
          </a:p>
          <a:p>
            <a:r>
              <a:rPr lang="ko-KR" altLang="en-US" dirty="0"/>
              <a:t>모든 </a:t>
            </a:r>
            <a:r>
              <a:rPr lang="ko-KR" altLang="en-US" dirty="0" err="1"/>
              <a:t>파티클</a:t>
            </a:r>
            <a:r>
              <a:rPr lang="ko-KR" altLang="en-US" dirty="0"/>
              <a:t> 데이터는 </a:t>
            </a:r>
            <a:r>
              <a:rPr lang="en-US" altLang="ko-KR" b="1" dirty="0" err="1"/>
              <a:t>StructuredBuffer</a:t>
            </a:r>
            <a:r>
              <a:rPr lang="ko-KR" altLang="en-US" dirty="0"/>
              <a:t> 형태로 </a:t>
            </a:r>
            <a:r>
              <a:rPr lang="en-US" altLang="ko-KR" dirty="0"/>
              <a:t>GPU </a:t>
            </a:r>
            <a:r>
              <a:rPr lang="ko-KR" altLang="en-US" dirty="0"/>
              <a:t>전용 메모리에 상주하며</a:t>
            </a:r>
            <a:r>
              <a:rPr lang="en-US" altLang="ko-KR" dirty="0"/>
              <a:t>, </a:t>
            </a:r>
            <a:r>
              <a:rPr lang="en-US" altLang="ko-KR" b="1" dirty="0"/>
              <a:t>Compute Shader</a:t>
            </a:r>
            <a:r>
              <a:rPr lang="ko-KR" altLang="en-US" dirty="0"/>
              <a:t>를 통해 </a:t>
            </a:r>
            <a:r>
              <a:rPr lang="en-US" altLang="ko-KR" dirty="0"/>
              <a:t>CPU </a:t>
            </a:r>
            <a:r>
              <a:rPr lang="ko-KR" altLang="en-US" dirty="0"/>
              <a:t>개입 없이 업데이트됨</a:t>
            </a:r>
            <a:endParaRPr lang="en-US" altLang="ko-KR" dirty="0"/>
          </a:p>
          <a:p>
            <a:r>
              <a:rPr lang="en-US" altLang="ko-KR" b="1" dirty="0"/>
              <a:t>Update Logic</a:t>
            </a:r>
            <a:r>
              <a:rPr lang="en-US" altLang="ko-KR" dirty="0"/>
              <a:t>: </a:t>
            </a:r>
            <a:r>
              <a:rPr lang="ko-KR" altLang="en-US" dirty="0"/>
              <a:t>매 프레임 </a:t>
            </a:r>
            <a:r>
              <a:rPr lang="en-US" altLang="ko-KR" dirty="0" err="1"/>
              <a:t>TimeCB</a:t>
            </a:r>
            <a:r>
              <a:rPr lang="ko-KR" altLang="en-US" dirty="0"/>
              <a:t>로부터 </a:t>
            </a:r>
            <a:r>
              <a:rPr lang="en-US" altLang="ko-KR" dirty="0"/>
              <a:t>dt(</a:t>
            </a:r>
            <a:r>
              <a:rPr lang="en-US" altLang="ko-KR" dirty="0" err="1"/>
              <a:t>DeltaTime</a:t>
            </a:r>
            <a:r>
              <a:rPr lang="en-US" altLang="ko-KR" dirty="0"/>
              <a:t>)</a:t>
            </a:r>
            <a:r>
              <a:rPr lang="ko-KR" altLang="en-US" dirty="0"/>
              <a:t>를 전달받아 위치 연산</a:t>
            </a:r>
            <a:r>
              <a:rPr lang="en-US" altLang="ko-KR" dirty="0"/>
              <a:t>, </a:t>
            </a:r>
            <a:r>
              <a:rPr lang="ko-KR" altLang="en-US" dirty="0"/>
              <a:t>수명</a:t>
            </a:r>
            <a:r>
              <a:rPr lang="en-US" altLang="ko-KR" dirty="0"/>
              <a:t>(Life/Age) </a:t>
            </a:r>
            <a:r>
              <a:rPr lang="ko-KR" altLang="en-US" dirty="0"/>
              <a:t>계산</a:t>
            </a:r>
            <a:r>
              <a:rPr lang="en-US" altLang="ko-KR" dirty="0"/>
              <a:t>, </a:t>
            </a:r>
            <a:r>
              <a:rPr lang="ko-KR" altLang="en-US" dirty="0"/>
              <a:t>물리 시뮬레이션</a:t>
            </a:r>
            <a:r>
              <a:rPr lang="en-US" altLang="ko-KR" dirty="0"/>
              <a:t>(</a:t>
            </a:r>
            <a:r>
              <a:rPr lang="ko-KR" altLang="en-US" dirty="0"/>
              <a:t>중력</a:t>
            </a:r>
            <a:r>
              <a:rPr lang="en-US" altLang="ko-KR" dirty="0"/>
              <a:t>, </a:t>
            </a:r>
            <a:r>
              <a:rPr lang="ko-KR" altLang="en-US" dirty="0"/>
              <a:t>감쇠</a:t>
            </a:r>
            <a:r>
              <a:rPr lang="en-US" altLang="ko-KR" dirty="0"/>
              <a:t>)</a:t>
            </a:r>
            <a:r>
              <a:rPr lang="ko-KR" altLang="en-US" dirty="0"/>
              <a:t>을 병렬로 수행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Dispatch Strategy</a:t>
            </a:r>
            <a:r>
              <a:rPr lang="en-US" altLang="ko-KR" dirty="0"/>
              <a:t>: </a:t>
            </a:r>
            <a:r>
              <a:rPr lang="ko-KR" altLang="en-US" dirty="0"/>
              <a:t>대량의 </a:t>
            </a:r>
            <a:r>
              <a:rPr lang="ko-KR" altLang="en-US" dirty="0" err="1"/>
              <a:t>파티클을</a:t>
            </a:r>
            <a:r>
              <a:rPr lang="ko-KR" altLang="en-US" dirty="0"/>
              <a:t> 처리하기 위해 </a:t>
            </a:r>
            <a:r>
              <a:rPr lang="ko-KR" altLang="en-US" dirty="0" err="1"/>
              <a:t>파티클</a:t>
            </a:r>
            <a:r>
              <a:rPr lang="ko-KR" altLang="en-US" dirty="0"/>
              <a:t> 개수에 맞춰 </a:t>
            </a:r>
            <a:r>
              <a:rPr lang="en-US" altLang="ko-KR" dirty="0"/>
              <a:t>Thread Group</a:t>
            </a:r>
            <a:r>
              <a:rPr lang="ko-KR" altLang="en-US" dirty="0"/>
              <a:t>을 최적화하여 호출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0DBC7-DC95-8B9C-5FC6-18A01CB67F68}"/>
              </a:ext>
            </a:extLst>
          </p:cNvPr>
          <p:cNvSpPr txBox="1"/>
          <p:nvPr/>
        </p:nvSpPr>
        <p:spPr>
          <a:xfrm>
            <a:off x="0" y="2826633"/>
            <a:ext cx="120877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Resource &amp; Rendering Pipeline</a:t>
            </a:r>
          </a:p>
          <a:p>
            <a:pPr>
              <a:buNone/>
            </a:pPr>
            <a:r>
              <a:rPr lang="en-US" altLang="ko-KR" dirty="0"/>
              <a:t>CPU</a:t>
            </a:r>
            <a:r>
              <a:rPr lang="ko-KR" altLang="en-US" dirty="0"/>
              <a:t>는 최소한의 상수 데이터만 갱신하고</a:t>
            </a:r>
            <a:r>
              <a:rPr lang="en-US" altLang="ko-KR" dirty="0"/>
              <a:t>, </a:t>
            </a:r>
            <a:r>
              <a:rPr lang="ko-KR" altLang="en-US" dirty="0"/>
              <a:t>실제 렌더링에 필요한 모든 연산은 </a:t>
            </a:r>
            <a:r>
              <a:rPr lang="en-US" altLang="ko-KR" dirty="0"/>
              <a:t>GPU </a:t>
            </a:r>
            <a:r>
              <a:rPr lang="ko-KR" altLang="en-US" dirty="0"/>
              <a:t>내에서 완결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Root Signature Design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UAV (u0)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데이터 쓰기</a:t>
            </a:r>
            <a:r>
              <a:rPr lang="en-US" altLang="ko-KR" dirty="0"/>
              <a:t>/</a:t>
            </a:r>
            <a:r>
              <a:rPr lang="ko-KR" altLang="en-US" dirty="0"/>
              <a:t>읽기용 </a:t>
            </a:r>
            <a:r>
              <a:rPr lang="en-US" altLang="ko-KR" dirty="0"/>
              <a:t>(Compute)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SRV (t0)</a:t>
            </a:r>
            <a:r>
              <a:rPr lang="en-US" altLang="ko-KR" dirty="0"/>
              <a:t>: </a:t>
            </a:r>
            <a:r>
              <a:rPr lang="ko-KR" altLang="en-US" dirty="0"/>
              <a:t>업데이트된 데이터를 </a:t>
            </a:r>
            <a:r>
              <a:rPr lang="en-US" altLang="ko-KR" dirty="0"/>
              <a:t>Vertex Shader</a:t>
            </a:r>
            <a:r>
              <a:rPr lang="ko-KR" altLang="en-US" dirty="0"/>
              <a:t>에서 참조 </a:t>
            </a:r>
            <a:r>
              <a:rPr lang="en-US" altLang="ko-KR" dirty="0"/>
              <a:t>(Rendering)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CBV (b0, b1)</a:t>
            </a:r>
            <a:r>
              <a:rPr lang="en-US" altLang="ko-KR" dirty="0"/>
              <a:t>: </a:t>
            </a:r>
            <a:r>
              <a:rPr lang="ko-KR" altLang="en-US" dirty="0"/>
              <a:t>시간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TimeCB</a:t>
            </a:r>
            <a:r>
              <a:rPr lang="en-US" altLang="ko-KR" dirty="0"/>
              <a:t>) </a:t>
            </a:r>
            <a:r>
              <a:rPr lang="ko-KR" altLang="en-US" dirty="0"/>
              <a:t>및 특정 이벤트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MuzzleCB</a:t>
            </a:r>
            <a:r>
              <a:rPr lang="en-US" altLang="ko-KR" dirty="0"/>
              <a:t>) </a:t>
            </a:r>
            <a:r>
              <a:rPr lang="ko-KR" altLang="en-US" dirty="0"/>
              <a:t>바인딩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Geometry-less Rendering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별도의 </a:t>
            </a:r>
            <a:r>
              <a:rPr lang="en-US" altLang="ko-KR" dirty="0"/>
              <a:t>Vertex Buffer </a:t>
            </a:r>
            <a:r>
              <a:rPr lang="ko-KR" altLang="en-US" dirty="0"/>
              <a:t>없이 </a:t>
            </a:r>
            <a:r>
              <a:rPr lang="en-US" altLang="ko-KR" dirty="0" err="1">
                <a:latin typeface="Courier New" panose="02070309020205020404" pitchFamily="49" charset="0"/>
              </a:rPr>
              <a:t>SV_VertexID</a:t>
            </a:r>
            <a:r>
              <a:rPr lang="ko-KR" altLang="en-US" dirty="0"/>
              <a:t>를 사용하여 </a:t>
            </a:r>
            <a:r>
              <a:rPr lang="ko-KR" altLang="en-US" dirty="0" err="1"/>
              <a:t>셰이더</a:t>
            </a:r>
            <a:r>
              <a:rPr lang="ko-KR" altLang="en-US" dirty="0"/>
              <a:t> 내부에서 빌보드</a:t>
            </a:r>
            <a:r>
              <a:rPr lang="en-US" altLang="ko-KR" dirty="0"/>
              <a:t>(Billboard) </a:t>
            </a:r>
            <a:r>
              <a:rPr lang="ko-KR" altLang="en-US" dirty="0"/>
              <a:t>정점을 실시간 생성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b="1" dirty="0"/>
              <a:t>Instanced Drawing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개수만큼 </a:t>
            </a:r>
            <a:r>
              <a:rPr lang="en-US" altLang="ko-KR" dirty="0" err="1">
                <a:latin typeface="Courier New" panose="02070309020205020404" pitchFamily="49" charset="0"/>
              </a:rPr>
              <a:t>DrawInstanced</a:t>
            </a:r>
            <a:r>
              <a:rPr lang="ko-KR" altLang="en-US" dirty="0"/>
              <a:t>를 호출하여 기하학적 메모리 점유율을 최소화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Visual Optimization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Additive Blending</a:t>
            </a:r>
            <a:r>
              <a:rPr lang="en-US" altLang="ko-KR" dirty="0"/>
              <a:t>: </a:t>
            </a:r>
            <a:r>
              <a:rPr lang="ko-KR" altLang="en-US" dirty="0"/>
              <a:t>빛의 중첩 표현을 위해 가산 혼합 적용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Depth Stencil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간의 불필요한 가림을 방지하고 부드러운 합성을 위해 </a:t>
            </a:r>
            <a:r>
              <a:rPr lang="en-US" altLang="ko-KR" dirty="0" err="1">
                <a:latin typeface="Courier New" panose="02070309020205020404" pitchFamily="49" charset="0"/>
              </a:rPr>
              <a:t>DepthWrite</a:t>
            </a:r>
            <a:r>
              <a:rPr lang="ko-KR" altLang="en-US" dirty="0"/>
              <a:t>를 비활성화</a:t>
            </a:r>
            <a:r>
              <a:rPr lang="en-US" altLang="ko-KR" dirty="0"/>
              <a:t>(</a:t>
            </a:r>
            <a:r>
              <a:rPr lang="en-US" altLang="ko-KR" dirty="0">
                <a:latin typeface="Courier New" panose="02070309020205020404" pitchFamily="49" charset="0"/>
              </a:rPr>
              <a:t>ZERO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D987D80D-0EE6-0BE3-6EC8-CB606ACCC61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4271985"/>
                  </p:ext>
                </p:extLst>
              </p:nvPr>
            </p:nvGraphicFramePr>
            <p:xfrm>
              <a:off x="228600" y="1011305"/>
              <a:ext cx="9881706" cy="5558460"/>
            </p:xfrm>
            <a:graphic>
              <a:graphicData uri="http://schemas.microsoft.com/office/powerpoint/2016/slidezoom">
                <pslz:sldZm>
                  <pslz:sldZmObj sldId="290" cId="53786630">
                    <pslz:zmPr id="{DDBEFDEF-232B-4277-A610-6EE99BB4F3A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9881706" cy="55584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987D80D-0EE6-0BE3-6EC8-CB606ACCC61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8600" y="1011305"/>
                <a:ext cx="9881706" cy="555846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25FC84E-5001-D609-3CBA-91CEC1EDE130}"/>
              </a:ext>
            </a:extLst>
          </p:cNvPr>
          <p:cNvSpPr txBox="1"/>
          <p:nvPr/>
        </p:nvSpPr>
        <p:spPr>
          <a:xfrm>
            <a:off x="2598615" y="3959033"/>
            <a:ext cx="4358776" cy="244497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9AA414-D269-BA3B-EDE8-410C2E5D542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System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69BFB-CDA3-6465-4FC4-C21087A12300}"/>
              </a:ext>
            </a:extLst>
          </p:cNvPr>
          <p:cNvSpPr txBox="1"/>
          <p:nvPr/>
        </p:nvSpPr>
        <p:spPr>
          <a:xfrm>
            <a:off x="249664" y="3002735"/>
            <a:ext cx="1320715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</a:t>
            </a:r>
            <a:r>
              <a:rPr lang="ko-KR" altLang="en-US"/>
              <a:t> </a:t>
            </a:r>
            <a:r>
              <a:rPr lang="en-US" altLang="ko-KR"/>
              <a:t>PageStack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C134-7754-E0E3-7E4C-134D83EA462E}"/>
              </a:ext>
            </a:extLst>
          </p:cNvPr>
          <p:cNvSpPr txBox="1"/>
          <p:nvPr/>
        </p:nvSpPr>
        <p:spPr>
          <a:xfrm>
            <a:off x="249667" y="2158540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mainpage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73FA-E2EC-7C85-2553-DCEED84834F6}"/>
              </a:ext>
            </a:extLst>
          </p:cNvPr>
          <p:cNvSpPr txBox="1"/>
          <p:nvPr/>
        </p:nvSpPr>
        <p:spPr>
          <a:xfrm>
            <a:off x="249666" y="1789208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subpage0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1EC5B-DBDF-33A0-2E00-05E55D365A7A}"/>
              </a:ext>
            </a:extLst>
          </p:cNvPr>
          <p:cNvSpPr txBox="1"/>
          <p:nvPr/>
        </p:nvSpPr>
        <p:spPr>
          <a:xfrm>
            <a:off x="249665" y="1419876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subpage1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59A53-F8D1-7ECB-D191-CD27F6624B2E}"/>
              </a:ext>
            </a:extLst>
          </p:cNvPr>
          <p:cNvSpPr txBox="1"/>
          <p:nvPr/>
        </p:nvSpPr>
        <p:spPr>
          <a:xfrm>
            <a:off x="249664" y="1050544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...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A26241-78CC-13D5-2F83-B2DA6900C3ED}"/>
              </a:ext>
            </a:extLst>
          </p:cNvPr>
          <p:cNvCxnSpPr>
            <a:cxnSpLocks/>
          </p:cNvCxnSpPr>
          <p:nvPr/>
        </p:nvCxnSpPr>
        <p:spPr>
          <a:xfrm flipV="1">
            <a:off x="1709532" y="1050544"/>
            <a:ext cx="0" cy="1016795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71D20B-71C1-9A7B-A336-45C7C1D61FD8}"/>
              </a:ext>
            </a:extLst>
          </p:cNvPr>
          <p:cNvSpPr txBox="1"/>
          <p:nvPr/>
        </p:nvSpPr>
        <p:spPr>
          <a:xfrm>
            <a:off x="1746740" y="888751"/>
            <a:ext cx="50305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페이지는 스택처럼 </a:t>
            </a:r>
            <a:r>
              <a:rPr lang="en-US" altLang="ko-KR"/>
              <a:t>Page</a:t>
            </a:r>
            <a:r>
              <a:rPr lang="ko-KR" altLang="en-US"/>
              <a:t>를 쌓아올릴 수 있다</a:t>
            </a:r>
            <a:endParaRPr lang="en-US" altLang="ko-KR"/>
          </a:p>
          <a:p>
            <a:r>
              <a:rPr lang="ko-KR" altLang="en-US"/>
              <a:t>쌓아올라진 페이지는 아래 부터 출력한다</a:t>
            </a:r>
            <a:r>
              <a:rPr lang="en-US" altLang="ko-KR"/>
              <a:t>.</a:t>
            </a:r>
          </a:p>
          <a:p>
            <a:r>
              <a:rPr lang="en-US" altLang="ko-KR"/>
              <a:t>(</a:t>
            </a:r>
            <a:r>
              <a:rPr lang="ko-KR" altLang="en-US"/>
              <a:t>위가 가장 잘 보이게</a:t>
            </a:r>
            <a:r>
              <a:rPr lang="en-US" altLang="ko-KR"/>
              <a:t>.)</a:t>
            </a:r>
          </a:p>
          <a:p>
            <a:r>
              <a:rPr lang="ko-KR" altLang="en-US"/>
              <a:t>페이지를 전환할때는 페이지를 지우고 </a:t>
            </a:r>
            <a:endParaRPr lang="en-US" altLang="ko-KR"/>
          </a:p>
          <a:p>
            <a:r>
              <a:rPr lang="ko-KR" altLang="en-US"/>
              <a:t>새로운 페이지를 스택에 삽입한다</a:t>
            </a:r>
            <a:r>
              <a:rPr lang="en-US" altLang="ko-KR"/>
              <a:t>.</a:t>
            </a:r>
          </a:p>
          <a:p>
            <a:r>
              <a:rPr lang="ko-KR" altLang="en-US"/>
              <a:t>해당 페이지 스택은 전체화면을 대상으로 한다</a:t>
            </a:r>
            <a:r>
              <a:rPr lang="en-US" altLang="ko-KR"/>
              <a:t>.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E38FA3-82CF-2B92-8ADD-1F38041A5E1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910025" y="2527872"/>
            <a:ext cx="2260558" cy="106182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9018B04-5BE8-6078-2ACD-427DA7148EDE}"/>
              </a:ext>
            </a:extLst>
          </p:cNvPr>
          <p:cNvSpPr txBox="1"/>
          <p:nvPr/>
        </p:nvSpPr>
        <p:spPr>
          <a:xfrm>
            <a:off x="2598615" y="3589701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mainpage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156C6-0D5C-7793-CF76-24E8CCEFF10F}"/>
              </a:ext>
            </a:extLst>
          </p:cNvPr>
          <p:cNvSpPr txBox="1"/>
          <p:nvPr/>
        </p:nvSpPr>
        <p:spPr>
          <a:xfrm>
            <a:off x="3082433" y="4282198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UI-Btn0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9D1A2A-C56D-F18C-697A-6B2D3DA190C9}"/>
              </a:ext>
            </a:extLst>
          </p:cNvPr>
          <p:cNvSpPr txBox="1"/>
          <p:nvPr/>
        </p:nvSpPr>
        <p:spPr>
          <a:xfrm>
            <a:off x="3393859" y="5160155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UI-Edit0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6F14E4-52B9-0AE2-F24F-B69B3BFD25F4}"/>
              </a:ext>
            </a:extLst>
          </p:cNvPr>
          <p:cNvSpPr txBox="1"/>
          <p:nvPr/>
        </p:nvSpPr>
        <p:spPr>
          <a:xfrm>
            <a:off x="5013280" y="5681109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UI-Slider0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A0F385-FC41-6104-707B-DF6E5EDE9960}"/>
              </a:ext>
            </a:extLst>
          </p:cNvPr>
          <p:cNvSpPr txBox="1"/>
          <p:nvPr/>
        </p:nvSpPr>
        <p:spPr>
          <a:xfrm>
            <a:off x="4886964" y="4790823"/>
            <a:ext cx="157334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UI-Window0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B5539-B0F9-9275-A2D2-61C5C415663E}"/>
              </a:ext>
            </a:extLst>
          </p:cNvPr>
          <p:cNvSpPr txBox="1"/>
          <p:nvPr/>
        </p:nvSpPr>
        <p:spPr>
          <a:xfrm>
            <a:off x="6965613" y="6034673"/>
            <a:ext cx="41857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하나의 페이지에는 여러개의 </a:t>
            </a:r>
            <a:r>
              <a:rPr lang="en-US" altLang="ko-KR" sz="1400"/>
              <a:t>UI</a:t>
            </a:r>
            <a:r>
              <a:rPr lang="ko-KR" altLang="en-US" sz="1400"/>
              <a:t>가 존재할 수 있다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여러 </a:t>
            </a:r>
            <a:r>
              <a:rPr lang="en-US" altLang="ko-KR" sz="1400"/>
              <a:t>UI</a:t>
            </a:r>
            <a:r>
              <a:rPr lang="ko-KR" altLang="en-US" sz="1400"/>
              <a:t>는 개발자의 설계에 따라 다양한 모습을 </a:t>
            </a:r>
            <a:endParaRPr lang="en-US" altLang="ko-KR" sz="1400"/>
          </a:p>
          <a:p>
            <a:r>
              <a:rPr lang="ko-KR" altLang="en-US" sz="1400"/>
              <a:t>가질 수 있고</a:t>
            </a:r>
            <a:r>
              <a:rPr lang="en-US" altLang="ko-KR" sz="1400"/>
              <a:t>, </a:t>
            </a:r>
            <a:r>
              <a:rPr lang="ko-KR" altLang="en-US" sz="1400"/>
              <a:t>다양한 상호작용이 가능하다</a:t>
            </a:r>
            <a:r>
              <a:rPr lang="en-US" altLang="ko-KR" sz="1400"/>
              <a:t>.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729F0B9-4F90-F9FC-B7AB-74E016E59EA9}"/>
              </a:ext>
            </a:extLst>
          </p:cNvPr>
          <p:cNvCxnSpPr>
            <a:cxnSpLocks/>
            <a:stCxn id="20" idx="0"/>
            <a:endCxn id="26" idx="1"/>
          </p:cNvCxnSpPr>
          <p:nvPr/>
        </p:nvCxnSpPr>
        <p:spPr>
          <a:xfrm flipV="1">
            <a:off x="5673637" y="590280"/>
            <a:ext cx="1780937" cy="4200543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4B4666A-FCFD-BA78-A584-15B89936B106}"/>
              </a:ext>
            </a:extLst>
          </p:cNvPr>
          <p:cNvSpPr txBox="1"/>
          <p:nvPr/>
        </p:nvSpPr>
        <p:spPr>
          <a:xfrm>
            <a:off x="7454574" y="405614"/>
            <a:ext cx="157334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UI-Window0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CE9057-74CE-4416-78DB-5A5B7EE5796E}"/>
              </a:ext>
            </a:extLst>
          </p:cNvPr>
          <p:cNvSpPr txBox="1"/>
          <p:nvPr/>
        </p:nvSpPr>
        <p:spPr>
          <a:xfrm>
            <a:off x="7464289" y="774946"/>
            <a:ext cx="2268749" cy="244497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6AA3C1-F713-1938-93F9-5A35F1DDC1E8}"/>
              </a:ext>
            </a:extLst>
          </p:cNvPr>
          <p:cNvSpPr txBox="1"/>
          <p:nvPr/>
        </p:nvSpPr>
        <p:spPr>
          <a:xfrm>
            <a:off x="7621598" y="2096852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mainpage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F524A9-CAD1-0C5B-F84C-AC82386B7D08}"/>
              </a:ext>
            </a:extLst>
          </p:cNvPr>
          <p:cNvSpPr txBox="1"/>
          <p:nvPr/>
        </p:nvSpPr>
        <p:spPr>
          <a:xfrm>
            <a:off x="7621597" y="1727520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subpage0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39A52C-DB41-6801-716D-92503B1CB0D9}"/>
              </a:ext>
            </a:extLst>
          </p:cNvPr>
          <p:cNvSpPr txBox="1"/>
          <p:nvPr/>
        </p:nvSpPr>
        <p:spPr>
          <a:xfrm>
            <a:off x="7621596" y="1362836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subpage1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4CBB5F-F08C-079A-E489-084F78852F98}"/>
              </a:ext>
            </a:extLst>
          </p:cNvPr>
          <p:cNvSpPr txBox="1"/>
          <p:nvPr/>
        </p:nvSpPr>
        <p:spPr>
          <a:xfrm>
            <a:off x="7627692" y="2468973"/>
            <a:ext cx="167103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Window</a:t>
            </a:r>
            <a:r>
              <a:rPr lang="ko-KR" altLang="en-US"/>
              <a:t> </a:t>
            </a:r>
            <a:r>
              <a:rPr lang="en-US" altLang="ko-KR"/>
              <a:t>PageStack</a:t>
            </a:r>
            <a:endParaRPr lang="ko-KR" altLang="en-US" dirty="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1FB0A14-FA1B-84A5-03A1-CE9C95281141}"/>
              </a:ext>
            </a:extLst>
          </p:cNvPr>
          <p:cNvCxnSpPr>
            <a:cxnSpLocks/>
          </p:cNvCxnSpPr>
          <p:nvPr/>
        </p:nvCxnSpPr>
        <p:spPr>
          <a:xfrm flipV="1">
            <a:off x="9465368" y="1419876"/>
            <a:ext cx="0" cy="1016795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2F88F35-CD10-C1B4-2478-5C60231B198D}"/>
              </a:ext>
            </a:extLst>
          </p:cNvPr>
          <p:cNvSpPr txBox="1"/>
          <p:nvPr/>
        </p:nvSpPr>
        <p:spPr>
          <a:xfrm>
            <a:off x="9696919" y="1129727"/>
            <a:ext cx="2306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윈도우에는 해당 윈도우 전용 페이지 스택이</a:t>
            </a:r>
            <a:endParaRPr lang="en-US" altLang="ko-KR" sz="1400"/>
          </a:p>
          <a:p>
            <a:r>
              <a:rPr lang="ko-KR" altLang="en-US" sz="1400"/>
              <a:t>존재한다</a:t>
            </a:r>
            <a:r>
              <a:rPr lang="en-US" altLang="ko-KR" sz="1400"/>
              <a:t>. </a:t>
            </a:r>
          </a:p>
          <a:p>
            <a:r>
              <a:rPr lang="ko-KR" altLang="en-US" sz="1400"/>
              <a:t>해당 페이지들은 윈도우의 영역 안에서만 </a:t>
            </a:r>
            <a:endParaRPr lang="en-US" altLang="ko-KR" sz="1400"/>
          </a:p>
          <a:p>
            <a:r>
              <a:rPr lang="ko-KR" altLang="en-US" sz="1400"/>
              <a:t>상호작용이 가능하며</a:t>
            </a:r>
            <a:r>
              <a:rPr lang="en-US" altLang="ko-KR" sz="1400"/>
              <a:t>, </a:t>
            </a:r>
          </a:p>
          <a:p>
            <a:r>
              <a:rPr lang="ko-KR" altLang="en-US" sz="1400"/>
              <a:t>윈도우가 선택되어야만 상호작용이 가능하다</a:t>
            </a:r>
            <a:r>
              <a:rPr lang="en-US" altLang="ko-KR" sz="1400"/>
              <a:t>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246102B-E926-837E-A7DC-B129878DAC7A}"/>
              </a:ext>
            </a:extLst>
          </p:cNvPr>
          <p:cNvSpPr/>
          <p:nvPr/>
        </p:nvSpPr>
        <p:spPr>
          <a:xfrm>
            <a:off x="1161599" y="4529398"/>
            <a:ext cx="4121427" cy="2328601"/>
          </a:xfrm>
          <a:prstGeom prst="rect">
            <a:avLst/>
          </a:prstGeom>
          <a:solidFill>
            <a:schemeClr val="tx1">
              <a:lumMod val="75000"/>
              <a:lumOff val="2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AAF6E8-E126-CE40-F7D2-C745F8101180}"/>
              </a:ext>
            </a:extLst>
          </p:cNvPr>
          <p:cNvSpPr txBox="1"/>
          <p:nvPr/>
        </p:nvSpPr>
        <p:spPr>
          <a:xfrm>
            <a:off x="1170549" y="4166993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subpage0</a:t>
            </a:r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DF19E20-67AC-9129-43D9-9DDF62847C2B}"/>
              </a:ext>
            </a:extLst>
          </p:cNvPr>
          <p:cNvSpPr/>
          <p:nvPr/>
        </p:nvSpPr>
        <p:spPr>
          <a:xfrm>
            <a:off x="-15684" y="5085756"/>
            <a:ext cx="4121427" cy="1772243"/>
          </a:xfrm>
          <a:prstGeom prst="rect">
            <a:avLst/>
          </a:prstGeom>
          <a:solidFill>
            <a:schemeClr val="tx1">
              <a:lumMod val="75000"/>
              <a:lumOff val="2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2CC255-4CA1-5880-EC62-9B96EF2CC269}"/>
              </a:ext>
            </a:extLst>
          </p:cNvPr>
          <p:cNvSpPr txBox="1"/>
          <p:nvPr/>
        </p:nvSpPr>
        <p:spPr>
          <a:xfrm>
            <a:off x="-30628" y="4723351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subpage1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2A3C84-DE22-46AF-77BC-53E395B997B1}"/>
              </a:ext>
            </a:extLst>
          </p:cNvPr>
          <p:cNvSpPr txBox="1"/>
          <p:nvPr/>
        </p:nvSpPr>
        <p:spPr>
          <a:xfrm>
            <a:off x="3410649" y="-16213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41" name="슬라이드 확대/축소 40">
                <a:extLst>
                  <a:ext uri="{FF2B5EF4-FFF2-40B4-BE49-F238E27FC236}">
                    <a16:creationId xmlns:a16="http://schemas.microsoft.com/office/drawing/2014/main" id="{E4D31A5E-FB59-3868-F147-5629C48AC39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65303103"/>
                  </p:ext>
                </p:extLst>
              </p:nvPr>
            </p:nvGraphicFramePr>
            <p:xfrm>
              <a:off x="7151913" y="3262916"/>
              <a:ext cx="4851124" cy="2728758"/>
            </p:xfrm>
            <a:graphic>
              <a:graphicData uri="http://schemas.microsoft.com/office/powerpoint/2016/slidezoom">
                <pslz:sldZm>
                  <pslz:sldZmObj sldId="291" cId="1776988636">
                    <pslz:zmPr id="{A659AF16-7EC3-4AFE-A886-E6C624CE740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851124" cy="27287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41" name="슬라이드 확대/축소 4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E4D31A5E-FB59-3868-F147-5629C48AC3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51913" y="3262916"/>
                <a:ext cx="4851124" cy="27287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786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36BA4-811D-39F2-86EE-21C38847FD9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Structure</a:t>
            </a:r>
            <a:endParaRPr lang="ko-KR" altLang="en-US" sz="5400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F15FAF58-0634-C8AB-E7F8-57E8F87E7A7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42581265"/>
                  </p:ext>
                </p:extLst>
              </p:nvPr>
            </p:nvGraphicFramePr>
            <p:xfrm>
              <a:off x="6096001" y="0"/>
              <a:ext cx="6096000" cy="3429000"/>
            </p:xfrm>
            <a:graphic>
              <a:graphicData uri="http://schemas.microsoft.com/office/powerpoint/2016/slidezoom">
                <pslz:sldZm>
                  <pslz:sldZmObj sldId="292" cId="1125029623">
                    <pslz:zmPr id="{93C0DF16-85AB-4D2A-99EA-2F62B06E797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096000" cy="34290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F15FAF58-0634-C8AB-E7F8-57E8F87E7A7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96001" y="0"/>
                <a:ext cx="6096000" cy="34290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CBA8C4E7-233E-71CC-52E3-C51F7996FA4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85531493"/>
                  </p:ext>
                </p:extLst>
              </p:nvPr>
            </p:nvGraphicFramePr>
            <p:xfrm>
              <a:off x="6096000" y="3447255"/>
              <a:ext cx="6096000" cy="3429000"/>
            </p:xfrm>
            <a:graphic>
              <a:graphicData uri="http://schemas.microsoft.com/office/powerpoint/2016/slidezoom">
                <pslz:sldZm>
                  <pslz:sldZmObj sldId="293" cId="1363661584">
                    <pslz:zmPr id="{34B19A3E-D23A-4CB2-B7BE-6C99D0540849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096000" cy="34290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6" name="슬라이드 확대/축소 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CBA8C4E7-233E-71CC-52E3-C51F7996FA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447255"/>
                <a:ext cx="6096000" cy="34290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7E9286D1-9FEE-14A0-64CD-1C8E0EE0D1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30" y="833075"/>
            <a:ext cx="3419952" cy="51918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49712BA-8426-9877-9D1C-EA1295DDF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282" y="4611215"/>
            <a:ext cx="2457793" cy="1810003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BB68EC-A900-A4CE-09A5-3D917C69F50C}"/>
              </a:ext>
            </a:extLst>
          </p:cNvPr>
          <p:cNvCxnSpPr>
            <a:cxnSpLocks/>
          </p:cNvCxnSpPr>
          <p:nvPr/>
        </p:nvCxnSpPr>
        <p:spPr>
          <a:xfrm flipH="1">
            <a:off x="2564296" y="4681330"/>
            <a:ext cx="1073911" cy="0"/>
          </a:xfrm>
          <a:prstGeom prst="straightConnector1">
            <a:avLst/>
          </a:prstGeom>
          <a:ln w="476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A6C37AF-2D69-ED92-477E-694A609CD9D3}"/>
              </a:ext>
            </a:extLst>
          </p:cNvPr>
          <p:cNvSpPr txBox="1"/>
          <p:nvPr/>
        </p:nvSpPr>
        <p:spPr>
          <a:xfrm>
            <a:off x="3529282" y="2871328"/>
            <a:ext cx="2449710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ParamData</a:t>
            </a:r>
            <a:r>
              <a:rPr lang="ko-KR" altLang="en-US" sz="1400"/>
              <a:t>에 </a:t>
            </a:r>
            <a:endParaRPr lang="en-US" altLang="ko-KR" sz="1400"/>
          </a:p>
          <a:p>
            <a:r>
              <a:rPr lang="ko-KR" altLang="en-US" sz="1400"/>
              <a:t>다양한 </a:t>
            </a:r>
            <a:r>
              <a:rPr lang="en-US" altLang="ko-KR" sz="1400"/>
              <a:t>UI</a:t>
            </a:r>
            <a:r>
              <a:rPr lang="ko-KR" altLang="en-US" sz="1400"/>
              <a:t>의 </a:t>
            </a:r>
            <a:r>
              <a:rPr lang="en-US" altLang="ko-KR" sz="1400"/>
              <a:t>Param</a:t>
            </a:r>
            <a:r>
              <a:rPr lang="ko-KR" altLang="en-US" sz="1400"/>
              <a:t>을 넣어</a:t>
            </a:r>
            <a:endParaRPr lang="en-US" altLang="ko-KR" sz="1400"/>
          </a:p>
          <a:p>
            <a:r>
              <a:rPr lang="ko-KR" altLang="en-US" sz="1400"/>
              <a:t>여러 모습으로 만들 수 있다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Render, Update, Event</a:t>
            </a:r>
            <a:r>
              <a:rPr lang="ko-KR" altLang="en-US" sz="1400"/>
              <a:t>를 </a:t>
            </a:r>
            <a:endParaRPr lang="en-US" altLang="ko-KR" sz="1400"/>
          </a:p>
          <a:p>
            <a:r>
              <a:rPr lang="ko-KR" altLang="en-US" sz="1400"/>
              <a:t>수행하는 함수포인터를 </a:t>
            </a:r>
            <a:endParaRPr lang="en-US" altLang="ko-KR" sz="1400"/>
          </a:p>
          <a:p>
            <a:r>
              <a:rPr lang="ko-KR" altLang="en-US" sz="1400"/>
              <a:t>커스텀으로 만들어서 넣을 </a:t>
            </a:r>
            <a:endParaRPr lang="en-US" altLang="ko-KR" sz="1400"/>
          </a:p>
          <a:p>
            <a:r>
              <a:rPr lang="ko-KR" altLang="en-US" sz="1400"/>
              <a:t>수 있다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6988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0599-0182-417D-62CA-B4873EA96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2EB0A81F-3370-D5A4-57D9-EA3CCDB0DCE1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Render</a:t>
            </a:r>
            <a:endParaRPr lang="ko-KR" altLang="en-US" sz="5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0E91D-3B92-2868-CCC3-0EA5EC4BF8DA}"/>
              </a:ext>
            </a:extLst>
          </p:cNvPr>
          <p:cNvSpPr txBox="1"/>
          <p:nvPr/>
        </p:nvSpPr>
        <p:spPr>
          <a:xfrm>
            <a:off x="110221" y="868680"/>
            <a:ext cx="50786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UI Rendering</a:t>
            </a:r>
            <a:r>
              <a:rPr lang="ko-KR" altLang="en-US" sz="1400"/>
              <a:t> 다음과 같은 </a:t>
            </a:r>
            <a:r>
              <a:rPr lang="en-US" altLang="ko-KR" sz="1400"/>
              <a:t>4</a:t>
            </a:r>
            <a:r>
              <a:rPr lang="ko-KR" altLang="en-US" sz="1400"/>
              <a:t>가지 셰이더로 나누어진다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4</a:t>
            </a:r>
            <a:r>
              <a:rPr lang="ko-KR" altLang="en-US" sz="1400"/>
              <a:t>개의 셰이더 모두 인스턴싱을 통해 렌더링을 수행한다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때문에 매 프레임마다 인스턴스들의 데이터를 </a:t>
            </a:r>
            <a:r>
              <a:rPr lang="en-US" altLang="ko-KR" sz="1400"/>
              <a:t>Push</a:t>
            </a:r>
            <a:r>
              <a:rPr lang="ko-KR" altLang="en-US" sz="1400"/>
              <a:t>할 것이다</a:t>
            </a:r>
            <a:r>
              <a:rPr lang="en-US" altLang="ko-KR" sz="1400"/>
              <a:t>.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8F01E5-0345-7302-8798-A9F1E519EB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152255"/>
              </p:ext>
            </p:extLst>
          </p:nvPr>
        </p:nvGraphicFramePr>
        <p:xfrm>
          <a:off x="183322" y="1719104"/>
          <a:ext cx="7121939" cy="4711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222">
                  <a:extLst>
                    <a:ext uri="{9D8B030D-6E8A-4147-A177-3AD203B41FA5}">
                      <a16:colId xmlns:a16="http://schemas.microsoft.com/office/drawing/2014/main" val="874733780"/>
                    </a:ext>
                  </a:extLst>
                </a:gridCol>
                <a:gridCol w="2735578">
                  <a:extLst>
                    <a:ext uri="{9D8B030D-6E8A-4147-A177-3AD203B41FA5}">
                      <a16:colId xmlns:a16="http://schemas.microsoft.com/office/drawing/2014/main" val="395432226"/>
                    </a:ext>
                  </a:extLst>
                </a:gridCol>
                <a:gridCol w="2753139">
                  <a:extLst>
                    <a:ext uri="{9D8B030D-6E8A-4147-A177-3AD203B41FA5}">
                      <a16:colId xmlns:a16="http://schemas.microsoft.com/office/drawing/2014/main" val="722743406"/>
                    </a:ext>
                  </a:extLst>
                </a:gridCol>
              </a:tblGrid>
              <a:tr h="854069"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>
                          <a:solidFill>
                            <a:schemeClr val="tx1"/>
                          </a:solidFill>
                        </a:rPr>
                        <a:t>TEXTURE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633731"/>
                  </a:ext>
                </a:extLst>
              </a:tr>
              <a:tr h="192872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Normal Render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SDF Text-NormalRendering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Diffuse Screen Render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918053"/>
                  </a:ext>
                </a:extLst>
              </a:tr>
              <a:tr h="192872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Effect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SDF Effect Text Rendering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Pixel Effect Texture Render ( </a:t>
                      </a:r>
                      <a:r>
                        <a:rPr lang="ko-KR" altLang="en-US">
                          <a:solidFill>
                            <a:schemeClr val="tx1"/>
                          </a:solidFill>
                        </a:rPr>
                        <a:t>이거 굳이 필요하냐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>
                          <a:solidFill>
                            <a:schemeClr val="tx1"/>
                          </a:solidFill>
                        </a:rPr>
                        <a:t>흠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..)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55204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9D6BE3B-20C9-BE88-37E5-A5F0400C022E}"/>
              </a:ext>
            </a:extLst>
          </p:cNvPr>
          <p:cNvSpPr txBox="1"/>
          <p:nvPr/>
        </p:nvSpPr>
        <p:spPr>
          <a:xfrm>
            <a:off x="7553966" y="1349772"/>
            <a:ext cx="12289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B66D40-AD38-B903-59D6-CC4CF3E961E3}"/>
              </a:ext>
            </a:extLst>
          </p:cNvPr>
          <p:cNvSpPr txBox="1"/>
          <p:nvPr/>
        </p:nvSpPr>
        <p:spPr>
          <a:xfrm>
            <a:off x="8948757" y="3240157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CF968-E4FA-C1A0-E1C5-7B7CBBCD48EA}"/>
              </a:ext>
            </a:extLst>
          </p:cNvPr>
          <p:cNvSpPr txBox="1"/>
          <p:nvPr/>
        </p:nvSpPr>
        <p:spPr>
          <a:xfrm>
            <a:off x="10273975" y="2343685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InstanceC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1DB89AF-BAFA-7ABB-F5B8-94DBCA47C132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8168423" y="1719104"/>
            <a:ext cx="0" cy="415492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731DC11-2488-B375-EE09-77422E28B522}"/>
              </a:ext>
            </a:extLst>
          </p:cNvPr>
          <p:cNvCxnSpPr>
            <a:cxnSpLocks/>
          </p:cNvCxnSpPr>
          <p:nvPr/>
        </p:nvCxnSpPr>
        <p:spPr>
          <a:xfrm>
            <a:off x="9611367" y="3617842"/>
            <a:ext cx="0" cy="2256183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BC2F622-20F1-0CB0-3FE7-F6AB8E5B9613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0888432" y="2713017"/>
            <a:ext cx="0" cy="316100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7AE3A93-EFBE-24C6-454B-7C5680072F49}"/>
              </a:ext>
            </a:extLst>
          </p:cNvPr>
          <p:cNvSpPr txBox="1"/>
          <p:nvPr/>
        </p:nvSpPr>
        <p:spPr>
          <a:xfrm>
            <a:off x="7198460" y="980440"/>
            <a:ext cx="464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UI Render Loop </a:t>
            </a:r>
            <a:r>
              <a:rPr lang="ko-KR" altLang="en-US" sz="1400"/>
              <a:t>를 돌면서 렌더할 인스턴스들을 모은다</a:t>
            </a:r>
            <a:r>
              <a:rPr lang="en-US" altLang="ko-KR" sz="140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6383F0-3E65-14A7-B68C-385D92F29416}"/>
              </a:ext>
            </a:extLst>
          </p:cNvPr>
          <p:cNvSpPr txBox="1"/>
          <p:nvPr/>
        </p:nvSpPr>
        <p:spPr>
          <a:xfrm>
            <a:off x="7553965" y="5874025"/>
            <a:ext cx="3938980" cy="9233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/>
              <a:t>루프가 다 끝나면 </a:t>
            </a:r>
            <a:endParaRPr lang="en-US" altLang="ko-KR"/>
          </a:p>
          <a:p>
            <a:r>
              <a:rPr lang="ko-KR" altLang="en-US"/>
              <a:t>인스턴싱 셰이더에서 모두 렌더링을 수행한다</a:t>
            </a:r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DB793D-7306-8593-713D-BC87645DC44D}"/>
              </a:ext>
            </a:extLst>
          </p:cNvPr>
          <p:cNvSpPr txBox="1"/>
          <p:nvPr/>
        </p:nvSpPr>
        <p:spPr>
          <a:xfrm>
            <a:off x="8251362" y="4449225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InstanceD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F3D2F-D314-1C87-984A-768A2DA2571B}"/>
              </a:ext>
            </a:extLst>
          </p:cNvPr>
          <p:cNvSpPr txBox="1"/>
          <p:nvPr/>
        </p:nvSpPr>
        <p:spPr>
          <a:xfrm>
            <a:off x="9611367" y="3844691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InstanceE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4586E16-4DAC-A9AD-D2D4-008ED9813202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8865819" y="4818557"/>
            <a:ext cx="13367" cy="106382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49BA83E-2894-8EEE-82A6-87436D22BC51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212456" y="4214023"/>
            <a:ext cx="13368" cy="166000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C919C5E-1DEE-7F07-C86F-8F90D50BB550}"/>
              </a:ext>
            </a:extLst>
          </p:cNvPr>
          <p:cNvSpPr txBox="1"/>
          <p:nvPr/>
        </p:nvSpPr>
        <p:spPr>
          <a:xfrm>
            <a:off x="8124561" y="1797253"/>
            <a:ext cx="239103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page</a:t>
            </a:r>
            <a:r>
              <a:rPr lang="ko-KR" altLang="en-US" sz="1400"/>
              <a:t>에 따라 서로 </a:t>
            </a:r>
            <a:r>
              <a:rPr lang="en-US" altLang="ko-KR" sz="1400"/>
              <a:t>depth</a:t>
            </a:r>
            <a:r>
              <a:rPr lang="ko-KR" altLang="en-US" sz="1400"/>
              <a:t>를 </a:t>
            </a:r>
            <a:endParaRPr lang="en-US" altLang="ko-KR" sz="1400"/>
          </a:p>
          <a:p>
            <a:r>
              <a:rPr lang="ko-KR" altLang="en-US" sz="1400"/>
              <a:t>다르게 하여 앞뒤를 준다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&gt;&gt; </a:t>
            </a:r>
            <a:r>
              <a:rPr lang="ko-KR" altLang="en-US" sz="1400"/>
              <a:t>이미 </a:t>
            </a:r>
            <a:r>
              <a:rPr lang="en-US" altLang="ko-KR" sz="1400"/>
              <a:t>3D</a:t>
            </a:r>
            <a:r>
              <a:rPr lang="ko-KR" altLang="en-US" sz="1400"/>
              <a:t>는 렌더가</a:t>
            </a:r>
            <a:endParaRPr lang="en-US" altLang="ko-KR" sz="1400"/>
          </a:p>
          <a:p>
            <a:r>
              <a:rPr lang="ko-KR" altLang="en-US" sz="1400"/>
              <a:t>끝난 상태고 </a:t>
            </a:r>
            <a:r>
              <a:rPr lang="en-US" altLang="ko-KR" sz="1400"/>
              <a:t>depth</a:t>
            </a:r>
            <a:r>
              <a:rPr lang="ko-KR" altLang="en-US" sz="1400"/>
              <a:t>는 </a:t>
            </a:r>
            <a:r>
              <a:rPr lang="en-US" altLang="ko-KR" sz="1400"/>
              <a:t>1.0</a:t>
            </a:r>
          </a:p>
          <a:p>
            <a:r>
              <a:rPr lang="ko-KR" altLang="en-US" sz="1400"/>
              <a:t>으로 클리어가 된 상태이다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크게 잡아도 무리는 없다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50296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0C818-C18F-C4E6-7237-844B919E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73B55D80-AA5F-12F7-1FC4-0E397775551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Update/Event</a:t>
            </a:r>
            <a:endParaRPr lang="ko-KR" altLang="en-US" sz="5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6623B-217F-067C-22EC-4FAD59944568}"/>
              </a:ext>
            </a:extLst>
          </p:cNvPr>
          <p:cNvSpPr txBox="1"/>
          <p:nvPr/>
        </p:nvSpPr>
        <p:spPr>
          <a:xfrm>
            <a:off x="6222122" y="946161"/>
            <a:ext cx="159003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Global</a:t>
            </a:r>
            <a:r>
              <a:rPr lang="ko-KR" altLang="en-US"/>
              <a:t> </a:t>
            </a:r>
            <a:r>
              <a:rPr lang="en-US" altLang="ko-KR"/>
              <a:t>Event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C5613-D6AC-FA07-29B8-6905F9AF4987}"/>
              </a:ext>
            </a:extLst>
          </p:cNvPr>
          <p:cNvSpPr txBox="1"/>
          <p:nvPr/>
        </p:nvSpPr>
        <p:spPr>
          <a:xfrm>
            <a:off x="119269" y="966405"/>
            <a:ext cx="4631635" cy="9233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AnimOperUtil</a:t>
            </a:r>
          </a:p>
          <a:p>
            <a:r>
              <a:rPr lang="en-US" altLang="ko-KR"/>
              <a:t>: </a:t>
            </a:r>
            <a:r>
              <a:rPr lang="ko-KR" altLang="en-US"/>
              <a:t>애니메이션의 </a:t>
            </a:r>
            <a:r>
              <a:rPr lang="en-US" altLang="ko-KR"/>
              <a:t>Ease </a:t>
            </a:r>
            <a:r>
              <a:rPr lang="ko-KR" altLang="en-US"/>
              <a:t>무브를 구현</a:t>
            </a:r>
            <a:r>
              <a:rPr lang="en-US" altLang="ko-KR"/>
              <a:t>.</a:t>
            </a:r>
          </a:p>
          <a:p>
            <a:r>
              <a:rPr lang="en-US" altLang="ko-KR"/>
              <a:t>Update</a:t>
            </a:r>
            <a:r>
              <a:rPr lang="ko-KR" altLang="en-US"/>
              <a:t>시에 반응성을 극대화하는걸 돕는다</a:t>
            </a:r>
            <a:r>
              <a:rPr lang="en-US" altLang="ko-KR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6FB5361-5EBD-87FB-BEDA-2CB158762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69" y="1987460"/>
            <a:ext cx="5185779" cy="4751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56E45D-8CA0-3912-FD1F-639283341008}"/>
              </a:ext>
            </a:extLst>
          </p:cNvPr>
          <p:cNvSpPr txBox="1"/>
          <p:nvPr/>
        </p:nvSpPr>
        <p:spPr>
          <a:xfrm>
            <a:off x="6222122" y="1428070"/>
            <a:ext cx="574772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어짜피 </a:t>
            </a:r>
            <a:r>
              <a:rPr lang="en-US" altLang="ko-KR" sz="1400"/>
              <a:t>winproc</a:t>
            </a:r>
            <a:r>
              <a:rPr lang="ko-KR" altLang="en-US" sz="1400"/>
              <a:t>에서 이벤트가 발생되면 전달되는 이벤트는 모든 </a:t>
            </a:r>
            <a:r>
              <a:rPr lang="en-US" altLang="ko-KR" sz="1400"/>
              <a:t>UI</a:t>
            </a:r>
            <a:r>
              <a:rPr lang="ko-KR" altLang="en-US" sz="1400"/>
              <a:t>에</a:t>
            </a:r>
            <a:endParaRPr lang="en-US" altLang="ko-KR" sz="1400"/>
          </a:p>
          <a:p>
            <a:r>
              <a:rPr lang="ko-KR" altLang="en-US" sz="1400"/>
              <a:t>대하여 모두 같을 것이니 </a:t>
            </a:r>
            <a:r>
              <a:rPr lang="en-US" altLang="ko-KR" sz="1400"/>
              <a:t>Global</a:t>
            </a:r>
            <a:r>
              <a:rPr lang="ko-KR" altLang="en-US" sz="1400"/>
              <a:t>로 빼둔다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기존 </a:t>
            </a:r>
            <a:r>
              <a:rPr lang="en-US" altLang="ko-KR" sz="1400"/>
              <a:t>hWnd, Message, wParam, lParam</a:t>
            </a:r>
            <a:r>
              <a:rPr lang="ko-KR" altLang="en-US" sz="1400"/>
              <a:t>도 있지만</a:t>
            </a:r>
            <a:r>
              <a:rPr lang="en-US" altLang="ko-KR" sz="1400"/>
              <a:t>,</a:t>
            </a:r>
          </a:p>
          <a:p>
            <a:r>
              <a:rPr lang="ko-KR" altLang="en-US" sz="1400"/>
              <a:t>현재 마우스의 위치와 상태</a:t>
            </a:r>
            <a:r>
              <a:rPr lang="en-US" altLang="ko-KR" sz="1400"/>
              <a:t>,</a:t>
            </a:r>
          </a:p>
          <a:p>
            <a:r>
              <a:rPr lang="ko-KR" altLang="en-US" sz="1400"/>
              <a:t>현재 키보드의 눌려진 상태등을 같이 보낸다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en-US" altLang="ko-KR" sz="1400"/>
              <a:t>Edit Box </a:t>
            </a:r>
            <a:r>
              <a:rPr lang="ko-KR" altLang="en-US" sz="1400"/>
              <a:t>같이 텍스트 입력이 필요할때는 </a:t>
            </a:r>
            <a:r>
              <a:rPr lang="en-US" altLang="ko-KR" sz="1400"/>
              <a:t>WM_CHAR</a:t>
            </a:r>
            <a:r>
              <a:rPr lang="ko-KR" altLang="en-US" sz="1400"/>
              <a:t>과 </a:t>
            </a:r>
            <a:endParaRPr lang="en-US" altLang="ko-KR" sz="1400"/>
          </a:p>
          <a:p>
            <a:r>
              <a:rPr lang="ko-KR" altLang="en-US" sz="1400"/>
              <a:t>한글 입력시 </a:t>
            </a:r>
            <a:r>
              <a:rPr lang="en-US" altLang="ko-KR" sz="1400"/>
              <a:t>IME</a:t>
            </a:r>
            <a:r>
              <a:rPr lang="ko-KR" altLang="en-US" sz="1400"/>
              <a:t>의 이벤트를 사용하자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3661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371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실행의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85626009"/>
                  </p:ext>
                </p:extLst>
              </p:nvPr>
            </p:nvGraphicFramePr>
            <p:xfrm>
              <a:off x="123824" y="1317531"/>
              <a:ext cx="4402667" cy="2476500"/>
            </p:xfrm>
            <a:graphic>
              <a:graphicData uri="http://schemas.microsoft.com/office/powerpoint/2016/slidezoom">
                <pslz:sldZm>
                  <pslz:sldZmObj sldId="287" cId="1981946874">
                    <pslz:zmPr id="{9AB2BB01-AAEA-4BCF-A481-2D917BD7A4B3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402667" cy="2476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824" y="1317531"/>
                <a:ext cx="4402667" cy="2476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88F47-C363-F150-04AB-A90895D6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E8A86-30E7-D60A-818F-3797DD69BCD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14D78D-8D37-8A07-FCB6-E6714F2004C6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레스터 </a:t>
            </a:r>
            <a:r>
              <a:rPr lang="ko-KR" altLang="en-US"/>
              <a:t>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5C655C-EF8A-900B-E9C3-276D9679831D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58BD38-31ED-9A26-447E-C340B72A4CA8}"/>
              </a:ext>
            </a:extLst>
          </p:cNvPr>
          <p:cNvSpPr txBox="1"/>
          <p:nvPr/>
        </p:nvSpPr>
        <p:spPr>
          <a:xfrm>
            <a:off x="3274475" y="1442508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63E17-72F8-96B3-631D-F7E71EFB2BD5}"/>
              </a:ext>
            </a:extLst>
          </p:cNvPr>
          <p:cNvSpPr txBox="1"/>
          <p:nvPr/>
        </p:nvSpPr>
        <p:spPr>
          <a:xfrm>
            <a:off x="6098267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1B0FD-A24B-D3A6-4E3C-F1DFA7BB9CA8}"/>
              </a:ext>
            </a:extLst>
          </p:cNvPr>
          <p:cNvSpPr txBox="1"/>
          <p:nvPr/>
        </p:nvSpPr>
        <p:spPr>
          <a:xfrm>
            <a:off x="9046260" y="1442508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B76ECD-3C20-52F4-FF4E-AB0ACA97636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640432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71A4A26-4BAE-4346-752F-376667868C6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464224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5C1783E-FDF1-9206-BEF0-CDD19E9C163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518849" y="1627174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433F918-5EDD-28A3-E6FB-9339ADE6528B}"/>
              </a:ext>
            </a:extLst>
          </p:cNvPr>
          <p:cNvSpPr txBox="1"/>
          <p:nvPr/>
        </p:nvSpPr>
        <p:spPr>
          <a:xfrm>
            <a:off x="10878373" y="1442508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70EE693-388A-83A0-7676-736685BC6CB7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9998765" y="1627174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FB9B2A4-30C1-768D-8FC6-2F5E8BF6B02C}"/>
              </a:ext>
            </a:extLst>
          </p:cNvPr>
          <p:cNvSpPr txBox="1"/>
          <p:nvPr/>
        </p:nvSpPr>
        <p:spPr>
          <a:xfrm>
            <a:off x="219850" y="1865701"/>
            <a:ext cx="2438488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 err="1"/>
              <a:t>레스터에서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셰도우</a:t>
            </a:r>
            <a:r>
              <a:rPr lang="ko-KR" altLang="en-US" sz="1100" dirty="0"/>
              <a:t> 맵 렌더링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DirLight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PointLight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SpotLight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이건 빛 방향의 </a:t>
            </a:r>
            <a:r>
              <a:rPr lang="ko-KR" altLang="en-US" sz="1100" dirty="0" err="1"/>
              <a:t>직교투영컬링수행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또한 </a:t>
            </a:r>
            <a:r>
              <a:rPr lang="en-US" altLang="ko-KR" sz="1100" dirty="0"/>
              <a:t>LOD,</a:t>
            </a:r>
            <a:r>
              <a:rPr lang="ko-KR" altLang="en-US" sz="1100" dirty="0"/>
              <a:t> </a:t>
            </a:r>
            <a:r>
              <a:rPr lang="en-US" altLang="ko-KR" sz="1100" dirty="0"/>
              <a:t>Instancing</a:t>
            </a:r>
            <a:r>
              <a:rPr lang="ko-KR" altLang="en-US" sz="1100" dirty="0"/>
              <a:t>을 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적극 사용해 수행해야 함</a:t>
            </a:r>
            <a:r>
              <a:rPr lang="en-US" altLang="ko-KR" sz="1100" dirty="0"/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E8DBE-C1E7-0251-BCF5-81A23D8BAA1B}"/>
              </a:ext>
            </a:extLst>
          </p:cNvPr>
          <p:cNvSpPr txBox="1"/>
          <p:nvPr/>
        </p:nvSpPr>
        <p:spPr>
          <a:xfrm>
            <a:off x="3231283" y="1846657"/>
            <a:ext cx="2640466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스카이 박스 렌더링</a:t>
            </a:r>
            <a:endParaRPr lang="en-US" altLang="ko-KR" sz="1100" dirty="0"/>
          </a:p>
          <a:p>
            <a:r>
              <a:rPr lang="ko-KR" altLang="en-US" sz="1100" dirty="0"/>
              <a:t>뷰 </a:t>
            </a:r>
            <a:r>
              <a:rPr lang="ko-KR" altLang="en-US" sz="1100" dirty="0" err="1"/>
              <a:t>프러스텀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컬링으로</a:t>
            </a:r>
            <a:r>
              <a:rPr lang="ko-KR" altLang="en-US" sz="1100" dirty="0"/>
              <a:t> 오브젝트 렌더링</a:t>
            </a:r>
            <a:endParaRPr lang="en-US" altLang="ko-KR" sz="1100" dirty="0"/>
          </a:p>
          <a:p>
            <a:r>
              <a:rPr lang="ko-KR" altLang="en-US" sz="1100" dirty="0"/>
              <a:t>빌보드 출력 </a:t>
            </a:r>
            <a:r>
              <a:rPr lang="en-US" altLang="ko-KR" sz="1100" dirty="0"/>
              <a:t>(ex&gt; </a:t>
            </a:r>
            <a:r>
              <a:rPr lang="ko-KR" altLang="en-US" sz="1100" dirty="0"/>
              <a:t>적 </a:t>
            </a:r>
            <a:r>
              <a:rPr lang="en-US" altLang="ko-KR" sz="1100" dirty="0"/>
              <a:t>HP)</a:t>
            </a:r>
          </a:p>
          <a:p>
            <a:r>
              <a:rPr lang="ko-KR" altLang="en-US" sz="1100" dirty="0"/>
              <a:t>총알 궤적 출력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입자 출력</a:t>
            </a:r>
            <a:endParaRPr lang="en-US" altLang="ko-KR" sz="11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E7E5-C5B6-139F-70F7-A51B07A84272}"/>
              </a:ext>
            </a:extLst>
          </p:cNvPr>
          <p:cNvSpPr txBox="1"/>
          <p:nvPr/>
        </p:nvSpPr>
        <p:spPr>
          <a:xfrm>
            <a:off x="6096000" y="1865701"/>
            <a:ext cx="3121367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움직임 연산 </a:t>
            </a:r>
            <a:r>
              <a:rPr lang="en-US" altLang="ko-KR" sz="1100" dirty="0"/>
              <a:t>(</a:t>
            </a:r>
            <a:r>
              <a:rPr lang="ko-KR" altLang="en-US" sz="1100" dirty="0"/>
              <a:t>이걸 하면 좋겠음</a:t>
            </a:r>
            <a:r>
              <a:rPr lang="en-US" altLang="ko-KR" sz="1100" dirty="0"/>
              <a:t>.)</a:t>
            </a:r>
          </a:p>
          <a:p>
            <a:r>
              <a:rPr lang="en-US" altLang="ko-KR" sz="1100" dirty="0"/>
              <a:t>+ </a:t>
            </a:r>
            <a:r>
              <a:rPr lang="ko-KR" altLang="en-US" sz="1100" dirty="0"/>
              <a:t>후에 포스트 프로세싱을 하면 여기에 </a:t>
            </a:r>
            <a:r>
              <a:rPr lang="ko-KR" altLang="en-US" sz="1100" dirty="0" err="1"/>
              <a:t>들어감</a:t>
            </a:r>
            <a:r>
              <a:rPr lang="en-US" altLang="ko-KR" sz="1100" dirty="0"/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045E0-9861-FE66-9674-80FE6C1FF18C}"/>
              </a:ext>
            </a:extLst>
          </p:cNvPr>
          <p:cNvSpPr txBox="1"/>
          <p:nvPr/>
        </p:nvSpPr>
        <p:spPr>
          <a:xfrm>
            <a:off x="8951843" y="1846657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FB49A6-83B0-5D1C-CFCB-568DC3D7AD3F}"/>
              </a:ext>
            </a:extLst>
          </p:cNvPr>
          <p:cNvSpPr txBox="1"/>
          <p:nvPr/>
        </p:nvSpPr>
        <p:spPr>
          <a:xfrm>
            <a:off x="0" y="3530361"/>
            <a:ext cx="2969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레이트레이싱</a:t>
            </a:r>
            <a:r>
              <a:rPr lang="ko-KR" altLang="en-US" dirty="0"/>
              <a:t> 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FBCA5B-3CB5-22CC-96C6-BF46432DF167}"/>
              </a:ext>
            </a:extLst>
          </p:cNvPr>
          <p:cNvSpPr txBox="1"/>
          <p:nvPr/>
        </p:nvSpPr>
        <p:spPr>
          <a:xfrm>
            <a:off x="219850" y="4018956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DA9D43-DD70-5D68-42A2-E8A2E521D027}"/>
              </a:ext>
            </a:extLst>
          </p:cNvPr>
          <p:cNvSpPr txBox="1"/>
          <p:nvPr/>
        </p:nvSpPr>
        <p:spPr>
          <a:xfrm>
            <a:off x="6098267" y="401895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39DAEA-EA24-A21B-409C-70F6878574A0}"/>
              </a:ext>
            </a:extLst>
          </p:cNvPr>
          <p:cNvSpPr txBox="1"/>
          <p:nvPr/>
        </p:nvSpPr>
        <p:spPr>
          <a:xfrm>
            <a:off x="9046260" y="4018956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FA9F540-5E07-F3FD-267E-4F311C08876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7518849" y="4203622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A355410-C3EB-9E06-C15A-07D0A26B3EB1}"/>
              </a:ext>
            </a:extLst>
          </p:cNvPr>
          <p:cNvSpPr txBox="1"/>
          <p:nvPr/>
        </p:nvSpPr>
        <p:spPr>
          <a:xfrm>
            <a:off x="10878373" y="4018956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A50EBDE-EE00-1C2D-DF7A-5DB01213739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9998765" y="4203622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DC63604-0C18-795A-FA19-32D76B1AA08D}"/>
              </a:ext>
            </a:extLst>
          </p:cNvPr>
          <p:cNvSpPr txBox="1"/>
          <p:nvPr/>
        </p:nvSpPr>
        <p:spPr>
          <a:xfrm>
            <a:off x="6096000" y="4442149"/>
            <a:ext cx="271420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CFF6EA-2F1E-B668-E3B2-82BEC5C4B514}"/>
              </a:ext>
            </a:extLst>
          </p:cNvPr>
          <p:cNvSpPr txBox="1"/>
          <p:nvPr/>
        </p:nvSpPr>
        <p:spPr>
          <a:xfrm>
            <a:off x="8951843" y="4423105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8337250-34BB-1B5A-AC7D-766D63BEB2D2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1409599" y="4203622"/>
            <a:ext cx="468866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B8032F4-4E67-DE59-85A9-42AF7D16C4ED}"/>
              </a:ext>
            </a:extLst>
          </p:cNvPr>
          <p:cNvSpPr txBox="1"/>
          <p:nvPr/>
        </p:nvSpPr>
        <p:spPr>
          <a:xfrm>
            <a:off x="219850" y="4442149"/>
            <a:ext cx="10775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Dispatch Rays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91AED2-70A2-D509-91C8-9618C6C19E8A}"/>
              </a:ext>
            </a:extLst>
          </p:cNvPr>
          <p:cNvSpPr txBox="1"/>
          <p:nvPr/>
        </p:nvSpPr>
        <p:spPr>
          <a:xfrm>
            <a:off x="219850" y="5361823"/>
            <a:ext cx="84401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나중에 비동기 렌더링을 하게 된다면 한 프레임당 하나의 패스를 실행해야 한다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렌더가</a:t>
            </a:r>
            <a:r>
              <a:rPr lang="ko-KR" altLang="en-US" dirty="0"/>
              <a:t> 되는 건 </a:t>
            </a:r>
            <a:r>
              <a:rPr lang="en-US" altLang="ko-KR" dirty="0"/>
              <a:t>UI </a:t>
            </a:r>
            <a:r>
              <a:rPr lang="ko-KR" altLang="en-US" dirty="0"/>
              <a:t>패스를 끝내게 되면 바로 </a:t>
            </a:r>
            <a:r>
              <a:rPr lang="en-US" altLang="ko-KR" dirty="0"/>
              <a:t>Present</a:t>
            </a:r>
            <a:r>
              <a:rPr lang="ko-KR" altLang="en-US" dirty="0"/>
              <a:t>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렌더링을 하기 위해 </a:t>
            </a:r>
            <a:r>
              <a:rPr lang="en-US" altLang="ko-KR" dirty="0"/>
              <a:t>3~4 </a:t>
            </a:r>
            <a:r>
              <a:rPr lang="ko-KR" altLang="en-US" dirty="0"/>
              <a:t>프레임이 소요 되며</a:t>
            </a:r>
            <a:r>
              <a:rPr lang="en-US" altLang="ko-KR" dirty="0"/>
              <a:t>,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2" name="슬라이드 확대/축소 51"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08231777"/>
                  </p:ext>
                </p:extLst>
              </p:nvPr>
            </p:nvGraphicFramePr>
            <p:xfrm>
              <a:off x="8951843" y="4914853"/>
              <a:ext cx="3048000" cy="1714500"/>
            </p:xfrm>
            <a:graphic>
              <a:graphicData uri="http://schemas.microsoft.com/office/powerpoint/2016/slidezoom">
                <pslz:sldZm>
                  <pslz:sldZmObj sldId="288" cId="1454281042">
                    <pslz:zmPr id="{A8BB8807-490E-45C0-81DB-7FD4BC50EE9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2" name="슬라이드 확대/축소 51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1843" y="4914853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1946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AFE1-AA15-B5BF-1D27-F53DD591E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직사각형 92">
            <a:extLst>
              <a:ext uri="{FF2B5EF4-FFF2-40B4-BE49-F238E27FC236}">
                <a16:creationId xmlns:a16="http://schemas.microsoft.com/office/drawing/2014/main" id="{0186797B-395B-7FCD-49AD-B9A6BA7E4A34}"/>
              </a:ext>
            </a:extLst>
          </p:cNvPr>
          <p:cNvSpPr/>
          <p:nvPr/>
        </p:nvSpPr>
        <p:spPr>
          <a:xfrm>
            <a:off x="5534025" y="1238249"/>
            <a:ext cx="2260485" cy="2369269"/>
          </a:xfrm>
          <a:prstGeom prst="rect">
            <a:avLst/>
          </a:prstGeom>
          <a:solidFill>
            <a:schemeClr val="accent1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662D7DB-CEBC-F976-2827-A4A3306D04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60145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r>
              <a:rPr lang="en-US" altLang="ko-KR" sz="5400" dirty="0"/>
              <a:t>- </a:t>
            </a:r>
            <a:r>
              <a:rPr lang="ko-KR" altLang="en-US" sz="5400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83826-4BAF-CDFB-C313-74345C07A0BC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 작동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929899-BECB-A7EA-BDE5-83DEB0F26F36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C4C9C-1EC8-3460-C2A7-14E4FB43B749}"/>
              </a:ext>
            </a:extLst>
          </p:cNvPr>
          <p:cNvSpPr txBox="1"/>
          <p:nvPr/>
        </p:nvSpPr>
        <p:spPr>
          <a:xfrm>
            <a:off x="2084726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58ECF-C82C-3C4B-E37E-24C42034F049}"/>
              </a:ext>
            </a:extLst>
          </p:cNvPr>
          <p:cNvSpPr txBox="1"/>
          <p:nvPr/>
        </p:nvSpPr>
        <p:spPr>
          <a:xfrm>
            <a:off x="3949602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2F13E-3F1A-2AB5-6945-8B68EF983BD4}"/>
              </a:ext>
            </a:extLst>
          </p:cNvPr>
          <p:cNvSpPr txBox="1"/>
          <p:nvPr/>
        </p:nvSpPr>
        <p:spPr>
          <a:xfrm>
            <a:off x="5635774" y="1442508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385E2DB-A81A-81EA-2A07-2321646653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40432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CC371D4-5698-127B-1EDD-002301528B7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505308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EC8B670-4A3A-BEF9-1A68-2FDF20A9D26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70184" y="1627174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E222BC4-51E0-C692-CF4F-9D131B9DC780}"/>
              </a:ext>
            </a:extLst>
          </p:cNvPr>
          <p:cNvSpPr txBox="1"/>
          <p:nvPr/>
        </p:nvSpPr>
        <p:spPr>
          <a:xfrm>
            <a:off x="2819262" y="3739545"/>
            <a:ext cx="77476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루프당 각자 다른 프레임의 각자 다른 패스를 병렬적으로 실행할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의존성이 없으니까</a:t>
            </a:r>
            <a:r>
              <a:rPr lang="en-US" altLang="ko-KR" dirty="0"/>
              <a:t>. </a:t>
            </a:r>
          </a:p>
          <a:p>
            <a:r>
              <a:rPr lang="ko-KR" altLang="en-US" dirty="0" err="1"/>
              <a:t>멀티스레드</a:t>
            </a:r>
            <a:r>
              <a:rPr lang="ko-KR" altLang="en-US" dirty="0"/>
              <a:t> 활용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또한 특정 </a:t>
            </a:r>
            <a:r>
              <a:rPr lang="en-US" altLang="ko-KR" dirty="0"/>
              <a:t>Pass</a:t>
            </a:r>
            <a:r>
              <a:rPr lang="ko-KR" altLang="en-US" dirty="0"/>
              <a:t>의 </a:t>
            </a:r>
            <a:r>
              <a:rPr lang="en-US" altLang="ko-KR" dirty="0" err="1"/>
              <a:t>WaitForGPUComplete</a:t>
            </a:r>
            <a:r>
              <a:rPr lang="ko-KR" altLang="en-US" dirty="0"/>
              <a:t>는 다음 패스가 </a:t>
            </a:r>
            <a:r>
              <a:rPr lang="ko-KR" altLang="en-US" dirty="0" err="1"/>
              <a:t>시작할때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호출되도록 한다</a:t>
            </a:r>
            <a:r>
              <a:rPr lang="en-US" altLang="ko-KR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C61935-8CDE-F8CD-BB49-A0BEC0322F27}"/>
              </a:ext>
            </a:extLst>
          </p:cNvPr>
          <p:cNvSpPr txBox="1"/>
          <p:nvPr/>
        </p:nvSpPr>
        <p:spPr>
          <a:xfrm>
            <a:off x="2084726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72601F-3DF5-005D-1128-8101F49877A7}"/>
              </a:ext>
            </a:extLst>
          </p:cNvPr>
          <p:cNvSpPr txBox="1"/>
          <p:nvPr/>
        </p:nvSpPr>
        <p:spPr>
          <a:xfrm>
            <a:off x="3949602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A3CBAC-72E5-E1C9-7A4A-4142DB2624A1}"/>
              </a:ext>
            </a:extLst>
          </p:cNvPr>
          <p:cNvSpPr txBox="1"/>
          <p:nvPr/>
        </p:nvSpPr>
        <p:spPr>
          <a:xfrm>
            <a:off x="5635773" y="1931103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9FE8C-79BE-D2B6-1101-E1F6DB44E2FF}"/>
              </a:ext>
            </a:extLst>
          </p:cNvPr>
          <p:cNvSpPr txBox="1"/>
          <p:nvPr/>
        </p:nvSpPr>
        <p:spPr>
          <a:xfrm>
            <a:off x="8060100" y="1931103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719B22E-0468-9219-F012-4916C5BA6AA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505308" y="2115769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0F3C0FB-126A-E49D-CD5F-F2965A3B1F83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370184" y="2115769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7AF70D80-94E8-0919-7D39-E528394032D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710314" y="2115769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EF8AC47-428D-F39D-364A-D646A864D8F7}"/>
              </a:ext>
            </a:extLst>
          </p:cNvPr>
          <p:cNvSpPr txBox="1"/>
          <p:nvPr/>
        </p:nvSpPr>
        <p:spPr>
          <a:xfrm>
            <a:off x="394960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09F4CCD-A549-C3A9-63B0-7BAE8DED7FA1}"/>
              </a:ext>
            </a:extLst>
          </p:cNvPr>
          <p:cNvSpPr txBox="1"/>
          <p:nvPr/>
        </p:nvSpPr>
        <p:spPr>
          <a:xfrm>
            <a:off x="563529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DEB23DF-3AD5-C088-7D87-56D63E9CA7FF}"/>
              </a:ext>
            </a:extLst>
          </p:cNvPr>
          <p:cNvSpPr txBox="1"/>
          <p:nvPr/>
        </p:nvSpPr>
        <p:spPr>
          <a:xfrm>
            <a:off x="8060100" y="2415670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2B1EFD2-2D4C-ABDD-CC83-92C7CDA9EFF4}"/>
              </a:ext>
            </a:extLst>
          </p:cNvPr>
          <p:cNvSpPr txBox="1"/>
          <p:nvPr/>
        </p:nvSpPr>
        <p:spPr>
          <a:xfrm>
            <a:off x="9746272" y="2415670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166872D1-C138-D993-08F0-21F619C33F49}"/>
              </a:ext>
            </a:extLst>
          </p:cNvPr>
          <p:cNvCxnSpPr>
            <a:cxnSpLocks/>
            <a:stCxn id="76" idx="3"/>
            <a:endCxn id="77" idx="1"/>
          </p:cNvCxnSpPr>
          <p:nvPr/>
        </p:nvCxnSpPr>
        <p:spPr>
          <a:xfrm>
            <a:off x="5370184" y="2622983"/>
            <a:ext cx="2651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DDBE9807-6028-9476-B5D5-8A45DEAA6A7B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7055874" y="2600336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D7D9367-5075-5A34-7A47-738CC7A08D9E}"/>
              </a:ext>
            </a:extLst>
          </p:cNvPr>
          <p:cNvCxnSpPr>
            <a:cxnSpLocks/>
            <a:stCxn id="78" idx="3"/>
            <a:endCxn id="79" idx="1"/>
          </p:cNvCxnSpPr>
          <p:nvPr/>
        </p:nvCxnSpPr>
        <p:spPr>
          <a:xfrm>
            <a:off x="9480682" y="2600336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6C79E8C0-1540-D1AB-CEC8-E3FEEAE83FEB}"/>
              </a:ext>
            </a:extLst>
          </p:cNvPr>
          <p:cNvSpPr txBox="1"/>
          <p:nvPr/>
        </p:nvSpPr>
        <p:spPr>
          <a:xfrm>
            <a:off x="5635292" y="2926912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B3D9E5-33A0-55C3-A85B-69456D70A279}"/>
              </a:ext>
            </a:extLst>
          </p:cNvPr>
          <p:cNvSpPr txBox="1"/>
          <p:nvPr/>
        </p:nvSpPr>
        <p:spPr>
          <a:xfrm>
            <a:off x="8060100" y="2904265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828A69C-6EE5-3EAA-9CB7-F3F193D55A8A}"/>
              </a:ext>
            </a:extLst>
          </p:cNvPr>
          <p:cNvSpPr txBox="1"/>
          <p:nvPr/>
        </p:nvSpPr>
        <p:spPr>
          <a:xfrm>
            <a:off x="9746271" y="2904265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6C3C39D-AEC5-97F5-870A-B9EB1E60B2A7}"/>
              </a:ext>
            </a:extLst>
          </p:cNvPr>
          <p:cNvCxnSpPr>
            <a:cxnSpLocks/>
            <a:stCxn id="83" idx="3"/>
            <a:endCxn id="84" idx="1"/>
          </p:cNvCxnSpPr>
          <p:nvPr/>
        </p:nvCxnSpPr>
        <p:spPr>
          <a:xfrm flipV="1">
            <a:off x="7055874" y="3088931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D7C4CDD-8149-8F12-0340-8EBC392A999C}"/>
              </a:ext>
            </a:extLst>
          </p:cNvPr>
          <p:cNvCxnSpPr>
            <a:cxnSpLocks/>
            <a:stCxn id="84" idx="3"/>
            <a:endCxn id="85" idx="1"/>
          </p:cNvCxnSpPr>
          <p:nvPr/>
        </p:nvCxnSpPr>
        <p:spPr>
          <a:xfrm>
            <a:off x="9480682" y="3088931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DC8F132-7C7B-EBAB-70F0-A061BA82F850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11820812" y="3088931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E6A54125-A5C5-B9FA-F89C-9CC77823DF7B}"/>
              </a:ext>
            </a:extLst>
          </p:cNvPr>
          <p:cNvSpPr txBox="1"/>
          <p:nvPr/>
        </p:nvSpPr>
        <p:spPr>
          <a:xfrm>
            <a:off x="5969626" y="90605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루프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542810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EEAAD-7A05-9BEB-B2B5-9B625380D6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/>
              <a:t>Shape?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B39B80-7E02-C967-8CF6-AA97124D098D}"/>
              </a:ext>
            </a:extLst>
          </p:cNvPr>
          <p:cNvSpPr txBox="1"/>
          <p:nvPr/>
        </p:nvSpPr>
        <p:spPr>
          <a:xfrm>
            <a:off x="3049292" y="2107246"/>
            <a:ext cx="609858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SetShape 순서</a:t>
            </a:r>
          </a:p>
          <a:p>
            <a:r>
              <a:rPr lang="ko-KR" altLang="en-US"/>
              <a:t>1. 모델의 경우</a:t>
            </a:r>
          </a:p>
          <a:p>
            <a:r>
              <a:rPr lang="ko-KR" altLang="en-US"/>
              <a:t>	1-1. innerTransform의 메모리를 만들고 원하는 행렬들을 만든다.</a:t>
            </a:r>
          </a:p>
          <a:p>
            <a:r>
              <a:rPr lang="ko-KR" altLang="en-US"/>
              <a:t>	1-2. SetShape를 한다.</a:t>
            </a:r>
          </a:p>
          <a:p>
            <a:r>
              <a:rPr lang="ko-KR" altLang="en-US"/>
              <a:t>		- SetShape에서 만약 innerTransform이 없으면 만들고 모델의 transform을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127959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2662</TotalTime>
  <Words>2027</Words>
  <Application>Microsoft Office PowerPoint</Application>
  <PresentationFormat>와이드스크린</PresentationFormat>
  <Paragraphs>350</Paragraphs>
  <Slides>38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2" baseType="lpstr">
      <vt:lpstr>맑은 고딕</vt:lpstr>
      <vt:lpstr>Arial</vt:lpstr>
      <vt:lpstr>Courier New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PowerPoint 프레젠테이션</vt:lpstr>
      <vt:lpstr>PowerPoint 프레젠테이션</vt:lpstr>
      <vt:lpstr>PowerPoint 프레젠테이션</vt:lpstr>
      <vt:lpstr>PowerPoint 프레젠테이션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  <vt:lpstr>TimeLine-RenderPass</vt:lpstr>
      <vt:lpstr>TimeLine-RenderPass- 비동기 렌더링</vt:lpstr>
      <vt:lpstr>Shape?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24</cp:revision>
  <dcterms:created xsi:type="dcterms:W3CDTF">2026-03-06T12:08:56Z</dcterms:created>
  <dcterms:modified xsi:type="dcterms:W3CDTF">2026-04-12T16:53:46Z</dcterms:modified>
</cp:coreProperties>
</file>