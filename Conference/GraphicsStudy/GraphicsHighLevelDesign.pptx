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1" r:id="rId5"/>
    <p:sldId id="277" r:id="rId6"/>
    <p:sldId id="280" r:id="rId7"/>
    <p:sldId id="294" r:id="rId8"/>
    <p:sldId id="28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63" r:id="rId21"/>
    <p:sldId id="286" r:id="rId22"/>
    <p:sldId id="275" r:id="rId23"/>
    <p:sldId id="276" r:id="rId24"/>
    <p:sldId id="262" r:id="rId25"/>
    <p:sldId id="290" r:id="rId26"/>
    <p:sldId id="291" r:id="rId27"/>
    <p:sldId id="292" r:id="rId28"/>
    <p:sldId id="293" r:id="rId29"/>
    <p:sldId id="259" r:id="rId30"/>
    <p:sldId id="260" r:id="rId31"/>
    <p:sldId id="278" r:id="rId32"/>
    <p:sldId id="283" r:id="rId33"/>
    <p:sldId id="279" r:id="rId34"/>
    <p:sldId id="284" r:id="rId35"/>
    <p:sldId id="285" r:id="rId36"/>
    <p:sldId id="281" r:id="rId37"/>
    <p:sldId id="287" r:id="rId38"/>
    <p:sldId id="288" r:id="rId39"/>
    <p:sldId id="289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C81D3-5E4D-495D-8DE1-4F2327BCEE89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95A5E-4983-45AC-854B-86DE2CB70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88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95A5E-4983-45AC-854B-86DE2CB7007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300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11667-CB7C-F5FF-0195-7C8398022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B5A3E0-1BDA-0ACD-BE74-1DE378C16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BC4E4C-3BE6-0151-0F36-E350DBA6D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67095E-309E-DC86-F2F3-35FE40C4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FA2E33-AE15-B44B-B127-D3EC84D9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08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48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B336C-4465-B7E5-AEF8-B842EE1B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07A707-47B1-1DFE-A3F5-F7D1784A6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B557F-C268-589E-1A89-F93307E1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98AA3A-3E15-19BB-0376-705EC1E6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D080F-D6C8-A98D-9BD5-E5358DBD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7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EA919-DB9F-AA44-514F-E83D151A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0BB94-D4E2-EA4E-6D4F-70BBC392A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83D592-1DC9-F4FB-DD15-F990B61E8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A98548-3991-42EF-BF78-94A652F8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2C6558-0528-1011-8F63-3ABC83E7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A47886-1951-F992-0E4B-49FCD5A3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7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92F3F-2CF0-D360-A9E2-C97B9FEBB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D6AF9E-3D0D-9864-6DC2-97E293A2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31ECF1-45BE-EFDC-3BC2-4380E9087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0ABB87-B6FF-69D5-1A88-75AAC6107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8B575F-2DA0-EADD-491C-D9511B534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045B9D-5AB3-DAB6-335D-16FBD933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E7848D-E3EA-F5E0-428D-0D03B4FE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678A1-058F-9933-3D1B-F6B497D7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0F551-490B-B1FD-AE9E-4ECE4287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18D455-C21E-7BDC-C99C-3E5F5982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25FE4A-4C2E-9B76-C167-8D3082B8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B0B167-A1E6-21AB-AEED-C1EF8B67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20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7F7544-BBB9-D31A-44D1-A889C923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53B226-E494-E03A-59FC-111368B4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83875A-CEB6-B054-669D-5E363265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00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87C45-12CC-118F-008B-B547D785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05B32-5B13-642E-654E-4334EAF1E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83FAAE-29DA-E312-F053-FBD54C0E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4EDBE-FE08-6C56-4106-6DDDFCDD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F74E9A-000A-5436-9E9F-9C85B833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774CD5-1097-BA1B-ADCA-140F0EEB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5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28A0B-AF0A-1C88-5FAB-80DF1175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5412DD-B51A-F172-8611-C41C53DD8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0BB49F-9774-DE8F-847E-0ECDDFED4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FBB108-8ABB-0E67-7573-41CC7FC1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8AE1D5-44E4-8CCE-26AD-DB366F9A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A87879-0178-3E4F-EA66-8B1D9E56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72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B2C6B-5C67-D462-4640-96F79D6B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080BC9-1E78-ECD8-2D7F-0D2595D0A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22DC4-906B-5F7F-1EA1-6821558D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D2998-515C-827D-47EA-335C6567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B8EB56-4201-CD7E-2D34-4C7BA1B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48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595BA7-98C2-C32A-8C4B-7D7617F1E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E73663-D25C-A2C9-69EE-01943331F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659C4-84A1-79EB-91FF-71F77E32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2C64F-B985-D920-0EDA-68B66E08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FC818-6B48-A0B9-3FAF-938696CF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40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ECC9B6-0A56-4D27-B017-65477A7A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4A9E2-763E-F066-2A8A-2026C3A8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B9A6CF-796D-28B4-4EF2-2224626E1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10A9B-0CC6-4053-BA0B-965178095DC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389D8-B406-0661-395C-D0DC0F0FF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92EF2-614F-C5CC-2A6D-BAC814636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3D46D-42EC-4B9A-8C93-1DB66FB43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47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3.xml"/><Relationship Id="rId7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image" Target="../media/image2.png"/><Relationship Id="rId10" Type="http://schemas.openxmlformats.org/officeDocument/2006/relationships/image" Target="../media/image36.png"/><Relationship Id="rId4" Type="http://schemas.openxmlformats.org/officeDocument/2006/relationships/image" Target="../media/image110.png"/><Relationship Id="rId9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70.png"/><Relationship Id="rId12" Type="http://schemas.openxmlformats.org/officeDocument/2006/relationships/slide" Target="slide3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80.png"/><Relationship Id="rId4" Type="http://schemas.openxmlformats.org/officeDocument/2006/relationships/image" Target="../media/image60.png"/><Relationship Id="rId9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1.png"/><Relationship Id="rId7" Type="http://schemas.openxmlformats.org/officeDocument/2006/relationships/slide" Target="slide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0.pn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60.png"/><Relationship Id="rId18" Type="http://schemas.openxmlformats.org/officeDocument/2006/relationships/slide" Target="slide15.xml"/><Relationship Id="rId26" Type="http://schemas.openxmlformats.org/officeDocument/2006/relationships/image" Target="../media/image23.png"/><Relationship Id="rId3" Type="http://schemas.openxmlformats.org/officeDocument/2006/relationships/slide" Target="slide10.xml"/><Relationship Id="rId21" Type="http://schemas.openxmlformats.org/officeDocument/2006/relationships/slide" Target="slide16.xml"/><Relationship Id="rId7" Type="http://schemas.openxmlformats.org/officeDocument/2006/relationships/image" Target="../media/image140.png"/><Relationship Id="rId12" Type="http://schemas.openxmlformats.org/officeDocument/2006/relationships/slide" Target="slide13.xml"/><Relationship Id="rId17" Type="http://schemas.openxmlformats.org/officeDocument/2006/relationships/image" Target="../media/image20.png"/><Relationship Id="rId25" Type="http://schemas.openxmlformats.org/officeDocument/2006/relationships/image" Target="../media/image200.png"/><Relationship Id="rId2" Type="http://schemas.openxmlformats.org/officeDocument/2006/relationships/image" Target="../media/image15.png"/><Relationship Id="rId16" Type="http://schemas.openxmlformats.org/officeDocument/2006/relationships/image" Target="../media/image170.png"/><Relationship Id="rId20" Type="http://schemas.openxmlformats.org/officeDocument/2006/relationships/image" Target="../media/image21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11" Type="http://schemas.openxmlformats.org/officeDocument/2006/relationships/image" Target="../media/image18.png"/><Relationship Id="rId24" Type="http://schemas.openxmlformats.org/officeDocument/2006/relationships/slide" Target="slide17.xml"/><Relationship Id="rId5" Type="http://schemas.openxmlformats.org/officeDocument/2006/relationships/image" Target="../media/image16.png"/><Relationship Id="rId15" Type="http://schemas.openxmlformats.org/officeDocument/2006/relationships/slide" Target="slide14.xml"/><Relationship Id="rId23" Type="http://schemas.openxmlformats.org/officeDocument/2006/relationships/image" Target="../media/image22.png"/><Relationship Id="rId28" Type="http://schemas.openxmlformats.org/officeDocument/2006/relationships/image" Target="../media/image211.png"/><Relationship Id="rId10" Type="http://schemas.openxmlformats.org/officeDocument/2006/relationships/image" Target="../media/image150.png"/><Relationship Id="rId19" Type="http://schemas.openxmlformats.org/officeDocument/2006/relationships/image" Target="../media/image180.png"/><Relationship Id="rId31" Type="http://schemas.openxmlformats.org/officeDocument/2006/relationships/image" Target="../media/image220.png"/><Relationship Id="rId4" Type="http://schemas.openxmlformats.org/officeDocument/2006/relationships/image" Target="../media/image130.png"/><Relationship Id="rId9" Type="http://schemas.openxmlformats.org/officeDocument/2006/relationships/slide" Target="slide12.xml"/><Relationship Id="rId14" Type="http://schemas.openxmlformats.org/officeDocument/2006/relationships/image" Target="../media/image19.png"/><Relationship Id="rId22" Type="http://schemas.openxmlformats.org/officeDocument/2006/relationships/image" Target="../media/image190.png"/><Relationship Id="rId27" Type="http://schemas.openxmlformats.org/officeDocument/2006/relationships/slide" Target="slide18.xml"/><Relationship Id="rId30" Type="http://schemas.openxmlformats.org/officeDocument/2006/relationships/slide" Target="slide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" Target="slide22.xml"/><Relationship Id="rId7" Type="http://schemas.openxmlformats.org/officeDocument/2006/relationships/image" Target="../media/image2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image" Target="../media/image26.png"/><Relationship Id="rId4" Type="http://schemas.openxmlformats.org/officeDocument/2006/relationships/image" Target="../media/image230.png"/><Relationship Id="rId9" Type="http://schemas.openxmlformats.org/officeDocument/2006/relationships/image" Target="../media/image2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" Target="slide27.xml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7" Type="http://schemas.openxmlformats.org/officeDocument/2006/relationships/image" Target="../media/image27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3.xml"/><Relationship Id="rId5" Type="http://schemas.openxmlformats.org/officeDocument/2006/relationships/image" Target="../media/image38.png"/><Relationship Id="rId4" Type="http://schemas.openxmlformats.org/officeDocument/2006/relationships/image" Target="../media/image2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83D43-07EE-049C-C24B-0A078F8D3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PulseCity</a:t>
            </a:r>
            <a:r>
              <a:rPr lang="en-US" altLang="ko-KR" dirty="0"/>
              <a:t> Graphics</a:t>
            </a:r>
            <a:br>
              <a:rPr lang="en-US" altLang="ko-KR" dirty="0"/>
            </a:br>
            <a:r>
              <a:rPr lang="en-US" altLang="ko-KR" dirty="0"/>
              <a:t>High Level Design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11FA04-DF0B-D736-6704-5BE10BC1E6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2021180007 </a:t>
            </a:r>
            <a:r>
              <a:rPr lang="ko-KR" altLang="en-US" dirty="0"/>
              <a:t>노훈철</a:t>
            </a:r>
          </a:p>
        </p:txBody>
      </p:sp>
    </p:spTree>
    <p:extLst>
      <p:ext uri="{BB962C8B-B14F-4D97-AF65-F5344CB8AC3E}">
        <p14:creationId xmlns:p14="http://schemas.microsoft.com/office/powerpoint/2010/main" val="395647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45916-71F7-272F-304B-9E34B61DFB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850425"/>
          </a:xfrm>
        </p:spPr>
        <p:txBody>
          <a:bodyPr/>
          <a:lstStyle/>
          <a:p>
            <a:r>
              <a:rPr lang="en-US" altLang="ko-KR" dirty="0"/>
              <a:t>Graphics</a:t>
            </a:r>
            <a:endParaRPr lang="ko-KR" alt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슬라이드 확대/축소 4">
                <a:extLst>
                  <a:ext uri="{FF2B5EF4-FFF2-40B4-BE49-F238E27FC236}">
                    <a16:creationId xmlns:a16="http://schemas.microsoft.com/office/drawing/2014/main" id="{A579FC0D-2E2E-9683-6D62-9C7EC87E6B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2191781"/>
                  </p:ext>
                </p:extLst>
              </p:nvPr>
            </p:nvGraphicFramePr>
            <p:xfrm>
              <a:off x="152399" y="850425"/>
              <a:ext cx="8993353" cy="5058762"/>
            </p:xfrm>
            <a:graphic>
              <a:graphicData uri="http://schemas.microsoft.com/office/powerpoint/2016/slidezoom">
                <pslz:sldZm>
                  <pslz:sldZmObj sldId="258" cId="1942532360">
                    <pslz:zmPr id="{14DEAE9B-8230-4592-97EE-BE2D7C5B808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993353" cy="50587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슬라이드 확대/축소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579FC0D-2E2E-9683-6D62-9C7EC87E6B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399" y="850425"/>
                <a:ext cx="8993353" cy="50587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슬라이드 확대/축소 6">
                <a:extLst>
                  <a:ext uri="{FF2B5EF4-FFF2-40B4-BE49-F238E27FC236}">
                    <a16:creationId xmlns:a16="http://schemas.microsoft.com/office/drawing/2014/main" id="{099CA36F-9802-FBA9-6C3B-B7C08A48B9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22074109"/>
                  </p:ext>
                </p:extLst>
              </p:nvPr>
            </p:nvGraphicFramePr>
            <p:xfrm>
              <a:off x="9271819" y="2477872"/>
              <a:ext cx="2762748" cy="1554046"/>
            </p:xfrm>
            <a:graphic>
              <a:graphicData uri="http://schemas.microsoft.com/office/powerpoint/2016/slidezoom">
                <pslz:sldZm>
                  <pslz:sldZmObj sldId="259" cId="2433842180">
                    <pslz:zmPr id="{9592065C-C584-4DF5-A15A-E16791647284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62748" cy="155404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슬라이드 확대/축소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99CA36F-9802-FBA9-6C3B-B7C08A48B9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71819" y="2477872"/>
                <a:ext cx="2762748" cy="155404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슬라이드 확대/축소 8">
                <a:extLst>
                  <a:ext uri="{FF2B5EF4-FFF2-40B4-BE49-F238E27FC236}">
                    <a16:creationId xmlns:a16="http://schemas.microsoft.com/office/drawing/2014/main" id="{D1C1B1AA-7BD2-1858-C0B3-6BB9B3E60A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3450460"/>
                  </p:ext>
                </p:extLst>
              </p:nvPr>
            </p:nvGraphicFramePr>
            <p:xfrm>
              <a:off x="9271819" y="850425"/>
              <a:ext cx="2762748" cy="1554045"/>
            </p:xfrm>
            <a:graphic>
              <a:graphicData uri="http://schemas.microsoft.com/office/powerpoint/2016/slidezoom">
                <pslz:sldZm>
                  <pslz:sldZmObj sldId="260" cId="2758334147">
                    <pslz:zmPr id="{230FFD24-AFDE-44C3-B5BB-C0CA796D3700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62748" cy="155404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슬라이드 확대/축소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D1C1B1AA-7BD2-1858-C0B3-6BB9B3E60A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71819" y="850425"/>
                <a:ext cx="2762748" cy="155404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24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16178-17B0-5641-76A2-7A0CA77DB6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Render</a:t>
            </a:r>
            <a:endParaRPr lang="ko-KR" altLang="en-US" sz="54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슬라이드 확대/축소 4">
                <a:extLst>
                  <a:ext uri="{FF2B5EF4-FFF2-40B4-BE49-F238E27FC236}">
                    <a16:creationId xmlns:a16="http://schemas.microsoft.com/office/drawing/2014/main" id="{03BEAF41-04DA-51CD-9AA7-45495F5B0EF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4305885"/>
                  </p:ext>
                </p:extLst>
              </p:nvPr>
            </p:nvGraphicFramePr>
            <p:xfrm>
              <a:off x="0" y="1428084"/>
              <a:ext cx="7792774" cy="4383435"/>
            </p:xfrm>
            <a:graphic>
              <a:graphicData uri="http://schemas.microsoft.com/office/powerpoint/2016/slidezoom">
                <pslz:sldZm>
                  <pslz:sldZmObj sldId="261" cId="3409075809">
                    <pslz:zmPr id="{87D8E69D-5F44-4570-B3F7-073FACC1EEA8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792774" cy="438343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슬라이드 확대/축소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3BEAF41-04DA-51CD-9AA7-45495F5B0E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1428084"/>
                <a:ext cx="7792774" cy="438343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슬라이드 확대/축소 6">
                <a:extLst>
                  <a:ext uri="{FF2B5EF4-FFF2-40B4-BE49-F238E27FC236}">
                    <a16:creationId xmlns:a16="http://schemas.microsoft.com/office/drawing/2014/main" id="{5C497EDE-4B29-D25D-0F65-A42F6799D2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8267273"/>
                  </p:ext>
                </p:extLst>
              </p:nvPr>
            </p:nvGraphicFramePr>
            <p:xfrm>
              <a:off x="7792774" y="3358483"/>
              <a:ext cx="4360953" cy="2453036"/>
            </p:xfrm>
            <a:graphic>
              <a:graphicData uri="http://schemas.microsoft.com/office/powerpoint/2016/slidezoom">
                <pslz:sldZm>
                  <pslz:sldZmObj sldId="262" cId="1872162543">
                    <pslz:zmPr id="{BDC9DA41-B291-4C0C-B1ED-02A85E5FF9C0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60953" cy="245303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슬라이드 확대/축소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5C497EDE-4B29-D25D-0F65-A42F6799D2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92774" y="3358483"/>
                <a:ext cx="4360953" cy="245303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D13AE43-1128-595C-DAD6-A48CA2EF3E1B}"/>
              </a:ext>
            </a:extLst>
          </p:cNvPr>
          <p:cNvSpPr txBox="1"/>
          <p:nvPr/>
        </p:nvSpPr>
        <p:spPr>
          <a:xfrm>
            <a:off x="0" y="784433"/>
            <a:ext cx="230063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무엇을 그릴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253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A750A-55C6-C388-F9FD-6C4876825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1F39F-576F-FCB2-7979-DA4FF04778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3D Object</a:t>
            </a:r>
            <a:endParaRPr lang="ko-KR" altLang="en-US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AA7D4-CEF8-F412-61C0-693BF3A5A112}"/>
              </a:ext>
            </a:extLst>
          </p:cNvPr>
          <p:cNvSpPr txBox="1"/>
          <p:nvPr/>
        </p:nvSpPr>
        <p:spPr>
          <a:xfrm>
            <a:off x="180093" y="1053319"/>
            <a:ext cx="1189749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방식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C2BE9-38B6-D730-5761-46D908EF2DC9}"/>
              </a:ext>
            </a:extLst>
          </p:cNvPr>
          <p:cNvSpPr txBox="1"/>
          <p:nvPr/>
        </p:nvSpPr>
        <p:spPr>
          <a:xfrm>
            <a:off x="4903975" y="4478260"/>
            <a:ext cx="62972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LOD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16178-666F-5894-389A-2F5B0CE61D99}"/>
              </a:ext>
            </a:extLst>
          </p:cNvPr>
          <p:cNvSpPr txBox="1"/>
          <p:nvPr/>
        </p:nvSpPr>
        <p:spPr>
          <a:xfrm>
            <a:off x="4903975" y="4101584"/>
            <a:ext cx="87716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최적화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슬라이드 확대/축소 13">
                <a:extLst>
                  <a:ext uri="{FF2B5EF4-FFF2-40B4-BE49-F238E27FC236}">
                    <a16:creationId xmlns:a16="http://schemas.microsoft.com/office/drawing/2014/main" id="{D57C7EDA-33B5-E123-6E45-116EC6AEAA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0817763"/>
                  </p:ext>
                </p:extLst>
              </p:nvPr>
            </p:nvGraphicFramePr>
            <p:xfrm>
              <a:off x="180091" y="1422605"/>
              <a:ext cx="4324639" cy="2571750"/>
            </p:xfrm>
            <a:graphic>
              <a:graphicData uri="http://schemas.microsoft.com/office/powerpoint/2016/slidezoom">
                <pslz:sldZm>
                  <pslz:sldZmObj sldId="264" cId="2834560521">
                    <pslz:zmPr id="{AEDC7F7A-14EF-4E59-A411-CAB72C0698D9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24639" cy="2571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슬라이드 확대/축소 1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57C7EDA-33B5-E123-6E45-116EC6AEAA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091" y="1422605"/>
                <a:ext cx="4324639" cy="2571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슬라이드 확대/축소 15">
                <a:extLst>
                  <a:ext uri="{FF2B5EF4-FFF2-40B4-BE49-F238E27FC236}">
                    <a16:creationId xmlns:a16="http://schemas.microsoft.com/office/drawing/2014/main" id="{1F2766D2-D008-AEC7-46EF-052E4AB5DE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1666143"/>
                  </p:ext>
                </p:extLst>
              </p:nvPr>
            </p:nvGraphicFramePr>
            <p:xfrm>
              <a:off x="4504730" y="1422605"/>
              <a:ext cx="4324639" cy="2571750"/>
            </p:xfrm>
            <a:graphic>
              <a:graphicData uri="http://schemas.microsoft.com/office/powerpoint/2016/slidezoom">
                <pslz:sldZm>
                  <pslz:sldZmObj sldId="263" cId="3813102566">
                    <pslz:zmPr id="{C2D96DEF-A3A8-4D0C-A6FC-CA1F606221B8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24639" cy="2571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슬라이드 확대/축소 1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1F2766D2-D008-AEC7-46EF-052E4AB5DE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4730" y="1422605"/>
                <a:ext cx="4324639" cy="2571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슬라이드 확대/축소 17">
                <a:extLst>
                  <a:ext uri="{FF2B5EF4-FFF2-40B4-BE49-F238E27FC236}">
                    <a16:creationId xmlns:a16="http://schemas.microsoft.com/office/drawing/2014/main" id="{B72E0C2E-6C14-ED9C-31C9-A36C4BDAD0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8548891"/>
                  </p:ext>
                </p:extLst>
              </p:nvPr>
            </p:nvGraphicFramePr>
            <p:xfrm>
              <a:off x="180091" y="4407135"/>
              <a:ext cx="4324639" cy="2432610"/>
            </p:xfrm>
            <a:graphic>
              <a:graphicData uri="http://schemas.microsoft.com/office/powerpoint/2016/slidezoom">
                <pslz:sldZm>
                  <pslz:sldZmObj sldId="277" cId="2880208972">
                    <pslz:zmPr id="{141A5183-2B03-4ADA-A208-45830EEB14E8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24639" cy="243261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슬라이드 확대/축소 1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72E0C2E-6C14-ED9C-31C9-A36C4BDAD0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0091" y="4407135"/>
                <a:ext cx="4324639" cy="243261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91EF2A7-8FF3-21B2-06A1-BB5A77BA2873}"/>
              </a:ext>
            </a:extLst>
          </p:cNvPr>
          <p:cNvSpPr txBox="1"/>
          <p:nvPr/>
        </p:nvSpPr>
        <p:spPr>
          <a:xfrm>
            <a:off x="8003662" y="4478260"/>
            <a:ext cx="165141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비동기 렌더링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B3F80-6E45-2A12-2B78-E94693FE19EE}"/>
              </a:ext>
            </a:extLst>
          </p:cNvPr>
          <p:cNvSpPr txBox="1"/>
          <p:nvPr/>
        </p:nvSpPr>
        <p:spPr>
          <a:xfrm>
            <a:off x="0" y="4062646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리소스 관리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슬라이드 확대/축소 5">
                <a:extLst>
                  <a:ext uri="{FF2B5EF4-FFF2-40B4-BE49-F238E27FC236}">
                    <a16:creationId xmlns:a16="http://schemas.microsoft.com/office/drawing/2014/main" id="{B0EEB9EE-D82A-E42E-FCD7-842ED15841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8750524"/>
                  </p:ext>
                </p:extLst>
              </p:nvPr>
            </p:nvGraphicFramePr>
            <p:xfrm>
              <a:off x="8003662" y="4925607"/>
              <a:ext cx="3241000" cy="1823062"/>
            </p:xfrm>
            <a:graphic>
              <a:graphicData uri="http://schemas.microsoft.com/office/powerpoint/2016/slidezoom">
                <pslz:sldZm>
                  <pslz:sldZmObj sldId="288" cId="1454281042">
                    <pslz:zmPr id="{93A88EC4-656D-4BAB-B1B7-CE9C3F364338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41000" cy="18230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슬라이드 확대/축소 5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B0EEB9EE-D82A-E42E-FCD7-842ED15841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03662" y="4925607"/>
                <a:ext cx="3241000" cy="18230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07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4A40-801A-974C-DD64-1EAD19EC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05023-EA05-E22D-9ADE-49C45BC853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ResourceBinding</a:t>
            </a:r>
            <a:endParaRPr lang="ko-KR" altLang="en-US" sz="5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D1C021-2D6E-7558-1F1F-E65637E70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868680"/>
            <a:ext cx="7294880" cy="287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C41029-88F5-E900-211B-1FC64DABEABA}"/>
              </a:ext>
            </a:extLst>
          </p:cNvPr>
          <p:cNvSpPr txBox="1"/>
          <p:nvPr/>
        </p:nvSpPr>
        <p:spPr>
          <a:xfrm>
            <a:off x="7975599" y="443467"/>
            <a:ext cx="39522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NSV (</a:t>
            </a:r>
            <a:r>
              <a:rPr lang="en-US" altLang="ko-KR" sz="1200" dirty="0" err="1"/>
              <a:t>NonShaderVisibleDescHeap</a:t>
            </a:r>
            <a:r>
              <a:rPr lang="en-US" altLang="ko-KR" sz="1200" dirty="0"/>
              <a:t>) : </a:t>
            </a:r>
          </a:p>
          <a:p>
            <a:r>
              <a:rPr lang="ko-KR" altLang="en-US" sz="1200" dirty="0" err="1"/>
              <a:t>셰이더가</a:t>
            </a:r>
            <a:r>
              <a:rPr lang="ko-KR" altLang="en-US" sz="1200" dirty="0"/>
              <a:t> 볼 수 없는 </a:t>
            </a:r>
            <a:r>
              <a:rPr lang="en-US" altLang="ko-KR" sz="1200" dirty="0"/>
              <a:t>Desc</a:t>
            </a:r>
            <a:r>
              <a:rPr lang="ko-KR" altLang="en-US" sz="1200" dirty="0"/>
              <a:t>들을 저장함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당장 보여지진 않지만 </a:t>
            </a:r>
            <a:r>
              <a:rPr lang="ko-KR" altLang="en-US" sz="1200" dirty="0" err="1"/>
              <a:t>틱당</a:t>
            </a:r>
            <a:r>
              <a:rPr lang="ko-KR" altLang="en-US" sz="1200" dirty="0"/>
              <a:t> 상황에 따라 보일 수 있는 </a:t>
            </a:r>
            <a:r>
              <a:rPr lang="en-US" altLang="ko-KR" sz="1200" dirty="0"/>
              <a:t>Desc</a:t>
            </a:r>
            <a:r>
              <a:rPr lang="ko-KR" altLang="en-US" sz="1200" dirty="0"/>
              <a:t>들의 모임</a:t>
            </a:r>
            <a:endParaRPr lang="en-US" altLang="ko-KR" sz="1200" dirty="0"/>
          </a:p>
          <a:p>
            <a:r>
              <a:rPr lang="en-US" altLang="ko-KR" sz="1200" dirty="0" err="1"/>
              <a:t>BitAlloter</a:t>
            </a:r>
            <a:r>
              <a:rPr lang="en-US" altLang="ko-KR" sz="1200" dirty="0"/>
              <a:t> </a:t>
            </a:r>
            <a:r>
              <a:rPr lang="ko-KR" altLang="en-US" sz="1200" dirty="0"/>
              <a:t>자료구조로 자리의 할당과 해제가 관리된다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SV (</a:t>
            </a:r>
            <a:r>
              <a:rPr lang="en-US" altLang="ko-KR" sz="1200" dirty="0" err="1"/>
              <a:t>ShaderVisibleDescHeap</a:t>
            </a:r>
            <a:r>
              <a:rPr lang="en-US" altLang="ko-KR" sz="1200" dirty="0"/>
              <a:t>) : </a:t>
            </a:r>
          </a:p>
          <a:p>
            <a:r>
              <a:rPr lang="ko-KR" altLang="en-US" sz="1200" dirty="0" err="1"/>
              <a:t>셰이더가</a:t>
            </a:r>
            <a:r>
              <a:rPr lang="ko-KR" altLang="en-US" sz="1200" dirty="0"/>
              <a:t> 볼 수 있게 만든 </a:t>
            </a:r>
            <a:r>
              <a:rPr lang="en-US" altLang="ko-KR" sz="1200" dirty="0" err="1"/>
              <a:t>DescHeap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인스턴싱을</a:t>
            </a:r>
            <a:r>
              <a:rPr lang="ko-KR" altLang="en-US" sz="1200" dirty="0"/>
              <a:t> 할 수 있도록 </a:t>
            </a:r>
            <a:r>
              <a:rPr lang="en-US" altLang="ko-KR" sz="1200" dirty="0"/>
              <a:t>Desc </a:t>
            </a:r>
            <a:r>
              <a:rPr lang="ko-KR" altLang="en-US" sz="1200" dirty="0"/>
              <a:t>종류별로 영역이 나뉘어져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크게 보면 두개로 나뉘어져 있는데</a:t>
            </a:r>
            <a:r>
              <a:rPr lang="en-US" altLang="ko-KR" sz="1200" dirty="0"/>
              <a:t>, Immortal </a:t>
            </a:r>
            <a:r>
              <a:rPr lang="ko-KR" altLang="en-US" sz="1200" dirty="0"/>
              <a:t>범위와 </a:t>
            </a:r>
            <a:r>
              <a:rPr lang="en-US" altLang="ko-KR" sz="1200" dirty="0"/>
              <a:t>Dynamic </a:t>
            </a:r>
            <a:r>
              <a:rPr lang="ko-KR" altLang="en-US" sz="1200" dirty="0"/>
              <a:t>범위다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Immortal </a:t>
            </a:r>
            <a:r>
              <a:rPr lang="ko-KR" altLang="en-US" sz="1200" dirty="0"/>
              <a:t>범위는 게임이 돌아가면서 쉽게 추가되지 않는 범위다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초기화 리소스 범위</a:t>
            </a:r>
            <a:r>
              <a:rPr lang="en-US" altLang="ko-KR" sz="1200" dirty="0"/>
              <a:t>] [</a:t>
            </a:r>
            <a:r>
              <a:rPr lang="ko-KR" altLang="en-US" sz="1200" dirty="0"/>
              <a:t>재질 </a:t>
            </a:r>
            <a:r>
              <a:rPr lang="ko-KR" altLang="en-US" sz="1200" dirty="0" err="1"/>
              <a:t>텍스쳐</a:t>
            </a:r>
            <a:r>
              <a:rPr lang="en-US" altLang="ko-KR" sz="1200" dirty="0"/>
              <a:t>SRV</a:t>
            </a:r>
            <a:r>
              <a:rPr lang="ko-KR" altLang="en-US" sz="1200" dirty="0"/>
              <a:t> 범위</a:t>
            </a:r>
            <a:r>
              <a:rPr lang="en-US" altLang="ko-KR" sz="1200" dirty="0"/>
              <a:t>] [</a:t>
            </a:r>
            <a:r>
              <a:rPr lang="ko-KR" altLang="en-US" sz="1200" dirty="0"/>
              <a:t>재질 </a:t>
            </a:r>
            <a:r>
              <a:rPr lang="en-US" altLang="ko-KR" sz="1200" dirty="0"/>
              <a:t>CBV </a:t>
            </a:r>
            <a:r>
              <a:rPr lang="ko-KR" altLang="en-US" sz="1200" dirty="0"/>
              <a:t>범위</a:t>
            </a:r>
            <a:r>
              <a:rPr lang="en-US" altLang="ko-KR" sz="1200" dirty="0"/>
              <a:t>] [</a:t>
            </a:r>
            <a:r>
              <a:rPr lang="ko-KR" altLang="en-US" sz="1200" dirty="0" err="1"/>
              <a:t>인스턴싱</a:t>
            </a:r>
            <a:r>
              <a:rPr lang="ko-KR" altLang="en-US" sz="1200" dirty="0"/>
              <a:t> </a:t>
            </a:r>
            <a:r>
              <a:rPr lang="en-US" altLang="ko-KR" sz="1200" dirty="0"/>
              <a:t>SRV </a:t>
            </a:r>
            <a:r>
              <a:rPr lang="ko-KR" altLang="en-US" sz="1200" dirty="0"/>
              <a:t>범위</a:t>
            </a:r>
            <a:r>
              <a:rPr lang="en-US" altLang="ko-KR" sz="1200" dirty="0"/>
              <a:t>] </a:t>
            </a:r>
            <a:r>
              <a:rPr lang="ko-KR" altLang="en-US" sz="1200" dirty="0"/>
              <a:t>등이 포함되어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Dynamic </a:t>
            </a:r>
            <a:r>
              <a:rPr lang="ko-KR" altLang="en-US" sz="1200" dirty="0"/>
              <a:t>범위는 게임이 돌아가면서 </a:t>
            </a:r>
            <a:r>
              <a:rPr lang="ko-KR" altLang="en-US" sz="1200" dirty="0" err="1"/>
              <a:t>틱마다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렌더가</a:t>
            </a:r>
            <a:r>
              <a:rPr lang="ko-KR" altLang="en-US" sz="1200" dirty="0"/>
              <a:t> 결정될 수도 있는 리소스 </a:t>
            </a:r>
            <a:r>
              <a:rPr lang="en-US" altLang="ko-KR" sz="1200" dirty="0"/>
              <a:t>Desc(NSV</a:t>
            </a:r>
            <a:r>
              <a:rPr lang="ko-KR" altLang="en-US" sz="1200" dirty="0"/>
              <a:t>에 위치</a:t>
            </a:r>
            <a:r>
              <a:rPr lang="en-US" altLang="ko-KR" sz="1200" dirty="0"/>
              <a:t>)</a:t>
            </a:r>
            <a:r>
              <a:rPr lang="ko-KR" altLang="en-US" sz="1200" dirty="0"/>
              <a:t>를 </a:t>
            </a:r>
            <a:r>
              <a:rPr lang="en-US" altLang="ko-KR" sz="1200" dirty="0"/>
              <a:t>Copy</a:t>
            </a:r>
            <a:r>
              <a:rPr lang="ko-KR" altLang="en-US" sz="1200" dirty="0"/>
              <a:t>하여 </a:t>
            </a:r>
            <a:endParaRPr lang="en-US" altLang="ko-KR" sz="1200" dirty="0"/>
          </a:p>
          <a:p>
            <a:r>
              <a:rPr lang="ko-KR" altLang="en-US" sz="1200" dirty="0" err="1"/>
              <a:t>렌더될</a:t>
            </a:r>
            <a:r>
              <a:rPr lang="ko-KR" altLang="en-US" sz="1200" dirty="0"/>
              <a:t> 수 있도록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슬라이드 확대/축소 6">
                <a:extLst>
                  <a:ext uri="{FF2B5EF4-FFF2-40B4-BE49-F238E27FC236}">
                    <a16:creationId xmlns:a16="http://schemas.microsoft.com/office/drawing/2014/main" id="{AFCB83A2-06F9-E999-1CFD-3E7A26602B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0058972"/>
                  </p:ext>
                </p:extLst>
              </p:nvPr>
            </p:nvGraphicFramePr>
            <p:xfrm>
              <a:off x="0" y="3941688"/>
              <a:ext cx="5152103" cy="2898058"/>
            </p:xfrm>
            <a:graphic>
              <a:graphicData uri="http://schemas.microsoft.com/office/powerpoint/2016/slidezoom">
                <pslz:sldZm>
                  <pslz:sldZmObj sldId="280" cId="4144978947">
                    <pslz:zmPr id="{16191A8D-A4FD-4417-9519-291E9A703DD7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152103" cy="28980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슬라이드 확대/축소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FCB83A2-06F9-E999-1CFD-3E7A26602B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3941688"/>
                <a:ext cx="5152103" cy="28980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슬라이드 확대/축소 8">
                <a:extLst>
                  <a:ext uri="{FF2B5EF4-FFF2-40B4-BE49-F238E27FC236}">
                    <a16:creationId xmlns:a16="http://schemas.microsoft.com/office/drawing/2014/main" id="{C9C5A58F-C6A3-86E1-87F3-43464A8486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0006220"/>
                  </p:ext>
                </p:extLst>
              </p:nvPr>
            </p:nvGraphicFramePr>
            <p:xfrm>
              <a:off x="5247968" y="3941687"/>
              <a:ext cx="5152102" cy="2898057"/>
            </p:xfrm>
            <a:graphic>
              <a:graphicData uri="http://schemas.microsoft.com/office/powerpoint/2016/slidezoom">
                <pslz:sldZm>
                  <pslz:sldZmObj sldId="282" cId="825479797">
                    <pslz:zmPr id="{CE5D8C70-59BB-47C2-87D2-7CA7FF77941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152102" cy="289805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슬라이드 확대/축소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9C5A58F-C6A3-86E1-87F3-43464A8486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7968" y="3941687"/>
                <a:ext cx="5152102" cy="289805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20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35B0-1648-3A00-F710-2E810A2B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7C3BD-55C9-85C7-4AD2-30000BCFEE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1866880" cy="850425"/>
          </a:xfrm>
        </p:spPr>
        <p:txBody>
          <a:bodyPr>
            <a:normAutofit fontScale="90000"/>
          </a:bodyPr>
          <a:lstStyle/>
          <a:p>
            <a:r>
              <a:rPr lang="en-US" altLang="ko-KR" sz="5400" dirty="0" err="1"/>
              <a:t>ShaderVisibleDescHeap</a:t>
            </a:r>
            <a:r>
              <a:rPr lang="ko-KR" altLang="en-US" sz="5400" dirty="0"/>
              <a:t>의 확장 </a:t>
            </a:r>
            <a:r>
              <a:rPr lang="en-US" altLang="ko-KR" sz="5400" dirty="0"/>
              <a:t>/ </a:t>
            </a:r>
            <a:r>
              <a:rPr lang="ko-KR" altLang="en-US" sz="5400" dirty="0"/>
              <a:t>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EE5AE-48F4-504A-C304-88D0C54F7450}"/>
              </a:ext>
            </a:extLst>
          </p:cNvPr>
          <p:cNvSpPr txBox="1"/>
          <p:nvPr/>
        </p:nvSpPr>
        <p:spPr>
          <a:xfrm>
            <a:off x="440129" y="1387881"/>
            <a:ext cx="69058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Init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C81F4-91A0-7289-FBB8-48C2102EFF01}"/>
              </a:ext>
            </a:extLst>
          </p:cNvPr>
          <p:cNvSpPr txBox="1"/>
          <p:nvPr/>
        </p:nvSpPr>
        <p:spPr>
          <a:xfrm>
            <a:off x="1130709" y="1387881"/>
            <a:ext cx="17599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MaterialTexSRV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BD023-9CF5-CE26-19C6-66E48D2B4976}"/>
              </a:ext>
            </a:extLst>
          </p:cNvPr>
          <p:cNvSpPr txBox="1"/>
          <p:nvPr/>
        </p:nvSpPr>
        <p:spPr>
          <a:xfrm>
            <a:off x="2890684" y="1387881"/>
            <a:ext cx="1465006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MaterialCBV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2A804-BF55-DB67-AEAD-2197F4C27F2C}"/>
              </a:ext>
            </a:extLst>
          </p:cNvPr>
          <p:cNvSpPr txBox="1"/>
          <p:nvPr/>
        </p:nvSpPr>
        <p:spPr>
          <a:xfrm>
            <a:off x="4355690" y="1387881"/>
            <a:ext cx="169115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InstancingSRV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72122-5080-A5A6-2DEE-7D69CDA84F84}"/>
              </a:ext>
            </a:extLst>
          </p:cNvPr>
          <p:cNvSpPr txBox="1"/>
          <p:nvPr/>
        </p:nvSpPr>
        <p:spPr>
          <a:xfrm>
            <a:off x="6046841" y="1387881"/>
            <a:ext cx="558472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49D7F-39EE-8DDD-C651-3B35646D5CC8}"/>
              </a:ext>
            </a:extLst>
          </p:cNvPr>
          <p:cNvSpPr txBox="1"/>
          <p:nvPr/>
        </p:nvSpPr>
        <p:spPr>
          <a:xfrm>
            <a:off x="170961" y="943614"/>
            <a:ext cx="16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NSV_Creation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A174F-5DAB-36E6-038B-606AB2743A4F}"/>
              </a:ext>
            </a:extLst>
          </p:cNvPr>
          <p:cNvSpPr txBox="1"/>
          <p:nvPr/>
        </p:nvSpPr>
        <p:spPr>
          <a:xfrm>
            <a:off x="510734" y="2471238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NSV_Copy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68EE92-C83D-C2AD-7DD0-C0FAC6F701B8}"/>
              </a:ext>
            </a:extLst>
          </p:cNvPr>
          <p:cNvSpPr txBox="1"/>
          <p:nvPr/>
        </p:nvSpPr>
        <p:spPr>
          <a:xfrm>
            <a:off x="140150" y="4269988"/>
            <a:ext cx="12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SV_Render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DB98795-016D-B87C-896F-C48687559EC0}"/>
              </a:ext>
            </a:extLst>
          </p:cNvPr>
          <p:cNvCxnSpPr>
            <a:cxnSpLocks/>
          </p:cNvCxnSpPr>
          <p:nvPr/>
        </p:nvCxnSpPr>
        <p:spPr>
          <a:xfrm>
            <a:off x="4355690" y="1281655"/>
            <a:ext cx="0" cy="106226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26573C-7789-7FBB-0F79-068B3C74B00A}"/>
              </a:ext>
            </a:extLst>
          </p:cNvPr>
          <p:cNvSpPr txBox="1"/>
          <p:nvPr/>
        </p:nvSpPr>
        <p:spPr>
          <a:xfrm>
            <a:off x="3547866" y="819990"/>
            <a:ext cx="5096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만약 할당된 범위가 가득 찬 상태에서 다음 </a:t>
            </a:r>
            <a:r>
              <a:rPr lang="en-US" altLang="ko-KR" sz="1200" dirty="0"/>
              <a:t>Desc</a:t>
            </a:r>
            <a:r>
              <a:rPr lang="ko-KR" altLang="en-US" sz="1200" dirty="0"/>
              <a:t>를 넣으려 시도한다면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 err="1"/>
              <a:t>NSV_Copy</a:t>
            </a:r>
            <a:r>
              <a:rPr lang="ko-KR" altLang="en-US" sz="1200" dirty="0"/>
              <a:t>를 이용해 </a:t>
            </a:r>
            <a:r>
              <a:rPr lang="en-US" altLang="ko-KR" sz="1200" dirty="0" err="1"/>
              <a:t>NSV_Creation</a:t>
            </a:r>
            <a:r>
              <a:rPr lang="ko-KR" altLang="en-US" sz="1200" dirty="0"/>
              <a:t>의 구조를 전체적으로 바꾼다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5310F7-242F-BD7C-56A2-CD3E70BC04F5}"/>
              </a:ext>
            </a:extLst>
          </p:cNvPr>
          <p:cNvSpPr txBox="1"/>
          <p:nvPr/>
        </p:nvSpPr>
        <p:spPr>
          <a:xfrm>
            <a:off x="440128" y="2091904"/>
            <a:ext cx="69058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Init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768962-ED61-F0F6-4F86-363FAF40DFAB}"/>
              </a:ext>
            </a:extLst>
          </p:cNvPr>
          <p:cNvSpPr txBox="1"/>
          <p:nvPr/>
        </p:nvSpPr>
        <p:spPr>
          <a:xfrm>
            <a:off x="1130708" y="2091904"/>
            <a:ext cx="17599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MaterialTexSRV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A6B8C-F3F2-10A8-714D-DA14F893C488}"/>
              </a:ext>
            </a:extLst>
          </p:cNvPr>
          <p:cNvSpPr txBox="1"/>
          <p:nvPr/>
        </p:nvSpPr>
        <p:spPr>
          <a:xfrm>
            <a:off x="2890682" y="2091904"/>
            <a:ext cx="315615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MaterialCBV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8C01C0-5FBF-641A-4D8A-63A153CF08A3}"/>
              </a:ext>
            </a:extLst>
          </p:cNvPr>
          <p:cNvSpPr txBox="1"/>
          <p:nvPr/>
        </p:nvSpPr>
        <p:spPr>
          <a:xfrm>
            <a:off x="6046832" y="2091904"/>
            <a:ext cx="169115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InstancingSRV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A265FE-3989-5346-2243-C485FBEACC2A}"/>
              </a:ext>
            </a:extLst>
          </p:cNvPr>
          <p:cNvSpPr txBox="1"/>
          <p:nvPr/>
        </p:nvSpPr>
        <p:spPr>
          <a:xfrm>
            <a:off x="7737977" y="2091904"/>
            <a:ext cx="35494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69FDB54-5DB1-7183-5414-D2176506831B}"/>
              </a:ext>
            </a:extLst>
          </p:cNvPr>
          <p:cNvCxnSpPr>
            <a:cxnSpLocks/>
          </p:cNvCxnSpPr>
          <p:nvPr/>
        </p:nvCxnSpPr>
        <p:spPr>
          <a:xfrm flipH="1">
            <a:off x="440127" y="1757213"/>
            <a:ext cx="1" cy="28001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1F993D0-4C7C-C3D5-785F-4C1231259CC0}"/>
              </a:ext>
            </a:extLst>
          </p:cNvPr>
          <p:cNvCxnSpPr>
            <a:cxnSpLocks/>
          </p:cNvCxnSpPr>
          <p:nvPr/>
        </p:nvCxnSpPr>
        <p:spPr>
          <a:xfrm>
            <a:off x="1130707" y="1757213"/>
            <a:ext cx="7382" cy="33469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ABC3F23-065F-C479-5BC6-0F6BED7EC384}"/>
              </a:ext>
            </a:extLst>
          </p:cNvPr>
          <p:cNvCxnSpPr>
            <a:cxnSpLocks/>
          </p:cNvCxnSpPr>
          <p:nvPr/>
        </p:nvCxnSpPr>
        <p:spPr>
          <a:xfrm flipH="1">
            <a:off x="2890682" y="1747211"/>
            <a:ext cx="1" cy="34469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77BA0F5-4D4A-BA77-EB80-C1A901AA2559}"/>
              </a:ext>
            </a:extLst>
          </p:cNvPr>
          <p:cNvCxnSpPr>
            <a:cxnSpLocks/>
          </p:cNvCxnSpPr>
          <p:nvPr/>
        </p:nvCxnSpPr>
        <p:spPr>
          <a:xfrm>
            <a:off x="4355689" y="1757213"/>
            <a:ext cx="0" cy="33469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FC5472E-AE03-9666-7F44-D26C9B4C634F}"/>
              </a:ext>
            </a:extLst>
          </p:cNvPr>
          <p:cNvCxnSpPr>
            <a:cxnSpLocks/>
          </p:cNvCxnSpPr>
          <p:nvPr/>
        </p:nvCxnSpPr>
        <p:spPr>
          <a:xfrm>
            <a:off x="4355689" y="1757213"/>
            <a:ext cx="1740311" cy="33469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005AB73-F653-7C83-295C-53FD927D836B}"/>
              </a:ext>
            </a:extLst>
          </p:cNvPr>
          <p:cNvCxnSpPr>
            <a:cxnSpLocks/>
          </p:cNvCxnSpPr>
          <p:nvPr/>
        </p:nvCxnSpPr>
        <p:spPr>
          <a:xfrm>
            <a:off x="6046832" y="1757213"/>
            <a:ext cx="1683761" cy="326177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604ABE1-83E3-EE2D-E61B-A93466C208FC}"/>
              </a:ext>
            </a:extLst>
          </p:cNvPr>
          <p:cNvSpPr txBox="1"/>
          <p:nvPr/>
        </p:nvSpPr>
        <p:spPr>
          <a:xfrm>
            <a:off x="4395031" y="2091904"/>
            <a:ext cx="164442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4E6418-FEB3-9C4B-7842-F191A720123A}"/>
              </a:ext>
            </a:extLst>
          </p:cNvPr>
          <p:cNvSpPr txBox="1"/>
          <p:nvPr/>
        </p:nvSpPr>
        <p:spPr>
          <a:xfrm>
            <a:off x="8554634" y="2527657"/>
            <a:ext cx="3529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복사가 끝나면 다시 </a:t>
            </a:r>
            <a:r>
              <a:rPr lang="en-US" altLang="ko-KR" sz="1200" dirty="0"/>
              <a:t>NSV Creation</a:t>
            </a:r>
            <a:r>
              <a:rPr lang="ko-KR" altLang="en-US" sz="1200" dirty="0"/>
              <a:t>으로 복사한다</a:t>
            </a:r>
            <a:r>
              <a:rPr lang="en-US" altLang="ko-KR" sz="12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407273-72BE-1144-B711-5791FF225394}"/>
              </a:ext>
            </a:extLst>
          </p:cNvPr>
          <p:cNvSpPr txBox="1"/>
          <p:nvPr/>
        </p:nvSpPr>
        <p:spPr>
          <a:xfrm>
            <a:off x="121798" y="3267732"/>
            <a:ext cx="16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NSV_Creation</a:t>
            </a:r>
            <a:endParaRPr lang="ko-KR" altLang="en-US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625975F-C483-F6FC-8EE1-B0EA55AF1229}"/>
              </a:ext>
            </a:extLst>
          </p:cNvPr>
          <p:cNvCxnSpPr>
            <a:cxnSpLocks/>
          </p:cNvCxnSpPr>
          <p:nvPr/>
        </p:nvCxnSpPr>
        <p:spPr>
          <a:xfrm flipH="1">
            <a:off x="433793" y="2481491"/>
            <a:ext cx="13715" cy="451997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080ADA2-4D19-BCCB-7A3F-62BCA035F4A7}"/>
              </a:ext>
            </a:extLst>
          </p:cNvPr>
          <p:cNvSpPr txBox="1"/>
          <p:nvPr/>
        </p:nvSpPr>
        <p:spPr>
          <a:xfrm>
            <a:off x="447509" y="2908402"/>
            <a:ext cx="69058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Init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9DCC0A-FE72-6757-3563-74B8C45B9B32}"/>
              </a:ext>
            </a:extLst>
          </p:cNvPr>
          <p:cNvSpPr txBox="1"/>
          <p:nvPr/>
        </p:nvSpPr>
        <p:spPr>
          <a:xfrm>
            <a:off x="1138089" y="2908402"/>
            <a:ext cx="17599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MaterialTexSRV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D04367-A75F-3125-284C-988658C03EDA}"/>
              </a:ext>
            </a:extLst>
          </p:cNvPr>
          <p:cNvSpPr txBox="1"/>
          <p:nvPr/>
        </p:nvSpPr>
        <p:spPr>
          <a:xfrm>
            <a:off x="2898063" y="2908402"/>
            <a:ext cx="315615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MaterialCBV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781994-551A-8D9E-C9BF-C4277BCDE966}"/>
              </a:ext>
            </a:extLst>
          </p:cNvPr>
          <p:cNvSpPr txBox="1"/>
          <p:nvPr/>
        </p:nvSpPr>
        <p:spPr>
          <a:xfrm>
            <a:off x="6054213" y="2908402"/>
            <a:ext cx="169115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InstancingSRV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51BFD0-402F-9810-354D-08CACF0F23DF}"/>
              </a:ext>
            </a:extLst>
          </p:cNvPr>
          <p:cNvSpPr txBox="1"/>
          <p:nvPr/>
        </p:nvSpPr>
        <p:spPr>
          <a:xfrm>
            <a:off x="7745358" y="2908402"/>
            <a:ext cx="35494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0D2B5E-BBE3-9DA8-1A4D-BE3653907D56}"/>
              </a:ext>
            </a:extLst>
          </p:cNvPr>
          <p:cNvSpPr txBox="1"/>
          <p:nvPr/>
        </p:nvSpPr>
        <p:spPr>
          <a:xfrm>
            <a:off x="4402412" y="2908402"/>
            <a:ext cx="164442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5B7F068-C48D-DE59-1F9D-3760695A6CD3}"/>
              </a:ext>
            </a:extLst>
          </p:cNvPr>
          <p:cNvCxnSpPr>
            <a:cxnSpLocks/>
          </p:cNvCxnSpPr>
          <p:nvPr/>
        </p:nvCxnSpPr>
        <p:spPr>
          <a:xfrm>
            <a:off x="7758022" y="2481491"/>
            <a:ext cx="0" cy="42691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F509294-E334-83DE-E764-B830FFD348BE}"/>
              </a:ext>
            </a:extLst>
          </p:cNvPr>
          <p:cNvSpPr txBox="1"/>
          <p:nvPr/>
        </p:nvSpPr>
        <p:spPr>
          <a:xfrm>
            <a:off x="6651573" y="3360065"/>
            <a:ext cx="5540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렌더가</a:t>
            </a:r>
            <a:r>
              <a:rPr lang="ko-KR" altLang="en-US" sz="1200" dirty="0"/>
              <a:t> 시작하기 바로 직전에 </a:t>
            </a:r>
            <a:r>
              <a:rPr lang="en-US" altLang="ko-KR" sz="1200" dirty="0" err="1"/>
              <a:t>SV_Render</a:t>
            </a:r>
            <a:r>
              <a:rPr lang="ko-KR" altLang="en-US" sz="1200" dirty="0"/>
              <a:t>로 복사한다</a:t>
            </a:r>
            <a:r>
              <a:rPr lang="en-US" altLang="ko-KR" sz="1200" dirty="0"/>
              <a:t>. (</a:t>
            </a:r>
            <a:r>
              <a:rPr lang="ko-KR" altLang="en-US" sz="1200" dirty="0" err="1"/>
              <a:t>셰이더에서</a:t>
            </a:r>
            <a:r>
              <a:rPr lang="ko-KR" altLang="en-US" sz="1200" dirty="0"/>
              <a:t> 볼 수 있게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6EA721-D511-BCEC-C2AB-D58417E619C3}"/>
              </a:ext>
            </a:extLst>
          </p:cNvPr>
          <p:cNvSpPr txBox="1"/>
          <p:nvPr/>
        </p:nvSpPr>
        <p:spPr>
          <a:xfrm>
            <a:off x="447509" y="3910658"/>
            <a:ext cx="69058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Init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2D193D-E998-371D-EA07-3F10454B5504}"/>
              </a:ext>
            </a:extLst>
          </p:cNvPr>
          <p:cNvSpPr txBox="1"/>
          <p:nvPr/>
        </p:nvSpPr>
        <p:spPr>
          <a:xfrm>
            <a:off x="1138089" y="3910658"/>
            <a:ext cx="17599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MaterialTexSRV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6CB40D-2BC5-F194-0A63-278D06DF875D}"/>
              </a:ext>
            </a:extLst>
          </p:cNvPr>
          <p:cNvSpPr txBox="1"/>
          <p:nvPr/>
        </p:nvSpPr>
        <p:spPr>
          <a:xfrm>
            <a:off x="2898063" y="3910658"/>
            <a:ext cx="315615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MaterialCBV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7160A3-9976-75FE-2FB2-B0BEE293C7A3}"/>
              </a:ext>
            </a:extLst>
          </p:cNvPr>
          <p:cNvSpPr txBox="1"/>
          <p:nvPr/>
        </p:nvSpPr>
        <p:spPr>
          <a:xfrm>
            <a:off x="6054213" y="3910658"/>
            <a:ext cx="169115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InstancingSRV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7A911D-C963-177F-A887-26EB550BE6B5}"/>
              </a:ext>
            </a:extLst>
          </p:cNvPr>
          <p:cNvSpPr txBox="1"/>
          <p:nvPr/>
        </p:nvSpPr>
        <p:spPr>
          <a:xfrm>
            <a:off x="7745358" y="3910658"/>
            <a:ext cx="35494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DynamicRange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F37391-E26A-CA67-EE80-F49983813355}"/>
              </a:ext>
            </a:extLst>
          </p:cNvPr>
          <p:cNvSpPr txBox="1"/>
          <p:nvPr/>
        </p:nvSpPr>
        <p:spPr>
          <a:xfrm>
            <a:off x="4402412" y="3910658"/>
            <a:ext cx="164442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F36B26D-4E70-E1F3-E097-8DF2EE82C592}"/>
              </a:ext>
            </a:extLst>
          </p:cNvPr>
          <p:cNvCxnSpPr>
            <a:cxnSpLocks/>
          </p:cNvCxnSpPr>
          <p:nvPr/>
        </p:nvCxnSpPr>
        <p:spPr>
          <a:xfrm flipH="1">
            <a:off x="440128" y="3292818"/>
            <a:ext cx="7380" cy="61784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7114C01D-7B99-0696-68AB-54D07669F2D6}"/>
              </a:ext>
            </a:extLst>
          </p:cNvPr>
          <p:cNvCxnSpPr>
            <a:cxnSpLocks/>
          </p:cNvCxnSpPr>
          <p:nvPr/>
        </p:nvCxnSpPr>
        <p:spPr>
          <a:xfrm>
            <a:off x="7745358" y="3267732"/>
            <a:ext cx="7387" cy="642926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슬라이드 확대/축소 32">
                <a:extLst>
                  <a:ext uri="{FF2B5EF4-FFF2-40B4-BE49-F238E27FC236}">
                    <a16:creationId xmlns:a16="http://schemas.microsoft.com/office/drawing/2014/main" id="{719920B9-52AF-7979-CBF3-6D4417F30F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1951764"/>
                  </p:ext>
                </p:extLst>
              </p:nvPr>
            </p:nvGraphicFramePr>
            <p:xfrm>
              <a:off x="433793" y="4639320"/>
              <a:ext cx="3785294" cy="2129228"/>
            </p:xfrm>
            <a:graphic>
              <a:graphicData uri="http://schemas.microsoft.com/office/powerpoint/2016/slidezoom">
                <pslz:sldZm>
                  <pslz:sldZmObj sldId="294" cId="932065989">
                    <pslz:zmPr id="{5073C7AB-0B7C-4532-8F90-51F0BDE4C8D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85294" cy="212922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슬라이드 확대/축소 3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19920B9-52AF-7979-CBF3-6D4417F30F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793" y="4639320"/>
                <a:ext cx="3785294" cy="212922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497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9E2D0-F179-5758-E73D-F3AE2D0B7249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1866880" cy="85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/>
              <a:t>Zone</a:t>
            </a:r>
            <a:r>
              <a:rPr lang="ko-KR" altLang="en-US" sz="5400"/>
              <a:t>이 변할때의 </a:t>
            </a:r>
            <a:r>
              <a:rPr lang="en-US" altLang="ko-KR" sz="5400"/>
              <a:t>SVDescHeap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93206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648C-C07A-B4F6-89BC-44968E71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40FD7-4500-3811-D022-B50DC4F4B6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186688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DescIndex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FF546-9227-039F-804C-D2A8FDF1D693}"/>
              </a:ext>
            </a:extLst>
          </p:cNvPr>
          <p:cNvSpPr txBox="1"/>
          <p:nvPr/>
        </p:nvSpPr>
        <p:spPr>
          <a:xfrm>
            <a:off x="419809" y="1128281"/>
            <a:ext cx="69058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Init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17E53-2F5F-6D6E-CED8-B3E6EF82D32D}"/>
              </a:ext>
            </a:extLst>
          </p:cNvPr>
          <p:cNvSpPr txBox="1"/>
          <p:nvPr/>
        </p:nvSpPr>
        <p:spPr>
          <a:xfrm>
            <a:off x="1110389" y="1128281"/>
            <a:ext cx="17599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MaterialTexSRV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BEDF2-4306-F04A-41EC-3033EF9DEEA0}"/>
              </a:ext>
            </a:extLst>
          </p:cNvPr>
          <p:cNvSpPr txBox="1"/>
          <p:nvPr/>
        </p:nvSpPr>
        <p:spPr>
          <a:xfrm>
            <a:off x="2870364" y="1128281"/>
            <a:ext cx="1465006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MaterialCBV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BE8A0-5586-EA19-E0A3-F7DF232EBF7A}"/>
              </a:ext>
            </a:extLst>
          </p:cNvPr>
          <p:cNvSpPr txBox="1"/>
          <p:nvPr/>
        </p:nvSpPr>
        <p:spPr>
          <a:xfrm>
            <a:off x="4335370" y="1128281"/>
            <a:ext cx="169115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InstancingSRV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35BE7-EAF2-A0EC-9AD8-140EE1F89D48}"/>
              </a:ext>
            </a:extLst>
          </p:cNvPr>
          <p:cNvSpPr txBox="1"/>
          <p:nvPr/>
        </p:nvSpPr>
        <p:spPr>
          <a:xfrm>
            <a:off x="6026521" y="1128281"/>
            <a:ext cx="558472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44242-AE13-8E1D-0498-5FC0DA3F7976}"/>
              </a:ext>
            </a:extLst>
          </p:cNvPr>
          <p:cNvSpPr txBox="1"/>
          <p:nvPr/>
        </p:nvSpPr>
        <p:spPr>
          <a:xfrm>
            <a:off x="150641" y="684014"/>
            <a:ext cx="16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NSV_Creation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4081D3B-520B-AEEF-E432-70864ADCE90D}"/>
              </a:ext>
            </a:extLst>
          </p:cNvPr>
          <p:cNvCxnSpPr>
            <a:cxnSpLocks/>
          </p:cNvCxnSpPr>
          <p:nvPr/>
        </p:nvCxnSpPr>
        <p:spPr>
          <a:xfrm>
            <a:off x="4335370" y="1022055"/>
            <a:ext cx="0" cy="106226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35D3E5-D332-1ED6-A355-A9BCD0E56A6A}"/>
              </a:ext>
            </a:extLst>
          </p:cNvPr>
          <p:cNvSpPr txBox="1"/>
          <p:nvPr/>
        </p:nvSpPr>
        <p:spPr>
          <a:xfrm>
            <a:off x="223907" y="2802798"/>
            <a:ext cx="7973208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SVDescHeap2 </a:t>
            </a:r>
            <a:r>
              <a:rPr lang="ko-KR" altLang="en-US" sz="1200" dirty="0"/>
              <a:t>구조체에서는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리소스 생성에는 </a:t>
            </a:r>
            <a:r>
              <a:rPr lang="en-US" altLang="ko-KR" sz="1200" dirty="0" err="1"/>
              <a:t>NSV_Creation</a:t>
            </a:r>
            <a:r>
              <a:rPr lang="ko-KR" altLang="en-US" sz="1200" dirty="0"/>
              <a:t>의 </a:t>
            </a:r>
            <a:r>
              <a:rPr lang="en-US" altLang="ko-KR" sz="1200" dirty="0"/>
              <a:t>Desc</a:t>
            </a:r>
            <a:r>
              <a:rPr lang="ko-KR" altLang="en-US" sz="1200" dirty="0"/>
              <a:t>를 참조해야 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렌더링을 </a:t>
            </a:r>
            <a:r>
              <a:rPr lang="ko-KR" altLang="en-US" sz="1200" dirty="0" err="1"/>
              <a:t>할때는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SV_Render</a:t>
            </a:r>
            <a:r>
              <a:rPr lang="ko-KR" altLang="en-US" sz="1200" dirty="0"/>
              <a:t>의 </a:t>
            </a:r>
            <a:r>
              <a:rPr lang="en-US" altLang="ko-KR" sz="1200" dirty="0"/>
              <a:t>Desc</a:t>
            </a:r>
            <a:r>
              <a:rPr lang="ko-KR" altLang="en-US" sz="1200" dirty="0"/>
              <a:t>를 참조해야 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때문에 리소스가 </a:t>
            </a:r>
            <a:r>
              <a:rPr lang="en-US" altLang="ko-KR" sz="1200" dirty="0" err="1"/>
              <a:t>DescHandle</a:t>
            </a:r>
            <a:r>
              <a:rPr lang="ko-KR" altLang="en-US" sz="1200" dirty="0"/>
              <a:t>을 두개 </a:t>
            </a:r>
            <a:r>
              <a:rPr lang="ko-KR" altLang="en-US" sz="1200" dirty="0" err="1"/>
              <a:t>가져야한다는</a:t>
            </a:r>
            <a:r>
              <a:rPr lang="ko-KR" altLang="en-US" sz="1200" dirty="0"/>
              <a:t> 단점이 있었다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이를 극복하기 위해서 </a:t>
            </a:r>
            <a:br>
              <a:rPr lang="en-US" altLang="ko-KR" sz="1200" dirty="0"/>
            </a:br>
            <a:r>
              <a:rPr lang="en-US" altLang="ko-KR" sz="1200" dirty="0" err="1"/>
              <a:t>DescIndex</a:t>
            </a:r>
            <a:r>
              <a:rPr lang="ko-KR" altLang="en-US" sz="1200" dirty="0"/>
              <a:t>라는 구조체를 만들었다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 err="1"/>
              <a:t>isShaderVisible</a:t>
            </a:r>
            <a:r>
              <a:rPr lang="ko-KR" altLang="en-US" sz="1200" dirty="0"/>
              <a:t>가 </a:t>
            </a:r>
            <a:r>
              <a:rPr lang="en-US" altLang="ko-KR" sz="1200" dirty="0"/>
              <a:t>true</a:t>
            </a:r>
            <a:r>
              <a:rPr lang="ko-KR" altLang="en-US" sz="1200" dirty="0"/>
              <a:t>면 </a:t>
            </a:r>
            <a:r>
              <a:rPr lang="en-US" altLang="ko-KR" sz="1200" dirty="0" err="1"/>
              <a:t>SVDescHeap</a:t>
            </a:r>
            <a:r>
              <a:rPr lang="en-US" altLang="ko-KR" sz="1200" dirty="0"/>
              <a:t> </a:t>
            </a:r>
            <a:r>
              <a:rPr lang="ko-KR" altLang="en-US" sz="1200" dirty="0"/>
              <a:t>구조체안에 있다는 것이고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아니라면 </a:t>
            </a:r>
            <a:r>
              <a:rPr lang="en-US" altLang="ko-KR" sz="1200" dirty="0" err="1"/>
              <a:t>ResourceDescSaver</a:t>
            </a:r>
            <a:r>
              <a:rPr lang="ko-KR" altLang="en-US" sz="1200" dirty="0"/>
              <a:t>에 들어가서 나중에 유동적으로 리소스를 보여주겠다는 </a:t>
            </a:r>
            <a:endParaRPr lang="en-US" altLang="ko-KR" sz="1200" dirty="0"/>
          </a:p>
          <a:p>
            <a:r>
              <a:rPr lang="ko-KR" altLang="en-US" sz="1200" dirty="0"/>
              <a:t>의미다</a:t>
            </a:r>
            <a:r>
              <a:rPr lang="en-US" altLang="ko-KR" sz="1200" dirty="0"/>
              <a:t>. </a:t>
            </a:r>
            <a:r>
              <a:rPr lang="ko-KR" altLang="en-US" sz="1200" dirty="0"/>
              <a:t>때문에 </a:t>
            </a:r>
            <a:r>
              <a:rPr lang="en-US" altLang="ko-KR" sz="1200" dirty="0" err="1"/>
              <a:t>isShaderVisible</a:t>
            </a:r>
            <a:r>
              <a:rPr lang="ko-KR" altLang="en-US" sz="1200" dirty="0"/>
              <a:t>이 </a:t>
            </a:r>
            <a:r>
              <a:rPr lang="en-US" altLang="ko-KR" sz="1200" dirty="0"/>
              <a:t>false</a:t>
            </a:r>
            <a:r>
              <a:rPr lang="ko-KR" altLang="en-US" sz="1200" dirty="0"/>
              <a:t>면 </a:t>
            </a:r>
            <a:r>
              <a:rPr lang="en-US" altLang="ko-KR" sz="1200" dirty="0"/>
              <a:t>Render</a:t>
            </a:r>
            <a:r>
              <a:rPr lang="ko-KR" altLang="en-US" sz="1200" dirty="0"/>
              <a:t>용 </a:t>
            </a:r>
            <a:r>
              <a:rPr lang="en-US" altLang="ko-KR" sz="1200" dirty="0"/>
              <a:t>Desc</a:t>
            </a:r>
            <a:r>
              <a:rPr lang="ko-KR" altLang="en-US" sz="1200" dirty="0"/>
              <a:t>가 존재할 수 없다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Type</a:t>
            </a:r>
            <a:r>
              <a:rPr lang="ko-KR" altLang="en-US" sz="1200" dirty="0"/>
              <a:t>은 이 </a:t>
            </a:r>
            <a:r>
              <a:rPr lang="ko-KR" altLang="en-US" sz="1200" dirty="0" err="1"/>
              <a:t>디스크립터의</a:t>
            </a:r>
            <a:r>
              <a:rPr lang="ko-KR" altLang="en-US" sz="1200" dirty="0"/>
              <a:t> 타입을 말해준다</a:t>
            </a:r>
            <a:r>
              <a:rPr lang="en-US" altLang="ko-KR" sz="1200" dirty="0"/>
              <a:t>. UAVSRVCBV, RTV, DSV</a:t>
            </a:r>
            <a:r>
              <a:rPr lang="ko-KR" altLang="en-US" sz="1200" dirty="0"/>
              <a:t>등이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Index</a:t>
            </a:r>
            <a:r>
              <a:rPr lang="ko-KR" altLang="en-US" sz="1200" dirty="0"/>
              <a:t>는 해당 </a:t>
            </a:r>
            <a:r>
              <a:rPr lang="en-US" altLang="ko-KR" sz="1200" dirty="0"/>
              <a:t>Desc</a:t>
            </a:r>
            <a:r>
              <a:rPr lang="ko-KR" altLang="en-US" sz="1200" dirty="0"/>
              <a:t>가 </a:t>
            </a:r>
            <a:r>
              <a:rPr lang="en-US" altLang="ko-KR" sz="1200" dirty="0" err="1"/>
              <a:t>DecsHeap</a:t>
            </a:r>
            <a:r>
              <a:rPr lang="ko-KR" altLang="en-US" sz="1200" dirty="0"/>
              <a:t>에 </a:t>
            </a:r>
            <a:r>
              <a:rPr lang="ko-KR" altLang="en-US" sz="1200" dirty="0" err="1"/>
              <a:t>몇번째</a:t>
            </a:r>
            <a:r>
              <a:rPr lang="ko-KR" altLang="en-US" sz="1200" dirty="0"/>
              <a:t> </a:t>
            </a:r>
            <a:r>
              <a:rPr lang="en-US" altLang="ko-KR" sz="1200" dirty="0"/>
              <a:t>Desc</a:t>
            </a:r>
            <a:r>
              <a:rPr lang="ko-KR" altLang="en-US" sz="1200" dirty="0"/>
              <a:t>인지 알려준다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때문에 </a:t>
            </a:r>
            <a:r>
              <a:rPr lang="en-US" altLang="ko-KR" sz="1200" dirty="0" err="1"/>
              <a:t>DescHeap</a:t>
            </a:r>
            <a:r>
              <a:rPr lang="ko-KR" altLang="en-US" sz="1200" dirty="0"/>
              <a:t>의 구조가 바뀌더라도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리소스의 </a:t>
            </a:r>
            <a:r>
              <a:rPr lang="en-US" altLang="ko-KR" sz="1200" dirty="0" err="1"/>
              <a:t>DescIndex</a:t>
            </a:r>
            <a:r>
              <a:rPr lang="ko-KR" altLang="en-US" sz="1200" dirty="0"/>
              <a:t>의 </a:t>
            </a:r>
            <a:r>
              <a:rPr lang="en-US" altLang="ko-KR" sz="1200" dirty="0"/>
              <a:t>index</a:t>
            </a:r>
            <a:r>
              <a:rPr lang="ko-KR" altLang="en-US" sz="1200" dirty="0"/>
              <a:t>값만 </a:t>
            </a:r>
            <a:endParaRPr lang="en-US" altLang="ko-KR" sz="1200" dirty="0"/>
          </a:p>
          <a:p>
            <a:r>
              <a:rPr lang="ko-KR" altLang="en-US" sz="1200" dirty="0"/>
              <a:t>변화량만큼 </a:t>
            </a:r>
            <a:r>
              <a:rPr lang="ko-KR" altLang="en-US" sz="1200" dirty="0" err="1"/>
              <a:t>이격하게</a:t>
            </a:r>
            <a:r>
              <a:rPr lang="ko-KR" altLang="en-US" sz="1200" dirty="0"/>
              <a:t> 되면 </a:t>
            </a:r>
            <a:r>
              <a:rPr lang="en-US" altLang="ko-KR" sz="1200" dirty="0"/>
              <a:t>Desc</a:t>
            </a:r>
            <a:r>
              <a:rPr lang="ko-KR" altLang="en-US" sz="1200" dirty="0"/>
              <a:t>확장이 </a:t>
            </a:r>
            <a:r>
              <a:rPr lang="ko-KR" altLang="en-US" sz="1200" dirty="0" err="1"/>
              <a:t>무리없이</a:t>
            </a:r>
            <a:r>
              <a:rPr lang="ko-KR" altLang="en-US" sz="1200" dirty="0"/>
              <a:t> 가능했다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이걸 하기 위해 </a:t>
            </a:r>
            <a:r>
              <a:rPr lang="en-US" altLang="ko-KR" sz="1200" dirty="0"/>
              <a:t>Game </a:t>
            </a:r>
            <a:r>
              <a:rPr lang="ko-KR" altLang="en-US" sz="1200" dirty="0"/>
              <a:t>구조체에 반영구적인 리소스들의 구조체에 </a:t>
            </a:r>
            <a:r>
              <a:rPr lang="en-US" altLang="ko-KR" sz="1200" dirty="0" err="1"/>
              <a:t>DescIndex</a:t>
            </a:r>
            <a:r>
              <a:rPr lang="ko-KR" altLang="en-US" sz="1200" dirty="0"/>
              <a:t>가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구조가 </a:t>
            </a:r>
            <a:r>
              <a:rPr lang="ko-KR" altLang="en-US" sz="1200" dirty="0" err="1"/>
              <a:t>바뀔때</a:t>
            </a:r>
            <a:r>
              <a:rPr lang="ko-KR" altLang="en-US" sz="1200" dirty="0"/>
              <a:t> 해당 리소스들을 순회하면서 </a:t>
            </a:r>
            <a:r>
              <a:rPr lang="en-US" altLang="ko-KR" sz="1200" dirty="0" err="1"/>
              <a:t>DescIndex</a:t>
            </a:r>
            <a:r>
              <a:rPr lang="ko-KR" altLang="en-US" sz="1200" dirty="0"/>
              <a:t>를 알맞게 </a:t>
            </a:r>
            <a:r>
              <a:rPr lang="ko-KR" altLang="en-US" sz="1200" dirty="0" err="1"/>
              <a:t>이격해준다</a:t>
            </a:r>
            <a:r>
              <a:rPr lang="en-US" altLang="ko-KR" sz="12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64583-56D7-435A-4447-CF29C9AF75E8}"/>
              </a:ext>
            </a:extLst>
          </p:cNvPr>
          <p:cNvSpPr txBox="1"/>
          <p:nvPr/>
        </p:nvSpPr>
        <p:spPr>
          <a:xfrm>
            <a:off x="419808" y="2339197"/>
            <a:ext cx="69058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Init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E6B82C-FE50-C151-EA53-1E9599CF3E55}"/>
              </a:ext>
            </a:extLst>
          </p:cNvPr>
          <p:cNvSpPr txBox="1"/>
          <p:nvPr/>
        </p:nvSpPr>
        <p:spPr>
          <a:xfrm>
            <a:off x="1110388" y="2339197"/>
            <a:ext cx="17599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MaterialTexSRV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6208B5-587A-5946-B112-5285C5100DC2}"/>
              </a:ext>
            </a:extLst>
          </p:cNvPr>
          <p:cNvSpPr txBox="1"/>
          <p:nvPr/>
        </p:nvSpPr>
        <p:spPr>
          <a:xfrm>
            <a:off x="2870362" y="2339197"/>
            <a:ext cx="315615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MaterialCBV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2EC6BD-B450-D684-EA31-9914DCCE0A82}"/>
              </a:ext>
            </a:extLst>
          </p:cNvPr>
          <p:cNvSpPr txBox="1"/>
          <p:nvPr/>
        </p:nvSpPr>
        <p:spPr>
          <a:xfrm>
            <a:off x="6026512" y="2339197"/>
            <a:ext cx="169115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InstancingSRV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3FED09-CAF1-67CF-9356-D34711CDC1CB}"/>
              </a:ext>
            </a:extLst>
          </p:cNvPr>
          <p:cNvSpPr txBox="1"/>
          <p:nvPr/>
        </p:nvSpPr>
        <p:spPr>
          <a:xfrm>
            <a:off x="7717657" y="2339197"/>
            <a:ext cx="35494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757F81F-4BEB-6676-4C51-29EDE84E28CC}"/>
              </a:ext>
            </a:extLst>
          </p:cNvPr>
          <p:cNvCxnSpPr>
            <a:cxnSpLocks/>
          </p:cNvCxnSpPr>
          <p:nvPr/>
        </p:nvCxnSpPr>
        <p:spPr>
          <a:xfrm flipH="1">
            <a:off x="394472" y="1497613"/>
            <a:ext cx="25336" cy="84158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B745534-686F-E271-BBE6-17FBCB243018}"/>
              </a:ext>
            </a:extLst>
          </p:cNvPr>
          <p:cNvCxnSpPr>
            <a:cxnSpLocks/>
          </p:cNvCxnSpPr>
          <p:nvPr/>
        </p:nvCxnSpPr>
        <p:spPr>
          <a:xfrm>
            <a:off x="1110387" y="1497613"/>
            <a:ext cx="0" cy="861588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43D9D05-A342-7AF7-A6FB-DF85950711D2}"/>
              </a:ext>
            </a:extLst>
          </p:cNvPr>
          <p:cNvCxnSpPr>
            <a:cxnSpLocks/>
          </p:cNvCxnSpPr>
          <p:nvPr/>
        </p:nvCxnSpPr>
        <p:spPr>
          <a:xfrm>
            <a:off x="2870363" y="1487611"/>
            <a:ext cx="0" cy="861588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9182AF9-F4DB-37D4-381D-E4C354FD65C8}"/>
              </a:ext>
            </a:extLst>
          </p:cNvPr>
          <p:cNvCxnSpPr>
            <a:cxnSpLocks/>
          </p:cNvCxnSpPr>
          <p:nvPr/>
        </p:nvCxnSpPr>
        <p:spPr>
          <a:xfrm>
            <a:off x="4335369" y="1497613"/>
            <a:ext cx="0" cy="84158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CDD0A11-6CA2-9C2C-A085-0C5091D62419}"/>
              </a:ext>
            </a:extLst>
          </p:cNvPr>
          <p:cNvCxnSpPr>
            <a:cxnSpLocks/>
          </p:cNvCxnSpPr>
          <p:nvPr/>
        </p:nvCxnSpPr>
        <p:spPr>
          <a:xfrm>
            <a:off x="4335369" y="1497613"/>
            <a:ext cx="1698520" cy="84158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C9C3C5A-0405-C848-341C-D9F384467D7E}"/>
              </a:ext>
            </a:extLst>
          </p:cNvPr>
          <p:cNvCxnSpPr>
            <a:cxnSpLocks/>
          </p:cNvCxnSpPr>
          <p:nvPr/>
        </p:nvCxnSpPr>
        <p:spPr>
          <a:xfrm>
            <a:off x="6026512" y="1497613"/>
            <a:ext cx="1683771" cy="84158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DD040DF-2515-A5CA-DFAB-2894FEFDCD0E}"/>
              </a:ext>
            </a:extLst>
          </p:cNvPr>
          <p:cNvSpPr txBox="1"/>
          <p:nvPr/>
        </p:nvSpPr>
        <p:spPr>
          <a:xfrm>
            <a:off x="4374711" y="2339197"/>
            <a:ext cx="164442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Blank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8E80E2-52C8-2F79-37AB-054E39759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305" y="3616397"/>
            <a:ext cx="5834201" cy="303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7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B2EB-63E8-19DA-D97D-80DEC84C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5D5DA-F8C1-0101-8899-CE12B53587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Raster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1DB6C-95A0-A1B2-4D02-A6CB2E37E12E}"/>
              </a:ext>
            </a:extLst>
          </p:cNvPr>
          <p:cNvSpPr txBox="1"/>
          <p:nvPr/>
        </p:nvSpPr>
        <p:spPr>
          <a:xfrm>
            <a:off x="180093" y="1053319"/>
            <a:ext cx="1412566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Object</a:t>
            </a:r>
            <a:r>
              <a:rPr lang="ko-KR" altLang="en-US" dirty="0"/>
              <a:t> </a:t>
            </a:r>
            <a:r>
              <a:rPr lang="ko-KR" altLang="en-US" dirty="0" err="1"/>
              <a:t>컬링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1BE55-94EE-5B97-C9B9-F09CD1DB5D8B}"/>
              </a:ext>
            </a:extLst>
          </p:cNvPr>
          <p:cNvSpPr txBox="1"/>
          <p:nvPr/>
        </p:nvSpPr>
        <p:spPr>
          <a:xfrm>
            <a:off x="6096000" y="1053319"/>
            <a:ext cx="277832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드로우 콜 </a:t>
            </a:r>
            <a:r>
              <a:rPr lang="en-US" altLang="ko-KR" dirty="0"/>
              <a:t>&amp; </a:t>
            </a:r>
            <a:r>
              <a:rPr lang="ko-KR" altLang="en-US" dirty="0" err="1"/>
              <a:t>버택스</a:t>
            </a:r>
            <a:r>
              <a:rPr lang="ko-KR" altLang="en-US" dirty="0"/>
              <a:t>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C9A4F-1973-1886-F88C-DC848725BA94}"/>
              </a:ext>
            </a:extLst>
          </p:cNvPr>
          <p:cNvSpPr txBox="1"/>
          <p:nvPr/>
        </p:nvSpPr>
        <p:spPr>
          <a:xfrm>
            <a:off x="180093" y="3127925"/>
            <a:ext cx="17908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Light </a:t>
            </a:r>
            <a:r>
              <a:rPr lang="ko-KR" altLang="en-US" dirty="0"/>
              <a:t>처리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FE83F-6A9C-C4FC-AC86-A2965F3E8423}"/>
              </a:ext>
            </a:extLst>
          </p:cNvPr>
          <p:cNvSpPr txBox="1"/>
          <p:nvPr/>
        </p:nvSpPr>
        <p:spPr>
          <a:xfrm>
            <a:off x="6096000" y="3145596"/>
            <a:ext cx="225254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GameObject</a:t>
            </a:r>
            <a:r>
              <a:rPr lang="ko-KR" altLang="en-US" dirty="0"/>
              <a:t>의 종류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17599-D3B0-6A9E-4AB9-6130367C0457}"/>
              </a:ext>
            </a:extLst>
          </p:cNvPr>
          <p:cNvSpPr txBox="1"/>
          <p:nvPr/>
        </p:nvSpPr>
        <p:spPr>
          <a:xfrm>
            <a:off x="170093" y="4796507"/>
            <a:ext cx="87716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그림자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1D38C-86C6-135F-62CE-EA4B051E0B45}"/>
              </a:ext>
            </a:extLst>
          </p:cNvPr>
          <p:cNvSpPr txBox="1"/>
          <p:nvPr/>
        </p:nvSpPr>
        <p:spPr>
          <a:xfrm>
            <a:off x="2958417" y="4796507"/>
            <a:ext cx="64633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반사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슬라이드 확대/축소 9">
                <a:extLst>
                  <a:ext uri="{FF2B5EF4-FFF2-40B4-BE49-F238E27FC236}">
                    <a16:creationId xmlns:a16="http://schemas.microsoft.com/office/drawing/2014/main" id="{36927159-5589-C7AD-107C-FBCE2C8E58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8330889"/>
                  </p:ext>
                </p:extLst>
              </p:nvPr>
            </p:nvGraphicFramePr>
            <p:xfrm>
              <a:off x="180092" y="1472797"/>
              <a:ext cx="2778325" cy="1562808"/>
            </p:xfrm>
            <a:graphic>
              <a:graphicData uri="http://schemas.microsoft.com/office/powerpoint/2016/slidezoom">
                <pslz:sldZm>
                  <pslz:sldZmObj sldId="265" cId="263221488">
                    <pslz:zmPr id="{63EE1A11-4E94-4C25-BFC1-4158C6B2386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78325" cy="15628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슬라이드 확대/축소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6927159-5589-C7AD-107C-FBCE2C8E58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092" y="1472797"/>
                <a:ext cx="2778325" cy="15628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슬라이드 확대/축소 11">
                <a:extLst>
                  <a:ext uri="{FF2B5EF4-FFF2-40B4-BE49-F238E27FC236}">
                    <a16:creationId xmlns:a16="http://schemas.microsoft.com/office/drawing/2014/main" id="{C51DCB39-E942-FDA7-1A76-5358BBA4881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1832620"/>
                  </p:ext>
                </p:extLst>
              </p:nvPr>
            </p:nvGraphicFramePr>
            <p:xfrm>
              <a:off x="2958417" y="1472797"/>
              <a:ext cx="2778325" cy="1562808"/>
            </p:xfrm>
            <a:graphic>
              <a:graphicData uri="http://schemas.microsoft.com/office/powerpoint/2016/slidezoom">
                <pslz:sldZm>
                  <pslz:sldZmObj sldId="266" cId="2502613761">
                    <pslz:zmPr id="{3DF0F88A-C4B4-4B73-8457-00D116026201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78325" cy="15628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슬라이드 확대/축소 1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C51DCB39-E942-FDA7-1A76-5358BBA488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8417" y="1472797"/>
                <a:ext cx="2778325" cy="15628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슬라이드 확대/축소 13">
                <a:extLst>
                  <a:ext uri="{FF2B5EF4-FFF2-40B4-BE49-F238E27FC236}">
                    <a16:creationId xmlns:a16="http://schemas.microsoft.com/office/drawing/2014/main" id="{3A0C60E9-4CCD-9FCA-D82D-4FDF9CC5D6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5518450"/>
                  </p:ext>
                </p:extLst>
              </p:nvPr>
            </p:nvGraphicFramePr>
            <p:xfrm>
              <a:off x="170093" y="3526416"/>
              <a:ext cx="2159045" cy="1214463"/>
            </p:xfrm>
            <a:graphic>
              <a:graphicData uri="http://schemas.microsoft.com/office/powerpoint/2016/slidezoom">
                <pslz:sldZm>
                  <pslz:sldZmObj sldId="267" cId="553687500">
                    <pslz:zmPr id="{2E8E69AB-0855-4BA1-8AD9-35242E1A23E1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9045" cy="12144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슬라이드 확대/축소 1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3A0C60E9-4CCD-9FCA-D82D-4FDF9CC5D6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0093" y="3526416"/>
                <a:ext cx="2159045" cy="12144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슬라이드 확대/축소 15">
                <a:extLst>
                  <a:ext uri="{FF2B5EF4-FFF2-40B4-BE49-F238E27FC236}">
                    <a16:creationId xmlns:a16="http://schemas.microsoft.com/office/drawing/2014/main" id="{32EBC4D6-83AD-7410-0B85-375DF64E84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2386230"/>
                  </p:ext>
                </p:extLst>
              </p:nvPr>
            </p:nvGraphicFramePr>
            <p:xfrm>
              <a:off x="2329138" y="3526416"/>
              <a:ext cx="2159045" cy="1214463"/>
            </p:xfrm>
            <a:graphic>
              <a:graphicData uri="http://schemas.microsoft.com/office/powerpoint/2016/slidezoom">
                <pslz:sldZm>
                  <pslz:sldZmObj sldId="268" cId="1408819320">
                    <pslz:zmPr id="{7AF5255F-B81A-4905-9CB3-DA9548B249DD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9045" cy="12144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슬라이드 확대/축소 15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32EBC4D6-83AD-7410-0B85-375DF64E84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29138" y="3526416"/>
                <a:ext cx="2159045" cy="12144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슬라이드 확대/축소 17">
                <a:extLst>
                  <a:ext uri="{FF2B5EF4-FFF2-40B4-BE49-F238E27FC236}">
                    <a16:creationId xmlns:a16="http://schemas.microsoft.com/office/drawing/2014/main" id="{E3ABA768-448A-8C95-D4DF-4AADB0CABC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7357297"/>
                  </p:ext>
                </p:extLst>
              </p:nvPr>
            </p:nvGraphicFramePr>
            <p:xfrm>
              <a:off x="6096000" y="1485048"/>
              <a:ext cx="2778325" cy="1562808"/>
            </p:xfrm>
            <a:graphic>
              <a:graphicData uri="http://schemas.microsoft.com/office/powerpoint/2016/slidezoom">
                <pslz:sldZm>
                  <pslz:sldZmObj sldId="269" cId="2067884293">
                    <pslz:zmPr id="{93AF7E91-8F99-4C22-8120-C7F863FEA8A4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78325" cy="15628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슬라이드 확대/축소 17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E3ABA768-448A-8C95-D4DF-4AADB0CABC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96000" y="1485048"/>
                <a:ext cx="2778325" cy="15628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슬라이드 확대/축소 19">
                <a:extLst>
                  <a:ext uri="{FF2B5EF4-FFF2-40B4-BE49-F238E27FC236}">
                    <a16:creationId xmlns:a16="http://schemas.microsoft.com/office/drawing/2014/main" id="{59C39FA5-0760-1928-8B3F-B56EAB6C80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7605296"/>
                  </p:ext>
                </p:extLst>
              </p:nvPr>
            </p:nvGraphicFramePr>
            <p:xfrm>
              <a:off x="8874324" y="1472797"/>
              <a:ext cx="2778325" cy="1562808"/>
            </p:xfrm>
            <a:graphic>
              <a:graphicData uri="http://schemas.microsoft.com/office/powerpoint/2016/slidezoom">
                <pslz:sldZm>
                  <pslz:sldZmObj sldId="270" cId="4125104201">
                    <pslz:zmPr id="{3ECA6620-0ABA-4E04-813F-EADB7CE9CF63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78325" cy="15628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슬라이드 확대/축소 19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59C39FA5-0760-1928-8B3F-B56EAB6C80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74324" y="1472797"/>
                <a:ext cx="2778325" cy="15628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슬라이드 확대/축소 21">
                <a:extLst>
                  <a:ext uri="{FF2B5EF4-FFF2-40B4-BE49-F238E27FC236}">
                    <a16:creationId xmlns:a16="http://schemas.microsoft.com/office/drawing/2014/main" id="{604035B8-239E-68C6-0F7C-1B5A3AF20E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2493122"/>
                  </p:ext>
                </p:extLst>
              </p:nvPr>
            </p:nvGraphicFramePr>
            <p:xfrm>
              <a:off x="6096000" y="3549391"/>
              <a:ext cx="2675925" cy="1505208"/>
            </p:xfrm>
            <a:graphic>
              <a:graphicData uri="http://schemas.microsoft.com/office/powerpoint/2016/slidezoom">
                <pslz:sldZm>
                  <pslz:sldZmObj sldId="271" cId="1815665238">
                    <pslz:zmPr id="{D690743E-41F9-4BAE-8242-679BCA3314E1}" returnToParent="0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75925" cy="15052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슬라이드 확대/축소 21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604035B8-239E-68C6-0F7C-1B5A3AF20E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96000" y="3549391"/>
                <a:ext cx="2675925" cy="15052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4" name="슬라이드 확대/축소 23">
                <a:extLst>
                  <a:ext uri="{FF2B5EF4-FFF2-40B4-BE49-F238E27FC236}">
                    <a16:creationId xmlns:a16="http://schemas.microsoft.com/office/drawing/2014/main" id="{B671F9B6-EB52-FCB9-BBD7-0E50EC64E9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9250511"/>
                  </p:ext>
                </p:extLst>
              </p:nvPr>
            </p:nvGraphicFramePr>
            <p:xfrm>
              <a:off x="8770534" y="3537905"/>
              <a:ext cx="2675923" cy="1505208"/>
            </p:xfrm>
            <a:graphic>
              <a:graphicData uri="http://schemas.microsoft.com/office/powerpoint/2016/slidezoom">
                <pslz:sldZm>
                  <pslz:sldZmObj sldId="272" cId="1441472548">
                    <pslz:zmPr id="{66D908C9-8FC9-4375-A6D9-E08696BEBFD6}" returnToParent="0" transitionDur="1000">
                      <p166:blipFill xmlns:p166="http://schemas.microsoft.com/office/powerpoint/2016/6/main">
                        <a:blip r:embed="rId2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75923" cy="15052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4" name="슬라이드 확대/축소 23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B671F9B6-EB52-FCB9-BBD7-0E50EC64E9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70534" y="3537905"/>
                <a:ext cx="2675923" cy="15052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슬라이드 확대/축소 25">
                <a:extLst>
                  <a:ext uri="{FF2B5EF4-FFF2-40B4-BE49-F238E27FC236}">
                    <a16:creationId xmlns:a16="http://schemas.microsoft.com/office/drawing/2014/main" id="{ED5ABB81-9220-E126-B9B6-67934342BC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1749043"/>
                  </p:ext>
                </p:extLst>
              </p:nvPr>
            </p:nvGraphicFramePr>
            <p:xfrm>
              <a:off x="6096000" y="5043113"/>
              <a:ext cx="2675923" cy="1505207"/>
            </p:xfrm>
            <a:graphic>
              <a:graphicData uri="http://schemas.microsoft.com/office/powerpoint/2016/slidezoom">
                <pslz:sldZm>
                  <pslz:sldZmObj sldId="273" cId="533062821">
                    <pslz:zmPr id="{5F53CD1A-DB62-4CA5-81C2-8000346DE2CB}" returnToParent="0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75923" cy="15052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슬라이드 확대/축소 25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ED5ABB81-9220-E126-B9B6-67934342BC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96000" y="5043113"/>
                <a:ext cx="2675923" cy="15052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슬라이드 확대/축소 27">
                <a:extLst>
                  <a:ext uri="{FF2B5EF4-FFF2-40B4-BE49-F238E27FC236}">
                    <a16:creationId xmlns:a16="http://schemas.microsoft.com/office/drawing/2014/main" id="{54DA1A88-CDE0-047B-2EDF-C1A1595113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157263"/>
                  </p:ext>
                </p:extLst>
              </p:nvPr>
            </p:nvGraphicFramePr>
            <p:xfrm>
              <a:off x="8770534" y="5019840"/>
              <a:ext cx="2675925" cy="1505208"/>
            </p:xfrm>
            <a:graphic>
              <a:graphicData uri="http://schemas.microsoft.com/office/powerpoint/2016/slidezoom">
                <pslz:sldZm>
                  <pslz:sldZmObj sldId="274" cId="2958472303">
                    <pslz:zmPr id="{40C1809C-2EF7-4796-9DA2-52B9603AB8D1}" returnToParent="0" transitionDur="1000">
                      <p166:blipFill xmlns:p166="http://schemas.microsoft.com/office/powerpoint/2016/6/main">
                        <a:blip r:embed="rId2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75925" cy="15052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슬라이드 확대/축소 27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54DA1A88-CDE0-047B-2EDF-C1A1595113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70534" y="5019840"/>
                <a:ext cx="2675925" cy="15052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56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0FAD-80DD-3F81-E810-F6E3C6FE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EA518-73B9-C10A-263D-8BA9BCFAF9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View</a:t>
            </a:r>
            <a:r>
              <a:rPr lang="ko-KR" altLang="en-US" sz="5400" dirty="0"/>
              <a:t> </a:t>
            </a:r>
            <a:r>
              <a:rPr lang="en-US" altLang="ko-KR" sz="5400" dirty="0"/>
              <a:t>Frustum</a:t>
            </a:r>
            <a:r>
              <a:rPr lang="ko-KR" altLang="en-US" sz="5400" dirty="0"/>
              <a:t> </a:t>
            </a:r>
            <a:r>
              <a:rPr lang="en-US" altLang="ko-KR" sz="5400" dirty="0"/>
              <a:t>Culling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6FA67-470F-213F-77A3-0454538B1C1D}"/>
              </a:ext>
            </a:extLst>
          </p:cNvPr>
          <p:cNvSpPr txBox="1"/>
          <p:nvPr/>
        </p:nvSpPr>
        <p:spPr>
          <a:xfrm>
            <a:off x="12404" y="796412"/>
            <a:ext cx="117049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하나의 뷰 포트는 두개의 </a:t>
            </a:r>
            <a:r>
              <a:rPr lang="ko-KR" altLang="en-US" dirty="0" err="1"/>
              <a:t>프러스텀을</a:t>
            </a:r>
            <a:r>
              <a:rPr lang="ko-KR" altLang="en-US" dirty="0"/>
              <a:t> 가질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직교 </a:t>
            </a:r>
            <a:r>
              <a:rPr lang="ko-KR" altLang="en-US" dirty="0" err="1"/>
              <a:t>프러스텀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원근 </a:t>
            </a:r>
            <a:r>
              <a:rPr lang="ko-KR" altLang="en-US" dirty="0" err="1"/>
              <a:t>프러스텀</a:t>
            </a:r>
            <a:endParaRPr lang="en-US" altLang="ko-KR" dirty="0"/>
          </a:p>
          <a:p>
            <a:r>
              <a:rPr lang="ko-KR" altLang="en-US" dirty="0"/>
              <a:t>직교는 </a:t>
            </a:r>
            <a:r>
              <a:rPr lang="ko-KR" altLang="en-US" dirty="0" err="1"/>
              <a:t>디렉션</a:t>
            </a:r>
            <a:r>
              <a:rPr lang="ko-KR" altLang="en-US" dirty="0"/>
              <a:t> </a:t>
            </a:r>
            <a:r>
              <a:rPr lang="ko-KR" altLang="en-US" dirty="0" err="1"/>
              <a:t>라이팅의</a:t>
            </a:r>
            <a:r>
              <a:rPr lang="ko-KR" altLang="en-US" dirty="0"/>
              <a:t> 쉐도우 매핑과 같은 작업을 </a:t>
            </a:r>
            <a:r>
              <a:rPr lang="ko-KR" altLang="en-US" dirty="0" err="1"/>
              <a:t>할때</a:t>
            </a:r>
            <a:r>
              <a:rPr lang="ko-KR" altLang="en-US" dirty="0"/>
              <a:t> 오브젝트들을 직교로 거르기 위해 사용된다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원근은 화면 렌더링</a:t>
            </a:r>
            <a:r>
              <a:rPr lang="en-US" altLang="ko-KR" dirty="0"/>
              <a:t>, </a:t>
            </a:r>
            <a:r>
              <a:rPr lang="ko-KR" altLang="en-US" dirty="0" err="1"/>
              <a:t>오쿨루션</a:t>
            </a:r>
            <a:r>
              <a:rPr lang="ko-KR" altLang="en-US" dirty="0"/>
              <a:t> </a:t>
            </a:r>
            <a:r>
              <a:rPr lang="ko-KR" altLang="en-US" dirty="0" err="1"/>
              <a:t>컬링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ko-KR" altLang="en-US" dirty="0" err="1"/>
              <a:t>레이트레이싱에서</a:t>
            </a:r>
            <a:r>
              <a:rPr lang="ko-KR" altLang="en-US" dirty="0"/>
              <a:t> </a:t>
            </a:r>
            <a:r>
              <a:rPr lang="en-US" altLang="ko-KR" dirty="0" err="1"/>
              <a:t>SkinMeshBLASUpdate</a:t>
            </a:r>
            <a:r>
              <a:rPr lang="ko-KR" altLang="en-US" dirty="0"/>
              <a:t>를 위해 사용된다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직교나 원근이나 </a:t>
            </a:r>
            <a:r>
              <a:rPr lang="ko-KR" altLang="en-US" dirty="0" err="1"/>
              <a:t>프러스텀</a:t>
            </a:r>
            <a:r>
              <a:rPr lang="ko-KR" altLang="en-US" dirty="0"/>
              <a:t> </a:t>
            </a:r>
            <a:r>
              <a:rPr lang="ko-KR" altLang="en-US" dirty="0" err="1"/>
              <a:t>컬링을</a:t>
            </a:r>
            <a:r>
              <a:rPr lang="ko-KR" altLang="en-US" dirty="0"/>
              <a:t> 하는 방법은 간단하다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그저 </a:t>
            </a:r>
            <a:r>
              <a:rPr lang="en-US" altLang="ko-KR" dirty="0"/>
              <a:t>Game </a:t>
            </a:r>
            <a:r>
              <a:rPr lang="ko-KR" altLang="en-US" dirty="0"/>
              <a:t>구조체에 있는 </a:t>
            </a:r>
            <a:r>
              <a:rPr lang="en-US" altLang="ko-KR" dirty="0" err="1"/>
              <a:t>RenderTour</a:t>
            </a:r>
            <a:r>
              <a:rPr lang="en-US" altLang="ko-KR" dirty="0"/>
              <a:t> </a:t>
            </a:r>
            <a:r>
              <a:rPr lang="ko-KR" altLang="en-US" dirty="0"/>
              <a:t>함수를 호출하면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그럼 오브젝트마다 클래스의 </a:t>
            </a:r>
            <a:r>
              <a:rPr lang="en-US" altLang="ko-KR" dirty="0"/>
              <a:t>inline static </a:t>
            </a:r>
            <a:r>
              <a:rPr lang="ko-KR" altLang="en-US" dirty="0"/>
              <a:t>함수 포인터를 이용해 자신의 </a:t>
            </a:r>
            <a:r>
              <a:rPr lang="ko-KR" altLang="en-US" dirty="0" err="1"/>
              <a:t>맴버함수처럼</a:t>
            </a:r>
            <a:r>
              <a:rPr lang="ko-KR" altLang="en-US" dirty="0"/>
              <a:t> 호출을 하게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</a:t>
            </a:r>
            <a:r>
              <a:rPr lang="ko-KR" altLang="en-US" dirty="0" err="1"/>
              <a:t>함수포인터는</a:t>
            </a:r>
            <a:r>
              <a:rPr lang="ko-KR" altLang="en-US" dirty="0"/>
              <a:t> 작업을 시작하기 전에 프로그래머가 정할 수 있으며</a:t>
            </a:r>
            <a:r>
              <a:rPr lang="en-US" altLang="ko-KR" dirty="0"/>
              <a:t>, </a:t>
            </a:r>
            <a:r>
              <a:rPr lang="ko-KR" altLang="en-US" dirty="0"/>
              <a:t>그것은 </a:t>
            </a:r>
            <a:r>
              <a:rPr lang="en-US" altLang="ko-KR" dirty="0"/>
              <a:t>Update, Render, </a:t>
            </a:r>
            <a:r>
              <a:rPr lang="en-US" altLang="ko-KR" dirty="0" err="1"/>
              <a:t>BLASUpdate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다양한 작업을 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 err="1"/>
              <a:t>RenderTour</a:t>
            </a:r>
            <a:r>
              <a:rPr lang="en-US" altLang="ko-KR" dirty="0"/>
              <a:t> </a:t>
            </a:r>
            <a:r>
              <a:rPr lang="ko-KR" altLang="en-US" dirty="0"/>
              <a:t>함수는 </a:t>
            </a:r>
            <a:r>
              <a:rPr lang="en-US" altLang="ko-KR" dirty="0"/>
              <a:t>template</a:t>
            </a:r>
            <a:r>
              <a:rPr lang="ko-KR" altLang="en-US" dirty="0"/>
              <a:t>함수이기 때문에</a:t>
            </a:r>
            <a:r>
              <a:rPr lang="en-US" altLang="ko-KR" dirty="0"/>
              <a:t>, </a:t>
            </a:r>
            <a:r>
              <a:rPr lang="ko-KR" altLang="en-US" dirty="0" err="1"/>
              <a:t>탬플릿</a:t>
            </a:r>
            <a:r>
              <a:rPr lang="ko-KR" altLang="en-US" dirty="0"/>
              <a:t> 변수로 </a:t>
            </a:r>
            <a:endParaRPr lang="en-US" altLang="ko-KR" dirty="0"/>
          </a:p>
          <a:p>
            <a:r>
              <a:rPr lang="ko-KR" altLang="en-US" dirty="0"/>
              <a:t>어떤 오브젝트에 대해 연산을 </a:t>
            </a:r>
            <a:r>
              <a:rPr lang="ko-KR" altLang="en-US" dirty="0" err="1"/>
              <a:t>수행할건지도</a:t>
            </a:r>
            <a:r>
              <a:rPr lang="ko-KR" altLang="en-US" dirty="0"/>
              <a:t> 선택이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내부적으로 </a:t>
            </a:r>
            <a:r>
              <a:rPr lang="en-US" altLang="ko-KR" dirty="0"/>
              <a:t>if </a:t>
            </a:r>
            <a:r>
              <a:rPr lang="en-US" altLang="ko-KR" dirty="0" err="1"/>
              <a:t>constexpr</a:t>
            </a:r>
            <a:r>
              <a:rPr lang="en-US" altLang="ko-KR" dirty="0"/>
              <a:t> </a:t>
            </a:r>
            <a:r>
              <a:rPr lang="ko-KR" altLang="en-US" dirty="0"/>
              <a:t>로 되어있어서 변수가 다르면 컴파일러는 다른 코드를 만든다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2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986B-4189-A705-595E-FAD18984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BC4AA-47CF-660C-366B-409E4A6BC8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Occulsion</a:t>
            </a:r>
            <a:r>
              <a:rPr lang="en-US" altLang="ko-KR" sz="5400" dirty="0"/>
              <a:t> Culling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5DF22-CBFA-20BB-DD37-3C4DBA847093}"/>
              </a:ext>
            </a:extLst>
          </p:cNvPr>
          <p:cNvSpPr txBox="1"/>
          <p:nvPr/>
        </p:nvSpPr>
        <p:spPr>
          <a:xfrm>
            <a:off x="0" y="868680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아직 실현되지 못함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61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95A7-DA9D-F0A8-C566-F712543F1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352EE-19BE-3DF0-05D5-E21F81DF2C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Forward Rendering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55368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7562-469E-2493-FB5F-78294FBB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93453-CAFC-F41A-1651-9A49100AD5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Defered</a:t>
            </a:r>
            <a:r>
              <a:rPr lang="en-US" altLang="ko-KR" sz="5400" dirty="0"/>
              <a:t> Rendering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6ADAE-70E3-CF4B-B423-1A220BE1DEFD}"/>
              </a:ext>
            </a:extLst>
          </p:cNvPr>
          <p:cNvSpPr txBox="1"/>
          <p:nvPr/>
        </p:nvSpPr>
        <p:spPr>
          <a:xfrm>
            <a:off x="0" y="868680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아직 실현되지 못함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81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54B0-8457-5AC0-FC79-71B22A61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660CE-F0B8-B2E9-55DA-8184AF7609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DrawCalls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67884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9AF8-CDFA-63AA-4348-0A639A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FE5E0-907E-6869-A61A-4F6D83E683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Instancing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125104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B7D4E-9CB6-3B9E-E70D-B60D1119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F1752-72BC-1B6A-1BF0-BCEDB2AD2C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Static/Dynamic Object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815665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CED9-93B6-CFBD-840B-B69AA825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B1D5E-E57E-1E77-D7CA-2467B26BBC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SkinMesh</a:t>
            </a:r>
            <a:r>
              <a:rPr lang="en-US" altLang="ko-KR" sz="5400" dirty="0"/>
              <a:t> Object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441472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99C3-5AB8-D579-375F-5CD63D04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25907-11B0-9A9A-61CB-E8E9773CBE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Mirror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533062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75314-AEDC-574B-CBFE-23A4EC30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DA6C2-84C9-3C6A-6FD9-036446154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Particle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84927-6AF3-F87B-3315-B8AB439EFC04}"/>
              </a:ext>
            </a:extLst>
          </p:cNvPr>
          <p:cNvSpPr txBox="1"/>
          <p:nvPr/>
        </p:nvSpPr>
        <p:spPr>
          <a:xfrm>
            <a:off x="104237" y="868680"/>
            <a:ext cx="12087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Particle Management &amp; Update</a:t>
            </a:r>
          </a:p>
          <a:p>
            <a:r>
              <a:rPr lang="ko-KR" altLang="en-US" dirty="0"/>
              <a:t>모든 </a:t>
            </a:r>
            <a:r>
              <a:rPr lang="ko-KR" altLang="en-US" dirty="0" err="1"/>
              <a:t>파티클</a:t>
            </a:r>
            <a:r>
              <a:rPr lang="ko-KR" altLang="en-US" dirty="0"/>
              <a:t> 데이터는 </a:t>
            </a:r>
            <a:r>
              <a:rPr lang="en-US" altLang="ko-KR" b="1" dirty="0" err="1"/>
              <a:t>StructuredBuffer</a:t>
            </a:r>
            <a:r>
              <a:rPr lang="ko-KR" altLang="en-US" dirty="0"/>
              <a:t> 형태로 </a:t>
            </a:r>
            <a:r>
              <a:rPr lang="en-US" altLang="ko-KR" dirty="0"/>
              <a:t>GPU </a:t>
            </a:r>
            <a:r>
              <a:rPr lang="ko-KR" altLang="en-US" dirty="0"/>
              <a:t>전용 메모리에 상주하며</a:t>
            </a:r>
            <a:r>
              <a:rPr lang="en-US" altLang="ko-KR" dirty="0"/>
              <a:t>, </a:t>
            </a:r>
            <a:r>
              <a:rPr lang="en-US" altLang="ko-KR" b="1" dirty="0"/>
              <a:t>Compute Shader</a:t>
            </a:r>
            <a:r>
              <a:rPr lang="ko-KR" altLang="en-US" dirty="0"/>
              <a:t>를 통해 </a:t>
            </a:r>
            <a:r>
              <a:rPr lang="en-US" altLang="ko-KR" dirty="0"/>
              <a:t>CPU </a:t>
            </a:r>
            <a:r>
              <a:rPr lang="ko-KR" altLang="en-US" dirty="0"/>
              <a:t>개입 없이 업데이트됨</a:t>
            </a:r>
            <a:endParaRPr lang="en-US" altLang="ko-KR" dirty="0"/>
          </a:p>
          <a:p>
            <a:r>
              <a:rPr lang="en-US" altLang="ko-KR" b="1" dirty="0"/>
              <a:t>Update Logic</a:t>
            </a:r>
            <a:r>
              <a:rPr lang="en-US" altLang="ko-KR" dirty="0"/>
              <a:t>: </a:t>
            </a:r>
            <a:r>
              <a:rPr lang="ko-KR" altLang="en-US" dirty="0"/>
              <a:t>매 프레임 </a:t>
            </a:r>
            <a:r>
              <a:rPr lang="en-US" altLang="ko-KR" dirty="0" err="1"/>
              <a:t>TimeCB</a:t>
            </a:r>
            <a:r>
              <a:rPr lang="ko-KR" altLang="en-US" dirty="0"/>
              <a:t>로부터 </a:t>
            </a:r>
            <a:r>
              <a:rPr lang="en-US" altLang="ko-KR" dirty="0"/>
              <a:t>dt(</a:t>
            </a:r>
            <a:r>
              <a:rPr lang="en-US" altLang="ko-KR" dirty="0" err="1"/>
              <a:t>DeltaTime</a:t>
            </a:r>
            <a:r>
              <a:rPr lang="en-US" altLang="ko-KR" dirty="0"/>
              <a:t>)</a:t>
            </a:r>
            <a:r>
              <a:rPr lang="ko-KR" altLang="en-US" dirty="0"/>
              <a:t>를 전달받아 위치 연산</a:t>
            </a:r>
            <a:r>
              <a:rPr lang="en-US" altLang="ko-KR" dirty="0"/>
              <a:t>, </a:t>
            </a:r>
            <a:r>
              <a:rPr lang="ko-KR" altLang="en-US" dirty="0"/>
              <a:t>수명</a:t>
            </a:r>
            <a:r>
              <a:rPr lang="en-US" altLang="ko-KR" dirty="0"/>
              <a:t>(Life/Age) </a:t>
            </a:r>
            <a:r>
              <a:rPr lang="ko-KR" altLang="en-US" dirty="0"/>
              <a:t>계산</a:t>
            </a:r>
            <a:r>
              <a:rPr lang="en-US" altLang="ko-KR" dirty="0"/>
              <a:t>, </a:t>
            </a:r>
            <a:r>
              <a:rPr lang="ko-KR" altLang="en-US" dirty="0"/>
              <a:t>물리 시뮬레이션</a:t>
            </a:r>
            <a:r>
              <a:rPr lang="en-US" altLang="ko-KR" dirty="0"/>
              <a:t>(</a:t>
            </a:r>
            <a:r>
              <a:rPr lang="ko-KR" altLang="en-US" dirty="0"/>
              <a:t>중력</a:t>
            </a:r>
            <a:r>
              <a:rPr lang="en-US" altLang="ko-KR" dirty="0"/>
              <a:t>, </a:t>
            </a:r>
            <a:r>
              <a:rPr lang="ko-KR" altLang="en-US" dirty="0"/>
              <a:t>감쇠</a:t>
            </a:r>
            <a:r>
              <a:rPr lang="en-US" altLang="ko-KR" dirty="0"/>
              <a:t>)</a:t>
            </a:r>
            <a:r>
              <a:rPr lang="ko-KR" altLang="en-US" dirty="0"/>
              <a:t>을 병렬로 수행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Dispatch Strategy</a:t>
            </a:r>
            <a:r>
              <a:rPr lang="en-US" altLang="ko-KR" dirty="0"/>
              <a:t>: </a:t>
            </a:r>
            <a:r>
              <a:rPr lang="ko-KR" altLang="en-US" dirty="0"/>
              <a:t>대량의 </a:t>
            </a:r>
            <a:r>
              <a:rPr lang="ko-KR" altLang="en-US" dirty="0" err="1"/>
              <a:t>파티클을</a:t>
            </a:r>
            <a:r>
              <a:rPr lang="ko-KR" altLang="en-US" dirty="0"/>
              <a:t> 처리하기 위해 </a:t>
            </a:r>
            <a:r>
              <a:rPr lang="ko-KR" altLang="en-US" dirty="0" err="1"/>
              <a:t>파티클</a:t>
            </a:r>
            <a:r>
              <a:rPr lang="ko-KR" altLang="en-US" dirty="0"/>
              <a:t> 개수에 맞춰 </a:t>
            </a:r>
            <a:r>
              <a:rPr lang="en-US" altLang="ko-KR" dirty="0"/>
              <a:t>Thread Group</a:t>
            </a:r>
            <a:r>
              <a:rPr lang="ko-KR" altLang="en-US" dirty="0"/>
              <a:t>을 최적화하여 호출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0DBC7-DC95-8B9C-5FC6-18A01CB67F68}"/>
              </a:ext>
            </a:extLst>
          </p:cNvPr>
          <p:cNvSpPr txBox="1"/>
          <p:nvPr/>
        </p:nvSpPr>
        <p:spPr>
          <a:xfrm>
            <a:off x="0" y="2826633"/>
            <a:ext cx="120877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Resource &amp; Rendering Pipeline</a:t>
            </a:r>
          </a:p>
          <a:p>
            <a:pPr>
              <a:buNone/>
            </a:pPr>
            <a:r>
              <a:rPr lang="en-US" altLang="ko-KR" dirty="0"/>
              <a:t>CPU</a:t>
            </a:r>
            <a:r>
              <a:rPr lang="ko-KR" altLang="en-US" dirty="0"/>
              <a:t>는 최소한의 상수 데이터만 갱신하고</a:t>
            </a:r>
            <a:r>
              <a:rPr lang="en-US" altLang="ko-KR" dirty="0"/>
              <a:t>, </a:t>
            </a:r>
            <a:r>
              <a:rPr lang="ko-KR" altLang="en-US" dirty="0"/>
              <a:t>실제 렌더링에 필요한 모든 연산은 </a:t>
            </a:r>
            <a:r>
              <a:rPr lang="en-US" altLang="ko-KR" dirty="0"/>
              <a:t>GPU </a:t>
            </a:r>
            <a:r>
              <a:rPr lang="ko-KR" altLang="en-US" dirty="0"/>
              <a:t>내에서 완결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Root Signature Design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UAV (u0)</a:t>
            </a:r>
            <a:r>
              <a:rPr lang="en-US" altLang="ko-KR" dirty="0"/>
              <a:t>: </a:t>
            </a:r>
            <a:r>
              <a:rPr lang="ko-KR" altLang="en-US" dirty="0" err="1"/>
              <a:t>파티클</a:t>
            </a:r>
            <a:r>
              <a:rPr lang="ko-KR" altLang="en-US" dirty="0"/>
              <a:t> 데이터 쓰기</a:t>
            </a:r>
            <a:r>
              <a:rPr lang="en-US" altLang="ko-KR" dirty="0"/>
              <a:t>/</a:t>
            </a:r>
            <a:r>
              <a:rPr lang="ko-KR" altLang="en-US" dirty="0"/>
              <a:t>읽기용 </a:t>
            </a:r>
            <a:r>
              <a:rPr lang="en-US" altLang="ko-KR" dirty="0"/>
              <a:t>(Compute)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SRV (t0)</a:t>
            </a:r>
            <a:r>
              <a:rPr lang="en-US" altLang="ko-KR" dirty="0"/>
              <a:t>: </a:t>
            </a:r>
            <a:r>
              <a:rPr lang="ko-KR" altLang="en-US" dirty="0"/>
              <a:t>업데이트된 데이터를 </a:t>
            </a:r>
            <a:r>
              <a:rPr lang="en-US" altLang="ko-KR" dirty="0"/>
              <a:t>Vertex Shader</a:t>
            </a:r>
            <a:r>
              <a:rPr lang="ko-KR" altLang="en-US" dirty="0"/>
              <a:t>에서 참조 </a:t>
            </a:r>
            <a:r>
              <a:rPr lang="en-US" altLang="ko-KR" dirty="0"/>
              <a:t>(Rendering)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CBV (b0, b1)</a:t>
            </a:r>
            <a:r>
              <a:rPr lang="en-US" altLang="ko-KR" dirty="0"/>
              <a:t>: </a:t>
            </a:r>
            <a:r>
              <a:rPr lang="ko-KR" altLang="en-US" dirty="0"/>
              <a:t>시간 데이터</a:t>
            </a:r>
            <a:r>
              <a:rPr lang="en-US" altLang="ko-KR" dirty="0"/>
              <a:t>(</a:t>
            </a:r>
            <a:r>
              <a:rPr lang="en-US" altLang="ko-KR" dirty="0" err="1">
                <a:latin typeface="Courier New" panose="02070309020205020404" pitchFamily="49" charset="0"/>
              </a:rPr>
              <a:t>TimeCB</a:t>
            </a:r>
            <a:r>
              <a:rPr lang="en-US" altLang="ko-KR" dirty="0"/>
              <a:t>) </a:t>
            </a:r>
            <a:r>
              <a:rPr lang="ko-KR" altLang="en-US" dirty="0"/>
              <a:t>및 특정 이벤트 데이터</a:t>
            </a:r>
            <a:r>
              <a:rPr lang="en-US" altLang="ko-KR" dirty="0"/>
              <a:t>(</a:t>
            </a:r>
            <a:r>
              <a:rPr lang="en-US" altLang="ko-KR" dirty="0" err="1">
                <a:latin typeface="Courier New" panose="02070309020205020404" pitchFamily="49" charset="0"/>
              </a:rPr>
              <a:t>MuzzleCB</a:t>
            </a:r>
            <a:r>
              <a:rPr lang="en-US" altLang="ko-KR" dirty="0"/>
              <a:t>) </a:t>
            </a:r>
            <a:r>
              <a:rPr lang="ko-KR" altLang="en-US" dirty="0"/>
              <a:t>바인딩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Geometry-less Rendering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별도의 </a:t>
            </a:r>
            <a:r>
              <a:rPr lang="en-US" altLang="ko-KR" dirty="0"/>
              <a:t>Vertex Buffer </a:t>
            </a:r>
            <a:r>
              <a:rPr lang="ko-KR" altLang="en-US" dirty="0"/>
              <a:t>없이 </a:t>
            </a:r>
            <a:r>
              <a:rPr lang="en-US" altLang="ko-KR" dirty="0" err="1">
                <a:latin typeface="Courier New" panose="02070309020205020404" pitchFamily="49" charset="0"/>
              </a:rPr>
              <a:t>SV_VertexID</a:t>
            </a:r>
            <a:r>
              <a:rPr lang="ko-KR" altLang="en-US" dirty="0"/>
              <a:t>를 사용하여 </a:t>
            </a:r>
            <a:r>
              <a:rPr lang="ko-KR" altLang="en-US" dirty="0" err="1"/>
              <a:t>셰이더</a:t>
            </a:r>
            <a:r>
              <a:rPr lang="ko-KR" altLang="en-US" dirty="0"/>
              <a:t> 내부에서 빌보드</a:t>
            </a:r>
            <a:r>
              <a:rPr lang="en-US" altLang="ko-KR" dirty="0"/>
              <a:t>(Billboard) </a:t>
            </a:r>
            <a:r>
              <a:rPr lang="ko-KR" altLang="en-US" dirty="0"/>
              <a:t>정점을 실시간 생성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b="1" dirty="0"/>
              <a:t>Instanced Drawing</a:t>
            </a:r>
            <a:r>
              <a:rPr lang="en-US" altLang="ko-KR" dirty="0"/>
              <a:t>: </a:t>
            </a:r>
            <a:r>
              <a:rPr lang="ko-KR" altLang="en-US" dirty="0" err="1"/>
              <a:t>파티클</a:t>
            </a:r>
            <a:r>
              <a:rPr lang="ko-KR" altLang="en-US" dirty="0"/>
              <a:t> 개수만큼 </a:t>
            </a:r>
            <a:r>
              <a:rPr lang="en-US" altLang="ko-KR" dirty="0" err="1">
                <a:latin typeface="Courier New" panose="02070309020205020404" pitchFamily="49" charset="0"/>
              </a:rPr>
              <a:t>DrawInstanced</a:t>
            </a:r>
            <a:r>
              <a:rPr lang="ko-KR" altLang="en-US" dirty="0"/>
              <a:t>를 호출하여 기하학적 메모리 점유율을 최소화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Visual Optimization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Additive Blending</a:t>
            </a:r>
            <a:r>
              <a:rPr lang="en-US" altLang="ko-KR" dirty="0"/>
              <a:t>: </a:t>
            </a:r>
            <a:r>
              <a:rPr lang="ko-KR" altLang="en-US" dirty="0"/>
              <a:t>빛의 중첩 표현을 위해 가산 혼합 적용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Depth Stencil</a:t>
            </a:r>
            <a:r>
              <a:rPr lang="en-US" altLang="ko-KR" dirty="0"/>
              <a:t>: </a:t>
            </a:r>
            <a:r>
              <a:rPr lang="ko-KR" altLang="en-US" dirty="0" err="1"/>
              <a:t>파티클</a:t>
            </a:r>
            <a:r>
              <a:rPr lang="ko-KR" altLang="en-US" dirty="0"/>
              <a:t> 간의 불필요한 가림을 방지하고 부드러운 합성을 위해 </a:t>
            </a:r>
            <a:r>
              <a:rPr lang="en-US" altLang="ko-KR" dirty="0" err="1">
                <a:latin typeface="Courier New" panose="02070309020205020404" pitchFamily="49" charset="0"/>
              </a:rPr>
              <a:t>DepthWrite</a:t>
            </a:r>
            <a:r>
              <a:rPr lang="ko-KR" altLang="en-US" dirty="0"/>
              <a:t>를 비활성화</a:t>
            </a:r>
            <a:r>
              <a:rPr lang="en-US" altLang="ko-KR" dirty="0"/>
              <a:t>(</a:t>
            </a:r>
            <a:r>
              <a:rPr lang="en-US" altLang="ko-KR" dirty="0">
                <a:latin typeface="Courier New" panose="02070309020205020404" pitchFamily="49" charset="0"/>
              </a:rPr>
              <a:t>ZERO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8472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C5B2-FCBE-B8B8-ED5E-04C115E9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04B38-937C-7497-BCE3-E08EE548A6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Raytracing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D4CD7-816C-FA9A-C461-BB44F19645FC}"/>
              </a:ext>
            </a:extLst>
          </p:cNvPr>
          <p:cNvSpPr txBox="1"/>
          <p:nvPr/>
        </p:nvSpPr>
        <p:spPr>
          <a:xfrm>
            <a:off x="180093" y="1053319"/>
            <a:ext cx="1412566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Object</a:t>
            </a:r>
            <a:r>
              <a:rPr lang="ko-KR" altLang="en-US" dirty="0"/>
              <a:t> </a:t>
            </a:r>
            <a:r>
              <a:rPr lang="ko-KR" altLang="en-US" dirty="0" err="1"/>
              <a:t>컬링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B1B66-3C57-318E-9C76-6DC14B0977E1}"/>
              </a:ext>
            </a:extLst>
          </p:cNvPr>
          <p:cNvSpPr txBox="1"/>
          <p:nvPr/>
        </p:nvSpPr>
        <p:spPr>
          <a:xfrm>
            <a:off x="6096000" y="1053319"/>
            <a:ext cx="277832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드로우 콜 </a:t>
            </a:r>
            <a:r>
              <a:rPr lang="en-US" altLang="ko-KR" dirty="0"/>
              <a:t>&amp; </a:t>
            </a:r>
            <a:r>
              <a:rPr lang="ko-KR" altLang="en-US" dirty="0" err="1"/>
              <a:t>버택스</a:t>
            </a:r>
            <a:r>
              <a:rPr lang="ko-KR" altLang="en-US" dirty="0"/>
              <a:t>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CBFBB-3512-2E4D-9613-056B18232163}"/>
              </a:ext>
            </a:extLst>
          </p:cNvPr>
          <p:cNvSpPr txBox="1"/>
          <p:nvPr/>
        </p:nvSpPr>
        <p:spPr>
          <a:xfrm>
            <a:off x="180093" y="3127925"/>
            <a:ext cx="179087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Light </a:t>
            </a:r>
            <a:r>
              <a:rPr lang="ko-KR" altLang="en-US" dirty="0"/>
              <a:t>처리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6F82D-A44D-11C5-642B-D050A1486AA0}"/>
              </a:ext>
            </a:extLst>
          </p:cNvPr>
          <p:cNvSpPr txBox="1"/>
          <p:nvPr/>
        </p:nvSpPr>
        <p:spPr>
          <a:xfrm>
            <a:off x="6096000" y="3145596"/>
            <a:ext cx="225254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GameObject</a:t>
            </a:r>
            <a:r>
              <a:rPr lang="ko-KR" altLang="en-US" dirty="0"/>
              <a:t>의 종류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941C1-8B60-2278-B4C7-C5F999B335D3}"/>
              </a:ext>
            </a:extLst>
          </p:cNvPr>
          <p:cNvSpPr txBox="1"/>
          <p:nvPr/>
        </p:nvSpPr>
        <p:spPr>
          <a:xfrm>
            <a:off x="180092" y="5202531"/>
            <a:ext cx="87716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그림자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03762-B42B-6DE9-B229-6BA898BFAE60}"/>
              </a:ext>
            </a:extLst>
          </p:cNvPr>
          <p:cNvSpPr txBox="1"/>
          <p:nvPr/>
        </p:nvSpPr>
        <p:spPr>
          <a:xfrm>
            <a:off x="6096000" y="5215181"/>
            <a:ext cx="64633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반사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슬라이드 확대/축소 9">
                <a:extLst>
                  <a:ext uri="{FF2B5EF4-FFF2-40B4-BE49-F238E27FC236}">
                    <a16:creationId xmlns:a16="http://schemas.microsoft.com/office/drawing/2014/main" id="{377F04DF-8C5B-CA8D-4197-8F4BF5B5FF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9643042"/>
                  </p:ext>
                </p:extLst>
              </p:nvPr>
            </p:nvGraphicFramePr>
            <p:xfrm>
              <a:off x="6096000" y="3623153"/>
              <a:ext cx="2615381" cy="1471152"/>
            </p:xfrm>
            <a:graphic>
              <a:graphicData uri="http://schemas.microsoft.com/office/powerpoint/2016/slidezoom">
                <pslz:sldZm>
                  <pslz:sldZmObj sldId="275" cId="1216493664">
                    <pslz:zmPr id="{8943EDC0-607D-41EF-AEAF-4ED0CAF5FDE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15381" cy="147115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슬라이드 확대/축소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77F04DF-8C5B-CA8D-4197-8F4BF5B5FF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3623153"/>
                <a:ext cx="2615381" cy="147115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슬라이드 확대/축소 11">
                <a:extLst>
                  <a:ext uri="{FF2B5EF4-FFF2-40B4-BE49-F238E27FC236}">
                    <a16:creationId xmlns:a16="http://schemas.microsoft.com/office/drawing/2014/main" id="{8F29BC11-36B9-45F7-4879-A46D2C89FB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6977482"/>
                  </p:ext>
                </p:extLst>
              </p:nvPr>
            </p:nvGraphicFramePr>
            <p:xfrm>
              <a:off x="8711381" y="3623153"/>
              <a:ext cx="2615381" cy="1471152"/>
            </p:xfrm>
            <a:graphic>
              <a:graphicData uri="http://schemas.microsoft.com/office/powerpoint/2016/slidezoom">
                <pslz:sldZm>
                  <pslz:sldZmObj sldId="276" cId="904325592">
                    <pslz:zmPr id="{9E0EBCD9-BD83-4563-B14E-89E01394AE33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15381" cy="147115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슬라이드 확대/축소 1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F29BC11-36B9-45F7-4879-A46D2C89FB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11381" y="3623153"/>
                <a:ext cx="2615381" cy="147115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995F415-D58E-73A2-0A6E-7795F7D25400}"/>
              </a:ext>
            </a:extLst>
          </p:cNvPr>
          <p:cNvSpPr txBox="1"/>
          <p:nvPr/>
        </p:nvSpPr>
        <p:spPr>
          <a:xfrm>
            <a:off x="91601" y="1467599"/>
            <a:ext cx="57790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SkinMesh</a:t>
            </a:r>
            <a:r>
              <a:rPr lang="ko-KR" altLang="en-US" dirty="0"/>
              <a:t>의 </a:t>
            </a:r>
            <a:r>
              <a:rPr lang="en-US" altLang="ko-KR" dirty="0"/>
              <a:t>BLAS Update</a:t>
            </a:r>
            <a:r>
              <a:rPr lang="ko-KR" altLang="en-US" dirty="0"/>
              <a:t>의 경우 </a:t>
            </a:r>
            <a:r>
              <a:rPr lang="en-US" altLang="ko-KR" dirty="0" err="1"/>
              <a:t>game.RenderTour</a:t>
            </a:r>
            <a:r>
              <a:rPr lang="ko-KR" altLang="en-US" dirty="0"/>
              <a:t>를</a:t>
            </a:r>
            <a:endParaRPr lang="en-US" altLang="ko-KR" dirty="0"/>
          </a:p>
          <a:p>
            <a:r>
              <a:rPr lang="ko-KR" altLang="en-US" dirty="0"/>
              <a:t>사용해 보이는 스킨 </a:t>
            </a:r>
            <a:r>
              <a:rPr lang="ko-KR" altLang="en-US" dirty="0" err="1"/>
              <a:t>메쉬에</a:t>
            </a:r>
            <a:r>
              <a:rPr lang="ko-KR" altLang="en-US" dirty="0"/>
              <a:t> 대해서만 </a:t>
            </a:r>
            <a:endParaRPr lang="en-US" altLang="ko-KR" dirty="0"/>
          </a:p>
          <a:p>
            <a:r>
              <a:rPr lang="ko-KR" altLang="en-US" dirty="0"/>
              <a:t>업데이트를 수행한다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슬라이드 확대/축소 10">
                <a:extLst>
                  <a:ext uri="{FF2B5EF4-FFF2-40B4-BE49-F238E27FC236}">
                    <a16:creationId xmlns:a16="http://schemas.microsoft.com/office/drawing/2014/main" id="{5D85872A-69A6-B12A-6362-54B353177F6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4667222"/>
                  </p:ext>
                </p:extLst>
              </p:nvPr>
            </p:nvGraphicFramePr>
            <p:xfrm>
              <a:off x="6096000" y="1520347"/>
              <a:ext cx="2778325" cy="1562808"/>
            </p:xfrm>
            <a:graphic>
              <a:graphicData uri="http://schemas.microsoft.com/office/powerpoint/2016/slidezoom">
                <pslz:sldZm>
                  <pslz:sldZmObj sldId="286" cId="471672495">
                    <pslz:zmPr id="{47ADBA83-62CC-4C39-B974-4F5B113AD202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78325" cy="15628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슬라이드 확대/축소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D85872A-69A6-B12A-6362-54B353177F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96000" y="1520347"/>
                <a:ext cx="2778325" cy="15628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102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3EA2-2F9A-BBA9-FCED-EA621E86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8507F-D2F3-0813-40BE-C41B7850B7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DXR – Vertex</a:t>
            </a:r>
            <a:r>
              <a:rPr lang="ko-KR" altLang="en-US" sz="5400" dirty="0"/>
              <a:t> </a:t>
            </a:r>
            <a:r>
              <a:rPr lang="en-US" altLang="ko-KR" sz="5400" dirty="0"/>
              <a:t>Compute</a:t>
            </a:r>
            <a:endParaRPr lang="ko-KR" altLang="en-US" sz="5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0998AD-A07F-1BD6-CC03-61628BF4B0BC}"/>
              </a:ext>
            </a:extLst>
          </p:cNvPr>
          <p:cNvSpPr txBox="1"/>
          <p:nvPr/>
        </p:nvSpPr>
        <p:spPr>
          <a:xfrm>
            <a:off x="206477" y="868680"/>
            <a:ext cx="113448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메쉬를</a:t>
            </a:r>
            <a:r>
              <a:rPr lang="ko-KR" altLang="en-US" dirty="0"/>
              <a:t> </a:t>
            </a:r>
            <a:r>
              <a:rPr lang="ko-KR" altLang="en-US" dirty="0" err="1"/>
              <a:t>만들때마다</a:t>
            </a:r>
            <a:r>
              <a:rPr lang="ko-KR" altLang="en-US" dirty="0"/>
              <a:t> </a:t>
            </a:r>
            <a:r>
              <a:rPr lang="en-US" altLang="ko-KR" dirty="0"/>
              <a:t>BLAS</a:t>
            </a:r>
            <a:r>
              <a:rPr lang="ko-KR" altLang="en-US" dirty="0"/>
              <a:t>를 함께 빌드하며</a:t>
            </a:r>
            <a:r>
              <a:rPr lang="en-US" altLang="ko-KR" dirty="0"/>
              <a:t>, </a:t>
            </a:r>
            <a:r>
              <a:rPr lang="ko-KR" altLang="en-US" dirty="0" err="1"/>
              <a:t>메쉬의</a:t>
            </a:r>
            <a:r>
              <a:rPr lang="ko-KR" altLang="en-US" dirty="0"/>
              <a:t> </a:t>
            </a:r>
            <a:r>
              <a:rPr lang="ko-KR" altLang="en-US" dirty="0" err="1"/>
              <a:t>버택스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인덱스 데이터를 </a:t>
            </a:r>
            <a:endParaRPr lang="en-US" altLang="ko-KR" dirty="0"/>
          </a:p>
          <a:p>
            <a:r>
              <a:rPr lang="ko-KR" altLang="en-US" dirty="0"/>
              <a:t>두개의 </a:t>
            </a:r>
            <a:r>
              <a:rPr lang="en-US" altLang="ko-KR" dirty="0" err="1"/>
              <a:t>GPURes</a:t>
            </a:r>
            <a:r>
              <a:rPr lang="ko-KR" altLang="en-US" dirty="0"/>
              <a:t>인 풀에 집어넣는다</a:t>
            </a:r>
            <a:r>
              <a:rPr lang="en-US" altLang="ko-KR" dirty="0"/>
              <a:t>. &gt;&gt; </a:t>
            </a:r>
            <a:r>
              <a:rPr lang="ko-KR" altLang="en-US" dirty="0"/>
              <a:t>때문에 모든 </a:t>
            </a:r>
            <a:r>
              <a:rPr lang="ko-KR" altLang="en-US" dirty="0" err="1"/>
              <a:t>버택스</a:t>
            </a:r>
            <a:r>
              <a:rPr lang="ko-KR" altLang="en-US" dirty="0"/>
              <a:t> 데이터</a:t>
            </a:r>
            <a:r>
              <a:rPr lang="en-US" altLang="ko-KR" dirty="0"/>
              <a:t>, </a:t>
            </a:r>
            <a:r>
              <a:rPr lang="ko-KR" altLang="en-US" dirty="0"/>
              <a:t>모든 인덱스 데이터가 이 두 리소스 내에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- </a:t>
            </a:r>
            <a:r>
              <a:rPr lang="ko-KR" altLang="en-US" dirty="0"/>
              <a:t>다만 이 </a:t>
            </a:r>
            <a:r>
              <a:rPr lang="ko-KR" altLang="en-US" dirty="0" err="1"/>
              <a:t>메쉬의</a:t>
            </a:r>
            <a:r>
              <a:rPr lang="ko-KR" altLang="en-US" dirty="0"/>
              <a:t> 데이터를 레스터 렌더링에서도 재활용하기 위해서는 </a:t>
            </a:r>
            <a:endParaRPr lang="en-US" altLang="ko-KR" dirty="0"/>
          </a:p>
          <a:p>
            <a:r>
              <a:rPr lang="en-US" altLang="ko-KR" dirty="0"/>
              <a:t>		</a:t>
            </a:r>
            <a:r>
              <a:rPr lang="ko-KR" altLang="en-US" dirty="0" err="1"/>
              <a:t>메쉬마다</a:t>
            </a:r>
            <a:r>
              <a:rPr lang="ko-KR" altLang="en-US" dirty="0"/>
              <a:t> </a:t>
            </a:r>
            <a:r>
              <a:rPr lang="en-US" altLang="ko-KR" dirty="0" err="1"/>
              <a:t>VertexBufferView</a:t>
            </a:r>
            <a:r>
              <a:rPr lang="en-US" altLang="ko-KR" dirty="0"/>
              <a:t>, </a:t>
            </a:r>
            <a:r>
              <a:rPr lang="en-US" altLang="ko-KR" dirty="0" err="1"/>
              <a:t>IndexBufferView</a:t>
            </a:r>
            <a:r>
              <a:rPr lang="ko-KR" altLang="en-US" dirty="0"/>
              <a:t>를 만들어야 했는데 그러기 위해서는 </a:t>
            </a:r>
            <a:endParaRPr lang="en-US" altLang="ko-KR" dirty="0"/>
          </a:p>
          <a:p>
            <a:r>
              <a:rPr lang="en-US" altLang="ko-KR" dirty="0"/>
              <a:t>		</a:t>
            </a:r>
            <a:r>
              <a:rPr lang="ko-KR" altLang="en-US" dirty="0"/>
              <a:t>모든 </a:t>
            </a:r>
            <a:r>
              <a:rPr lang="ko-KR" altLang="en-US" dirty="0" err="1"/>
              <a:t>메쉬의</a:t>
            </a:r>
            <a:r>
              <a:rPr lang="ko-KR" altLang="en-US" dirty="0"/>
              <a:t> </a:t>
            </a:r>
            <a:r>
              <a:rPr lang="ko-KR" altLang="en-US" dirty="0" err="1"/>
              <a:t>버택스</a:t>
            </a:r>
            <a:r>
              <a:rPr lang="ko-KR" altLang="en-US" dirty="0"/>
              <a:t> 시작점</a:t>
            </a:r>
            <a:r>
              <a:rPr lang="en-US" altLang="ko-KR" dirty="0"/>
              <a:t>, </a:t>
            </a:r>
            <a:r>
              <a:rPr lang="ko-KR" altLang="en-US" dirty="0"/>
              <a:t>그 안의 모든 </a:t>
            </a:r>
            <a:r>
              <a:rPr lang="ko-KR" altLang="en-US" dirty="0" err="1"/>
              <a:t>서브메쉬들의</a:t>
            </a:r>
            <a:r>
              <a:rPr lang="ko-KR" altLang="en-US" dirty="0"/>
              <a:t> 인덱스 시작점들을 </a:t>
            </a:r>
            <a:endParaRPr lang="en-US" altLang="ko-KR" dirty="0"/>
          </a:p>
          <a:p>
            <a:r>
              <a:rPr lang="en-US" altLang="ko-KR" dirty="0"/>
              <a:t>		256</a:t>
            </a:r>
            <a:r>
              <a:rPr lang="ko-KR" altLang="en-US" dirty="0"/>
              <a:t>바이트로 얼라인해야 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	</a:t>
            </a:r>
            <a:r>
              <a:rPr lang="ko-KR" altLang="en-US" dirty="0"/>
              <a:t>때문에 같은 </a:t>
            </a:r>
            <a:r>
              <a:rPr lang="ko-KR" altLang="en-US" dirty="0" err="1"/>
              <a:t>메쉬라도</a:t>
            </a:r>
            <a:r>
              <a:rPr lang="ko-KR" altLang="en-US" dirty="0"/>
              <a:t> 데이터가 연속적이지 않고 정렬되어 끊겨져 있을 것이다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렌더를</a:t>
            </a:r>
            <a:r>
              <a:rPr lang="ko-KR" altLang="en-US" dirty="0"/>
              <a:t> 시작하면</a:t>
            </a:r>
            <a:endParaRPr lang="en-US" altLang="ko-KR" dirty="0"/>
          </a:p>
          <a:p>
            <a:r>
              <a:rPr lang="ko-KR" altLang="en-US" dirty="0" err="1"/>
              <a:t>프러스텀</a:t>
            </a:r>
            <a:r>
              <a:rPr lang="ko-KR" altLang="en-US" dirty="0"/>
              <a:t> </a:t>
            </a:r>
            <a:r>
              <a:rPr lang="ko-KR" altLang="en-US" dirty="0" err="1"/>
              <a:t>컬링으로</a:t>
            </a:r>
            <a:r>
              <a:rPr lang="ko-KR" altLang="en-US" dirty="0"/>
              <a:t> 걸러낸 </a:t>
            </a:r>
            <a:r>
              <a:rPr lang="ko-KR" altLang="en-US" dirty="0" err="1"/>
              <a:t>스킨메쉬들의</a:t>
            </a:r>
            <a:r>
              <a:rPr lang="ko-KR" altLang="en-US" dirty="0"/>
              <a:t> 데이터를 변형시키고</a:t>
            </a:r>
            <a:r>
              <a:rPr lang="en-US" altLang="ko-KR" dirty="0"/>
              <a:t>, BLAS refit</a:t>
            </a:r>
            <a:r>
              <a:rPr lang="ko-KR" altLang="en-US" dirty="0"/>
              <a:t>을 수행한다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각</a:t>
            </a:r>
            <a:r>
              <a:rPr lang="en-US" altLang="ko-KR" dirty="0"/>
              <a:t> </a:t>
            </a:r>
            <a:r>
              <a:rPr lang="ko-KR" altLang="en-US" dirty="0"/>
              <a:t>프레임마다</a:t>
            </a:r>
            <a:r>
              <a:rPr lang="en-US" altLang="ko-KR" dirty="0"/>
              <a:t> TLAS</a:t>
            </a:r>
            <a:r>
              <a:rPr lang="ko-KR" altLang="en-US" dirty="0"/>
              <a:t>를 빌드하고 </a:t>
            </a:r>
            <a:r>
              <a:rPr lang="en-US" altLang="ko-KR" dirty="0"/>
              <a:t>AS </a:t>
            </a:r>
            <a:r>
              <a:rPr lang="ko-KR" altLang="en-US" dirty="0"/>
              <a:t>바인딩</a:t>
            </a:r>
            <a:endParaRPr lang="en-US" altLang="ko-KR" dirty="0"/>
          </a:p>
          <a:p>
            <a:r>
              <a:rPr lang="ko-KR" altLang="en-US" dirty="0" err="1"/>
              <a:t>메쉬들의</a:t>
            </a:r>
            <a:r>
              <a:rPr lang="ko-KR" altLang="en-US" dirty="0"/>
              <a:t> 데이터를 모아놓은 </a:t>
            </a:r>
            <a:r>
              <a:rPr lang="en-US" altLang="ko-KR" dirty="0"/>
              <a:t>Vertex Buffer SRV, Index Buffer SRV</a:t>
            </a:r>
            <a:r>
              <a:rPr lang="ko-KR" altLang="en-US" dirty="0"/>
              <a:t>를 </a:t>
            </a:r>
            <a:r>
              <a:rPr lang="ko-KR" altLang="en-US" dirty="0" err="1"/>
              <a:t>셰이더에</a:t>
            </a:r>
            <a:r>
              <a:rPr lang="ko-KR" altLang="en-US" dirty="0"/>
              <a:t> 바인딩을 하고</a:t>
            </a:r>
            <a:endParaRPr lang="en-US" altLang="ko-KR" dirty="0"/>
          </a:p>
          <a:p>
            <a:r>
              <a:rPr lang="ko-KR" altLang="en-US" dirty="0"/>
              <a:t>렌더링을 시작한다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화면에서 어떤 픽셀이 </a:t>
            </a:r>
            <a:r>
              <a:rPr lang="ko-KR" altLang="en-US" dirty="0" err="1"/>
              <a:t>메쉬내부에</a:t>
            </a:r>
            <a:r>
              <a:rPr lang="ko-KR" altLang="en-US" dirty="0"/>
              <a:t> 있는 점인지는 </a:t>
            </a:r>
            <a:r>
              <a:rPr lang="en-US" altLang="ko-KR" dirty="0"/>
              <a:t>BLAS</a:t>
            </a:r>
            <a:r>
              <a:rPr lang="ko-KR" altLang="en-US" dirty="0"/>
              <a:t>가 판단하며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ko-KR" altLang="en-US" dirty="0" err="1"/>
              <a:t>버택스들의</a:t>
            </a:r>
            <a:r>
              <a:rPr lang="ko-KR" altLang="en-US" dirty="0"/>
              <a:t> 자세한 데이터들은 </a:t>
            </a:r>
            <a:endParaRPr lang="en-US" altLang="ko-KR" dirty="0"/>
          </a:p>
          <a:p>
            <a:r>
              <a:rPr lang="en-US" altLang="ko-KR" dirty="0"/>
              <a:t>Vertex Buffer SRV, Index Buffer SRV</a:t>
            </a:r>
            <a:r>
              <a:rPr lang="ko-KR" altLang="en-US" dirty="0"/>
              <a:t>들을 </a:t>
            </a:r>
            <a:r>
              <a:rPr lang="en-US" altLang="ko-KR" dirty="0"/>
              <a:t>Shader</a:t>
            </a:r>
            <a:r>
              <a:rPr lang="ko-KR" altLang="en-US" dirty="0"/>
              <a:t>에서 </a:t>
            </a:r>
            <a:r>
              <a:rPr lang="en-US" altLang="ko-KR" dirty="0" err="1"/>
              <a:t>StructuredBuffer</a:t>
            </a:r>
            <a:r>
              <a:rPr lang="ko-KR" altLang="en-US" dirty="0"/>
              <a:t>로 바인딩하여 알아볼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1672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CB50-1033-5F70-E3A4-665999B4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F971F-634B-67AA-12B9-CF68B65C69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DXR - Default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216493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4B3C2-30AA-00C3-D9F1-2F7189F1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4D2C6-C28A-4290-484E-B3D5AD61CE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DXR - </a:t>
            </a:r>
            <a:r>
              <a:rPr lang="en-US" altLang="ko-KR" sz="5400" dirty="0" err="1"/>
              <a:t>SkinMesh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904325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C491-2192-30D6-6517-4936C9A5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A54F4-F8D4-8CF6-D65C-6CFCFA0FD6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Screen Render</a:t>
            </a:r>
            <a:endParaRPr lang="ko-KR" altLang="en-US" sz="54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슬라이드 확대/축소 3">
                <a:extLst>
                  <a:ext uri="{FF2B5EF4-FFF2-40B4-BE49-F238E27FC236}">
                    <a16:creationId xmlns:a16="http://schemas.microsoft.com/office/drawing/2014/main" id="{D987D80D-0EE6-0BE3-6EC8-CB606ACCC6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271985"/>
                  </p:ext>
                </p:extLst>
              </p:nvPr>
            </p:nvGraphicFramePr>
            <p:xfrm>
              <a:off x="228600" y="1011305"/>
              <a:ext cx="9881706" cy="5558460"/>
            </p:xfrm>
            <a:graphic>
              <a:graphicData uri="http://schemas.microsoft.com/office/powerpoint/2016/slidezoom">
                <pslz:sldZm>
                  <pslz:sldZmObj sldId="290" cId="53786630">
                    <pslz:zmPr id="{DDBEFDEF-232B-4277-A610-6EE99BB4F3A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881706" cy="555846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슬라이드 확대/축소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987D80D-0EE6-0BE3-6EC8-CB606ACCC6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600" y="1011305"/>
                <a:ext cx="9881706" cy="555846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216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25FC84E-5001-D609-3CBA-91CEC1EDE130}"/>
              </a:ext>
            </a:extLst>
          </p:cNvPr>
          <p:cNvSpPr txBox="1"/>
          <p:nvPr/>
        </p:nvSpPr>
        <p:spPr>
          <a:xfrm>
            <a:off x="2598615" y="3959033"/>
            <a:ext cx="4358776" cy="244497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9AA414-D269-BA3B-EDE8-410C2E5D5420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85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/>
              <a:t>UI System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69BFB-CDA3-6465-4FC4-C21087A12300}"/>
              </a:ext>
            </a:extLst>
          </p:cNvPr>
          <p:cNvSpPr txBox="1"/>
          <p:nvPr/>
        </p:nvSpPr>
        <p:spPr>
          <a:xfrm>
            <a:off x="249664" y="3002735"/>
            <a:ext cx="1320715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Main</a:t>
            </a:r>
            <a:r>
              <a:rPr lang="ko-KR" altLang="en-US"/>
              <a:t> </a:t>
            </a:r>
            <a:r>
              <a:rPr lang="en-US" altLang="ko-KR"/>
              <a:t>PageStack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DC134-7754-E0E3-7E4C-134D83EA462E}"/>
              </a:ext>
            </a:extLst>
          </p:cNvPr>
          <p:cNvSpPr txBox="1"/>
          <p:nvPr/>
        </p:nvSpPr>
        <p:spPr>
          <a:xfrm>
            <a:off x="249667" y="2158540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mainpage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573FA-E2EC-7C85-2553-DCEED84834F6}"/>
              </a:ext>
            </a:extLst>
          </p:cNvPr>
          <p:cNvSpPr txBox="1"/>
          <p:nvPr/>
        </p:nvSpPr>
        <p:spPr>
          <a:xfrm>
            <a:off x="249666" y="1789208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subpage0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1EC5B-DBDF-33A0-2E00-05E55D365A7A}"/>
              </a:ext>
            </a:extLst>
          </p:cNvPr>
          <p:cNvSpPr txBox="1"/>
          <p:nvPr/>
        </p:nvSpPr>
        <p:spPr>
          <a:xfrm>
            <a:off x="249665" y="1419876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subpage1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59A53-F8D1-7ECB-D191-CD27F6624B2E}"/>
              </a:ext>
            </a:extLst>
          </p:cNvPr>
          <p:cNvSpPr txBox="1"/>
          <p:nvPr/>
        </p:nvSpPr>
        <p:spPr>
          <a:xfrm>
            <a:off x="249664" y="1050544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...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AA26241-78CC-13D5-2F83-B2DA6900C3ED}"/>
              </a:ext>
            </a:extLst>
          </p:cNvPr>
          <p:cNvCxnSpPr>
            <a:cxnSpLocks/>
          </p:cNvCxnSpPr>
          <p:nvPr/>
        </p:nvCxnSpPr>
        <p:spPr>
          <a:xfrm flipV="1">
            <a:off x="1709532" y="1050544"/>
            <a:ext cx="0" cy="1016795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F71D20B-71C1-9A7B-A336-45C7C1D61FD8}"/>
              </a:ext>
            </a:extLst>
          </p:cNvPr>
          <p:cNvSpPr txBox="1"/>
          <p:nvPr/>
        </p:nvSpPr>
        <p:spPr>
          <a:xfrm>
            <a:off x="1746740" y="888751"/>
            <a:ext cx="50305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페이지는 스택처럼 </a:t>
            </a:r>
            <a:r>
              <a:rPr lang="en-US" altLang="ko-KR"/>
              <a:t>Page</a:t>
            </a:r>
            <a:r>
              <a:rPr lang="ko-KR" altLang="en-US"/>
              <a:t>를 쌓아올릴 수 있다</a:t>
            </a:r>
            <a:endParaRPr lang="en-US" altLang="ko-KR"/>
          </a:p>
          <a:p>
            <a:r>
              <a:rPr lang="ko-KR" altLang="en-US"/>
              <a:t>쌓아올라진 페이지는 아래 부터 출력한다</a:t>
            </a:r>
            <a:r>
              <a:rPr lang="en-US" altLang="ko-KR"/>
              <a:t>.</a:t>
            </a:r>
          </a:p>
          <a:p>
            <a:r>
              <a:rPr lang="en-US" altLang="ko-KR"/>
              <a:t>(</a:t>
            </a:r>
            <a:r>
              <a:rPr lang="ko-KR" altLang="en-US"/>
              <a:t>위가 가장 잘 보이게</a:t>
            </a:r>
            <a:r>
              <a:rPr lang="en-US" altLang="ko-KR"/>
              <a:t>.)</a:t>
            </a:r>
          </a:p>
          <a:p>
            <a:r>
              <a:rPr lang="ko-KR" altLang="en-US"/>
              <a:t>페이지를 전환할때는 페이지를 지우고 </a:t>
            </a:r>
            <a:endParaRPr lang="en-US" altLang="ko-KR"/>
          </a:p>
          <a:p>
            <a:r>
              <a:rPr lang="ko-KR" altLang="en-US"/>
              <a:t>새로운 페이지를 스택에 삽입한다</a:t>
            </a:r>
            <a:r>
              <a:rPr lang="en-US" altLang="ko-KR"/>
              <a:t>.</a:t>
            </a:r>
          </a:p>
          <a:p>
            <a:r>
              <a:rPr lang="ko-KR" altLang="en-US"/>
              <a:t>해당 페이지 스택은 전체화면을 대상으로 한다</a:t>
            </a:r>
            <a:r>
              <a:rPr lang="en-US" altLang="ko-KR"/>
              <a:t>.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8E38FA3-82CF-2B92-8ADD-1F38041A5E1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10025" y="2527872"/>
            <a:ext cx="2260558" cy="1061829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018B04-5BE8-6078-2ACD-427DA7148EDE}"/>
              </a:ext>
            </a:extLst>
          </p:cNvPr>
          <p:cNvSpPr txBox="1"/>
          <p:nvPr/>
        </p:nvSpPr>
        <p:spPr>
          <a:xfrm>
            <a:off x="2598615" y="3589701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mainpage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156C6-0D5C-7793-CF76-24E8CCEFF10F}"/>
              </a:ext>
            </a:extLst>
          </p:cNvPr>
          <p:cNvSpPr txBox="1"/>
          <p:nvPr/>
        </p:nvSpPr>
        <p:spPr>
          <a:xfrm>
            <a:off x="3082433" y="4282198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UI-Btn0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9D1A2A-C56D-F18C-697A-6B2D3DA190C9}"/>
              </a:ext>
            </a:extLst>
          </p:cNvPr>
          <p:cNvSpPr txBox="1"/>
          <p:nvPr/>
        </p:nvSpPr>
        <p:spPr>
          <a:xfrm>
            <a:off x="3393859" y="5160155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UI-Edit0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6F14E4-52B9-0AE2-F24F-B69B3BFD25F4}"/>
              </a:ext>
            </a:extLst>
          </p:cNvPr>
          <p:cNvSpPr txBox="1"/>
          <p:nvPr/>
        </p:nvSpPr>
        <p:spPr>
          <a:xfrm>
            <a:off x="5013280" y="5681109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UI-Slider0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A0F385-FC41-6104-707B-DF6E5EDE9960}"/>
              </a:ext>
            </a:extLst>
          </p:cNvPr>
          <p:cNvSpPr txBox="1"/>
          <p:nvPr/>
        </p:nvSpPr>
        <p:spPr>
          <a:xfrm>
            <a:off x="4886964" y="4790823"/>
            <a:ext cx="157334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UI-Window0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B5539-B0F9-9275-A2D2-61C5C415663E}"/>
              </a:ext>
            </a:extLst>
          </p:cNvPr>
          <p:cNvSpPr txBox="1"/>
          <p:nvPr/>
        </p:nvSpPr>
        <p:spPr>
          <a:xfrm>
            <a:off x="6965613" y="6034673"/>
            <a:ext cx="41857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하나의 페이지에는 여러개의 </a:t>
            </a:r>
            <a:r>
              <a:rPr lang="en-US" altLang="ko-KR" sz="1400"/>
              <a:t>UI</a:t>
            </a:r>
            <a:r>
              <a:rPr lang="ko-KR" altLang="en-US" sz="1400"/>
              <a:t>가 존재할 수 있다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여러 </a:t>
            </a:r>
            <a:r>
              <a:rPr lang="en-US" altLang="ko-KR" sz="1400"/>
              <a:t>UI</a:t>
            </a:r>
            <a:r>
              <a:rPr lang="ko-KR" altLang="en-US" sz="1400"/>
              <a:t>는 개발자의 설계에 따라 다양한 모습을 </a:t>
            </a:r>
            <a:endParaRPr lang="en-US" altLang="ko-KR" sz="1400"/>
          </a:p>
          <a:p>
            <a:r>
              <a:rPr lang="ko-KR" altLang="en-US" sz="1400"/>
              <a:t>가질 수 있고</a:t>
            </a:r>
            <a:r>
              <a:rPr lang="en-US" altLang="ko-KR" sz="1400"/>
              <a:t>, </a:t>
            </a:r>
            <a:r>
              <a:rPr lang="ko-KR" altLang="en-US" sz="1400"/>
              <a:t>다양한 상호작용이 가능하다</a:t>
            </a:r>
            <a:r>
              <a:rPr lang="en-US" altLang="ko-KR" sz="1400"/>
              <a:t>.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729F0B9-4F90-F9FC-B7AB-74E016E59EA9}"/>
              </a:ext>
            </a:extLst>
          </p:cNvPr>
          <p:cNvCxnSpPr>
            <a:cxnSpLocks/>
            <a:stCxn id="20" idx="0"/>
            <a:endCxn id="26" idx="1"/>
          </p:cNvCxnSpPr>
          <p:nvPr/>
        </p:nvCxnSpPr>
        <p:spPr>
          <a:xfrm flipV="1">
            <a:off x="5673637" y="590280"/>
            <a:ext cx="1780937" cy="420054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4B4666A-FCFD-BA78-A584-15B89936B106}"/>
              </a:ext>
            </a:extLst>
          </p:cNvPr>
          <p:cNvSpPr txBox="1"/>
          <p:nvPr/>
        </p:nvSpPr>
        <p:spPr>
          <a:xfrm>
            <a:off x="7454574" y="405614"/>
            <a:ext cx="157334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UI-Window0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CE9057-74CE-4416-78DB-5A5B7EE5796E}"/>
              </a:ext>
            </a:extLst>
          </p:cNvPr>
          <p:cNvSpPr txBox="1"/>
          <p:nvPr/>
        </p:nvSpPr>
        <p:spPr>
          <a:xfrm>
            <a:off x="7464289" y="774946"/>
            <a:ext cx="2268749" cy="244497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6AA3C1-F713-1938-93F9-5A35F1DDC1E8}"/>
              </a:ext>
            </a:extLst>
          </p:cNvPr>
          <p:cNvSpPr txBox="1"/>
          <p:nvPr/>
        </p:nvSpPr>
        <p:spPr>
          <a:xfrm>
            <a:off x="7621598" y="2096852"/>
            <a:ext cx="1667409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win mainpage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F524A9-CAD1-0C5B-F84C-AC82386B7D08}"/>
              </a:ext>
            </a:extLst>
          </p:cNvPr>
          <p:cNvSpPr txBox="1"/>
          <p:nvPr/>
        </p:nvSpPr>
        <p:spPr>
          <a:xfrm>
            <a:off x="7621597" y="1727520"/>
            <a:ext cx="1667409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win subpage0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39A52C-DB41-6801-716D-92503B1CB0D9}"/>
              </a:ext>
            </a:extLst>
          </p:cNvPr>
          <p:cNvSpPr txBox="1"/>
          <p:nvPr/>
        </p:nvSpPr>
        <p:spPr>
          <a:xfrm>
            <a:off x="7621596" y="1362836"/>
            <a:ext cx="1667409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win subpage1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4CBB5F-F08C-079A-E489-084F78852F98}"/>
              </a:ext>
            </a:extLst>
          </p:cNvPr>
          <p:cNvSpPr txBox="1"/>
          <p:nvPr/>
        </p:nvSpPr>
        <p:spPr>
          <a:xfrm>
            <a:off x="7627692" y="2468973"/>
            <a:ext cx="167103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Window</a:t>
            </a:r>
            <a:r>
              <a:rPr lang="ko-KR" altLang="en-US"/>
              <a:t> </a:t>
            </a:r>
            <a:r>
              <a:rPr lang="en-US" altLang="ko-KR"/>
              <a:t>PageStack</a:t>
            </a:r>
            <a:endParaRPr lang="ko-KR" altLang="en-US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1FB0A14-FA1B-84A5-03A1-CE9C95281141}"/>
              </a:ext>
            </a:extLst>
          </p:cNvPr>
          <p:cNvCxnSpPr>
            <a:cxnSpLocks/>
          </p:cNvCxnSpPr>
          <p:nvPr/>
        </p:nvCxnSpPr>
        <p:spPr>
          <a:xfrm flipV="1">
            <a:off x="9465368" y="1419876"/>
            <a:ext cx="0" cy="1016795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2F88F35-CD10-C1B4-2478-5C60231B198D}"/>
              </a:ext>
            </a:extLst>
          </p:cNvPr>
          <p:cNvSpPr txBox="1"/>
          <p:nvPr/>
        </p:nvSpPr>
        <p:spPr>
          <a:xfrm>
            <a:off x="9696919" y="1129727"/>
            <a:ext cx="23061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윈도우에는 해당 윈도우 전용 페이지 스택이</a:t>
            </a:r>
            <a:endParaRPr lang="en-US" altLang="ko-KR" sz="1400"/>
          </a:p>
          <a:p>
            <a:r>
              <a:rPr lang="ko-KR" altLang="en-US" sz="1400"/>
              <a:t>존재한다</a:t>
            </a:r>
            <a:r>
              <a:rPr lang="en-US" altLang="ko-KR" sz="1400"/>
              <a:t>. </a:t>
            </a:r>
          </a:p>
          <a:p>
            <a:r>
              <a:rPr lang="ko-KR" altLang="en-US" sz="1400"/>
              <a:t>해당 페이지들은 윈도우의 영역 안에서만 </a:t>
            </a:r>
            <a:endParaRPr lang="en-US" altLang="ko-KR" sz="1400"/>
          </a:p>
          <a:p>
            <a:r>
              <a:rPr lang="ko-KR" altLang="en-US" sz="1400"/>
              <a:t>상호작용이 가능하며</a:t>
            </a:r>
            <a:r>
              <a:rPr lang="en-US" altLang="ko-KR" sz="1400"/>
              <a:t>, </a:t>
            </a:r>
          </a:p>
          <a:p>
            <a:r>
              <a:rPr lang="ko-KR" altLang="en-US" sz="1400"/>
              <a:t>윈도우가 선택되어야만 상호작용이 가능하다</a:t>
            </a:r>
            <a:r>
              <a:rPr lang="en-US" altLang="ko-KR" sz="1400"/>
              <a:t>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46102B-E926-837E-A7DC-B129878DAC7A}"/>
              </a:ext>
            </a:extLst>
          </p:cNvPr>
          <p:cNvSpPr/>
          <p:nvPr/>
        </p:nvSpPr>
        <p:spPr>
          <a:xfrm>
            <a:off x="1161599" y="4529398"/>
            <a:ext cx="4121427" cy="2328601"/>
          </a:xfrm>
          <a:prstGeom prst="rect">
            <a:avLst/>
          </a:prstGeom>
          <a:solidFill>
            <a:schemeClr val="tx1">
              <a:lumMod val="75000"/>
              <a:lumOff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AAF6E8-E126-CE40-F7D2-C745F8101180}"/>
              </a:ext>
            </a:extLst>
          </p:cNvPr>
          <p:cNvSpPr txBox="1"/>
          <p:nvPr/>
        </p:nvSpPr>
        <p:spPr>
          <a:xfrm>
            <a:off x="1170549" y="4166993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subpage0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F19E20-67AC-9129-43D9-9DDF62847C2B}"/>
              </a:ext>
            </a:extLst>
          </p:cNvPr>
          <p:cNvSpPr/>
          <p:nvPr/>
        </p:nvSpPr>
        <p:spPr>
          <a:xfrm>
            <a:off x="-15684" y="5085756"/>
            <a:ext cx="4121427" cy="1772243"/>
          </a:xfrm>
          <a:prstGeom prst="rect">
            <a:avLst/>
          </a:prstGeom>
          <a:solidFill>
            <a:schemeClr val="tx1">
              <a:lumMod val="75000"/>
              <a:lumOff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2CC255-4CA1-5880-EC62-9B96EF2CC269}"/>
              </a:ext>
            </a:extLst>
          </p:cNvPr>
          <p:cNvSpPr txBox="1"/>
          <p:nvPr/>
        </p:nvSpPr>
        <p:spPr>
          <a:xfrm>
            <a:off x="-30628" y="4723351"/>
            <a:ext cx="132071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subpage1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2A3C84-DE22-46AF-77BC-53E395B997B1}"/>
              </a:ext>
            </a:extLst>
          </p:cNvPr>
          <p:cNvSpPr txBox="1"/>
          <p:nvPr/>
        </p:nvSpPr>
        <p:spPr>
          <a:xfrm>
            <a:off x="3410649" y="-16213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아직 실현되지 못함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1" name="슬라이드 확대/축소 40">
                <a:extLst>
                  <a:ext uri="{FF2B5EF4-FFF2-40B4-BE49-F238E27FC236}">
                    <a16:creationId xmlns:a16="http://schemas.microsoft.com/office/drawing/2014/main" id="{E4D31A5E-FB59-3868-F147-5629C48AC3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5303103"/>
                  </p:ext>
                </p:extLst>
              </p:nvPr>
            </p:nvGraphicFramePr>
            <p:xfrm>
              <a:off x="7151913" y="3262916"/>
              <a:ext cx="4851124" cy="2728758"/>
            </p:xfrm>
            <a:graphic>
              <a:graphicData uri="http://schemas.microsoft.com/office/powerpoint/2016/slidezoom">
                <pslz:sldZm>
                  <pslz:sldZmObj sldId="291" cId="1776988636">
                    <pslz:zmPr id="{A659AF16-7EC3-4AFE-A886-E6C624CE740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851124" cy="27287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1" name="슬라이드 확대/축소 4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4D31A5E-FB59-3868-F147-5629C48AC3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1913" y="3262916"/>
                <a:ext cx="4851124" cy="27287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786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36BA4-811D-39F2-86EE-21C38847FD90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85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/>
              <a:t>UI Structure</a:t>
            </a:r>
            <a:endParaRPr lang="ko-KR" altLang="en-US" sz="54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슬라이드 확대/축소 3">
                <a:extLst>
                  <a:ext uri="{FF2B5EF4-FFF2-40B4-BE49-F238E27FC236}">
                    <a16:creationId xmlns:a16="http://schemas.microsoft.com/office/drawing/2014/main" id="{F15FAF58-0634-C8AB-E7F8-57E8F87E7A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42581265"/>
                  </p:ext>
                </p:extLst>
              </p:nvPr>
            </p:nvGraphicFramePr>
            <p:xfrm>
              <a:off x="6096001" y="0"/>
              <a:ext cx="6096000" cy="3429000"/>
            </p:xfrm>
            <a:graphic>
              <a:graphicData uri="http://schemas.microsoft.com/office/powerpoint/2016/slidezoom">
                <pslz:sldZm>
                  <pslz:sldZmObj sldId="292" cId="1125029623">
                    <pslz:zmPr id="{93C0DF16-85AB-4D2A-99EA-2F62B06E797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슬라이드 확대/축소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15FAF58-0634-C8AB-E7F8-57E8F87E7A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1" y="0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슬라이드 확대/축소 5">
                <a:extLst>
                  <a:ext uri="{FF2B5EF4-FFF2-40B4-BE49-F238E27FC236}">
                    <a16:creationId xmlns:a16="http://schemas.microsoft.com/office/drawing/2014/main" id="{CBA8C4E7-233E-71CC-52E3-C51F7996FA4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85531493"/>
                  </p:ext>
                </p:extLst>
              </p:nvPr>
            </p:nvGraphicFramePr>
            <p:xfrm>
              <a:off x="6096000" y="3447255"/>
              <a:ext cx="6096000" cy="3429000"/>
            </p:xfrm>
            <a:graphic>
              <a:graphicData uri="http://schemas.microsoft.com/office/powerpoint/2016/slidezoom">
                <pslz:sldZm>
                  <pslz:sldZmObj sldId="293" cId="1363661584">
                    <pslz:zmPr id="{34B19A3E-D23A-4CB2-B7BE-6C99D0540849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슬라이드 확대/축소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CBA8C4E7-233E-71CC-52E3-C51F7996FA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0" y="3447255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7E9286D1-9FEE-14A0-64CD-1C8E0EE0D1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30" y="833075"/>
            <a:ext cx="3419952" cy="51918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9712BA-8426-9877-9D1C-EA1295DDF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282" y="4611215"/>
            <a:ext cx="2457793" cy="1810003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7BB68EC-A900-A4CE-09A5-3D917C69F50C}"/>
              </a:ext>
            </a:extLst>
          </p:cNvPr>
          <p:cNvCxnSpPr>
            <a:cxnSpLocks/>
          </p:cNvCxnSpPr>
          <p:nvPr/>
        </p:nvCxnSpPr>
        <p:spPr>
          <a:xfrm flipH="1">
            <a:off x="2564296" y="4681330"/>
            <a:ext cx="1073911" cy="0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6C37AF-2D69-ED92-477E-694A609CD9D3}"/>
              </a:ext>
            </a:extLst>
          </p:cNvPr>
          <p:cNvSpPr txBox="1"/>
          <p:nvPr/>
        </p:nvSpPr>
        <p:spPr>
          <a:xfrm>
            <a:off x="3529282" y="2871328"/>
            <a:ext cx="244971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ParamData</a:t>
            </a:r>
            <a:r>
              <a:rPr lang="ko-KR" altLang="en-US" sz="1400"/>
              <a:t>에 </a:t>
            </a:r>
            <a:endParaRPr lang="en-US" altLang="ko-KR" sz="1400"/>
          </a:p>
          <a:p>
            <a:r>
              <a:rPr lang="ko-KR" altLang="en-US" sz="1400"/>
              <a:t>다양한 </a:t>
            </a:r>
            <a:r>
              <a:rPr lang="en-US" altLang="ko-KR" sz="1400"/>
              <a:t>UI</a:t>
            </a:r>
            <a:r>
              <a:rPr lang="ko-KR" altLang="en-US" sz="1400"/>
              <a:t>의 </a:t>
            </a:r>
            <a:r>
              <a:rPr lang="en-US" altLang="ko-KR" sz="1400"/>
              <a:t>Param</a:t>
            </a:r>
            <a:r>
              <a:rPr lang="ko-KR" altLang="en-US" sz="1400"/>
              <a:t>을 넣어</a:t>
            </a:r>
            <a:endParaRPr lang="en-US" altLang="ko-KR" sz="1400"/>
          </a:p>
          <a:p>
            <a:r>
              <a:rPr lang="ko-KR" altLang="en-US" sz="1400"/>
              <a:t>여러 모습으로 만들 수 있다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Render, Update, Event</a:t>
            </a:r>
            <a:r>
              <a:rPr lang="ko-KR" altLang="en-US" sz="1400"/>
              <a:t>를 </a:t>
            </a:r>
            <a:endParaRPr lang="en-US" altLang="ko-KR" sz="1400"/>
          </a:p>
          <a:p>
            <a:r>
              <a:rPr lang="ko-KR" altLang="en-US" sz="1400"/>
              <a:t>수행하는 함수포인터를 </a:t>
            </a:r>
            <a:endParaRPr lang="en-US" altLang="ko-KR" sz="1400"/>
          </a:p>
          <a:p>
            <a:r>
              <a:rPr lang="ko-KR" altLang="en-US" sz="1400"/>
              <a:t>커스텀으로 만들어서 넣을 </a:t>
            </a:r>
            <a:endParaRPr lang="en-US" altLang="ko-KR" sz="1400"/>
          </a:p>
          <a:p>
            <a:r>
              <a:rPr lang="ko-KR" altLang="en-US" sz="1400"/>
              <a:t>수 있다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6988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0599-0182-417D-62CA-B4873EA9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2EB0A81F-3370-D5A4-57D9-EA3CCDB0DCE1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85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/>
              <a:t>UI Render</a:t>
            </a:r>
            <a:endParaRPr lang="ko-KR" altLang="en-US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0E91D-3B92-2868-CCC3-0EA5EC4BF8DA}"/>
              </a:ext>
            </a:extLst>
          </p:cNvPr>
          <p:cNvSpPr txBox="1"/>
          <p:nvPr/>
        </p:nvSpPr>
        <p:spPr>
          <a:xfrm>
            <a:off x="110221" y="868680"/>
            <a:ext cx="50786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UI Rendering</a:t>
            </a:r>
            <a:r>
              <a:rPr lang="ko-KR" altLang="en-US" sz="1400"/>
              <a:t> 다음과 같은 </a:t>
            </a:r>
            <a:r>
              <a:rPr lang="en-US" altLang="ko-KR" sz="1400"/>
              <a:t>4</a:t>
            </a:r>
            <a:r>
              <a:rPr lang="ko-KR" altLang="en-US" sz="1400"/>
              <a:t>가지 셰이더로 나누어진다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4</a:t>
            </a:r>
            <a:r>
              <a:rPr lang="ko-KR" altLang="en-US" sz="1400"/>
              <a:t>개의 셰이더 모두 인스턴싱을 통해 렌더링을 수행한다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때문에 매 프레임마다 인스턴스들의 데이터를 </a:t>
            </a:r>
            <a:r>
              <a:rPr lang="en-US" altLang="ko-KR" sz="1400"/>
              <a:t>Push</a:t>
            </a:r>
            <a:r>
              <a:rPr lang="ko-KR" altLang="en-US" sz="1400"/>
              <a:t>할 것이다</a:t>
            </a:r>
            <a:r>
              <a:rPr lang="en-US" altLang="ko-KR" sz="1400"/>
              <a:t>.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F8F01E5-0345-7302-8798-A9F1E519E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152255"/>
              </p:ext>
            </p:extLst>
          </p:nvPr>
        </p:nvGraphicFramePr>
        <p:xfrm>
          <a:off x="183322" y="1719104"/>
          <a:ext cx="7121939" cy="47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222">
                  <a:extLst>
                    <a:ext uri="{9D8B030D-6E8A-4147-A177-3AD203B41FA5}">
                      <a16:colId xmlns:a16="http://schemas.microsoft.com/office/drawing/2014/main" val="874733780"/>
                    </a:ext>
                  </a:extLst>
                </a:gridCol>
                <a:gridCol w="2735578">
                  <a:extLst>
                    <a:ext uri="{9D8B030D-6E8A-4147-A177-3AD203B41FA5}">
                      <a16:colId xmlns:a16="http://schemas.microsoft.com/office/drawing/2014/main" val="395432226"/>
                    </a:ext>
                  </a:extLst>
                </a:gridCol>
                <a:gridCol w="2753139">
                  <a:extLst>
                    <a:ext uri="{9D8B030D-6E8A-4147-A177-3AD203B41FA5}">
                      <a16:colId xmlns:a16="http://schemas.microsoft.com/office/drawing/2014/main" val="722743406"/>
                    </a:ext>
                  </a:extLst>
                </a:gridCol>
              </a:tblGrid>
              <a:tr h="854069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TEXTURE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633731"/>
                  </a:ext>
                </a:extLst>
              </a:tr>
              <a:tr h="19287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Normal Render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SDF Text-NormalRendering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Diffuse Screen Render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918053"/>
                  </a:ext>
                </a:extLst>
              </a:tr>
              <a:tr h="19287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Effect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SDF Effect Text Rendering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Pixel Effect Texture Render ( 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이거 굳이 필요하냐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흠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..)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5520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9D6BE3B-20C9-BE88-37E5-A5F0400C022E}"/>
              </a:ext>
            </a:extLst>
          </p:cNvPr>
          <p:cNvSpPr txBox="1"/>
          <p:nvPr/>
        </p:nvSpPr>
        <p:spPr>
          <a:xfrm>
            <a:off x="7553966" y="1349772"/>
            <a:ext cx="122891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InstanceA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66D40-AD38-B903-59D6-CC4CF3E961E3}"/>
              </a:ext>
            </a:extLst>
          </p:cNvPr>
          <p:cNvSpPr txBox="1"/>
          <p:nvPr/>
        </p:nvSpPr>
        <p:spPr>
          <a:xfrm>
            <a:off x="8948757" y="3240157"/>
            <a:ext cx="122891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InstanceB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CF968-E4FA-C1A0-E1C5-7B7CBBCD48EA}"/>
              </a:ext>
            </a:extLst>
          </p:cNvPr>
          <p:cNvSpPr txBox="1"/>
          <p:nvPr/>
        </p:nvSpPr>
        <p:spPr>
          <a:xfrm>
            <a:off x="10273975" y="2343685"/>
            <a:ext cx="122891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InstanceC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1DB89AF-BAFA-7ABB-F5B8-94DBCA47C13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168423" y="1719104"/>
            <a:ext cx="0" cy="4154922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731DC11-2488-B375-EE09-77422E28B522}"/>
              </a:ext>
            </a:extLst>
          </p:cNvPr>
          <p:cNvCxnSpPr>
            <a:cxnSpLocks/>
          </p:cNvCxnSpPr>
          <p:nvPr/>
        </p:nvCxnSpPr>
        <p:spPr>
          <a:xfrm>
            <a:off x="9611367" y="3617842"/>
            <a:ext cx="0" cy="225618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C2F622-20F1-0CB0-3FE7-F6AB8E5B9613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888432" y="2713017"/>
            <a:ext cx="0" cy="3161009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7AE3A93-EFBE-24C6-454B-7C5680072F49}"/>
              </a:ext>
            </a:extLst>
          </p:cNvPr>
          <p:cNvSpPr txBox="1"/>
          <p:nvPr/>
        </p:nvSpPr>
        <p:spPr>
          <a:xfrm>
            <a:off x="7198460" y="980440"/>
            <a:ext cx="4649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UI Render Loop </a:t>
            </a:r>
            <a:r>
              <a:rPr lang="ko-KR" altLang="en-US" sz="1400"/>
              <a:t>를 돌면서 렌더할 인스턴스들을 모은다</a:t>
            </a:r>
            <a:r>
              <a:rPr lang="en-US" altLang="ko-KR" sz="140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6383F0-3E65-14A7-B68C-385D92F29416}"/>
              </a:ext>
            </a:extLst>
          </p:cNvPr>
          <p:cNvSpPr txBox="1"/>
          <p:nvPr/>
        </p:nvSpPr>
        <p:spPr>
          <a:xfrm>
            <a:off x="7553965" y="5874025"/>
            <a:ext cx="3938980" cy="9233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루프가 다 끝나면 </a:t>
            </a:r>
            <a:endParaRPr lang="en-US" altLang="ko-KR"/>
          </a:p>
          <a:p>
            <a:r>
              <a:rPr lang="ko-KR" altLang="en-US"/>
              <a:t>인스턴싱 셰이더에서 모두 렌더링을 수행한다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DB793D-7306-8593-713D-BC87645DC44D}"/>
              </a:ext>
            </a:extLst>
          </p:cNvPr>
          <p:cNvSpPr txBox="1"/>
          <p:nvPr/>
        </p:nvSpPr>
        <p:spPr>
          <a:xfrm>
            <a:off x="8251362" y="4449225"/>
            <a:ext cx="122891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InstanceD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F3D2F-D314-1C87-984A-768A2DA2571B}"/>
              </a:ext>
            </a:extLst>
          </p:cNvPr>
          <p:cNvSpPr txBox="1"/>
          <p:nvPr/>
        </p:nvSpPr>
        <p:spPr>
          <a:xfrm>
            <a:off x="9611367" y="3844691"/>
            <a:ext cx="1228913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InstanceE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4586E16-4DAC-A9AD-D2D4-008ED9813202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8865819" y="4818557"/>
            <a:ext cx="13367" cy="106382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49BA83E-2894-8EEE-82A6-87436D22BC51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0212456" y="4214023"/>
            <a:ext cx="13368" cy="166000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919C5E-1DEE-7F07-C86F-8F90D50BB550}"/>
              </a:ext>
            </a:extLst>
          </p:cNvPr>
          <p:cNvSpPr txBox="1"/>
          <p:nvPr/>
        </p:nvSpPr>
        <p:spPr>
          <a:xfrm>
            <a:off x="8124561" y="1797253"/>
            <a:ext cx="23910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page</a:t>
            </a:r>
            <a:r>
              <a:rPr lang="ko-KR" altLang="en-US" sz="1400"/>
              <a:t>에 따라 서로 </a:t>
            </a:r>
            <a:r>
              <a:rPr lang="en-US" altLang="ko-KR" sz="1400"/>
              <a:t>depth</a:t>
            </a:r>
            <a:r>
              <a:rPr lang="ko-KR" altLang="en-US" sz="1400"/>
              <a:t>를 </a:t>
            </a:r>
            <a:endParaRPr lang="en-US" altLang="ko-KR" sz="1400"/>
          </a:p>
          <a:p>
            <a:r>
              <a:rPr lang="ko-KR" altLang="en-US" sz="1400"/>
              <a:t>다르게 하여 앞뒤를 준다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&gt;&gt; </a:t>
            </a:r>
            <a:r>
              <a:rPr lang="ko-KR" altLang="en-US" sz="1400"/>
              <a:t>이미 </a:t>
            </a:r>
            <a:r>
              <a:rPr lang="en-US" altLang="ko-KR" sz="1400"/>
              <a:t>3D</a:t>
            </a:r>
            <a:r>
              <a:rPr lang="ko-KR" altLang="en-US" sz="1400"/>
              <a:t>는 렌더가</a:t>
            </a:r>
            <a:endParaRPr lang="en-US" altLang="ko-KR" sz="1400"/>
          </a:p>
          <a:p>
            <a:r>
              <a:rPr lang="ko-KR" altLang="en-US" sz="1400"/>
              <a:t>끝난 상태고 </a:t>
            </a:r>
            <a:r>
              <a:rPr lang="en-US" altLang="ko-KR" sz="1400"/>
              <a:t>depth</a:t>
            </a:r>
            <a:r>
              <a:rPr lang="ko-KR" altLang="en-US" sz="1400"/>
              <a:t>는 </a:t>
            </a:r>
            <a:r>
              <a:rPr lang="en-US" altLang="ko-KR" sz="1400"/>
              <a:t>1.0</a:t>
            </a:r>
          </a:p>
          <a:p>
            <a:r>
              <a:rPr lang="ko-KR" altLang="en-US" sz="1400"/>
              <a:t>으로 클리어가 된 상태이다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크게 잡아도 무리는 없다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5029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0C818-C18F-C4E6-7237-844B919E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73B55D80-AA5F-12F7-1FC4-0E3977755510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85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/>
              <a:t>UI Update/Event</a:t>
            </a:r>
            <a:endParaRPr lang="ko-KR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B6623B-217F-067C-22EC-4FAD59944568}"/>
              </a:ext>
            </a:extLst>
          </p:cNvPr>
          <p:cNvSpPr txBox="1"/>
          <p:nvPr/>
        </p:nvSpPr>
        <p:spPr>
          <a:xfrm>
            <a:off x="6222122" y="946161"/>
            <a:ext cx="159003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Global</a:t>
            </a:r>
            <a:r>
              <a:rPr lang="ko-KR" altLang="en-US"/>
              <a:t> </a:t>
            </a:r>
            <a:r>
              <a:rPr lang="en-US" altLang="ko-KR"/>
              <a:t>Event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C5613-D6AC-FA07-29B8-6905F9AF4987}"/>
              </a:ext>
            </a:extLst>
          </p:cNvPr>
          <p:cNvSpPr txBox="1"/>
          <p:nvPr/>
        </p:nvSpPr>
        <p:spPr>
          <a:xfrm>
            <a:off x="119269" y="966405"/>
            <a:ext cx="4631635" cy="9233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AnimOperUtil</a:t>
            </a:r>
          </a:p>
          <a:p>
            <a:r>
              <a:rPr lang="en-US" altLang="ko-KR"/>
              <a:t>: </a:t>
            </a:r>
            <a:r>
              <a:rPr lang="ko-KR" altLang="en-US"/>
              <a:t>애니메이션의 </a:t>
            </a:r>
            <a:r>
              <a:rPr lang="en-US" altLang="ko-KR"/>
              <a:t>Ease </a:t>
            </a:r>
            <a:r>
              <a:rPr lang="ko-KR" altLang="en-US"/>
              <a:t>무브를 구현</a:t>
            </a:r>
            <a:r>
              <a:rPr lang="en-US" altLang="ko-KR"/>
              <a:t>.</a:t>
            </a:r>
          </a:p>
          <a:p>
            <a:r>
              <a:rPr lang="en-US" altLang="ko-KR"/>
              <a:t>Update</a:t>
            </a:r>
            <a:r>
              <a:rPr lang="ko-KR" altLang="en-US"/>
              <a:t>시에 반응성을 극대화하는걸 돕는다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FB5361-5EBD-87FB-BEDA-2CB158762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" y="1987460"/>
            <a:ext cx="5185779" cy="4751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6E45D-8CA0-3912-FD1F-639283341008}"/>
              </a:ext>
            </a:extLst>
          </p:cNvPr>
          <p:cNvSpPr txBox="1"/>
          <p:nvPr/>
        </p:nvSpPr>
        <p:spPr>
          <a:xfrm>
            <a:off x="6222122" y="1428070"/>
            <a:ext cx="574772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어짜피 </a:t>
            </a:r>
            <a:r>
              <a:rPr lang="en-US" altLang="ko-KR" sz="1400"/>
              <a:t>winproc</a:t>
            </a:r>
            <a:r>
              <a:rPr lang="ko-KR" altLang="en-US" sz="1400"/>
              <a:t>에서 이벤트가 발생되면 전달되는 이벤트는 모든 </a:t>
            </a:r>
            <a:r>
              <a:rPr lang="en-US" altLang="ko-KR" sz="1400"/>
              <a:t>UI</a:t>
            </a:r>
            <a:r>
              <a:rPr lang="ko-KR" altLang="en-US" sz="1400"/>
              <a:t>에</a:t>
            </a:r>
            <a:endParaRPr lang="en-US" altLang="ko-KR" sz="1400"/>
          </a:p>
          <a:p>
            <a:r>
              <a:rPr lang="ko-KR" altLang="en-US" sz="1400"/>
              <a:t>대하여 모두 같을 것이니 </a:t>
            </a:r>
            <a:r>
              <a:rPr lang="en-US" altLang="ko-KR" sz="1400"/>
              <a:t>Global</a:t>
            </a:r>
            <a:r>
              <a:rPr lang="ko-KR" altLang="en-US" sz="1400"/>
              <a:t>로 빼둔다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기존 </a:t>
            </a:r>
            <a:r>
              <a:rPr lang="en-US" altLang="ko-KR" sz="1400"/>
              <a:t>hWnd, Message, wParam, lParam</a:t>
            </a:r>
            <a:r>
              <a:rPr lang="ko-KR" altLang="en-US" sz="1400"/>
              <a:t>도 있지만</a:t>
            </a:r>
            <a:r>
              <a:rPr lang="en-US" altLang="ko-KR" sz="1400"/>
              <a:t>,</a:t>
            </a:r>
          </a:p>
          <a:p>
            <a:r>
              <a:rPr lang="ko-KR" altLang="en-US" sz="1400"/>
              <a:t>현재 마우스의 위치와 상태</a:t>
            </a:r>
            <a:r>
              <a:rPr lang="en-US" altLang="ko-KR" sz="1400"/>
              <a:t>,</a:t>
            </a:r>
          </a:p>
          <a:p>
            <a:r>
              <a:rPr lang="ko-KR" altLang="en-US" sz="1400"/>
              <a:t>현재 키보드의 눌려진 상태등을 같이 보낸다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Edit Box </a:t>
            </a:r>
            <a:r>
              <a:rPr lang="ko-KR" altLang="en-US" sz="1400"/>
              <a:t>같이 텍스트 입력이 필요할때는 </a:t>
            </a:r>
            <a:r>
              <a:rPr lang="en-US" altLang="ko-KR" sz="1400"/>
              <a:t>WM_CHAR</a:t>
            </a:r>
            <a:r>
              <a:rPr lang="ko-KR" altLang="en-US" sz="1400"/>
              <a:t>과 </a:t>
            </a:r>
            <a:endParaRPr lang="en-US" altLang="ko-KR" sz="1400"/>
          </a:p>
          <a:p>
            <a:r>
              <a:rPr lang="ko-KR" altLang="en-US" sz="1400"/>
              <a:t>한글 입력시 </a:t>
            </a:r>
            <a:r>
              <a:rPr lang="en-US" altLang="ko-KR" sz="1400"/>
              <a:t>IME</a:t>
            </a:r>
            <a:r>
              <a:rPr lang="ko-KR" altLang="en-US" sz="1400"/>
              <a:t>의 이벤트를 사용하자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3661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33AE-9F99-9267-D62C-B42EA2D7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FE72D-544F-807F-1F47-DD6EEC2AE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Game Data Exporter</a:t>
            </a:r>
            <a:endParaRPr lang="ko-KR" altLang="en-US" sz="5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78F3F3-D071-F010-C6DC-9D6FFAC83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5" y="1031240"/>
            <a:ext cx="8014667" cy="390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2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6FD6-4547-098A-8B02-39E52B50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DAB3F-2228-5FAA-389C-96DC91241B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GameLogic</a:t>
            </a:r>
            <a:endParaRPr lang="ko-KR" altLang="en-US" sz="54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슬라이드 확대/축소 3">
                <a:extLst>
                  <a:ext uri="{FF2B5EF4-FFF2-40B4-BE49-F238E27FC236}">
                    <a16:creationId xmlns:a16="http://schemas.microsoft.com/office/drawing/2014/main" id="{831D66FA-F757-79EF-C181-BB6DF67D0D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4750978"/>
                  </p:ext>
                </p:extLst>
              </p:nvPr>
            </p:nvGraphicFramePr>
            <p:xfrm>
              <a:off x="-1" y="1050207"/>
              <a:ext cx="5893893" cy="3315315"/>
            </p:xfrm>
            <a:graphic>
              <a:graphicData uri="http://schemas.microsoft.com/office/powerpoint/2016/slidezoom">
                <pslz:sldZm>
                  <pslz:sldZmObj sldId="278" cId="3420612943">
                    <pslz:zmPr id="{F2039B65-B6FC-4B2F-A42A-6D0581CC8FE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93893" cy="33153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슬라이드 확대/축소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31D66FA-F757-79EF-C181-BB6DF67D0D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1050207"/>
                <a:ext cx="5893893" cy="33153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슬라이드 확대/축소 5">
                <a:extLst>
                  <a:ext uri="{FF2B5EF4-FFF2-40B4-BE49-F238E27FC236}">
                    <a16:creationId xmlns:a16="http://schemas.microsoft.com/office/drawing/2014/main" id="{DDF32986-FF6C-E5A3-849B-D60E77632B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69494546"/>
                  </p:ext>
                </p:extLst>
              </p:nvPr>
            </p:nvGraphicFramePr>
            <p:xfrm>
              <a:off x="6298109" y="1050207"/>
              <a:ext cx="5893891" cy="3315314"/>
            </p:xfrm>
            <a:graphic>
              <a:graphicData uri="http://schemas.microsoft.com/office/powerpoint/2016/slidezoom">
                <pslz:sldZm>
                  <pslz:sldZmObj sldId="279" cId="2927238059">
                    <pslz:zmPr id="{EFAEE96A-68E4-4BA0-AD76-B19B21DBD83D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93891" cy="33153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슬라이드 확대/축소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DDF32986-FF6C-E5A3-849B-D60E77632B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8109" y="1050207"/>
                <a:ext cx="5893891" cy="33153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8334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4EB2-09FD-458F-0E89-D6CD0EE8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4AF71-758F-BA8D-6192-FEC04D1D8F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BitAlloter</a:t>
            </a:r>
            <a:endParaRPr lang="ko-KR" altLang="en-US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14BEE-5B9D-F77C-1F44-F02DDDD9145C}"/>
              </a:ext>
            </a:extLst>
          </p:cNvPr>
          <p:cNvSpPr txBox="1"/>
          <p:nvPr/>
        </p:nvSpPr>
        <p:spPr>
          <a:xfrm>
            <a:off x="137160" y="868680"/>
            <a:ext cx="123177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bitAlloter</a:t>
            </a:r>
            <a:r>
              <a:rPr lang="ko-KR" altLang="en-US" dirty="0"/>
              <a:t>는 각 배열의 자리의 활성</a:t>
            </a:r>
            <a:r>
              <a:rPr lang="en-US" altLang="ko-KR" dirty="0"/>
              <a:t>/</a:t>
            </a:r>
            <a:r>
              <a:rPr lang="ko-KR" altLang="en-US" dirty="0"/>
              <a:t>비활성 혹은 할당</a:t>
            </a:r>
            <a:r>
              <a:rPr lang="en-US" altLang="ko-KR" dirty="0"/>
              <a:t>/</a:t>
            </a:r>
            <a:r>
              <a:rPr lang="ko-KR" altLang="en-US" dirty="0" err="1"/>
              <a:t>비할당</a:t>
            </a:r>
            <a:r>
              <a:rPr lang="ko-KR" altLang="en-US" dirty="0"/>
              <a:t> 여부를 </a:t>
            </a:r>
            <a:r>
              <a:rPr lang="en-US" altLang="ko-KR" dirty="0"/>
              <a:t>bit </a:t>
            </a:r>
            <a:r>
              <a:rPr lang="ko-KR" altLang="en-US" dirty="0"/>
              <a:t>배열로 나타낸다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Alloc</a:t>
            </a:r>
            <a:r>
              <a:rPr lang="en-US" altLang="ko-KR" dirty="0"/>
              <a:t>()</a:t>
            </a:r>
            <a:r>
              <a:rPr lang="ko-KR" altLang="en-US" dirty="0"/>
              <a:t>을 하면 비트가 </a:t>
            </a:r>
            <a:r>
              <a:rPr lang="en-US" altLang="ko-KR" dirty="0"/>
              <a:t>0</a:t>
            </a:r>
            <a:r>
              <a:rPr lang="ko-KR" altLang="en-US" dirty="0"/>
              <a:t>인 자리를 선택하여 </a:t>
            </a:r>
            <a:r>
              <a:rPr lang="en-US" altLang="ko-KR" dirty="0"/>
              <a:t>1</a:t>
            </a:r>
            <a:r>
              <a:rPr lang="ko-KR" altLang="en-US" dirty="0"/>
              <a:t>로 만들고 해당 위치를 </a:t>
            </a:r>
            <a:r>
              <a:rPr lang="en-US" altLang="ko-KR" dirty="0"/>
              <a:t>int </a:t>
            </a:r>
            <a:r>
              <a:rPr lang="ko-KR" altLang="en-US" dirty="0"/>
              <a:t>인덱스로 반환한다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인덱스를 오브젝트가 가지고 있다가 </a:t>
            </a:r>
            <a:r>
              <a:rPr lang="en-US" altLang="ko-KR" dirty="0"/>
              <a:t>Free(index) </a:t>
            </a:r>
            <a:r>
              <a:rPr lang="ko-KR" altLang="en-US" dirty="0"/>
              <a:t>를 호출하여 다시 해제할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할당과정은 꽤나 빠르다</a:t>
            </a:r>
            <a:r>
              <a:rPr lang="en-US" altLang="ko-KR" dirty="0"/>
              <a:t>. </a:t>
            </a:r>
            <a:r>
              <a:rPr lang="ko-KR" altLang="en-US" dirty="0"/>
              <a:t>왜냐하면 가장 마지막 </a:t>
            </a:r>
            <a:r>
              <a:rPr lang="en-US" altLang="ko-KR" dirty="0"/>
              <a:t>0</a:t>
            </a:r>
            <a:r>
              <a:rPr lang="ko-KR" altLang="en-US" dirty="0"/>
              <a:t>을 항상 저장하게끔 알고리즘이 </a:t>
            </a:r>
            <a:r>
              <a:rPr lang="ko-KR" altLang="en-US" dirty="0" err="1"/>
              <a:t>짜여있기도</a:t>
            </a:r>
            <a:r>
              <a:rPr lang="ko-KR" altLang="en-US" dirty="0"/>
              <a:t> 하고</a:t>
            </a:r>
            <a:r>
              <a:rPr lang="en-US" altLang="ko-KR" dirty="0"/>
              <a:t>, (</a:t>
            </a:r>
            <a:r>
              <a:rPr lang="ko-KR" altLang="en-US" dirty="0"/>
              <a:t>곧바로 그걸 선택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bit </a:t>
            </a:r>
            <a:r>
              <a:rPr lang="ko-KR" altLang="en-US" dirty="0"/>
              <a:t>배열로 되어있기 때문에 </a:t>
            </a:r>
            <a:r>
              <a:rPr lang="en-US" altLang="ko-KR" dirty="0"/>
              <a:t>32</a:t>
            </a:r>
            <a:r>
              <a:rPr lang="ko-KR" altLang="en-US" dirty="0"/>
              <a:t>개의 오브젝트의 할당여부를 한번에 검사할 수 있다</a:t>
            </a:r>
            <a:r>
              <a:rPr lang="en-US" altLang="ko-KR" dirty="0"/>
              <a:t>. 0xFFFFFFFF</a:t>
            </a:r>
            <a:r>
              <a:rPr lang="ko-KR" altLang="en-US" dirty="0"/>
              <a:t>가 아니라면</a:t>
            </a:r>
            <a:endParaRPr lang="en-US" altLang="ko-KR" dirty="0"/>
          </a:p>
          <a:p>
            <a:r>
              <a:rPr lang="ko-KR" altLang="en-US" dirty="0"/>
              <a:t>그곳에 </a:t>
            </a:r>
            <a:r>
              <a:rPr lang="en-US" altLang="ko-KR" dirty="0"/>
              <a:t>0</a:t>
            </a:r>
            <a:r>
              <a:rPr lang="ko-KR" altLang="en-US" dirty="0"/>
              <a:t>이 있다는 것이니 해당 </a:t>
            </a:r>
            <a:r>
              <a:rPr lang="en-US" altLang="ko-KR" dirty="0"/>
              <a:t>doubleword </a:t>
            </a:r>
            <a:r>
              <a:rPr lang="ko-KR" altLang="en-US" dirty="0"/>
              <a:t>를 </a:t>
            </a:r>
            <a:r>
              <a:rPr lang="en-US" altLang="ko-KR" dirty="0"/>
              <a:t>bit </a:t>
            </a:r>
            <a:r>
              <a:rPr lang="ko-KR" altLang="en-US" dirty="0"/>
              <a:t>순회한다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슬라이드 확대/축소 7">
                <a:extLst>
                  <a:ext uri="{FF2B5EF4-FFF2-40B4-BE49-F238E27FC236}">
                    <a16:creationId xmlns:a16="http://schemas.microsoft.com/office/drawing/2014/main" id="{D507B324-09B3-7B73-FD30-77FD1CC002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7729037"/>
                  </p:ext>
                </p:extLst>
              </p:nvPr>
            </p:nvGraphicFramePr>
            <p:xfrm>
              <a:off x="205986" y="2768395"/>
              <a:ext cx="6617109" cy="3722124"/>
            </p:xfrm>
            <a:graphic>
              <a:graphicData uri="http://schemas.microsoft.com/office/powerpoint/2016/slidezoom">
                <pslz:sldZm>
                  <pslz:sldZmObj sldId="283" cId="977256668">
                    <pslz:zmPr id="{64EB6C04-2ACE-4F0E-BEC1-03A316A8B18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617109" cy="372212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슬라이드 확대/축소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507B324-09B3-7B73-FD30-77FD1CC002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986" y="2768395"/>
                <a:ext cx="6617109" cy="372212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612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BDEE-4E30-B33C-786A-A062222B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51FA0-2288-B9C4-6639-D7C68CFC2A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BitAlloter</a:t>
            </a:r>
            <a:r>
              <a:rPr lang="ko-KR" altLang="en-US" sz="5400" dirty="0"/>
              <a:t>의 순회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7CD42-075F-59E4-8451-B20704309C2E}"/>
              </a:ext>
            </a:extLst>
          </p:cNvPr>
          <p:cNvSpPr txBox="1"/>
          <p:nvPr/>
        </p:nvSpPr>
        <p:spPr>
          <a:xfrm>
            <a:off x="159773" y="970455"/>
            <a:ext cx="11766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bitAlloter</a:t>
            </a:r>
            <a:r>
              <a:rPr lang="ko-KR" altLang="en-US" dirty="0"/>
              <a:t>로 관리되는 오브젝트의 순회는 결국 활성화 비트 </a:t>
            </a:r>
            <a:r>
              <a:rPr lang="en-US" altLang="ko-KR" dirty="0"/>
              <a:t>(1)</a:t>
            </a:r>
            <a:r>
              <a:rPr lang="ko-KR" altLang="en-US" dirty="0"/>
              <a:t>로 켜진 오브젝트만을 대상으로 이루어지는데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이는 </a:t>
            </a:r>
            <a:r>
              <a:rPr lang="en-US" altLang="ko-KR" dirty="0" err="1"/>
              <a:t>IndexRange</a:t>
            </a:r>
            <a:r>
              <a:rPr lang="ko-KR" altLang="en-US" dirty="0"/>
              <a:t>의 배열로 해당하는 오브젝트 대상을 미리 뽑아두고 순회를 할 수 있다</a:t>
            </a:r>
            <a:r>
              <a:rPr lang="en-US" altLang="ko-KR" dirty="0"/>
              <a:t>. (</a:t>
            </a:r>
            <a:r>
              <a:rPr lang="ko-KR" altLang="en-US" dirty="0"/>
              <a:t>가장 빠른 방식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GetTourPairs</a:t>
            </a:r>
            <a:r>
              <a:rPr lang="en-US" altLang="ko-KR" dirty="0"/>
              <a:t> range</a:t>
            </a:r>
            <a:r>
              <a:rPr lang="ko-KR" altLang="en-US" dirty="0"/>
              <a:t>의 </a:t>
            </a:r>
            <a:r>
              <a:rPr lang="en-US" altLang="ko-KR" dirty="0" err="1"/>
              <a:t>startindex</a:t>
            </a:r>
            <a:r>
              <a:rPr lang="en-US" altLang="ko-KR" dirty="0"/>
              <a:t>, </a:t>
            </a:r>
            <a:r>
              <a:rPr lang="en-US" altLang="ko-KR" dirty="0" err="1"/>
              <a:t>endindex</a:t>
            </a:r>
            <a:r>
              <a:rPr lang="ko-KR" altLang="en-US" dirty="0"/>
              <a:t>를 담은 </a:t>
            </a:r>
            <a:r>
              <a:rPr lang="en-US" altLang="ko-KR" dirty="0"/>
              <a:t>pair</a:t>
            </a:r>
            <a:r>
              <a:rPr lang="ko-KR" altLang="en-US" dirty="0"/>
              <a:t>들을 순회하며 오브젝트를 처리하면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코드 </a:t>
            </a:r>
            <a:r>
              <a:rPr lang="ko-KR" altLang="en-US" dirty="0" err="1"/>
              <a:t>처럼</a:t>
            </a:r>
            <a:r>
              <a:rPr lang="ko-KR" altLang="en-US" dirty="0"/>
              <a:t> 사용된다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8A0B7B-D6B7-55EF-F9E4-3607956E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3" y="2247697"/>
            <a:ext cx="7025640" cy="23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56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0CFE-B1DF-AF97-9299-369ACD56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94679-0F0F-9BFC-2144-B64E52D653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Chunck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7D6DC-84FB-9AB3-5CDA-77D37639647D}"/>
              </a:ext>
            </a:extLst>
          </p:cNvPr>
          <p:cNvSpPr txBox="1"/>
          <p:nvPr/>
        </p:nvSpPr>
        <p:spPr>
          <a:xfrm>
            <a:off x="0" y="868680"/>
            <a:ext cx="102579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공간을 </a:t>
            </a:r>
            <a:r>
              <a:rPr lang="ko-KR" altLang="en-US" dirty="0" err="1"/>
              <a:t>청크로</a:t>
            </a:r>
            <a:r>
              <a:rPr lang="ko-KR" altLang="en-US" dirty="0"/>
              <a:t> 나누었다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&gt;&gt; </a:t>
            </a:r>
            <a:r>
              <a:rPr lang="ko-KR" altLang="en-US" dirty="0"/>
              <a:t>왜 나누었는가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1. Render</a:t>
            </a:r>
            <a:r>
              <a:rPr lang="ko-KR" altLang="en-US" dirty="0"/>
              <a:t>에서 오브젝트가 많아지더라도 뷰 </a:t>
            </a:r>
            <a:r>
              <a:rPr lang="ko-KR" altLang="en-US" dirty="0" err="1"/>
              <a:t>프러스텀</a:t>
            </a:r>
            <a:r>
              <a:rPr lang="ko-KR" altLang="en-US" dirty="0"/>
              <a:t> </a:t>
            </a:r>
            <a:r>
              <a:rPr lang="ko-KR" altLang="en-US" dirty="0" err="1"/>
              <a:t>컬링을</a:t>
            </a:r>
            <a:r>
              <a:rPr lang="ko-KR" altLang="en-US" dirty="0"/>
              <a:t> 빠르게 하고 싶었음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만약 </a:t>
            </a:r>
            <a:r>
              <a:rPr lang="ko-KR" altLang="en-US" dirty="0" err="1"/>
              <a:t>청크가</a:t>
            </a:r>
            <a:r>
              <a:rPr lang="ko-KR" altLang="en-US" dirty="0"/>
              <a:t> 없다면 오브젝트마다 </a:t>
            </a:r>
            <a:r>
              <a:rPr lang="ko-KR" altLang="en-US" dirty="0" err="1"/>
              <a:t>프러스텀에</a:t>
            </a:r>
            <a:r>
              <a:rPr lang="ko-KR" altLang="en-US" dirty="0"/>
              <a:t> 들어가는지 체크를 했어야 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서버에서 충돌검사를 할 것을 염두에 두었다</a:t>
            </a:r>
            <a:r>
              <a:rPr lang="en-US" altLang="ko-KR" dirty="0"/>
              <a:t>. </a:t>
            </a:r>
            <a:r>
              <a:rPr lang="ko-KR" altLang="en-US" dirty="0"/>
              <a:t>충돌의 검사는 </a:t>
            </a:r>
            <a:r>
              <a:rPr lang="en-US" altLang="ko-KR" dirty="0"/>
              <a:t>O(N^2)</a:t>
            </a:r>
            <a:r>
              <a:rPr lang="ko-KR" altLang="en-US" dirty="0"/>
              <a:t>의 복잡도를 가지기 때문에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작업을 잘게 분할을 하지 않으면 </a:t>
            </a:r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의 부담이 심해질 것 같았다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&gt;&gt; </a:t>
            </a:r>
            <a:r>
              <a:rPr lang="ko-KR" altLang="en-US" dirty="0"/>
              <a:t>때문에 기본적으로 모든 오브젝트들은 </a:t>
            </a:r>
            <a:r>
              <a:rPr lang="en-US" altLang="ko-KR" dirty="0"/>
              <a:t>Chunk </a:t>
            </a:r>
            <a:r>
              <a:rPr lang="ko-KR" altLang="en-US" dirty="0"/>
              <a:t>안에 있어야 했고</a:t>
            </a:r>
            <a:r>
              <a:rPr lang="en-US" altLang="ko-KR" dirty="0"/>
              <a:t>, </a:t>
            </a:r>
            <a:r>
              <a:rPr lang="en-US" altLang="ko-KR" dirty="0" err="1"/>
              <a:t>chunck</a:t>
            </a:r>
            <a:r>
              <a:rPr lang="en-US" altLang="ko-KR" dirty="0"/>
              <a:t> </a:t>
            </a:r>
            <a:r>
              <a:rPr lang="ko-KR" altLang="en-US" dirty="0"/>
              <a:t>안에 </a:t>
            </a:r>
            <a:endParaRPr lang="en-US" altLang="ko-KR" dirty="0"/>
          </a:p>
          <a:p>
            <a:r>
              <a:rPr lang="en-US" altLang="ko-KR" dirty="0" err="1"/>
              <a:t>StaticObjectVecset</a:t>
            </a:r>
            <a:r>
              <a:rPr lang="en-US" altLang="ko-KR" dirty="0"/>
              <a:t>, </a:t>
            </a:r>
            <a:r>
              <a:rPr lang="en-US" altLang="ko-KR" dirty="0" err="1"/>
              <a:t>DynamicObjectVecset</a:t>
            </a:r>
            <a:r>
              <a:rPr lang="en-US" altLang="ko-KR" dirty="0"/>
              <a:t>, </a:t>
            </a:r>
            <a:r>
              <a:rPr lang="en-US" altLang="ko-KR" dirty="0" err="1"/>
              <a:t>SkinMeshObjectVecset</a:t>
            </a:r>
            <a:r>
              <a:rPr lang="ko-KR" altLang="en-US" dirty="0"/>
              <a:t>을 분리하여 저장한다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슬라이드 확대/축소 4">
                <a:extLst>
                  <a:ext uri="{FF2B5EF4-FFF2-40B4-BE49-F238E27FC236}">
                    <a16:creationId xmlns:a16="http://schemas.microsoft.com/office/drawing/2014/main" id="{A32FD096-4D7D-DA8D-5C6D-B259A786D2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875436"/>
                  </p:ext>
                </p:extLst>
              </p:nvPr>
            </p:nvGraphicFramePr>
            <p:xfrm>
              <a:off x="176980" y="3177004"/>
              <a:ext cx="6235507" cy="3507473"/>
            </p:xfrm>
            <a:graphic>
              <a:graphicData uri="http://schemas.microsoft.com/office/powerpoint/2016/slidezoom">
                <pslz:sldZm>
                  <pslz:sldZmObj sldId="284" cId="1005892815">
                    <pslz:zmPr id="{FE25BFE4-38C9-478C-8B0E-F498B0B711D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35507" cy="350747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슬라이드 확대/축소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32FD096-4D7D-DA8D-5C6D-B259A786D2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980" y="3177004"/>
                <a:ext cx="6235507" cy="350747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7238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85CC-4D03-1292-E226-C319E963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DCC37-3080-F4E8-AA7B-4FF66D6E92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 err="1"/>
              <a:t>Chunck</a:t>
            </a:r>
            <a:r>
              <a:rPr lang="ko-KR" altLang="en-US" sz="5400" dirty="0"/>
              <a:t>의 문제점과 해결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4A892-2A66-07AB-B5AA-3F07562002E2}"/>
              </a:ext>
            </a:extLst>
          </p:cNvPr>
          <p:cNvSpPr txBox="1"/>
          <p:nvPr/>
        </p:nvSpPr>
        <p:spPr>
          <a:xfrm>
            <a:off x="1" y="868680"/>
            <a:ext cx="1209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다만 특정 오브젝트는 여러 </a:t>
            </a:r>
            <a:r>
              <a:rPr lang="ko-KR" altLang="en-US" dirty="0" err="1"/>
              <a:t>청크에</a:t>
            </a:r>
            <a:r>
              <a:rPr lang="ko-KR" altLang="en-US" dirty="0"/>
              <a:t> 속해 있을 수 있다</a:t>
            </a:r>
            <a:r>
              <a:rPr lang="en-US" altLang="ko-KR" dirty="0"/>
              <a:t>. (</a:t>
            </a:r>
            <a:r>
              <a:rPr lang="ko-KR" altLang="en-US" dirty="0"/>
              <a:t>중간에 걸친 경우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이럴 경우 오브젝트의 일부를 포함하는 모든 </a:t>
            </a:r>
            <a:r>
              <a:rPr lang="ko-KR" altLang="en-US" dirty="0" err="1"/>
              <a:t>청크들의</a:t>
            </a:r>
            <a:r>
              <a:rPr lang="ko-KR" altLang="en-US" dirty="0"/>
              <a:t> </a:t>
            </a:r>
            <a:r>
              <a:rPr lang="en-US" altLang="ko-KR" dirty="0" err="1"/>
              <a:t>vecset</a:t>
            </a:r>
            <a:r>
              <a:rPr lang="ko-KR" altLang="en-US" dirty="0"/>
              <a:t>에 해당 오브젝트가 들어가게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이럴 경우 여러 문제가 생기는데</a:t>
            </a:r>
            <a:r>
              <a:rPr lang="en-US" altLang="ko-KR" dirty="0"/>
              <a:t>, </a:t>
            </a:r>
            <a:r>
              <a:rPr lang="ko-KR" altLang="en-US" dirty="0"/>
              <a:t>그것은 다음과 같다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오브젝트마다 한번씩 </a:t>
            </a:r>
            <a:r>
              <a:rPr lang="en-US" altLang="ko-KR" dirty="0"/>
              <a:t>Update</a:t>
            </a:r>
            <a:r>
              <a:rPr lang="ko-KR" altLang="en-US" dirty="0"/>
              <a:t>나 </a:t>
            </a:r>
            <a:r>
              <a:rPr lang="en-US" altLang="ko-KR" dirty="0"/>
              <a:t>Render</a:t>
            </a:r>
            <a:r>
              <a:rPr lang="ko-KR" altLang="en-US" dirty="0"/>
              <a:t>를 수행해야 </a:t>
            </a:r>
            <a:r>
              <a:rPr lang="ko-KR" altLang="en-US" dirty="0" err="1"/>
              <a:t>할때는</a:t>
            </a:r>
            <a:r>
              <a:rPr lang="ko-KR" altLang="en-US" dirty="0"/>
              <a:t> 어떻게 하는가</a:t>
            </a:r>
            <a:r>
              <a:rPr lang="en-US" altLang="ko-KR" dirty="0"/>
              <a:t>? </a:t>
            </a:r>
            <a:r>
              <a:rPr lang="ko-KR" altLang="en-US" dirty="0"/>
              <a:t>그럴 때마다 각자가 이미 해당 동작을</a:t>
            </a:r>
            <a:r>
              <a:rPr lang="en-US" altLang="ko-KR" dirty="0"/>
              <a:t> </a:t>
            </a:r>
            <a:r>
              <a:rPr lang="ko-KR" altLang="en-US" dirty="0"/>
              <a:t>수행했다는 표시를 해야 하는데</a:t>
            </a:r>
            <a:r>
              <a:rPr lang="en-US" altLang="ko-KR" dirty="0"/>
              <a:t>, </a:t>
            </a:r>
            <a:r>
              <a:rPr lang="ko-KR" altLang="en-US" dirty="0"/>
              <a:t>어디에 어떻게 할 것인가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해당 오브젝트가 이동을 하게 된다면</a:t>
            </a:r>
            <a:r>
              <a:rPr lang="en-US" altLang="ko-KR" dirty="0"/>
              <a:t>, </a:t>
            </a:r>
            <a:r>
              <a:rPr lang="ko-KR" altLang="en-US" dirty="0" err="1"/>
              <a:t>청크에서</a:t>
            </a:r>
            <a:r>
              <a:rPr lang="ko-KR" altLang="en-US" dirty="0"/>
              <a:t> 해당 오브젝트가 빠져나가야 한다</a:t>
            </a:r>
            <a:r>
              <a:rPr lang="en-US" altLang="ko-KR" dirty="0"/>
              <a:t>. </a:t>
            </a:r>
            <a:r>
              <a:rPr lang="ko-KR" altLang="en-US" dirty="0"/>
              <a:t>그러나 </a:t>
            </a:r>
            <a:r>
              <a:rPr lang="en-US" altLang="ko-KR" dirty="0" err="1"/>
              <a:t>vecset</a:t>
            </a:r>
            <a:r>
              <a:rPr lang="ko-KR" altLang="en-US" dirty="0"/>
              <a:t>은 해당 오브젝트가 자신이 어떤 인덱스를 가지고 있었는지 기억해야만 </a:t>
            </a:r>
            <a:r>
              <a:rPr lang="en-US" altLang="ko-KR" dirty="0"/>
              <a:t>Free</a:t>
            </a:r>
            <a:r>
              <a:rPr lang="ko-KR" altLang="en-US" dirty="0"/>
              <a:t>를 할 수 있었다</a:t>
            </a:r>
            <a:r>
              <a:rPr lang="en-US" altLang="ko-KR" dirty="0"/>
              <a:t>. </a:t>
            </a:r>
            <a:r>
              <a:rPr lang="ko-KR" altLang="en-US" dirty="0"/>
              <a:t>그럼 어떻게 이동을 정상적으로 처리할 수 있겠는가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슬라이드 확대/축소 5">
                <a:extLst>
                  <a:ext uri="{FF2B5EF4-FFF2-40B4-BE49-F238E27FC236}">
                    <a16:creationId xmlns:a16="http://schemas.microsoft.com/office/drawing/2014/main" id="{0354CA0C-3B8C-BF9F-4B32-34158CC933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54558329"/>
                  </p:ext>
                </p:extLst>
              </p:nvPr>
            </p:nvGraphicFramePr>
            <p:xfrm>
              <a:off x="101599" y="3177004"/>
              <a:ext cx="6381135" cy="3589388"/>
            </p:xfrm>
            <a:graphic>
              <a:graphicData uri="http://schemas.microsoft.com/office/powerpoint/2016/slidezoom">
                <pslz:sldZm>
                  <pslz:sldZmObj sldId="285" cId="1008121533">
                    <pslz:zmPr id="{1F90038D-034A-4EAB-AB1E-5F294533117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381135" cy="35893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슬라이드 확대/축소 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354CA0C-3B8C-BF9F-4B32-34158CC933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599" y="3177004"/>
                <a:ext cx="6381135" cy="358938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5892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583A-7194-4E96-4BF8-C3EB893F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28DFD-DCCC-E85F-7428-B796C9192A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" y="18255"/>
            <a:ext cx="12309987" cy="850425"/>
          </a:xfrm>
        </p:spPr>
        <p:txBody>
          <a:bodyPr>
            <a:normAutofit fontScale="90000"/>
          </a:bodyPr>
          <a:lstStyle/>
          <a:p>
            <a:r>
              <a:rPr lang="en-US" altLang="ko-KR" sz="5400" dirty="0" err="1"/>
              <a:t>Chunck</a:t>
            </a:r>
            <a:r>
              <a:rPr lang="ko-KR" altLang="en-US" sz="5400" dirty="0"/>
              <a:t>에 들어가기 위한 </a:t>
            </a:r>
            <a:r>
              <a:rPr lang="en-US" altLang="ko-KR" sz="5400" dirty="0" err="1"/>
              <a:t>GameObject</a:t>
            </a:r>
            <a:r>
              <a:rPr lang="en-US" altLang="ko-KR" sz="5400" dirty="0"/>
              <a:t> </a:t>
            </a:r>
            <a:r>
              <a:rPr lang="ko-KR" altLang="en-US" sz="5400" dirty="0"/>
              <a:t>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8B6FB-BE27-2E62-CE2E-7CF75573670C}"/>
              </a:ext>
            </a:extLst>
          </p:cNvPr>
          <p:cNvSpPr txBox="1"/>
          <p:nvPr/>
        </p:nvSpPr>
        <p:spPr>
          <a:xfrm>
            <a:off x="1" y="868680"/>
            <a:ext cx="12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그것은 다음과 같은 </a:t>
            </a:r>
            <a:r>
              <a:rPr lang="en-US" altLang="ko-KR" dirty="0" err="1"/>
              <a:t>GameObject</a:t>
            </a:r>
            <a:r>
              <a:rPr lang="en-US" altLang="ko-KR" dirty="0"/>
              <a:t> </a:t>
            </a:r>
            <a:r>
              <a:rPr lang="ko-KR" altLang="en-US" dirty="0"/>
              <a:t>구조로 해결한다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325B53-DC7C-5E0F-193E-47B984BD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1238012"/>
            <a:ext cx="8209281" cy="3128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5F6586-A141-DF33-A5D4-18BFC127592F}"/>
              </a:ext>
            </a:extLst>
          </p:cNvPr>
          <p:cNvSpPr txBox="1"/>
          <p:nvPr/>
        </p:nvSpPr>
        <p:spPr>
          <a:xfrm>
            <a:off x="0" y="4366414"/>
            <a:ext cx="973702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TourID</a:t>
            </a:r>
            <a:r>
              <a:rPr lang="en-US" altLang="ko-KR" sz="1400" dirty="0"/>
              <a:t> : </a:t>
            </a:r>
            <a:r>
              <a:rPr lang="ko-KR" altLang="en-US" sz="1400" dirty="0"/>
              <a:t>해당 작업에 하나의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TourID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할당받는다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만약 해당 작업의 </a:t>
            </a:r>
            <a:r>
              <a:rPr lang="en-US" altLang="ko-KR" sz="1400" dirty="0" err="1"/>
              <a:t>TourID</a:t>
            </a:r>
            <a:r>
              <a:rPr lang="ko-KR" altLang="en-US" sz="1400" dirty="0"/>
              <a:t>와 오브젝트의 </a:t>
            </a:r>
            <a:r>
              <a:rPr lang="en-US" altLang="ko-KR" sz="1400" dirty="0" err="1"/>
              <a:t>TourID</a:t>
            </a:r>
            <a:r>
              <a:rPr lang="ko-KR" altLang="en-US" sz="1400" dirty="0"/>
              <a:t>가 다르다면</a:t>
            </a:r>
            <a:endParaRPr lang="en-US" altLang="ko-KR" sz="1400" dirty="0"/>
          </a:p>
          <a:p>
            <a:r>
              <a:rPr lang="ko-KR" altLang="en-US" sz="1400" dirty="0"/>
              <a:t>작업을 수행한 후 오브젝트의 </a:t>
            </a:r>
            <a:r>
              <a:rPr lang="en-US" altLang="ko-KR" sz="1400" dirty="0" err="1"/>
              <a:t>TourID</a:t>
            </a:r>
            <a:r>
              <a:rPr lang="ko-KR" altLang="en-US" sz="1400" dirty="0"/>
              <a:t>를 작업의 </a:t>
            </a:r>
            <a:r>
              <a:rPr lang="en-US" altLang="ko-KR" sz="1400" dirty="0" err="1"/>
              <a:t>TourID</a:t>
            </a:r>
            <a:r>
              <a:rPr lang="ko-KR" altLang="en-US" sz="1400" dirty="0"/>
              <a:t>로 바꾼다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그러면 다른 </a:t>
            </a:r>
            <a:r>
              <a:rPr lang="ko-KR" altLang="en-US" sz="1400" dirty="0" err="1"/>
              <a:t>청크에서</a:t>
            </a:r>
            <a:r>
              <a:rPr lang="ko-KR" altLang="en-US" sz="1400" dirty="0"/>
              <a:t> 해당 오브젝트를 참조하더라도</a:t>
            </a:r>
            <a:r>
              <a:rPr lang="en-US" altLang="ko-KR" sz="1400" dirty="0"/>
              <a:t>, </a:t>
            </a:r>
          </a:p>
          <a:p>
            <a:r>
              <a:rPr lang="en-US" altLang="ko-KR" sz="1400" dirty="0" err="1"/>
              <a:t>TourID</a:t>
            </a:r>
            <a:r>
              <a:rPr lang="ko-KR" altLang="en-US" sz="1400" dirty="0"/>
              <a:t>가 같으니 작업을 수행하지 않고</a:t>
            </a:r>
            <a:r>
              <a:rPr lang="en-US" altLang="ko-KR" sz="1400" dirty="0"/>
              <a:t>, </a:t>
            </a:r>
            <a:r>
              <a:rPr lang="ko-KR" altLang="en-US" sz="1400" dirty="0"/>
              <a:t>결과적으로 어떤 작업이든 모든 오브젝트에 대해 한번씩 수행이 가능하다</a:t>
            </a:r>
            <a:r>
              <a:rPr lang="en-US" altLang="ko-KR" sz="14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89B979-258E-D8D2-B5A0-4D3994A8D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8" y="5260657"/>
            <a:ext cx="2257425" cy="14573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EF7EBE-9AA6-8EC3-90DB-41E0FB4C6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941" y="6060757"/>
            <a:ext cx="2790825" cy="6572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9783B8-1844-1FF7-3056-C781CE636D96}"/>
              </a:ext>
            </a:extLst>
          </p:cNvPr>
          <p:cNvSpPr txBox="1"/>
          <p:nvPr/>
        </p:nvSpPr>
        <p:spPr>
          <a:xfrm>
            <a:off x="2480941" y="5260657"/>
            <a:ext cx="51243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이동시의 문제는 각 축마다 최소와 길이를 가지는 범위와</a:t>
            </a:r>
            <a:r>
              <a:rPr lang="en-US" altLang="ko-KR" sz="1400" dirty="0"/>
              <a:t>, </a:t>
            </a:r>
            <a:r>
              <a:rPr lang="ko-KR" altLang="en-US" sz="1400" dirty="0"/>
              <a:t>해당 범위에 </a:t>
            </a:r>
            <a:r>
              <a:rPr lang="ko-KR" altLang="en-US" sz="1400" dirty="0" err="1"/>
              <a:t>청크들에서</a:t>
            </a:r>
            <a:r>
              <a:rPr lang="ko-KR" altLang="en-US" sz="1400" dirty="0"/>
              <a:t> 해당 오브젝트가 어떤 인덱스에 있는지 저장하는 배열을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메모리로 할당하여 해결한다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08121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B74A-4402-F9C6-688E-EB495521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DA8AC-A393-9337-7348-EFCF4D458A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TimeLine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D6AEC-D4E7-CD96-5EEE-F49C9D7D504D}"/>
              </a:ext>
            </a:extLst>
          </p:cNvPr>
          <p:cNvSpPr txBox="1"/>
          <p:nvPr/>
        </p:nvSpPr>
        <p:spPr>
          <a:xfrm>
            <a:off x="0" y="776749"/>
            <a:ext cx="371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 실행의 타임라인을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슬라이드 확대/축소 4">
                <a:extLst>
                  <a:ext uri="{FF2B5EF4-FFF2-40B4-BE49-F238E27FC236}">
                    <a16:creationId xmlns:a16="http://schemas.microsoft.com/office/drawing/2014/main" id="{06B53281-40B2-6971-D5AC-410CAAA059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5626009"/>
                  </p:ext>
                </p:extLst>
              </p:nvPr>
            </p:nvGraphicFramePr>
            <p:xfrm>
              <a:off x="123824" y="1317531"/>
              <a:ext cx="4402667" cy="2476500"/>
            </p:xfrm>
            <a:graphic>
              <a:graphicData uri="http://schemas.microsoft.com/office/powerpoint/2016/slidezoom">
                <pslz:sldZm>
                  <pslz:sldZmObj sldId="287" cId="1981946874">
                    <pslz:zmPr id="{9AB2BB01-AAEA-4BCF-A481-2D917BD7A4B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02667" cy="2476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슬라이드 확대/축소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6B53281-40B2-6971-D5AC-410CAAA059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824" y="1317531"/>
                <a:ext cx="4402667" cy="2476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9585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8F47-C363-F150-04AB-A90895D6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E8A86-30E7-D60A-818F-3797DD69BC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0515600" cy="850425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TimeLine-</a:t>
            </a:r>
            <a:r>
              <a:rPr lang="en-US" altLang="ko-KR" sz="5400" dirty="0" err="1"/>
              <a:t>RenderPass</a:t>
            </a:r>
            <a:endParaRPr lang="ko-KR" alt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4D78D-8D37-8A07-FCB6-E6714F2004C6}"/>
              </a:ext>
            </a:extLst>
          </p:cNvPr>
          <p:cNvSpPr txBox="1"/>
          <p:nvPr/>
        </p:nvSpPr>
        <p:spPr>
          <a:xfrm>
            <a:off x="0" y="953913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레스터 </a:t>
            </a:r>
            <a:r>
              <a:rPr lang="ko-KR" altLang="en-US"/>
              <a:t>렌더링</a:t>
            </a:r>
            <a:r>
              <a:rPr lang="en-US" altLang="ko-KR" dirty="0"/>
              <a:t> </a:t>
            </a:r>
            <a:r>
              <a:rPr lang="ko-KR" altLang="en-US" dirty="0"/>
              <a:t>패스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C655C-EF8A-900B-E9C3-276D9679831D}"/>
              </a:ext>
            </a:extLst>
          </p:cNvPr>
          <p:cNvSpPr txBox="1"/>
          <p:nvPr/>
        </p:nvSpPr>
        <p:spPr>
          <a:xfrm>
            <a:off x="219850" y="1442508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셰도우</a:t>
            </a:r>
            <a:r>
              <a:rPr lang="ko-KR" altLang="en-US" dirty="0"/>
              <a:t> 패스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8BD38-31ED-9A26-447E-C340B72A4CA8}"/>
              </a:ext>
            </a:extLst>
          </p:cNvPr>
          <p:cNvSpPr txBox="1"/>
          <p:nvPr/>
        </p:nvSpPr>
        <p:spPr>
          <a:xfrm>
            <a:off x="3274475" y="1442508"/>
            <a:ext cx="1189749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패스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63E17-72F8-96B3-631D-F7E71EFB2BD5}"/>
              </a:ext>
            </a:extLst>
          </p:cNvPr>
          <p:cNvSpPr txBox="1"/>
          <p:nvPr/>
        </p:nvSpPr>
        <p:spPr>
          <a:xfrm>
            <a:off x="6098267" y="1442508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컴퓨트</a:t>
            </a:r>
            <a:r>
              <a:rPr lang="ko-KR" altLang="en-US" dirty="0"/>
              <a:t> 패스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1B0FD-A24B-D3A6-4E3C-F1DFA7BB9CA8}"/>
              </a:ext>
            </a:extLst>
          </p:cNvPr>
          <p:cNvSpPr txBox="1"/>
          <p:nvPr/>
        </p:nvSpPr>
        <p:spPr>
          <a:xfrm>
            <a:off x="9046260" y="1442508"/>
            <a:ext cx="95250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 패스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DB76ECD-3C20-52F4-FF4E-AB0ACA97636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640432" y="1627174"/>
            <a:ext cx="16340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71A4A26-4BAE-4346-752F-376667868C6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464224" y="1627174"/>
            <a:ext cx="16340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5C1783E-FDF1-9206-BEF0-CDD19E9C163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518849" y="1627174"/>
            <a:ext cx="152741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33F918-5EDD-28A3-E6FB-9339ADE6528B}"/>
              </a:ext>
            </a:extLst>
          </p:cNvPr>
          <p:cNvSpPr txBox="1"/>
          <p:nvPr/>
        </p:nvSpPr>
        <p:spPr>
          <a:xfrm>
            <a:off x="10878373" y="1442508"/>
            <a:ext cx="9540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Present</a:t>
            </a:r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70EE693-388A-83A0-7676-736685BC6CB7}"/>
              </a:ext>
            </a:extLst>
          </p:cNvPr>
          <p:cNvCxnSpPr>
            <a:cxnSpLocks/>
            <a:stCxn id="7" idx="3"/>
            <a:endCxn id="27" idx="1"/>
          </p:cNvCxnSpPr>
          <p:nvPr/>
        </p:nvCxnSpPr>
        <p:spPr>
          <a:xfrm>
            <a:off x="9998765" y="1627174"/>
            <a:ext cx="879608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FB9B2A4-30C1-768D-8FC6-2F5E8BF6B02C}"/>
              </a:ext>
            </a:extLst>
          </p:cNvPr>
          <p:cNvSpPr txBox="1"/>
          <p:nvPr/>
        </p:nvSpPr>
        <p:spPr>
          <a:xfrm>
            <a:off x="219850" y="1865701"/>
            <a:ext cx="2438488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레스터에서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셰도우</a:t>
            </a:r>
            <a:r>
              <a:rPr lang="ko-KR" altLang="en-US" sz="1100" dirty="0"/>
              <a:t> 맵 렌더링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DirLight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PointLight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SpotLight</a:t>
            </a:r>
            <a:endParaRPr lang="en-US" altLang="ko-KR" sz="1100" dirty="0"/>
          </a:p>
          <a:p>
            <a:r>
              <a:rPr lang="en-US" altLang="ko-KR" sz="1100" dirty="0"/>
              <a:t> : </a:t>
            </a:r>
            <a:r>
              <a:rPr lang="ko-KR" altLang="en-US" sz="1100" dirty="0"/>
              <a:t>이건 빛 방향의 </a:t>
            </a:r>
            <a:r>
              <a:rPr lang="ko-KR" altLang="en-US" sz="1100" dirty="0" err="1"/>
              <a:t>직교투영컬링수행</a:t>
            </a:r>
            <a:endParaRPr lang="en-US" altLang="ko-KR" sz="1100" dirty="0"/>
          </a:p>
          <a:p>
            <a:r>
              <a:rPr lang="en-US" altLang="ko-KR" sz="1100" dirty="0"/>
              <a:t> : </a:t>
            </a:r>
            <a:r>
              <a:rPr lang="ko-KR" altLang="en-US" sz="1100" dirty="0"/>
              <a:t>또한 </a:t>
            </a:r>
            <a:r>
              <a:rPr lang="en-US" altLang="ko-KR" sz="1100" dirty="0"/>
              <a:t>LOD,</a:t>
            </a:r>
            <a:r>
              <a:rPr lang="ko-KR" altLang="en-US" sz="1100" dirty="0"/>
              <a:t> </a:t>
            </a:r>
            <a:r>
              <a:rPr lang="en-US" altLang="ko-KR" sz="1100" dirty="0"/>
              <a:t>Instancing</a:t>
            </a:r>
            <a:r>
              <a:rPr lang="ko-KR" altLang="en-US" sz="1100" dirty="0"/>
              <a:t>을 </a:t>
            </a:r>
            <a:endParaRPr lang="en-US" altLang="ko-KR" sz="1100" dirty="0"/>
          </a:p>
          <a:p>
            <a:r>
              <a:rPr lang="en-US" altLang="ko-KR" sz="1100" dirty="0"/>
              <a:t> : </a:t>
            </a:r>
            <a:r>
              <a:rPr lang="ko-KR" altLang="en-US" sz="1100" dirty="0"/>
              <a:t>적극 사용해 수행해야 함</a:t>
            </a:r>
            <a:r>
              <a:rPr lang="en-US" altLang="ko-KR" sz="11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CE8DBE-C1E7-0251-BCF5-81A23D8BAA1B}"/>
              </a:ext>
            </a:extLst>
          </p:cNvPr>
          <p:cNvSpPr txBox="1"/>
          <p:nvPr/>
        </p:nvSpPr>
        <p:spPr>
          <a:xfrm>
            <a:off x="3231283" y="1846657"/>
            <a:ext cx="2640466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스카이 박스 렌더링</a:t>
            </a:r>
            <a:endParaRPr lang="en-US" altLang="ko-KR" sz="1100" dirty="0"/>
          </a:p>
          <a:p>
            <a:r>
              <a:rPr lang="ko-KR" altLang="en-US" sz="1100" dirty="0"/>
              <a:t>뷰 </a:t>
            </a:r>
            <a:r>
              <a:rPr lang="ko-KR" altLang="en-US" sz="1100" dirty="0" err="1"/>
              <a:t>프러스텀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컬링으로</a:t>
            </a:r>
            <a:r>
              <a:rPr lang="ko-KR" altLang="en-US" sz="1100" dirty="0"/>
              <a:t> 오브젝트 렌더링</a:t>
            </a:r>
            <a:endParaRPr lang="en-US" altLang="ko-KR" sz="1100" dirty="0"/>
          </a:p>
          <a:p>
            <a:r>
              <a:rPr lang="ko-KR" altLang="en-US" sz="1100" dirty="0"/>
              <a:t>빌보드 출력 </a:t>
            </a:r>
            <a:r>
              <a:rPr lang="en-US" altLang="ko-KR" sz="1100" dirty="0"/>
              <a:t>(ex&gt; </a:t>
            </a:r>
            <a:r>
              <a:rPr lang="ko-KR" altLang="en-US" sz="1100" dirty="0"/>
              <a:t>적 </a:t>
            </a:r>
            <a:r>
              <a:rPr lang="en-US" altLang="ko-KR" sz="1100" dirty="0"/>
              <a:t>HP)</a:t>
            </a:r>
          </a:p>
          <a:p>
            <a:r>
              <a:rPr lang="ko-KR" altLang="en-US" sz="1100" dirty="0"/>
              <a:t>총알 궤적 출력</a:t>
            </a:r>
            <a:endParaRPr lang="en-US" altLang="ko-KR" sz="1100" dirty="0"/>
          </a:p>
          <a:p>
            <a:r>
              <a:rPr lang="ko-KR" altLang="en-US" sz="1100" dirty="0" err="1"/>
              <a:t>파티클</a:t>
            </a:r>
            <a:r>
              <a:rPr lang="ko-KR" altLang="en-US" sz="1100" dirty="0"/>
              <a:t> 입자 출력</a:t>
            </a:r>
            <a:endParaRPr lang="en-US" altLang="ko-KR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8DE7E5-C5B6-139F-70F7-A51B07A84272}"/>
              </a:ext>
            </a:extLst>
          </p:cNvPr>
          <p:cNvSpPr txBox="1"/>
          <p:nvPr/>
        </p:nvSpPr>
        <p:spPr>
          <a:xfrm>
            <a:off x="6096000" y="1865701"/>
            <a:ext cx="312136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모션 </a:t>
            </a:r>
            <a:r>
              <a:rPr lang="ko-KR" altLang="en-US" sz="1100" dirty="0" err="1"/>
              <a:t>블러</a:t>
            </a:r>
            <a:r>
              <a:rPr lang="ko-KR" altLang="en-US" sz="1100" dirty="0"/>
              <a:t> </a:t>
            </a:r>
            <a:r>
              <a:rPr lang="en-US" altLang="ko-KR" sz="1100" dirty="0"/>
              <a:t>/</a:t>
            </a:r>
            <a:r>
              <a:rPr lang="ko-KR" altLang="en-US" sz="1100" dirty="0"/>
              <a:t> 거리에 따른 </a:t>
            </a:r>
            <a:r>
              <a:rPr lang="ko-KR" altLang="en-US" sz="1100" dirty="0" err="1"/>
              <a:t>합성곱연산</a:t>
            </a:r>
            <a:endParaRPr lang="en-US" altLang="ko-KR" sz="1100" dirty="0"/>
          </a:p>
          <a:p>
            <a:r>
              <a:rPr lang="en-US" altLang="ko-KR" sz="1100" dirty="0"/>
              <a:t>GPU</a:t>
            </a:r>
            <a:r>
              <a:rPr lang="ko-KR" altLang="en-US" sz="1100" dirty="0"/>
              <a:t> 애니메이션 </a:t>
            </a:r>
            <a:r>
              <a:rPr lang="ko-KR" altLang="en-US" sz="1100" dirty="0" err="1"/>
              <a:t>블랜딩</a:t>
            </a:r>
            <a:endParaRPr lang="en-US" altLang="ko-KR" sz="1100" dirty="0"/>
          </a:p>
          <a:p>
            <a:r>
              <a:rPr lang="en-US" altLang="ko-KR" sz="1100" dirty="0"/>
              <a:t>GPU </a:t>
            </a:r>
            <a:r>
              <a:rPr lang="ko-KR" altLang="en-US" sz="1100" dirty="0"/>
              <a:t>애니메이션 </a:t>
            </a:r>
            <a:r>
              <a:rPr lang="en-US" altLang="ko-KR" sz="1100" dirty="0" err="1"/>
              <a:t>ToWorld</a:t>
            </a:r>
            <a:r>
              <a:rPr lang="ko-KR" altLang="en-US" sz="1100" dirty="0"/>
              <a:t> 트리누적연산</a:t>
            </a:r>
            <a:endParaRPr lang="en-US" altLang="ko-KR" sz="1100" dirty="0"/>
          </a:p>
          <a:p>
            <a:r>
              <a:rPr lang="ko-KR" altLang="en-US" sz="1100" dirty="0" err="1"/>
              <a:t>파티클</a:t>
            </a:r>
            <a:r>
              <a:rPr lang="ko-KR" altLang="en-US" sz="1100" dirty="0"/>
              <a:t> 움직임 연산 </a:t>
            </a:r>
            <a:r>
              <a:rPr lang="en-US" altLang="ko-KR" sz="1100" dirty="0"/>
              <a:t>(</a:t>
            </a:r>
            <a:r>
              <a:rPr lang="ko-KR" altLang="en-US" sz="1100" dirty="0"/>
              <a:t>이걸 하면 좋겠음</a:t>
            </a:r>
            <a:r>
              <a:rPr lang="en-US" altLang="ko-KR" sz="1100" dirty="0"/>
              <a:t>.)</a:t>
            </a:r>
          </a:p>
          <a:p>
            <a:r>
              <a:rPr lang="en-US" altLang="ko-KR" sz="1100" dirty="0"/>
              <a:t>+ </a:t>
            </a:r>
            <a:r>
              <a:rPr lang="ko-KR" altLang="en-US" sz="1100" dirty="0"/>
              <a:t>후에 포스트 프로세싱을 하면 여기에 </a:t>
            </a:r>
            <a:r>
              <a:rPr lang="ko-KR" altLang="en-US" sz="1100" dirty="0" err="1"/>
              <a:t>들어감</a:t>
            </a:r>
            <a:r>
              <a:rPr lang="en-US" altLang="ko-KR" sz="1100" dirty="0"/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0045E0-9861-FE66-9674-80FE6C1FF18C}"/>
              </a:ext>
            </a:extLst>
          </p:cNvPr>
          <p:cNvSpPr txBox="1"/>
          <p:nvPr/>
        </p:nvSpPr>
        <p:spPr>
          <a:xfrm>
            <a:off x="8951843" y="1846657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UI </a:t>
            </a:r>
            <a:r>
              <a:rPr lang="ko-KR" altLang="en-US" sz="1100" dirty="0"/>
              <a:t>출력</a:t>
            </a:r>
            <a:endParaRPr lang="en-US" altLang="ko-KR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FB49A6-83B0-5D1C-CFCB-568DC3D7AD3F}"/>
              </a:ext>
            </a:extLst>
          </p:cNvPr>
          <p:cNvSpPr txBox="1"/>
          <p:nvPr/>
        </p:nvSpPr>
        <p:spPr>
          <a:xfrm>
            <a:off x="0" y="3530361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레이트레이싱</a:t>
            </a:r>
            <a:r>
              <a:rPr lang="ko-KR" altLang="en-US" dirty="0"/>
              <a:t> 렌더링</a:t>
            </a:r>
            <a:r>
              <a:rPr lang="en-US" altLang="ko-KR" dirty="0"/>
              <a:t> </a:t>
            </a:r>
            <a:r>
              <a:rPr lang="ko-KR" altLang="en-US" dirty="0"/>
              <a:t>패스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FBCA5B-3CB5-22CC-96C6-BF46432DF167}"/>
              </a:ext>
            </a:extLst>
          </p:cNvPr>
          <p:cNvSpPr txBox="1"/>
          <p:nvPr/>
        </p:nvSpPr>
        <p:spPr>
          <a:xfrm>
            <a:off x="219850" y="4018956"/>
            <a:ext cx="1189749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패스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DA9D43-DD70-5D68-42A2-E8A2E521D027}"/>
              </a:ext>
            </a:extLst>
          </p:cNvPr>
          <p:cNvSpPr txBox="1"/>
          <p:nvPr/>
        </p:nvSpPr>
        <p:spPr>
          <a:xfrm>
            <a:off x="6098267" y="4018956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컴퓨트</a:t>
            </a:r>
            <a:r>
              <a:rPr lang="ko-KR" altLang="en-US" dirty="0"/>
              <a:t> 패스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39DAEA-EA24-A21B-409C-70F6878574A0}"/>
              </a:ext>
            </a:extLst>
          </p:cNvPr>
          <p:cNvSpPr txBox="1"/>
          <p:nvPr/>
        </p:nvSpPr>
        <p:spPr>
          <a:xfrm>
            <a:off x="9046260" y="4018956"/>
            <a:ext cx="952505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 패스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FA9F540-5E07-F3FD-267E-4F311C088766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7518849" y="4203622"/>
            <a:ext cx="152741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355410-C3EB-9E06-C15A-07D0A26B3EB1}"/>
              </a:ext>
            </a:extLst>
          </p:cNvPr>
          <p:cNvSpPr txBox="1"/>
          <p:nvPr/>
        </p:nvSpPr>
        <p:spPr>
          <a:xfrm>
            <a:off x="10878373" y="4018956"/>
            <a:ext cx="9540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Present</a:t>
            </a:r>
            <a:endParaRPr lang="ko-KR" altLang="en-US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A50EBDE-EE00-1C2D-DF7A-5DB01213739B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9998765" y="4203622"/>
            <a:ext cx="879608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DC63604-0C18-795A-FA19-32D76B1AA08D}"/>
              </a:ext>
            </a:extLst>
          </p:cNvPr>
          <p:cNvSpPr txBox="1"/>
          <p:nvPr/>
        </p:nvSpPr>
        <p:spPr>
          <a:xfrm>
            <a:off x="6096000" y="4442149"/>
            <a:ext cx="27142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모션 </a:t>
            </a:r>
            <a:r>
              <a:rPr lang="ko-KR" altLang="en-US" sz="1100" dirty="0" err="1"/>
              <a:t>블러</a:t>
            </a:r>
            <a:r>
              <a:rPr lang="ko-KR" altLang="en-US" sz="1100" dirty="0"/>
              <a:t> </a:t>
            </a:r>
            <a:r>
              <a:rPr lang="en-US" altLang="ko-KR" sz="1100" dirty="0"/>
              <a:t>/</a:t>
            </a:r>
            <a:r>
              <a:rPr lang="ko-KR" altLang="en-US" sz="1100" dirty="0"/>
              <a:t> 거리에 따른 </a:t>
            </a:r>
            <a:r>
              <a:rPr lang="ko-KR" altLang="en-US" sz="1100" dirty="0" err="1"/>
              <a:t>합성곱연산</a:t>
            </a:r>
            <a:endParaRPr lang="en-US" altLang="ko-KR" sz="1100" dirty="0"/>
          </a:p>
          <a:p>
            <a:r>
              <a:rPr lang="en-US" altLang="ko-KR" sz="1100" dirty="0"/>
              <a:t>GPU</a:t>
            </a:r>
            <a:r>
              <a:rPr lang="ko-KR" altLang="en-US" sz="1100" dirty="0"/>
              <a:t> 애니메이션 </a:t>
            </a:r>
            <a:r>
              <a:rPr lang="ko-KR" altLang="en-US" sz="1100" dirty="0" err="1"/>
              <a:t>블랜딩</a:t>
            </a:r>
            <a:endParaRPr lang="en-US" altLang="ko-KR" sz="1100" dirty="0"/>
          </a:p>
          <a:p>
            <a:r>
              <a:rPr lang="en-US" altLang="ko-KR" sz="1100" dirty="0"/>
              <a:t>GPU </a:t>
            </a:r>
            <a:r>
              <a:rPr lang="ko-KR" altLang="en-US" sz="1100" dirty="0"/>
              <a:t>애니메이션 </a:t>
            </a:r>
            <a:r>
              <a:rPr lang="en-US" altLang="ko-KR" sz="1100" dirty="0" err="1"/>
              <a:t>ToWorld</a:t>
            </a:r>
            <a:r>
              <a:rPr lang="ko-KR" altLang="en-US" sz="1100" dirty="0"/>
              <a:t> 트리누적연산</a:t>
            </a:r>
            <a:endParaRPr lang="en-US" altLang="ko-KR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CFF6EA-2F1E-B668-E3B2-82BEC5C4B514}"/>
              </a:ext>
            </a:extLst>
          </p:cNvPr>
          <p:cNvSpPr txBox="1"/>
          <p:nvPr/>
        </p:nvSpPr>
        <p:spPr>
          <a:xfrm>
            <a:off x="8951843" y="4423105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UI </a:t>
            </a:r>
            <a:r>
              <a:rPr lang="ko-KR" altLang="en-US" sz="1100" dirty="0"/>
              <a:t>출력</a:t>
            </a:r>
            <a:endParaRPr lang="en-US" altLang="ko-KR" sz="11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8337250-34BB-1B5A-AC7D-766D63BEB2D2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1409599" y="4203622"/>
            <a:ext cx="4688668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B8032F4-4E67-DE59-85A9-42AF7D16C4ED}"/>
              </a:ext>
            </a:extLst>
          </p:cNvPr>
          <p:cNvSpPr txBox="1"/>
          <p:nvPr/>
        </p:nvSpPr>
        <p:spPr>
          <a:xfrm>
            <a:off x="219850" y="4442149"/>
            <a:ext cx="10775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Dispatch Rays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91AED2-70A2-D509-91C8-9618C6C19E8A}"/>
              </a:ext>
            </a:extLst>
          </p:cNvPr>
          <p:cNvSpPr txBox="1"/>
          <p:nvPr/>
        </p:nvSpPr>
        <p:spPr>
          <a:xfrm>
            <a:off x="219850" y="5361823"/>
            <a:ext cx="84401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나중에 비동기 렌더링을 하게 된다면 한 프레임당 하나의 패스를 실행해야 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렌더가</a:t>
            </a:r>
            <a:r>
              <a:rPr lang="ko-KR" altLang="en-US" dirty="0"/>
              <a:t> 되는 건 </a:t>
            </a:r>
            <a:r>
              <a:rPr lang="en-US" altLang="ko-KR" dirty="0"/>
              <a:t>UI </a:t>
            </a:r>
            <a:r>
              <a:rPr lang="ko-KR" altLang="en-US" dirty="0"/>
              <a:t>패스를 끝내게 되면 바로 </a:t>
            </a:r>
            <a:r>
              <a:rPr lang="en-US" altLang="ko-KR" dirty="0"/>
              <a:t>Present</a:t>
            </a:r>
            <a:r>
              <a:rPr lang="ko-KR" altLang="en-US" dirty="0"/>
              <a:t>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렌더링을 하기 위해 </a:t>
            </a:r>
            <a:r>
              <a:rPr lang="en-US" altLang="ko-KR" dirty="0"/>
              <a:t>3~4 </a:t>
            </a:r>
            <a:r>
              <a:rPr lang="ko-KR" altLang="en-US" dirty="0"/>
              <a:t>프레임이 소요 되며</a:t>
            </a:r>
            <a:r>
              <a:rPr lang="en-US" altLang="ko-KR" dirty="0"/>
              <a:t>,</a:t>
            </a:r>
          </a:p>
          <a:p>
            <a:endParaRPr lang="en-US" altLang="ko-KR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2" name="슬라이드 확대/축소 51">
                <a:extLst>
                  <a:ext uri="{FF2B5EF4-FFF2-40B4-BE49-F238E27FC236}">
                    <a16:creationId xmlns:a16="http://schemas.microsoft.com/office/drawing/2014/main" id="{3717895E-BF62-6881-47D4-8314385C82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08231777"/>
                  </p:ext>
                </p:extLst>
              </p:nvPr>
            </p:nvGraphicFramePr>
            <p:xfrm>
              <a:off x="8951843" y="4914853"/>
              <a:ext cx="3048000" cy="1714500"/>
            </p:xfrm>
            <a:graphic>
              <a:graphicData uri="http://schemas.microsoft.com/office/powerpoint/2016/slidezoom">
                <pslz:sldZm>
                  <pslz:sldZmObj sldId="288" cId="1454281042">
                    <pslz:zmPr id="{A8BB8807-490E-45C0-81DB-7FD4BC50EE99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2" name="슬라이드 확대/축소 5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717895E-BF62-6881-47D4-8314385C82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1843" y="491485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1946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AFE1-AA15-B5BF-1D27-F53DD591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>
            <a:extLst>
              <a:ext uri="{FF2B5EF4-FFF2-40B4-BE49-F238E27FC236}">
                <a16:creationId xmlns:a16="http://schemas.microsoft.com/office/drawing/2014/main" id="{0186797B-395B-7FCD-49AD-B9A6BA7E4A34}"/>
              </a:ext>
            </a:extLst>
          </p:cNvPr>
          <p:cNvSpPr/>
          <p:nvPr/>
        </p:nvSpPr>
        <p:spPr>
          <a:xfrm>
            <a:off x="5534025" y="1238249"/>
            <a:ext cx="2260485" cy="2369269"/>
          </a:xfrm>
          <a:prstGeom prst="rect">
            <a:avLst/>
          </a:prstGeom>
          <a:solidFill>
            <a:schemeClr val="accent1">
              <a:lumMod val="20000"/>
              <a:lumOff val="80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62D7DB-CEBC-F976-2827-A4A3306D04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5"/>
            <a:ext cx="11601450" cy="850425"/>
          </a:xfrm>
        </p:spPr>
        <p:txBody>
          <a:bodyPr>
            <a:normAutofit fontScale="90000"/>
          </a:bodyPr>
          <a:lstStyle/>
          <a:p>
            <a:r>
              <a:rPr lang="en-US" altLang="ko-KR" sz="5400" dirty="0"/>
              <a:t>TimeLine-</a:t>
            </a:r>
            <a:r>
              <a:rPr lang="en-US" altLang="ko-KR" sz="5400" dirty="0" err="1"/>
              <a:t>RenderPass</a:t>
            </a:r>
            <a:r>
              <a:rPr lang="en-US" altLang="ko-KR" sz="5400" dirty="0"/>
              <a:t>- </a:t>
            </a:r>
            <a:r>
              <a:rPr lang="ko-KR" altLang="en-US" sz="5400" dirty="0"/>
              <a:t>비동기 렌더링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83826-4BAF-CDFB-C313-74345C07A0BC}"/>
              </a:ext>
            </a:extLst>
          </p:cNvPr>
          <p:cNvSpPr txBox="1"/>
          <p:nvPr/>
        </p:nvSpPr>
        <p:spPr>
          <a:xfrm>
            <a:off x="0" y="953913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비동기 렌더링 작동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29899-BECB-A7EA-BDE5-83DEB0F26F36}"/>
              </a:ext>
            </a:extLst>
          </p:cNvPr>
          <p:cNvSpPr txBox="1"/>
          <p:nvPr/>
        </p:nvSpPr>
        <p:spPr>
          <a:xfrm>
            <a:off x="219850" y="1442508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셰도우</a:t>
            </a:r>
            <a:r>
              <a:rPr lang="ko-KR" altLang="en-US" dirty="0"/>
              <a:t> 패스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C4C9C-1EC8-3460-C2A7-14E4FB43B749}"/>
              </a:ext>
            </a:extLst>
          </p:cNvPr>
          <p:cNvSpPr txBox="1"/>
          <p:nvPr/>
        </p:nvSpPr>
        <p:spPr>
          <a:xfrm>
            <a:off x="2084726" y="1442508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패스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58ECF-C82C-3C4B-E37E-24C42034F049}"/>
              </a:ext>
            </a:extLst>
          </p:cNvPr>
          <p:cNvSpPr txBox="1"/>
          <p:nvPr/>
        </p:nvSpPr>
        <p:spPr>
          <a:xfrm>
            <a:off x="3949602" y="1442508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컴퓨트</a:t>
            </a:r>
            <a:r>
              <a:rPr lang="ko-KR" altLang="en-US" dirty="0"/>
              <a:t> 패스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2F13E-3F1A-2AB5-6945-8B68EF983BD4}"/>
              </a:ext>
            </a:extLst>
          </p:cNvPr>
          <p:cNvSpPr txBox="1"/>
          <p:nvPr/>
        </p:nvSpPr>
        <p:spPr>
          <a:xfrm>
            <a:off x="5635774" y="1442508"/>
            <a:ext cx="207454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 패스 </a:t>
            </a:r>
            <a:r>
              <a:rPr lang="en-US" altLang="ko-KR" dirty="0"/>
              <a:t>&amp; Present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385E2DB-A81A-81EA-2A07-2321646653A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40432" y="1627174"/>
            <a:ext cx="44429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C371D4-5698-127B-1EDD-002301528B7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505308" y="1627174"/>
            <a:ext cx="44429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EC8B670-4A3A-BEF9-1A68-2FDF20A9D26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370184" y="1627174"/>
            <a:ext cx="265590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E222BC4-51E0-C692-CF4F-9D131B9DC780}"/>
              </a:ext>
            </a:extLst>
          </p:cNvPr>
          <p:cNvSpPr txBox="1"/>
          <p:nvPr/>
        </p:nvSpPr>
        <p:spPr>
          <a:xfrm>
            <a:off x="2819262" y="3739545"/>
            <a:ext cx="77476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루프당 각자 다른 프레임의 각자 다른 패스를 병렬적으로 실행할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의존성이 없으니까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멀티스레드</a:t>
            </a:r>
            <a:r>
              <a:rPr lang="ko-KR" altLang="en-US" dirty="0"/>
              <a:t> 활용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또한 특정 </a:t>
            </a:r>
            <a:r>
              <a:rPr lang="en-US" altLang="ko-KR" dirty="0"/>
              <a:t>Pass</a:t>
            </a:r>
            <a:r>
              <a:rPr lang="ko-KR" altLang="en-US" dirty="0"/>
              <a:t>의 </a:t>
            </a:r>
            <a:r>
              <a:rPr lang="en-US" altLang="ko-KR" dirty="0" err="1"/>
              <a:t>WaitForGPUComplete</a:t>
            </a:r>
            <a:r>
              <a:rPr lang="ko-KR" altLang="en-US" dirty="0"/>
              <a:t>는 다음 패스가 </a:t>
            </a:r>
            <a:r>
              <a:rPr lang="ko-KR" altLang="en-US" dirty="0" err="1"/>
              <a:t>시작할때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호출되도록 한다</a:t>
            </a:r>
            <a:r>
              <a:rPr lang="en-US" altLang="ko-KR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C61935-8CDE-F8CD-BB49-A0BEC0322F27}"/>
              </a:ext>
            </a:extLst>
          </p:cNvPr>
          <p:cNvSpPr txBox="1"/>
          <p:nvPr/>
        </p:nvSpPr>
        <p:spPr>
          <a:xfrm>
            <a:off x="2084726" y="1931103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셰도우</a:t>
            </a:r>
            <a:r>
              <a:rPr lang="ko-KR" altLang="en-US" dirty="0"/>
              <a:t> 패스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72601F-3DF5-005D-1128-8101F49877A7}"/>
              </a:ext>
            </a:extLst>
          </p:cNvPr>
          <p:cNvSpPr txBox="1"/>
          <p:nvPr/>
        </p:nvSpPr>
        <p:spPr>
          <a:xfrm>
            <a:off x="3949602" y="1931103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패스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A3CBAC-72E5-E1C9-7A4A-4142DB2624A1}"/>
              </a:ext>
            </a:extLst>
          </p:cNvPr>
          <p:cNvSpPr txBox="1"/>
          <p:nvPr/>
        </p:nvSpPr>
        <p:spPr>
          <a:xfrm>
            <a:off x="5635773" y="1931103"/>
            <a:ext cx="207454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컴퓨트</a:t>
            </a:r>
            <a:r>
              <a:rPr lang="ko-KR" altLang="en-US" dirty="0"/>
              <a:t> 패스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D9FE8C-79BE-D2B6-1101-E1F6DB44E2FF}"/>
              </a:ext>
            </a:extLst>
          </p:cNvPr>
          <p:cNvSpPr txBox="1"/>
          <p:nvPr/>
        </p:nvSpPr>
        <p:spPr>
          <a:xfrm>
            <a:off x="8060100" y="1931103"/>
            <a:ext cx="207454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 패스 </a:t>
            </a:r>
            <a:r>
              <a:rPr lang="en-US" altLang="ko-KR" dirty="0"/>
              <a:t>&amp; Present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719B22E-0468-9219-F012-4916C5BA6AA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505308" y="2115769"/>
            <a:ext cx="44429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0F3C0FB-126A-E49D-CD5F-F2965A3B1F83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370184" y="2115769"/>
            <a:ext cx="26558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AF70D80-94E8-0919-7D39-E528394032D8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7710314" y="2115769"/>
            <a:ext cx="34978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EF8AC47-428D-F39D-364A-D646A864D8F7}"/>
              </a:ext>
            </a:extLst>
          </p:cNvPr>
          <p:cNvSpPr txBox="1"/>
          <p:nvPr/>
        </p:nvSpPr>
        <p:spPr>
          <a:xfrm>
            <a:off x="3949602" y="2438317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셰도우</a:t>
            </a:r>
            <a:r>
              <a:rPr lang="ko-KR" altLang="en-US" dirty="0"/>
              <a:t> 패스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9F4CCD-A549-C3A9-63B0-7BAE8DED7FA1}"/>
              </a:ext>
            </a:extLst>
          </p:cNvPr>
          <p:cNvSpPr txBox="1"/>
          <p:nvPr/>
        </p:nvSpPr>
        <p:spPr>
          <a:xfrm>
            <a:off x="5635292" y="2438317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패스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EB23DF-3AD5-C088-7D87-56D63E9CA7FF}"/>
              </a:ext>
            </a:extLst>
          </p:cNvPr>
          <p:cNvSpPr txBox="1"/>
          <p:nvPr/>
        </p:nvSpPr>
        <p:spPr>
          <a:xfrm>
            <a:off x="8060100" y="2415670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컴퓨트</a:t>
            </a:r>
            <a:r>
              <a:rPr lang="ko-KR" altLang="en-US" dirty="0"/>
              <a:t> 패스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2B1EFD2-2D4C-ABDD-CC83-92C7CDA9EFF4}"/>
              </a:ext>
            </a:extLst>
          </p:cNvPr>
          <p:cNvSpPr txBox="1"/>
          <p:nvPr/>
        </p:nvSpPr>
        <p:spPr>
          <a:xfrm>
            <a:off x="9746272" y="2415670"/>
            <a:ext cx="207454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 패스 </a:t>
            </a:r>
            <a:r>
              <a:rPr lang="en-US" altLang="ko-KR" dirty="0"/>
              <a:t>&amp; Present</a:t>
            </a:r>
            <a:endParaRPr lang="ko-KR" altLang="en-US" dirty="0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166872D1-C138-D993-08F0-21F619C33F49}"/>
              </a:ext>
            </a:extLst>
          </p:cNvPr>
          <p:cNvCxnSpPr>
            <a:cxnSpLocks/>
            <a:stCxn id="76" idx="3"/>
            <a:endCxn id="77" idx="1"/>
          </p:cNvCxnSpPr>
          <p:nvPr/>
        </p:nvCxnSpPr>
        <p:spPr>
          <a:xfrm>
            <a:off x="5370184" y="2622983"/>
            <a:ext cx="265108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DBE9807-6028-9476-B5D5-8A45DEAA6A7B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7055874" y="2600336"/>
            <a:ext cx="1004226" cy="2264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D7D9367-5075-5A34-7A47-738CC7A08D9E}"/>
              </a:ext>
            </a:extLst>
          </p:cNvPr>
          <p:cNvCxnSpPr>
            <a:cxnSpLocks/>
            <a:stCxn id="78" idx="3"/>
            <a:endCxn id="79" idx="1"/>
          </p:cNvCxnSpPr>
          <p:nvPr/>
        </p:nvCxnSpPr>
        <p:spPr>
          <a:xfrm>
            <a:off x="9480682" y="2600336"/>
            <a:ext cx="265590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C79E8C0-1540-D1AB-CEC8-E3FEEAE83FEB}"/>
              </a:ext>
            </a:extLst>
          </p:cNvPr>
          <p:cNvSpPr txBox="1"/>
          <p:nvPr/>
        </p:nvSpPr>
        <p:spPr>
          <a:xfrm>
            <a:off x="5635292" y="2926912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셰도우</a:t>
            </a:r>
            <a:r>
              <a:rPr lang="ko-KR" altLang="en-US" dirty="0"/>
              <a:t> 패스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B3D9E5-33A0-55C3-A85B-69456D70A279}"/>
              </a:ext>
            </a:extLst>
          </p:cNvPr>
          <p:cNvSpPr txBox="1"/>
          <p:nvPr/>
        </p:nvSpPr>
        <p:spPr>
          <a:xfrm>
            <a:off x="8060100" y="2904265"/>
            <a:ext cx="142058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패스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828A69C-6EE5-3EAA-9CB7-F3F193D55A8A}"/>
              </a:ext>
            </a:extLst>
          </p:cNvPr>
          <p:cNvSpPr txBox="1"/>
          <p:nvPr/>
        </p:nvSpPr>
        <p:spPr>
          <a:xfrm>
            <a:off x="9746271" y="2904265"/>
            <a:ext cx="2074541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컴퓨트</a:t>
            </a:r>
            <a:r>
              <a:rPr lang="ko-KR" altLang="en-US" dirty="0"/>
              <a:t> 패스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16C3C39D-AEC5-97F5-870A-B9EB1E60B2A7}"/>
              </a:ext>
            </a:extLst>
          </p:cNvPr>
          <p:cNvCxnSpPr>
            <a:cxnSpLocks/>
            <a:stCxn id="83" idx="3"/>
            <a:endCxn id="84" idx="1"/>
          </p:cNvCxnSpPr>
          <p:nvPr/>
        </p:nvCxnSpPr>
        <p:spPr>
          <a:xfrm flipV="1">
            <a:off x="7055874" y="3088931"/>
            <a:ext cx="1004226" cy="2264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3D7C4CDD-8149-8F12-0340-8EBC392A999C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9480682" y="3088931"/>
            <a:ext cx="26558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DC8F132-7C7B-EBAB-70F0-A061BA82F850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11820812" y="3088931"/>
            <a:ext cx="34978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6A54125-A5C5-B9FA-F89C-9CC77823DF7B}"/>
              </a:ext>
            </a:extLst>
          </p:cNvPr>
          <p:cNvSpPr txBox="1"/>
          <p:nvPr/>
        </p:nvSpPr>
        <p:spPr>
          <a:xfrm>
            <a:off x="5969626" y="90605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렌더</a:t>
            </a:r>
            <a:r>
              <a:rPr lang="ko-KR" altLang="en-US" dirty="0"/>
              <a:t> 루프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4281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EEAAD-7A05-9BEB-B2B5-9B625380D6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/>
              <a:t>Shape?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39B80-7E02-C967-8CF6-AA97124D098D}"/>
              </a:ext>
            </a:extLst>
          </p:cNvPr>
          <p:cNvSpPr txBox="1"/>
          <p:nvPr/>
        </p:nvSpPr>
        <p:spPr>
          <a:xfrm>
            <a:off x="3049292" y="2107246"/>
            <a:ext cx="60985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SetShape 순서</a:t>
            </a:r>
          </a:p>
          <a:p>
            <a:r>
              <a:rPr lang="ko-KR" altLang="en-US"/>
              <a:t>1. 모델의 경우</a:t>
            </a:r>
          </a:p>
          <a:p>
            <a:r>
              <a:rPr lang="ko-KR" altLang="en-US"/>
              <a:t>	1-1. innerTransform의 메모리를 만들고 원하는 행렬들을 만든다.</a:t>
            </a:r>
          </a:p>
          <a:p>
            <a:r>
              <a:rPr lang="ko-KR" altLang="en-US"/>
              <a:t>	1-2. SetShape를 한다.</a:t>
            </a:r>
          </a:p>
          <a:p>
            <a:r>
              <a:rPr lang="ko-KR" altLang="en-US"/>
              <a:t>		- SetShape에서 만약 innerTransform이 없으면 만들고 모델의 transform을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12795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ern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8707</TotalTime>
  <Words>2031</Words>
  <Application>Microsoft Office PowerPoint</Application>
  <PresentationFormat>와이드스크린</PresentationFormat>
  <Paragraphs>351</Paragraphs>
  <Slides>39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3" baseType="lpstr">
      <vt:lpstr>맑은 고딕</vt:lpstr>
      <vt:lpstr>Arial</vt:lpstr>
      <vt:lpstr>Courier New</vt:lpstr>
      <vt:lpstr>Office 테마</vt:lpstr>
      <vt:lpstr>PulseCity Graphics High Level Design</vt:lpstr>
      <vt:lpstr>Graphics</vt:lpstr>
      <vt:lpstr>Render</vt:lpstr>
      <vt:lpstr>3D Object</vt:lpstr>
      <vt:lpstr>ResourceBinding</vt:lpstr>
      <vt:lpstr>ShaderVisibleDescHeap의 확장 / 정리</vt:lpstr>
      <vt:lpstr>PowerPoint 프레젠테이션</vt:lpstr>
      <vt:lpstr>DescIndex</vt:lpstr>
      <vt:lpstr>Raster</vt:lpstr>
      <vt:lpstr>View Frustum Culling</vt:lpstr>
      <vt:lpstr>Occulsion Culling</vt:lpstr>
      <vt:lpstr>Forward Rendering</vt:lpstr>
      <vt:lpstr>Defered Rendering</vt:lpstr>
      <vt:lpstr>DrawCalls</vt:lpstr>
      <vt:lpstr>Instancing</vt:lpstr>
      <vt:lpstr>Static/Dynamic Object</vt:lpstr>
      <vt:lpstr>SkinMesh Object</vt:lpstr>
      <vt:lpstr>Mirror</vt:lpstr>
      <vt:lpstr>Particle</vt:lpstr>
      <vt:lpstr>Raytracing</vt:lpstr>
      <vt:lpstr>DXR – Vertex Compute</vt:lpstr>
      <vt:lpstr>DXR - Default</vt:lpstr>
      <vt:lpstr>DXR - SkinMesh</vt:lpstr>
      <vt:lpstr>Screen Render</vt:lpstr>
      <vt:lpstr>PowerPoint 프레젠테이션</vt:lpstr>
      <vt:lpstr>PowerPoint 프레젠테이션</vt:lpstr>
      <vt:lpstr>PowerPoint 프레젠테이션</vt:lpstr>
      <vt:lpstr>PowerPoint 프레젠테이션</vt:lpstr>
      <vt:lpstr>Game Data Exporter</vt:lpstr>
      <vt:lpstr>GameLogic</vt:lpstr>
      <vt:lpstr>BitAlloter</vt:lpstr>
      <vt:lpstr>BitAlloter의 순회 방법</vt:lpstr>
      <vt:lpstr>Chunck</vt:lpstr>
      <vt:lpstr>Chunck의 문제점과 해결</vt:lpstr>
      <vt:lpstr>Chunck에 들어가기 위한 GameObject 구조</vt:lpstr>
      <vt:lpstr>TimeLine</vt:lpstr>
      <vt:lpstr>TimeLine-RenderPass</vt:lpstr>
      <vt:lpstr>TimeLine-RenderPass- 비동기 렌더링</vt:lpstr>
      <vt:lpstr>Shape?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훈철 노</cp:lastModifiedBy>
  <cp:revision>25</cp:revision>
  <dcterms:created xsi:type="dcterms:W3CDTF">2026-03-06T12:08:56Z</dcterms:created>
  <dcterms:modified xsi:type="dcterms:W3CDTF">2026-04-29T11:57:04Z</dcterms:modified>
</cp:coreProperties>
</file>