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77" r:id="rId6"/>
    <p:sldId id="280" r:id="rId7"/>
    <p:sldId id="28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3" r:id="rId20"/>
    <p:sldId id="286" r:id="rId21"/>
    <p:sldId id="275" r:id="rId22"/>
    <p:sldId id="276" r:id="rId23"/>
    <p:sldId id="262" r:id="rId24"/>
    <p:sldId id="259" r:id="rId25"/>
    <p:sldId id="260" r:id="rId26"/>
    <p:sldId id="278" r:id="rId27"/>
    <p:sldId id="283" r:id="rId28"/>
    <p:sldId id="279" r:id="rId29"/>
    <p:sldId id="284" r:id="rId30"/>
    <p:sldId id="285" r:id="rId31"/>
    <p:sldId id="281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1667-CB7C-F5FF-0195-7C839802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B5A3E0-1BDA-0ACD-BE74-1DE378C16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BC4E4C-3BE6-0151-0F36-E350DBA6D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67095E-309E-DC86-F2F3-35FE40C4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FA2E33-AE15-B44B-B127-D3EC84D9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86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9F4E73-0AEA-7FF5-52FF-5457F6EED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53178C-91E5-5D4C-CAA8-062A4AAB8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A52C38-2A74-3DBD-C1D7-02ABBF5D3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674CD-85BE-303B-4583-A1C457606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C368F-C738-A21E-D418-C142FFEF8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485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336C-4465-B7E5-AEF8-B842EE1B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07A707-47B1-1DFE-A3F5-F7D1784A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CB557F-C268-589E-1A89-F93307E1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8AA3A-3E15-19BB-0376-705EC1E6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7D080F-D6C8-A98D-9BD5-E5358DBD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76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EA919-DB9F-AA44-514F-E83D151A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0BB94-D4E2-EA4E-6D4F-70BBC392A5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83D592-1DC9-F4FB-DD15-F990B61E8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A98548-3991-42EF-BF78-94A652F8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C6558-0528-1011-8F63-3ABC83E7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A47886-1951-F992-0E4B-49FCD5A3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92F3F-2CF0-D360-A9E2-C97B9FEBB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D6AF9E-3D0D-9864-6DC2-97E293A2F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31ECF1-45BE-EFDC-3BC2-4380E9087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0ABB87-B6FF-69D5-1A88-75AAC6107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8B575F-2DA0-EADD-491C-D9511B534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045B9D-5AB3-DAB6-335D-16FBD933E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E7848D-E3EA-F5E0-428D-0D03B4FE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E678A1-058F-9933-3D1B-F6B497D7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0F551-490B-B1FD-AE9E-4ECE428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18D455-C21E-7BDC-C99C-3E5F5982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25FE4A-4C2E-9B76-C167-8D3082B8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B0B167-A1E6-21AB-AEED-C1EF8B67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20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7F7544-BBB9-D31A-44D1-A889C923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F53B226-E494-E03A-59FC-111368B4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3875A-CEB6-B054-669D-5E363265B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00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87C45-12CC-118F-008B-B547D785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D05B32-5B13-642E-654E-4334EAF1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83FAAE-29DA-E312-F053-FBD54C0EF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4EDBE-FE08-6C56-4106-6DDDFCDD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F74E9A-000A-5436-9E9F-9C85B833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774CD5-1097-BA1B-ADCA-140F0EEB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45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28A0B-AF0A-1C88-5FAB-80DF1175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5412DD-B51A-F172-8611-C41C53DD8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0BB49F-9774-DE8F-847E-0ECDDFED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FBB108-8ABB-0E67-7573-41CC7FC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8AE1D5-44E4-8CCE-26AD-DB366F9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A87879-0178-3E4F-EA66-8B1D9E56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72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B2C6B-5C67-D462-4640-96F79D6BF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080BC9-1E78-ECD8-2D7F-0D2595D0A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22DC4-906B-5F7F-1EA1-6821558DD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D2998-515C-827D-47EA-335C65676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B8EB56-4201-CD7E-2D34-4C7BA1B00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480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595BA7-98C2-C32A-8C4B-7D7617F1E2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73663-D25C-A2C9-69EE-01943331F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B659C4-84A1-79EB-91FF-71F77E32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2C64F-B985-D920-0EDA-68B66E0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EFC818-6B48-A0B9-3FAF-938696CF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402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0ECC9B6-0A56-4D27-B017-65477A7A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4A9E2-763E-F066-2A8A-2026C3A8B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9A6CF-796D-28B4-4EF2-2224626E1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810A9B-0CC6-4053-BA0B-965178095DC3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389D8-B406-0661-395C-D0DC0F0FF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792EF2-614F-C5CC-2A6D-BAC81463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47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3.xml"/><Relationship Id="rId7" Type="http://schemas.openxmlformats.org/officeDocument/2006/relationships/image" Target="../media/image2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4.xml"/><Relationship Id="rId5" Type="http://schemas.openxmlformats.org/officeDocument/2006/relationships/image" Target="../media/image2.png"/><Relationship Id="rId10" Type="http://schemas.openxmlformats.org/officeDocument/2006/relationships/image" Target="../media/image36.png"/><Relationship Id="rId4" Type="http://schemas.openxmlformats.org/officeDocument/2006/relationships/image" Target="../media/image110.png"/><Relationship Id="rId9" Type="http://schemas.openxmlformats.org/officeDocument/2006/relationships/slide" Target="slide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image" Target="../media/image5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3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" Target="slide8.xml"/><Relationship Id="rId7" Type="http://schemas.openxmlformats.org/officeDocument/2006/relationships/image" Target="../media/image7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9.xml"/><Relationship Id="rId5" Type="http://schemas.openxmlformats.org/officeDocument/2006/relationships/image" Target="../media/image7.png"/><Relationship Id="rId10" Type="http://schemas.openxmlformats.org/officeDocument/2006/relationships/image" Target="../media/image80.png"/><Relationship Id="rId4" Type="http://schemas.openxmlformats.org/officeDocument/2006/relationships/image" Target="../media/image60.pn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.png"/><Relationship Id="rId7" Type="http://schemas.openxmlformats.org/officeDocument/2006/relationships/slide" Target="slide7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0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60.png"/><Relationship Id="rId18" Type="http://schemas.openxmlformats.org/officeDocument/2006/relationships/slide" Target="slide14.xml"/><Relationship Id="rId26" Type="http://schemas.openxmlformats.org/officeDocument/2006/relationships/image" Target="../media/image21.png"/><Relationship Id="rId3" Type="http://schemas.openxmlformats.org/officeDocument/2006/relationships/slide" Target="slide9.xml"/><Relationship Id="rId21" Type="http://schemas.openxmlformats.org/officeDocument/2006/relationships/slide" Target="slide15.xml"/><Relationship Id="rId7" Type="http://schemas.openxmlformats.org/officeDocument/2006/relationships/image" Target="../media/image140.png"/><Relationship Id="rId12" Type="http://schemas.openxmlformats.org/officeDocument/2006/relationships/slide" Target="slide12.xml"/><Relationship Id="rId17" Type="http://schemas.openxmlformats.org/officeDocument/2006/relationships/image" Target="../media/image18.png"/><Relationship Id="rId25" Type="http://schemas.openxmlformats.org/officeDocument/2006/relationships/image" Target="../media/image200.png"/><Relationship Id="rId2" Type="http://schemas.openxmlformats.org/officeDocument/2006/relationships/image" Target="../media/image13.png"/><Relationship Id="rId16" Type="http://schemas.openxmlformats.org/officeDocument/2006/relationships/image" Target="../media/image170.png"/><Relationship Id="rId20" Type="http://schemas.openxmlformats.org/officeDocument/2006/relationships/image" Target="../media/image19.png"/><Relationship Id="rId29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11" Type="http://schemas.openxmlformats.org/officeDocument/2006/relationships/image" Target="../media/image16.png"/><Relationship Id="rId24" Type="http://schemas.openxmlformats.org/officeDocument/2006/relationships/slide" Target="slide16.xml"/><Relationship Id="rId5" Type="http://schemas.openxmlformats.org/officeDocument/2006/relationships/image" Target="../media/image14.png"/><Relationship Id="rId15" Type="http://schemas.openxmlformats.org/officeDocument/2006/relationships/slide" Target="slide13.xml"/><Relationship Id="rId23" Type="http://schemas.openxmlformats.org/officeDocument/2006/relationships/image" Target="../media/image20.png"/><Relationship Id="rId28" Type="http://schemas.openxmlformats.org/officeDocument/2006/relationships/image" Target="../media/image211.png"/><Relationship Id="rId10" Type="http://schemas.openxmlformats.org/officeDocument/2006/relationships/image" Target="../media/image150.png"/><Relationship Id="rId19" Type="http://schemas.openxmlformats.org/officeDocument/2006/relationships/image" Target="../media/image180.png"/><Relationship Id="rId31" Type="http://schemas.openxmlformats.org/officeDocument/2006/relationships/image" Target="../media/image220.png"/><Relationship Id="rId4" Type="http://schemas.openxmlformats.org/officeDocument/2006/relationships/image" Target="../media/image130.png"/><Relationship Id="rId9" Type="http://schemas.openxmlformats.org/officeDocument/2006/relationships/slide" Target="slide11.xml"/><Relationship Id="rId14" Type="http://schemas.openxmlformats.org/officeDocument/2006/relationships/image" Target="../media/image17.png"/><Relationship Id="rId22" Type="http://schemas.openxmlformats.org/officeDocument/2006/relationships/image" Target="../media/image190.png"/><Relationship Id="rId27" Type="http://schemas.openxmlformats.org/officeDocument/2006/relationships/slide" Target="slide17.xml"/><Relationship Id="rId30" Type="http://schemas.openxmlformats.org/officeDocument/2006/relationships/slide" Target="slide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" Target="slide21.xml"/><Relationship Id="rId7" Type="http://schemas.openxmlformats.org/officeDocument/2006/relationships/image" Target="../media/image2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2.xml"/><Relationship Id="rId5" Type="http://schemas.openxmlformats.org/officeDocument/2006/relationships/image" Target="../media/image24.png"/><Relationship Id="rId4" Type="http://schemas.openxmlformats.org/officeDocument/2006/relationships/image" Target="../media/image230.png"/><Relationship Id="rId9" Type="http://schemas.openxmlformats.org/officeDocument/2006/relationships/image" Target="../media/image25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7" Type="http://schemas.openxmlformats.org/officeDocument/2006/relationships/image" Target="../media/image27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28.png"/><Relationship Id="rId4" Type="http://schemas.openxmlformats.org/officeDocument/2006/relationships/image" Target="../media/image26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83D43-07EE-049C-C24B-0A078F8D3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PulseCity</a:t>
            </a:r>
            <a:r>
              <a:rPr lang="en-US" altLang="ko-KR" dirty="0"/>
              <a:t> Graphics</a:t>
            </a:r>
            <a:br>
              <a:rPr lang="en-US" altLang="ko-KR" dirty="0"/>
            </a:br>
            <a:r>
              <a:rPr lang="en-US" altLang="ko-KR" dirty="0"/>
              <a:t>High Level Design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11FA04-DF0B-D736-6704-5BE10BC1E6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2021180007 </a:t>
            </a:r>
            <a:r>
              <a:rPr lang="ko-KR" altLang="en-US" dirty="0"/>
              <a:t>노훈철</a:t>
            </a:r>
          </a:p>
        </p:txBody>
      </p:sp>
    </p:spTree>
    <p:extLst>
      <p:ext uri="{BB962C8B-B14F-4D97-AF65-F5344CB8AC3E}">
        <p14:creationId xmlns:p14="http://schemas.microsoft.com/office/powerpoint/2010/main" val="395647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5916-71F7-272F-304B-9E34B61D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/>
          <a:lstStyle/>
          <a:p>
            <a:r>
              <a:rPr lang="en-US" altLang="ko-KR" dirty="0"/>
              <a:t>Graphics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2191781"/>
                  </p:ext>
                </p:extLst>
              </p:nvPr>
            </p:nvGraphicFramePr>
            <p:xfrm>
              <a:off x="152399" y="850425"/>
              <a:ext cx="8993353" cy="5058762"/>
            </p:xfrm>
            <a:graphic>
              <a:graphicData uri="http://schemas.microsoft.com/office/powerpoint/2016/slidezoom">
                <pslz:sldZm>
                  <pslz:sldZmObj sldId="258" cId="1942532360">
                    <pslz:zmPr id="{14DEAE9B-8230-4592-97EE-BE2D7C5B808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93353" cy="50587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399" y="850425"/>
                <a:ext cx="8993353" cy="50587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22074109"/>
                  </p:ext>
                </p:extLst>
              </p:nvPr>
            </p:nvGraphicFramePr>
            <p:xfrm>
              <a:off x="9271819" y="2477872"/>
              <a:ext cx="2762748" cy="1554046"/>
            </p:xfrm>
            <a:graphic>
              <a:graphicData uri="http://schemas.microsoft.com/office/powerpoint/2016/slidezoom">
                <pslz:sldZm>
                  <pslz:sldZmObj sldId="259" cId="2433842180">
                    <pslz:zmPr id="{9592065C-C584-4DF5-A15A-E16791647284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71819" y="2477872"/>
                <a:ext cx="2762748" cy="155404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3450460"/>
                  </p:ext>
                </p:extLst>
              </p:nvPr>
            </p:nvGraphicFramePr>
            <p:xfrm>
              <a:off x="9271819" y="850425"/>
              <a:ext cx="2762748" cy="1554045"/>
            </p:xfrm>
            <a:graphic>
              <a:graphicData uri="http://schemas.microsoft.com/office/powerpoint/2016/slidezoom">
                <pslz:sldZm>
                  <pslz:sldZmObj sldId="260" cId="2758334147">
                    <pslz:zmPr id="{230FFD24-AFDE-44C3-B5BB-C0CA796D3700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271819" y="850425"/>
                <a:ext cx="2762748" cy="155404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24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16178-17B0-5641-76A2-7A0CA77DB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4305885"/>
                  </p:ext>
                </p:extLst>
              </p:nvPr>
            </p:nvGraphicFramePr>
            <p:xfrm>
              <a:off x="0" y="1428084"/>
              <a:ext cx="7792774" cy="4383435"/>
            </p:xfrm>
            <a:graphic>
              <a:graphicData uri="http://schemas.microsoft.com/office/powerpoint/2016/slidezoom">
                <pslz:sldZm>
                  <pslz:sldZmObj sldId="261" cId="3409075809">
                    <pslz:zmPr id="{87D8E69D-5F44-4570-B3F7-073FACC1EEA8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792774" cy="438343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1428084"/>
                <a:ext cx="7792774" cy="438343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98267273"/>
                  </p:ext>
                </p:extLst>
              </p:nvPr>
            </p:nvGraphicFramePr>
            <p:xfrm>
              <a:off x="7792774" y="3358483"/>
              <a:ext cx="4360953" cy="2453036"/>
            </p:xfrm>
            <a:graphic>
              <a:graphicData uri="http://schemas.microsoft.com/office/powerpoint/2016/slidezoom">
                <pslz:sldZm>
                  <pslz:sldZmObj sldId="262" cId="1872162543">
                    <pslz:zmPr id="{BDC9DA41-B291-4C0C-B1ED-02A85E5FF9C0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60953" cy="245303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2774" y="3358483"/>
                <a:ext cx="4360953" cy="245303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D13AE43-1128-595C-DAD6-A48CA2EF3E1B}"/>
              </a:ext>
            </a:extLst>
          </p:cNvPr>
          <p:cNvSpPr txBox="1"/>
          <p:nvPr/>
        </p:nvSpPr>
        <p:spPr>
          <a:xfrm>
            <a:off x="0" y="784433"/>
            <a:ext cx="230063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무엇을 그릴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5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750A-55C6-C388-F9FD-6C487682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1F39F-576F-FCB2-7979-DA4FF047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3D Object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A7D4-CEF8-F412-61C0-693BF3A5A112}"/>
              </a:ext>
            </a:extLst>
          </p:cNvPr>
          <p:cNvSpPr txBox="1"/>
          <p:nvPr/>
        </p:nvSpPr>
        <p:spPr>
          <a:xfrm>
            <a:off x="180093" y="1053319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방식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C2BE9-38B6-D730-5761-46D908EF2DC9}"/>
              </a:ext>
            </a:extLst>
          </p:cNvPr>
          <p:cNvSpPr txBox="1"/>
          <p:nvPr/>
        </p:nvSpPr>
        <p:spPr>
          <a:xfrm>
            <a:off x="4903975" y="4478260"/>
            <a:ext cx="62972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LOD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616178-666F-5894-389A-2F5B0CE61D99}"/>
              </a:ext>
            </a:extLst>
          </p:cNvPr>
          <p:cNvSpPr txBox="1"/>
          <p:nvPr/>
        </p:nvSpPr>
        <p:spPr>
          <a:xfrm>
            <a:off x="4903975" y="4101584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최적화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10817763"/>
                  </p:ext>
                </p:extLst>
              </p:nvPr>
            </p:nvGraphicFramePr>
            <p:xfrm>
              <a:off x="180091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4" cId="2834560521">
                    <pslz:zmPr id="{AEDC7F7A-14EF-4E59-A411-CAB72C0698D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1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1666143"/>
                  </p:ext>
                </p:extLst>
              </p:nvPr>
            </p:nvGraphicFramePr>
            <p:xfrm>
              <a:off x="4504730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3" cId="3813102566">
                    <pslz:zmPr id="{C2D96DEF-A3A8-4D0C-A6FC-CA1F606221B8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04730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38548891"/>
                  </p:ext>
                </p:extLst>
              </p:nvPr>
            </p:nvGraphicFramePr>
            <p:xfrm>
              <a:off x="180091" y="4407135"/>
              <a:ext cx="4324639" cy="2432610"/>
            </p:xfrm>
            <a:graphic>
              <a:graphicData uri="http://schemas.microsoft.com/office/powerpoint/2016/slidezoom">
                <pslz:sldZm>
                  <pslz:sldZmObj sldId="277" cId="2880208972">
                    <pslz:zmPr id="{141A5183-2B03-4ADA-A208-45830EEB14E8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43261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0091" y="4407135"/>
                <a:ext cx="4324639" cy="243261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91EF2A7-8FF3-21B2-06A1-BB5A77BA2873}"/>
              </a:ext>
            </a:extLst>
          </p:cNvPr>
          <p:cNvSpPr txBox="1"/>
          <p:nvPr/>
        </p:nvSpPr>
        <p:spPr>
          <a:xfrm>
            <a:off x="8003662" y="4478260"/>
            <a:ext cx="16514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B3F80-6E45-2A12-2B78-E94693FE19EE}"/>
              </a:ext>
            </a:extLst>
          </p:cNvPr>
          <p:cNvSpPr txBox="1"/>
          <p:nvPr/>
        </p:nvSpPr>
        <p:spPr>
          <a:xfrm>
            <a:off x="0" y="406264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리소스 관리</a:t>
            </a:r>
          </a:p>
        </p:txBody>
      </p:sp>
    </p:spTree>
    <p:extLst>
      <p:ext uri="{BB962C8B-B14F-4D97-AF65-F5344CB8AC3E}">
        <p14:creationId xmlns:p14="http://schemas.microsoft.com/office/powerpoint/2010/main" val="3409075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4A40-801A-974C-DD64-1EAD19EC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05023-EA05-E22D-9ADE-49C45BC85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ResourceBinding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D1C021-2D6E-7558-1F1F-E65637E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868680"/>
            <a:ext cx="7294880" cy="287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C41029-88F5-E900-211B-1FC64DABEABA}"/>
              </a:ext>
            </a:extLst>
          </p:cNvPr>
          <p:cNvSpPr txBox="1"/>
          <p:nvPr/>
        </p:nvSpPr>
        <p:spPr>
          <a:xfrm>
            <a:off x="7975599" y="443467"/>
            <a:ext cx="3952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NSV (</a:t>
            </a:r>
            <a:r>
              <a:rPr lang="en-US" altLang="ko-KR" sz="1200" dirty="0" err="1"/>
              <a:t>NonShaderVisibleDescHeap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없는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들을 저장함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당장 보여지진 않지만 </a:t>
            </a:r>
            <a:r>
              <a:rPr lang="ko-KR" altLang="en-US" sz="1200" dirty="0" err="1"/>
              <a:t>틱당</a:t>
            </a:r>
            <a:r>
              <a:rPr lang="ko-KR" altLang="en-US" sz="1200" dirty="0"/>
              <a:t> 상황에 따라 보일 수 있는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들의 모임</a:t>
            </a:r>
            <a:endParaRPr lang="en-US" altLang="ko-KR" sz="1200" dirty="0"/>
          </a:p>
          <a:p>
            <a:r>
              <a:rPr lang="en-US" altLang="ko-KR" sz="1200" dirty="0" err="1"/>
              <a:t>BitAlloter</a:t>
            </a:r>
            <a:r>
              <a:rPr lang="en-US" altLang="ko-KR" sz="1200" dirty="0"/>
              <a:t> </a:t>
            </a:r>
            <a:r>
              <a:rPr lang="ko-KR" altLang="en-US" sz="1200" dirty="0"/>
              <a:t>자료구조로 자리의 할당과 해제가 관리된다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SV (</a:t>
            </a:r>
            <a:r>
              <a:rPr lang="en-US" altLang="ko-KR" sz="1200" dirty="0" err="1"/>
              <a:t>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있게 만든 </a:t>
            </a:r>
            <a:r>
              <a:rPr lang="en-US" altLang="ko-KR" sz="1200" dirty="0" err="1"/>
              <a:t>DescHeap</a:t>
            </a:r>
            <a:r>
              <a:rPr lang="en-US" altLang="ko-KR" sz="1200" dirty="0"/>
              <a:t>. </a:t>
            </a:r>
            <a:r>
              <a:rPr lang="ko-KR" altLang="en-US" sz="1200" dirty="0" err="1"/>
              <a:t>인스턴싱을</a:t>
            </a:r>
            <a:r>
              <a:rPr lang="ko-KR" altLang="en-US" sz="1200" dirty="0"/>
              <a:t> 할 수 있도록 </a:t>
            </a:r>
            <a:r>
              <a:rPr lang="en-US" altLang="ko-KR" sz="1200" dirty="0"/>
              <a:t>Desc </a:t>
            </a:r>
            <a:r>
              <a:rPr lang="ko-KR" altLang="en-US" sz="1200" dirty="0"/>
              <a:t>종류별로 영역이 나뉘어져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크게 보면 두개로 나뉘어져 있는데</a:t>
            </a:r>
            <a:r>
              <a:rPr lang="en-US" altLang="ko-KR" sz="1200" dirty="0"/>
              <a:t>, Immortal </a:t>
            </a:r>
            <a:r>
              <a:rPr lang="ko-KR" altLang="en-US" sz="1200" dirty="0"/>
              <a:t>범위와 </a:t>
            </a:r>
            <a:r>
              <a:rPr lang="en-US" altLang="ko-KR" sz="1200" dirty="0"/>
              <a:t>Dynamic </a:t>
            </a:r>
            <a:r>
              <a:rPr lang="ko-KR" altLang="en-US" sz="1200" dirty="0"/>
              <a:t>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Immortal </a:t>
            </a:r>
            <a:r>
              <a:rPr lang="ko-KR" altLang="en-US" sz="1200" dirty="0"/>
              <a:t>범위는 게임이 돌아가면서 쉽게 추가되지 않는 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[</a:t>
            </a:r>
            <a:r>
              <a:rPr lang="ko-KR" altLang="en-US" sz="1200" dirty="0"/>
              <a:t>초기화 리소스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ko-KR" altLang="en-US" sz="1200" dirty="0" err="1"/>
              <a:t>텍스쳐</a:t>
            </a:r>
            <a:r>
              <a:rPr lang="en-US" altLang="ko-KR" sz="1200" dirty="0"/>
              <a:t>SRV</a:t>
            </a:r>
            <a:r>
              <a:rPr lang="ko-KR" altLang="en-US" sz="1200" dirty="0"/>
              <a:t>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en-US" altLang="ko-KR" sz="1200" dirty="0"/>
              <a:t>CBV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[</a:t>
            </a:r>
            <a:r>
              <a:rPr lang="ko-KR" altLang="en-US" sz="1200" dirty="0" err="1"/>
              <a:t>인스턴싱</a:t>
            </a:r>
            <a:r>
              <a:rPr lang="ko-KR" altLang="en-US" sz="1200" dirty="0"/>
              <a:t> </a:t>
            </a:r>
            <a:r>
              <a:rPr lang="en-US" altLang="ko-KR" sz="1200" dirty="0"/>
              <a:t>SRV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</a:t>
            </a:r>
            <a:r>
              <a:rPr lang="ko-KR" altLang="en-US" sz="1200" dirty="0"/>
              <a:t>등이 포함되어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Dynamic </a:t>
            </a:r>
            <a:r>
              <a:rPr lang="ko-KR" altLang="en-US" sz="1200" dirty="0"/>
              <a:t>범위는 게임이 돌아가면서 </a:t>
            </a:r>
            <a:r>
              <a:rPr lang="ko-KR" altLang="en-US" sz="1200" dirty="0" err="1"/>
              <a:t>틱마다</a:t>
            </a:r>
            <a:r>
              <a:rPr lang="ko-KR" altLang="en-US" sz="1200" dirty="0"/>
              <a:t> </a:t>
            </a:r>
            <a:r>
              <a:rPr lang="ko-KR" altLang="en-US" sz="1200" dirty="0" err="1"/>
              <a:t>렌더가</a:t>
            </a:r>
            <a:r>
              <a:rPr lang="ko-KR" altLang="en-US" sz="1200" dirty="0"/>
              <a:t> 결정될 수도 있는 리소스 </a:t>
            </a:r>
            <a:r>
              <a:rPr lang="en-US" altLang="ko-KR" sz="1200" dirty="0"/>
              <a:t>Desc(NSV</a:t>
            </a:r>
            <a:r>
              <a:rPr lang="ko-KR" altLang="en-US" sz="1200" dirty="0"/>
              <a:t>에 위치</a:t>
            </a:r>
            <a:r>
              <a:rPr lang="en-US" altLang="ko-KR" sz="1200" dirty="0"/>
              <a:t>)</a:t>
            </a:r>
            <a:r>
              <a:rPr lang="ko-KR" altLang="en-US" sz="1200" dirty="0"/>
              <a:t>를 </a:t>
            </a:r>
            <a:r>
              <a:rPr lang="en-US" altLang="ko-KR" sz="1200" dirty="0"/>
              <a:t>Copy</a:t>
            </a:r>
            <a:r>
              <a:rPr lang="ko-KR" altLang="en-US" sz="1200" dirty="0"/>
              <a:t>하여 </a:t>
            </a:r>
            <a:endParaRPr lang="en-US" altLang="ko-KR" sz="1200" dirty="0"/>
          </a:p>
          <a:p>
            <a:r>
              <a:rPr lang="ko-KR" altLang="en-US" sz="1200" dirty="0" err="1"/>
              <a:t>렌더될</a:t>
            </a:r>
            <a:r>
              <a:rPr lang="ko-KR" altLang="en-US" sz="1200" dirty="0"/>
              <a:t> 수 있도록 한다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20058972"/>
                  </p:ext>
                </p:extLst>
              </p:nvPr>
            </p:nvGraphicFramePr>
            <p:xfrm>
              <a:off x="0" y="3941688"/>
              <a:ext cx="5152103" cy="2898058"/>
            </p:xfrm>
            <a:graphic>
              <a:graphicData uri="http://schemas.microsoft.com/office/powerpoint/2016/slidezoom">
                <pslz:sldZm>
                  <pslz:sldZmObj sldId="280" cId="4144978947">
                    <pslz:zmPr id="{16191A8D-A4FD-4417-9519-291E9A703DD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3" cy="28980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0" y="3941688"/>
                <a:ext cx="5152103" cy="28980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20006220"/>
                  </p:ext>
                </p:extLst>
              </p:nvPr>
            </p:nvGraphicFramePr>
            <p:xfrm>
              <a:off x="5247968" y="3941687"/>
              <a:ext cx="5152102" cy="2898057"/>
            </p:xfrm>
            <a:graphic>
              <a:graphicData uri="http://schemas.microsoft.com/office/powerpoint/2016/slidezoom">
                <pslz:sldZm>
                  <pslz:sldZmObj sldId="282" cId="825479797">
                    <pslz:zmPr id="{CE5D8C70-59BB-47C2-87D2-7CA7FF77941B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2" cy="289805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7968" y="3941687"/>
                <a:ext cx="5152102" cy="289805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020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35B0-1648-3A00-F710-2E810A2BB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7C3BD-55C9-85C7-4AD2-30000BCF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ShaderVisibleDescHeap</a:t>
            </a:r>
            <a:r>
              <a:rPr lang="ko-KR" altLang="en-US" sz="5400" dirty="0"/>
              <a:t>의 확장 </a:t>
            </a:r>
            <a:r>
              <a:rPr lang="en-US" altLang="ko-KR" sz="5400" dirty="0"/>
              <a:t>/ </a:t>
            </a:r>
            <a:r>
              <a:rPr lang="ko-KR" altLang="en-US" sz="5400" dirty="0"/>
              <a:t>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EE5AE-48F4-504A-C304-88D0C54F7450}"/>
              </a:ext>
            </a:extLst>
          </p:cNvPr>
          <p:cNvSpPr txBox="1"/>
          <p:nvPr/>
        </p:nvSpPr>
        <p:spPr>
          <a:xfrm>
            <a:off x="440129" y="13878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9C81F4-91A0-7289-FBB8-48C2102EFF01}"/>
              </a:ext>
            </a:extLst>
          </p:cNvPr>
          <p:cNvSpPr txBox="1"/>
          <p:nvPr/>
        </p:nvSpPr>
        <p:spPr>
          <a:xfrm>
            <a:off x="1130709" y="13878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BD023-9CF5-CE26-19C6-66E48D2B4976}"/>
              </a:ext>
            </a:extLst>
          </p:cNvPr>
          <p:cNvSpPr txBox="1"/>
          <p:nvPr/>
        </p:nvSpPr>
        <p:spPr>
          <a:xfrm>
            <a:off x="2890684" y="13878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2A804-BF55-DB67-AEAD-2197F4C27F2C}"/>
              </a:ext>
            </a:extLst>
          </p:cNvPr>
          <p:cNvSpPr txBox="1"/>
          <p:nvPr/>
        </p:nvSpPr>
        <p:spPr>
          <a:xfrm>
            <a:off x="4355690" y="13878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2122-5080-A5A6-2DEE-7D69CDA84F84}"/>
              </a:ext>
            </a:extLst>
          </p:cNvPr>
          <p:cNvSpPr txBox="1"/>
          <p:nvPr/>
        </p:nvSpPr>
        <p:spPr>
          <a:xfrm>
            <a:off x="6046841" y="13878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A49D7F-39EE-8DDD-C651-3B35646D5CC8}"/>
              </a:ext>
            </a:extLst>
          </p:cNvPr>
          <p:cNvSpPr txBox="1"/>
          <p:nvPr/>
        </p:nvSpPr>
        <p:spPr>
          <a:xfrm>
            <a:off x="170961" y="9436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A174F-5DAB-36E6-038B-606AB2743A4F}"/>
              </a:ext>
            </a:extLst>
          </p:cNvPr>
          <p:cNvSpPr txBox="1"/>
          <p:nvPr/>
        </p:nvSpPr>
        <p:spPr>
          <a:xfrm>
            <a:off x="510734" y="2978131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NSV_Copy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8EE92-C83D-C2AD-7DD0-C0FAC6F701B8}"/>
              </a:ext>
            </a:extLst>
          </p:cNvPr>
          <p:cNvSpPr txBox="1"/>
          <p:nvPr/>
        </p:nvSpPr>
        <p:spPr>
          <a:xfrm>
            <a:off x="140150" y="5970336"/>
            <a:ext cx="1288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SV_Render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B98795-016D-B87C-896F-C48687559EC0}"/>
              </a:ext>
            </a:extLst>
          </p:cNvPr>
          <p:cNvCxnSpPr>
            <a:cxnSpLocks/>
          </p:cNvCxnSpPr>
          <p:nvPr/>
        </p:nvCxnSpPr>
        <p:spPr>
          <a:xfrm>
            <a:off x="4355690" y="12816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26573C-7789-7FBB-0F79-068B3C74B00A}"/>
              </a:ext>
            </a:extLst>
          </p:cNvPr>
          <p:cNvSpPr txBox="1"/>
          <p:nvPr/>
        </p:nvSpPr>
        <p:spPr>
          <a:xfrm>
            <a:off x="3547866" y="819990"/>
            <a:ext cx="5096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만약 할당된 범위가 가득 찬 상태에서 다음 </a:t>
            </a:r>
            <a:r>
              <a:rPr lang="en-US" altLang="ko-KR" sz="1200" dirty="0"/>
              <a:t>Desc</a:t>
            </a:r>
            <a:r>
              <a:rPr lang="ko-KR" altLang="en-US" sz="1200" dirty="0"/>
              <a:t>를 넣으려 시도한다면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 err="1"/>
              <a:t>NSV_Copy</a:t>
            </a:r>
            <a:r>
              <a:rPr lang="ko-KR" altLang="en-US" sz="1200" dirty="0"/>
              <a:t>를 이용해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구조를 전체적으로 바꾼다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5310F7-242F-BD7C-56A2-CD3E70BC04F5}"/>
              </a:ext>
            </a:extLst>
          </p:cNvPr>
          <p:cNvSpPr txBox="1"/>
          <p:nvPr/>
        </p:nvSpPr>
        <p:spPr>
          <a:xfrm>
            <a:off x="440128" y="25987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768962-ED61-F0F6-4F86-363FAF40DFAB}"/>
              </a:ext>
            </a:extLst>
          </p:cNvPr>
          <p:cNvSpPr txBox="1"/>
          <p:nvPr/>
        </p:nvSpPr>
        <p:spPr>
          <a:xfrm>
            <a:off x="1130708" y="25987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A6B8C-F3F2-10A8-714D-DA14F893C488}"/>
              </a:ext>
            </a:extLst>
          </p:cNvPr>
          <p:cNvSpPr txBox="1"/>
          <p:nvPr/>
        </p:nvSpPr>
        <p:spPr>
          <a:xfrm>
            <a:off x="2890682" y="25987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01C0-5FBF-641A-4D8A-63A153CF08A3}"/>
              </a:ext>
            </a:extLst>
          </p:cNvPr>
          <p:cNvSpPr txBox="1"/>
          <p:nvPr/>
        </p:nvSpPr>
        <p:spPr>
          <a:xfrm>
            <a:off x="6046832" y="25987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265FE-3989-5346-2243-C485FBEACC2A}"/>
              </a:ext>
            </a:extLst>
          </p:cNvPr>
          <p:cNvSpPr txBox="1"/>
          <p:nvPr/>
        </p:nvSpPr>
        <p:spPr>
          <a:xfrm>
            <a:off x="7737977" y="25987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69FDB54-5DB1-7183-5414-D2176506831B}"/>
              </a:ext>
            </a:extLst>
          </p:cNvPr>
          <p:cNvCxnSpPr>
            <a:cxnSpLocks/>
          </p:cNvCxnSpPr>
          <p:nvPr/>
        </p:nvCxnSpPr>
        <p:spPr>
          <a:xfrm flipH="1">
            <a:off x="414792" y="17572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1F993D0-4C7C-C3D5-785F-4C1231259CC0}"/>
              </a:ext>
            </a:extLst>
          </p:cNvPr>
          <p:cNvCxnSpPr>
            <a:cxnSpLocks/>
          </p:cNvCxnSpPr>
          <p:nvPr/>
        </p:nvCxnSpPr>
        <p:spPr>
          <a:xfrm>
            <a:off x="1130707" y="17572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ABC3F23-065F-C479-5BC6-0F6BED7EC384}"/>
              </a:ext>
            </a:extLst>
          </p:cNvPr>
          <p:cNvCxnSpPr>
            <a:cxnSpLocks/>
          </p:cNvCxnSpPr>
          <p:nvPr/>
        </p:nvCxnSpPr>
        <p:spPr>
          <a:xfrm>
            <a:off x="2890683" y="17472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77BA0F5-4D4A-BA77-EB80-C1A901AA2559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FC5472E-AE03-9666-7F44-D26C9B4C634F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005AB73-F653-7C83-295C-53FD927D836B}"/>
              </a:ext>
            </a:extLst>
          </p:cNvPr>
          <p:cNvCxnSpPr>
            <a:cxnSpLocks/>
          </p:cNvCxnSpPr>
          <p:nvPr/>
        </p:nvCxnSpPr>
        <p:spPr>
          <a:xfrm>
            <a:off x="6046832" y="17572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604ABE1-83E3-EE2D-E61B-A93466C208FC}"/>
              </a:ext>
            </a:extLst>
          </p:cNvPr>
          <p:cNvSpPr txBox="1"/>
          <p:nvPr/>
        </p:nvSpPr>
        <p:spPr>
          <a:xfrm>
            <a:off x="4395031" y="25987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E6418-FEB3-9C4B-7842-F191A720123A}"/>
              </a:ext>
            </a:extLst>
          </p:cNvPr>
          <p:cNvSpPr txBox="1"/>
          <p:nvPr/>
        </p:nvSpPr>
        <p:spPr>
          <a:xfrm>
            <a:off x="8554634" y="3034550"/>
            <a:ext cx="35295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복사가 끝나면 다시 </a:t>
            </a:r>
            <a:r>
              <a:rPr lang="en-US" altLang="ko-KR" sz="1200" dirty="0"/>
              <a:t>NSV Creation</a:t>
            </a:r>
            <a:r>
              <a:rPr lang="ko-KR" altLang="en-US" sz="1200" dirty="0"/>
              <a:t>으로 복사한다</a:t>
            </a:r>
            <a:r>
              <a:rPr lang="en-US" altLang="ko-KR" sz="12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407273-72BE-1144-B711-5791FF225394}"/>
              </a:ext>
            </a:extLst>
          </p:cNvPr>
          <p:cNvSpPr txBox="1"/>
          <p:nvPr/>
        </p:nvSpPr>
        <p:spPr>
          <a:xfrm>
            <a:off x="121798" y="4361035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625975F-C483-F6FC-8EE1-B0EA55AF1229}"/>
              </a:ext>
            </a:extLst>
          </p:cNvPr>
          <p:cNvCxnSpPr>
            <a:cxnSpLocks/>
          </p:cNvCxnSpPr>
          <p:nvPr/>
        </p:nvCxnSpPr>
        <p:spPr>
          <a:xfrm flipH="1">
            <a:off x="427460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080ADA2-4D19-BCCB-7A3F-62BCA035F4A7}"/>
              </a:ext>
            </a:extLst>
          </p:cNvPr>
          <p:cNvSpPr txBox="1"/>
          <p:nvPr/>
        </p:nvSpPr>
        <p:spPr>
          <a:xfrm>
            <a:off x="447509" y="4001705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9DCC0A-FE72-6757-3563-74B8C45B9B32}"/>
              </a:ext>
            </a:extLst>
          </p:cNvPr>
          <p:cNvSpPr txBox="1"/>
          <p:nvPr/>
        </p:nvSpPr>
        <p:spPr>
          <a:xfrm>
            <a:off x="1138089" y="4001705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D04367-A75F-3125-284C-988658C03EDA}"/>
              </a:ext>
            </a:extLst>
          </p:cNvPr>
          <p:cNvSpPr txBox="1"/>
          <p:nvPr/>
        </p:nvSpPr>
        <p:spPr>
          <a:xfrm>
            <a:off x="2898063" y="4001705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781994-551A-8D9E-C9BF-C4277BCDE966}"/>
              </a:ext>
            </a:extLst>
          </p:cNvPr>
          <p:cNvSpPr txBox="1"/>
          <p:nvPr/>
        </p:nvSpPr>
        <p:spPr>
          <a:xfrm>
            <a:off x="6054213" y="4001705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51BFD0-402F-9810-354D-08CACF0F23DF}"/>
              </a:ext>
            </a:extLst>
          </p:cNvPr>
          <p:cNvSpPr txBox="1"/>
          <p:nvPr/>
        </p:nvSpPr>
        <p:spPr>
          <a:xfrm>
            <a:off x="7745358" y="4001705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D2B5E-BBE3-9DA8-1A4D-BE3653907D56}"/>
              </a:ext>
            </a:extLst>
          </p:cNvPr>
          <p:cNvSpPr txBox="1"/>
          <p:nvPr/>
        </p:nvSpPr>
        <p:spPr>
          <a:xfrm>
            <a:off x="4402412" y="4001705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5B7F068-C48D-DE59-1F9D-3760695A6CD3}"/>
              </a:ext>
            </a:extLst>
          </p:cNvPr>
          <p:cNvCxnSpPr>
            <a:cxnSpLocks/>
          </p:cNvCxnSpPr>
          <p:nvPr/>
        </p:nvCxnSpPr>
        <p:spPr>
          <a:xfrm flipH="1">
            <a:off x="7737974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F509294-E334-83DE-E764-B830FFD348BE}"/>
              </a:ext>
            </a:extLst>
          </p:cNvPr>
          <p:cNvSpPr txBox="1"/>
          <p:nvPr/>
        </p:nvSpPr>
        <p:spPr>
          <a:xfrm>
            <a:off x="6651573" y="4453368"/>
            <a:ext cx="5540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렌더가</a:t>
            </a:r>
            <a:r>
              <a:rPr lang="ko-KR" altLang="en-US" sz="1200" dirty="0"/>
              <a:t> 시작하기 바로 직전에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로 복사한다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셰이더에서</a:t>
            </a:r>
            <a:r>
              <a:rPr lang="ko-KR" altLang="en-US" sz="1200" dirty="0"/>
              <a:t> 볼 수 있게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6EA721-D511-BCEC-C2AB-D58417E619C3}"/>
              </a:ext>
            </a:extLst>
          </p:cNvPr>
          <p:cNvSpPr txBox="1"/>
          <p:nvPr/>
        </p:nvSpPr>
        <p:spPr>
          <a:xfrm>
            <a:off x="447509" y="5611006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D193D-E998-371D-EA07-3F10454B5504}"/>
              </a:ext>
            </a:extLst>
          </p:cNvPr>
          <p:cNvSpPr txBox="1"/>
          <p:nvPr/>
        </p:nvSpPr>
        <p:spPr>
          <a:xfrm>
            <a:off x="1138089" y="5611006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6CB40D-2BC5-F194-0A63-278D06DF875D}"/>
              </a:ext>
            </a:extLst>
          </p:cNvPr>
          <p:cNvSpPr txBox="1"/>
          <p:nvPr/>
        </p:nvSpPr>
        <p:spPr>
          <a:xfrm>
            <a:off x="2898063" y="5611006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7160A3-9976-75FE-2FB2-B0BEE293C7A3}"/>
              </a:ext>
            </a:extLst>
          </p:cNvPr>
          <p:cNvSpPr txBox="1"/>
          <p:nvPr/>
        </p:nvSpPr>
        <p:spPr>
          <a:xfrm>
            <a:off x="6054213" y="5611006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7A911D-C963-177F-A887-26EB550BE6B5}"/>
              </a:ext>
            </a:extLst>
          </p:cNvPr>
          <p:cNvSpPr txBox="1"/>
          <p:nvPr/>
        </p:nvSpPr>
        <p:spPr>
          <a:xfrm>
            <a:off x="7745358" y="5611006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DynamicRange</a:t>
            </a:r>
            <a:endParaRPr lang="ko-KR" alt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F37391-E26A-CA67-EE80-F49983813355}"/>
              </a:ext>
            </a:extLst>
          </p:cNvPr>
          <p:cNvSpPr txBox="1"/>
          <p:nvPr/>
        </p:nvSpPr>
        <p:spPr>
          <a:xfrm>
            <a:off x="4402412" y="5611006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F36B26D-4E70-E1F3-E097-8DF2EE82C592}"/>
              </a:ext>
            </a:extLst>
          </p:cNvPr>
          <p:cNvCxnSpPr>
            <a:cxnSpLocks/>
          </p:cNvCxnSpPr>
          <p:nvPr/>
        </p:nvCxnSpPr>
        <p:spPr>
          <a:xfrm>
            <a:off x="447508" y="4805301"/>
            <a:ext cx="0" cy="84128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114C01D-7B99-0696-68AB-54D07669F2D6}"/>
              </a:ext>
            </a:extLst>
          </p:cNvPr>
          <p:cNvCxnSpPr>
            <a:cxnSpLocks/>
          </p:cNvCxnSpPr>
          <p:nvPr/>
        </p:nvCxnSpPr>
        <p:spPr>
          <a:xfrm flipH="1">
            <a:off x="7745358" y="4730367"/>
            <a:ext cx="7387" cy="88063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97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648C-C07A-B4F6-89BC-44968E7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40FD7-4500-3811-D022-B50DC4F4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DescIndex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FF546-9227-039F-804C-D2A8FDF1D693}"/>
              </a:ext>
            </a:extLst>
          </p:cNvPr>
          <p:cNvSpPr txBox="1"/>
          <p:nvPr/>
        </p:nvSpPr>
        <p:spPr>
          <a:xfrm>
            <a:off x="419809" y="11282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17E53-2F5F-6D6E-CED8-B3E6EF82D32D}"/>
              </a:ext>
            </a:extLst>
          </p:cNvPr>
          <p:cNvSpPr txBox="1"/>
          <p:nvPr/>
        </p:nvSpPr>
        <p:spPr>
          <a:xfrm>
            <a:off x="1110389" y="11282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BEDF2-4306-F04A-41EC-3033EF9DEEA0}"/>
              </a:ext>
            </a:extLst>
          </p:cNvPr>
          <p:cNvSpPr txBox="1"/>
          <p:nvPr/>
        </p:nvSpPr>
        <p:spPr>
          <a:xfrm>
            <a:off x="2870364" y="11282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8BE8A0-5586-EA19-E0A3-F7DF232EBF7A}"/>
              </a:ext>
            </a:extLst>
          </p:cNvPr>
          <p:cNvSpPr txBox="1"/>
          <p:nvPr/>
        </p:nvSpPr>
        <p:spPr>
          <a:xfrm>
            <a:off x="4335370" y="11282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5BE7-EAF2-A0EC-9AD8-140EE1F89D48}"/>
              </a:ext>
            </a:extLst>
          </p:cNvPr>
          <p:cNvSpPr txBox="1"/>
          <p:nvPr/>
        </p:nvSpPr>
        <p:spPr>
          <a:xfrm>
            <a:off x="6026521" y="11282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44242-AE13-8E1D-0498-5FC0DA3F7976}"/>
              </a:ext>
            </a:extLst>
          </p:cNvPr>
          <p:cNvSpPr txBox="1"/>
          <p:nvPr/>
        </p:nvSpPr>
        <p:spPr>
          <a:xfrm>
            <a:off x="150641" y="6840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4081D3B-520B-AEEF-E432-70864ADCE90D}"/>
              </a:ext>
            </a:extLst>
          </p:cNvPr>
          <p:cNvCxnSpPr>
            <a:cxnSpLocks/>
          </p:cNvCxnSpPr>
          <p:nvPr/>
        </p:nvCxnSpPr>
        <p:spPr>
          <a:xfrm>
            <a:off x="4335370" y="10220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D35D3E5-D332-1ED6-A355-A9BCD0E56A6A}"/>
              </a:ext>
            </a:extLst>
          </p:cNvPr>
          <p:cNvSpPr txBox="1"/>
          <p:nvPr/>
        </p:nvSpPr>
        <p:spPr>
          <a:xfrm>
            <a:off x="223907" y="2802798"/>
            <a:ext cx="79732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SVDescHeap2 </a:t>
            </a:r>
            <a:r>
              <a:rPr lang="ko-KR" altLang="en-US" sz="1200" dirty="0"/>
              <a:t>구조체에서는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리소스 생성에는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렌더링을 </a:t>
            </a:r>
            <a:r>
              <a:rPr lang="ko-KR" altLang="en-US" sz="1200" dirty="0" err="1"/>
              <a:t>할때는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한다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때문에 리소스가 </a:t>
            </a:r>
            <a:r>
              <a:rPr lang="en-US" altLang="ko-KR" sz="1200" dirty="0" err="1"/>
              <a:t>DescHandle</a:t>
            </a:r>
            <a:r>
              <a:rPr lang="ko-KR" altLang="en-US" sz="1200" dirty="0"/>
              <a:t>을 두개 </a:t>
            </a:r>
            <a:r>
              <a:rPr lang="ko-KR" altLang="en-US" sz="1200" dirty="0" err="1"/>
              <a:t>가져야한다는</a:t>
            </a:r>
            <a:r>
              <a:rPr lang="ko-KR" altLang="en-US" sz="1200" dirty="0"/>
              <a:t> 단점이 있었다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이를 극복하기 위해서 </a:t>
            </a:r>
            <a:br>
              <a:rPr lang="en-US" altLang="ko-KR" sz="1200" dirty="0"/>
            </a:br>
            <a:r>
              <a:rPr lang="en-US" altLang="ko-KR" sz="1200" dirty="0" err="1"/>
              <a:t>DescIndex</a:t>
            </a:r>
            <a:r>
              <a:rPr lang="ko-KR" altLang="en-US" sz="1200" dirty="0"/>
              <a:t>라는 구조체를 만들었다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 err="1"/>
              <a:t>isShaderVisible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면 </a:t>
            </a:r>
            <a:r>
              <a:rPr lang="en-US" altLang="ko-KR" sz="1200" dirty="0" err="1"/>
              <a:t>SVDescHeap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구조체안에 있다는 것이고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아니라면 </a:t>
            </a:r>
            <a:r>
              <a:rPr lang="en-US" altLang="ko-KR" sz="1200" dirty="0" err="1"/>
              <a:t>ResourceDescSaver</a:t>
            </a:r>
            <a:r>
              <a:rPr lang="ko-KR" altLang="en-US" sz="1200" dirty="0"/>
              <a:t>에 들어가서 나중에 유동적으로 리소스를 보여주겠다는 </a:t>
            </a:r>
            <a:endParaRPr lang="en-US" altLang="ko-KR" sz="1200" dirty="0"/>
          </a:p>
          <a:p>
            <a:r>
              <a:rPr lang="ko-KR" altLang="en-US" sz="1200" dirty="0"/>
              <a:t>의미다</a:t>
            </a:r>
            <a:r>
              <a:rPr lang="en-US" altLang="ko-KR" sz="1200" dirty="0"/>
              <a:t>. </a:t>
            </a:r>
            <a:r>
              <a:rPr lang="ko-KR" altLang="en-US" sz="1200" dirty="0"/>
              <a:t>때문에 </a:t>
            </a:r>
            <a:r>
              <a:rPr lang="en-US" altLang="ko-KR" sz="1200" dirty="0" err="1"/>
              <a:t>isShaderVisible</a:t>
            </a:r>
            <a:r>
              <a:rPr lang="ko-KR" altLang="en-US" sz="1200" dirty="0"/>
              <a:t>이 </a:t>
            </a:r>
            <a:r>
              <a:rPr lang="en-US" altLang="ko-KR" sz="1200" dirty="0"/>
              <a:t>false</a:t>
            </a:r>
            <a:r>
              <a:rPr lang="ko-KR" altLang="en-US" sz="1200" dirty="0"/>
              <a:t>면 </a:t>
            </a:r>
            <a:r>
              <a:rPr lang="en-US" altLang="ko-KR" sz="1200" dirty="0"/>
              <a:t>Render</a:t>
            </a:r>
            <a:r>
              <a:rPr lang="ko-KR" altLang="en-US" sz="1200" dirty="0"/>
              <a:t>용 </a:t>
            </a:r>
            <a:r>
              <a:rPr lang="en-US" altLang="ko-KR" sz="1200" dirty="0"/>
              <a:t>Desc</a:t>
            </a:r>
            <a:r>
              <a:rPr lang="ko-KR" altLang="en-US" sz="1200" dirty="0"/>
              <a:t>가 존재할 수 없다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Type</a:t>
            </a:r>
            <a:r>
              <a:rPr lang="ko-KR" altLang="en-US" sz="1200" dirty="0"/>
              <a:t>은 이 </a:t>
            </a:r>
            <a:r>
              <a:rPr lang="ko-KR" altLang="en-US" sz="1200" dirty="0" err="1"/>
              <a:t>디스크립터의</a:t>
            </a:r>
            <a:r>
              <a:rPr lang="ko-KR" altLang="en-US" sz="1200" dirty="0"/>
              <a:t> 타입을 말해준다</a:t>
            </a:r>
            <a:r>
              <a:rPr lang="en-US" altLang="ko-KR" sz="1200" dirty="0"/>
              <a:t>. UAVSRVCBV, RTV, DSV</a:t>
            </a:r>
            <a:r>
              <a:rPr lang="ko-KR" altLang="en-US" sz="1200" dirty="0"/>
              <a:t>등이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Index</a:t>
            </a:r>
            <a:r>
              <a:rPr lang="ko-KR" altLang="en-US" sz="1200" dirty="0"/>
              <a:t>는 해당 </a:t>
            </a:r>
            <a:r>
              <a:rPr lang="en-US" altLang="ko-KR" sz="1200" dirty="0"/>
              <a:t>Desc</a:t>
            </a:r>
            <a:r>
              <a:rPr lang="ko-KR" altLang="en-US" sz="1200" dirty="0"/>
              <a:t>가 </a:t>
            </a:r>
            <a:r>
              <a:rPr lang="en-US" altLang="ko-KR" sz="1200" dirty="0" err="1"/>
              <a:t>DecsHeap</a:t>
            </a:r>
            <a:r>
              <a:rPr lang="ko-KR" altLang="en-US" sz="1200" dirty="0"/>
              <a:t>에 </a:t>
            </a:r>
            <a:r>
              <a:rPr lang="ko-KR" altLang="en-US" sz="1200" dirty="0" err="1"/>
              <a:t>몇번째</a:t>
            </a:r>
            <a:r>
              <a:rPr lang="ko-KR" altLang="en-US" sz="1200" dirty="0"/>
              <a:t> </a:t>
            </a:r>
            <a:r>
              <a:rPr lang="en-US" altLang="ko-KR" sz="1200" dirty="0"/>
              <a:t>Desc</a:t>
            </a:r>
            <a:r>
              <a:rPr lang="ko-KR" altLang="en-US" sz="1200" dirty="0"/>
              <a:t>인지 알려준다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때문에 </a:t>
            </a:r>
            <a:r>
              <a:rPr lang="en-US" altLang="ko-KR" sz="1200" dirty="0" err="1"/>
              <a:t>DescHeap</a:t>
            </a:r>
            <a:r>
              <a:rPr lang="ko-KR" altLang="en-US" sz="1200" dirty="0"/>
              <a:t>의 구조가 바뀌더라도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리소스의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의 </a:t>
            </a:r>
            <a:r>
              <a:rPr lang="en-US" altLang="ko-KR" sz="1200" dirty="0"/>
              <a:t>index</a:t>
            </a:r>
            <a:r>
              <a:rPr lang="ko-KR" altLang="en-US" sz="1200" dirty="0"/>
              <a:t>값만 </a:t>
            </a:r>
            <a:endParaRPr lang="en-US" altLang="ko-KR" sz="1200" dirty="0"/>
          </a:p>
          <a:p>
            <a:r>
              <a:rPr lang="ko-KR" altLang="en-US" sz="1200" dirty="0"/>
              <a:t>변화량만큼 </a:t>
            </a:r>
            <a:r>
              <a:rPr lang="ko-KR" altLang="en-US" sz="1200" dirty="0" err="1"/>
              <a:t>이격하게</a:t>
            </a:r>
            <a:r>
              <a:rPr lang="ko-KR" altLang="en-US" sz="1200" dirty="0"/>
              <a:t> 되면 </a:t>
            </a:r>
            <a:r>
              <a:rPr lang="en-US" altLang="ko-KR" sz="1200" dirty="0"/>
              <a:t>Desc</a:t>
            </a:r>
            <a:r>
              <a:rPr lang="ko-KR" altLang="en-US" sz="1200" dirty="0"/>
              <a:t>확장이 </a:t>
            </a:r>
            <a:r>
              <a:rPr lang="ko-KR" altLang="en-US" sz="1200" dirty="0" err="1"/>
              <a:t>무리없이</a:t>
            </a:r>
            <a:r>
              <a:rPr lang="ko-KR" altLang="en-US" sz="1200" dirty="0"/>
              <a:t> 가능했다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이걸 하기 위해 </a:t>
            </a:r>
            <a:r>
              <a:rPr lang="en-US" altLang="ko-KR" sz="1200" dirty="0"/>
              <a:t>Game </a:t>
            </a:r>
            <a:r>
              <a:rPr lang="ko-KR" altLang="en-US" sz="1200" dirty="0"/>
              <a:t>구조체에 반영구적인 리소스들의 구조체에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가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구조가 </a:t>
            </a:r>
            <a:r>
              <a:rPr lang="ko-KR" altLang="en-US" sz="1200" dirty="0" err="1"/>
              <a:t>바뀔때</a:t>
            </a:r>
            <a:r>
              <a:rPr lang="ko-KR" altLang="en-US" sz="1200" dirty="0"/>
              <a:t> 해당 리소스들을 순회하면서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를 알맞게 </a:t>
            </a:r>
            <a:r>
              <a:rPr lang="ko-KR" altLang="en-US" sz="1200" dirty="0" err="1"/>
              <a:t>이격해준다</a:t>
            </a:r>
            <a:r>
              <a:rPr lang="en-US" altLang="ko-KR" sz="1200"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E64583-56D7-435A-4447-CF29C9AF75E8}"/>
              </a:ext>
            </a:extLst>
          </p:cNvPr>
          <p:cNvSpPr txBox="1"/>
          <p:nvPr/>
        </p:nvSpPr>
        <p:spPr>
          <a:xfrm>
            <a:off x="419808" y="23391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E6B82C-FE50-C151-EA53-1E9599CF3E55}"/>
              </a:ext>
            </a:extLst>
          </p:cNvPr>
          <p:cNvSpPr txBox="1"/>
          <p:nvPr/>
        </p:nvSpPr>
        <p:spPr>
          <a:xfrm>
            <a:off x="1110388" y="23391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6208B5-587A-5946-B112-5285C5100DC2}"/>
              </a:ext>
            </a:extLst>
          </p:cNvPr>
          <p:cNvSpPr txBox="1"/>
          <p:nvPr/>
        </p:nvSpPr>
        <p:spPr>
          <a:xfrm>
            <a:off x="2870362" y="23391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EC6BD-B450-D684-EA31-9914DCCE0A82}"/>
              </a:ext>
            </a:extLst>
          </p:cNvPr>
          <p:cNvSpPr txBox="1"/>
          <p:nvPr/>
        </p:nvSpPr>
        <p:spPr>
          <a:xfrm>
            <a:off x="6026512" y="23391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FED09-CAF1-67CF-9356-D34711CDC1CB}"/>
              </a:ext>
            </a:extLst>
          </p:cNvPr>
          <p:cNvSpPr txBox="1"/>
          <p:nvPr/>
        </p:nvSpPr>
        <p:spPr>
          <a:xfrm>
            <a:off x="7717657" y="23391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757F81F-4BEB-6676-4C51-29EDE84E28CC}"/>
              </a:ext>
            </a:extLst>
          </p:cNvPr>
          <p:cNvCxnSpPr>
            <a:cxnSpLocks/>
          </p:cNvCxnSpPr>
          <p:nvPr/>
        </p:nvCxnSpPr>
        <p:spPr>
          <a:xfrm flipH="1">
            <a:off x="394472" y="14976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745534-686F-E271-BBE6-17FBCB243018}"/>
              </a:ext>
            </a:extLst>
          </p:cNvPr>
          <p:cNvCxnSpPr>
            <a:cxnSpLocks/>
          </p:cNvCxnSpPr>
          <p:nvPr/>
        </p:nvCxnSpPr>
        <p:spPr>
          <a:xfrm>
            <a:off x="1110387" y="14976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43D9D05-A342-7AF7-A6FB-DF85950711D2}"/>
              </a:ext>
            </a:extLst>
          </p:cNvPr>
          <p:cNvCxnSpPr>
            <a:cxnSpLocks/>
          </p:cNvCxnSpPr>
          <p:nvPr/>
        </p:nvCxnSpPr>
        <p:spPr>
          <a:xfrm>
            <a:off x="2870363" y="14876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182AF9-F4DB-37D4-381D-E4C354FD65C8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CDD0A11-6CA2-9C2C-A085-0C5091D62419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C3C5A-0405-C848-341C-D9F384467D7E}"/>
              </a:ext>
            </a:extLst>
          </p:cNvPr>
          <p:cNvCxnSpPr>
            <a:cxnSpLocks/>
          </p:cNvCxnSpPr>
          <p:nvPr/>
        </p:nvCxnSpPr>
        <p:spPr>
          <a:xfrm>
            <a:off x="6026512" y="14976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D040DF-2515-A5CA-DFAB-2894FEFDCD0E}"/>
              </a:ext>
            </a:extLst>
          </p:cNvPr>
          <p:cNvSpPr txBox="1"/>
          <p:nvPr/>
        </p:nvSpPr>
        <p:spPr>
          <a:xfrm>
            <a:off x="4374711" y="23391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8E80E2-52C8-2F79-37AB-054E39759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5" y="3616397"/>
            <a:ext cx="5834201" cy="303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7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AB2EB-63E8-19DA-D97D-80DEC84C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DA-F8C1-0101-8899-CE12B5358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Raster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1DB6C-95A0-A1B2-4D02-A6CB2E37E12E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1BE55-94EE-5B97-C9B9-F09CD1DB5D8B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C9A4F-1973-1886-F88C-DC848725BA94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FE83F-6A9C-C4FC-AC86-A2965F3E8423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17599-D3B0-6A9E-4AB9-6130367C0457}"/>
              </a:ext>
            </a:extLst>
          </p:cNvPr>
          <p:cNvSpPr txBox="1"/>
          <p:nvPr/>
        </p:nvSpPr>
        <p:spPr>
          <a:xfrm>
            <a:off x="170093" y="4796507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C1D38C-86C6-135F-62CE-EA4B051E0B45}"/>
              </a:ext>
            </a:extLst>
          </p:cNvPr>
          <p:cNvSpPr txBox="1"/>
          <p:nvPr/>
        </p:nvSpPr>
        <p:spPr>
          <a:xfrm>
            <a:off x="2958417" y="4796507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8330889"/>
                  </p:ext>
                </p:extLst>
              </p:nvPr>
            </p:nvGraphicFramePr>
            <p:xfrm>
              <a:off x="180092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5" cId="263221488">
                    <pslz:zmPr id="{63EE1A11-4E94-4C25-BFC1-4158C6B2386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2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31832620"/>
                  </p:ext>
                </p:extLst>
              </p:nvPr>
            </p:nvGraphicFramePr>
            <p:xfrm>
              <a:off x="2958417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6" cId="2502613761">
                    <pslz:zmPr id="{3DF0F88A-C4B4-4B73-8457-00D116026201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58417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75518450"/>
                  </p:ext>
                </p:extLst>
              </p:nvPr>
            </p:nvGraphicFramePr>
            <p:xfrm>
              <a:off x="170093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7" cId="553687500">
                    <pslz:zmPr id="{2E8E69AB-0855-4BA1-8AD9-35242E1A23E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0093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62386230"/>
                  </p:ext>
                </p:extLst>
              </p:nvPr>
            </p:nvGraphicFramePr>
            <p:xfrm>
              <a:off x="2329138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8" cId="1408819320">
                    <pslz:zmPr id="{7AF5255F-B81A-4905-9CB3-DA9548B249DD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329138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27357297"/>
                  </p:ext>
                </p:extLst>
              </p:nvPr>
            </p:nvGraphicFramePr>
            <p:xfrm>
              <a:off x="6096000" y="1485048"/>
              <a:ext cx="2778325" cy="1562808"/>
            </p:xfrm>
            <a:graphic>
              <a:graphicData uri="http://schemas.microsoft.com/office/powerpoint/2016/slidezoom">
                <pslz:sldZm>
                  <pslz:sldZmObj sldId="269" cId="2067884293">
                    <pslz:zmPr id="{93AF7E91-8F99-4C22-8120-C7F863FEA8A4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96000" y="1485048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0" name="슬라이드 확대/축소 19"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27605296"/>
                  </p:ext>
                </p:extLst>
              </p:nvPr>
            </p:nvGraphicFramePr>
            <p:xfrm>
              <a:off x="8874324" y="1472797"/>
              <a:ext cx="2778325" cy="1562808"/>
            </p:xfrm>
            <a:graphic>
              <a:graphicData uri="http://schemas.microsoft.com/office/powerpoint/2016/slidezoom">
                <pslz:sldZm>
                  <pslz:sldZmObj sldId="270" cId="4125104201">
                    <pslz:zmPr id="{3ECA6620-0ABA-4E04-813F-EADB7CE9CF63}" returnToParent="0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0" name="슬라이드 확대/축소 19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74324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2" name="슬라이드 확대/축소 21"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493122"/>
                  </p:ext>
                </p:extLst>
              </p:nvPr>
            </p:nvGraphicFramePr>
            <p:xfrm>
              <a:off x="6096000" y="3549391"/>
              <a:ext cx="2675925" cy="1505208"/>
            </p:xfrm>
            <a:graphic>
              <a:graphicData uri="http://schemas.microsoft.com/office/powerpoint/2016/slidezoom">
                <pslz:sldZm>
                  <pslz:sldZmObj sldId="271" cId="1815665238">
                    <pslz:zmPr id="{D690743E-41F9-4BAE-8242-679BCA3314E1}" returnToParent="0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2" name="슬라이드 확대/축소 21">
                <a:hlinkClick r:id="rId21" action="ppaction://hlinksldjump"/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096000" y="3549391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4" name="슬라이드 확대/축소 23"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9250511"/>
                  </p:ext>
                </p:extLst>
              </p:nvPr>
            </p:nvGraphicFramePr>
            <p:xfrm>
              <a:off x="8770534" y="3537905"/>
              <a:ext cx="2675923" cy="1505208"/>
            </p:xfrm>
            <a:graphic>
              <a:graphicData uri="http://schemas.microsoft.com/office/powerpoint/2016/slidezoom">
                <pslz:sldZm>
                  <pslz:sldZmObj sldId="272" cId="1441472548">
                    <pslz:zmPr id="{66D908C9-8FC9-4375-A6D9-E08696BEBFD6}" returnToParent="0" transitionDur="1000">
                      <p166:blipFill xmlns:p166="http://schemas.microsoft.com/office/powerpoint/2016/6/main">
                        <a:blip r:embed="rId2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4" name="슬라이드 확대/축소 23">
                <a:hlinkClick r:id="rId24" action="ppaction://hlinksldjump"/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770534" y="3537905"/>
                <a:ext cx="2675923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6" name="슬라이드 확대/축소 25"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1749043"/>
                  </p:ext>
                </p:extLst>
              </p:nvPr>
            </p:nvGraphicFramePr>
            <p:xfrm>
              <a:off x="6096000" y="5043113"/>
              <a:ext cx="2675923" cy="1505207"/>
            </p:xfrm>
            <a:graphic>
              <a:graphicData uri="http://schemas.microsoft.com/office/powerpoint/2016/slidezoom">
                <pslz:sldZm>
                  <pslz:sldZmObj sldId="273" cId="533062821">
                    <pslz:zmPr id="{5F53CD1A-DB62-4CA5-81C2-8000346DE2CB}" returnToParent="0" transitionDur="1000">
                      <p166:blipFill xmlns:p166="http://schemas.microsoft.com/office/powerpoint/2016/6/main">
                        <a:blip r:embed="rId2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6" name="슬라이드 확대/축소 25">
                <a:hlinkClick r:id="rId27" action="ppaction://hlinksldjump"/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96000" y="5043113"/>
                <a:ext cx="2675923" cy="150520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슬라이드 확대/축소 27"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157263"/>
                  </p:ext>
                </p:extLst>
              </p:nvPr>
            </p:nvGraphicFramePr>
            <p:xfrm>
              <a:off x="8770534" y="5019840"/>
              <a:ext cx="2675925" cy="1505208"/>
            </p:xfrm>
            <a:graphic>
              <a:graphicData uri="http://schemas.microsoft.com/office/powerpoint/2016/slidezoom">
                <pslz:sldZm>
                  <pslz:sldZmObj sldId="274" cId="2958472303">
                    <pslz:zmPr id="{40C1809C-2EF7-4796-9DA2-52B9603AB8D1}" returnToParent="0" transitionDur="1000">
                      <p166:blipFill xmlns:p166="http://schemas.microsoft.com/office/powerpoint/2016/6/main">
                        <a:blip r:embed="rId2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슬라이드 확대/축소 27">
                <a:hlinkClick r:id="rId30" action="ppaction://hlinksldjump"/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0534" y="5019840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560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0FAD-80DD-3F81-E810-F6E3C6FE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EA518-73B9-C10A-263D-8BA9BCFA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View</a:t>
            </a:r>
            <a:r>
              <a:rPr lang="ko-KR" altLang="en-US" sz="5400" dirty="0"/>
              <a:t> </a:t>
            </a:r>
            <a:r>
              <a:rPr lang="en-US" altLang="ko-KR" sz="5400" dirty="0"/>
              <a:t>Frustum</a:t>
            </a:r>
            <a:r>
              <a:rPr lang="ko-KR" altLang="en-US" sz="5400" dirty="0"/>
              <a:t> </a:t>
            </a:r>
            <a:r>
              <a:rPr lang="en-US" altLang="ko-KR" sz="5400" dirty="0"/>
              <a:t>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6FA67-470F-213F-77A3-0454538B1C1D}"/>
              </a:ext>
            </a:extLst>
          </p:cNvPr>
          <p:cNvSpPr txBox="1"/>
          <p:nvPr/>
        </p:nvSpPr>
        <p:spPr>
          <a:xfrm>
            <a:off x="12404" y="796412"/>
            <a:ext cx="11704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뷰 포트는 두개의 </a:t>
            </a:r>
            <a:r>
              <a:rPr lang="ko-KR" altLang="en-US" dirty="0" err="1"/>
              <a:t>프러스텀을</a:t>
            </a:r>
            <a:r>
              <a:rPr lang="ko-KR" altLang="en-US" dirty="0"/>
              <a:t> 가질 수 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직교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원근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r>
              <a:rPr lang="ko-KR" altLang="en-US" dirty="0"/>
              <a:t>직교는 </a:t>
            </a:r>
            <a:r>
              <a:rPr lang="ko-KR" altLang="en-US" dirty="0" err="1"/>
              <a:t>디렉션</a:t>
            </a:r>
            <a:r>
              <a:rPr lang="ko-KR" altLang="en-US" dirty="0"/>
              <a:t> </a:t>
            </a:r>
            <a:r>
              <a:rPr lang="ko-KR" altLang="en-US" dirty="0" err="1"/>
              <a:t>라이팅의</a:t>
            </a:r>
            <a:r>
              <a:rPr lang="ko-KR" altLang="en-US" dirty="0"/>
              <a:t> 쉐도우 매핑과 같은 작업을 </a:t>
            </a:r>
            <a:r>
              <a:rPr lang="ko-KR" altLang="en-US" dirty="0" err="1"/>
              <a:t>할때</a:t>
            </a:r>
            <a:r>
              <a:rPr lang="ko-KR" altLang="en-US" dirty="0"/>
              <a:t> 오브젝트들을 직교로 거르기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원근은 화면 렌더링</a:t>
            </a:r>
            <a:r>
              <a:rPr lang="en-US" altLang="ko-KR" dirty="0"/>
              <a:t>, </a:t>
            </a:r>
            <a:r>
              <a:rPr lang="ko-KR" altLang="en-US" dirty="0" err="1"/>
              <a:t>오쿨루션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ko-KR" altLang="en-US" dirty="0" err="1"/>
              <a:t>레이트레이싱에서</a:t>
            </a:r>
            <a:r>
              <a:rPr lang="ko-KR" altLang="en-US" dirty="0"/>
              <a:t> </a:t>
            </a:r>
            <a:r>
              <a:rPr lang="en-US" altLang="ko-KR" dirty="0" err="1"/>
              <a:t>SkinMeshBLASUpdate</a:t>
            </a:r>
            <a:r>
              <a:rPr lang="ko-KR" altLang="en-US" dirty="0"/>
              <a:t>를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직교나 원근이나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하는 방법은 간단하다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그저 </a:t>
            </a:r>
            <a:r>
              <a:rPr lang="en-US" altLang="ko-KR" dirty="0"/>
              <a:t>Game </a:t>
            </a:r>
            <a:r>
              <a:rPr lang="ko-KR" altLang="en-US" dirty="0"/>
              <a:t>구조체에 있는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함수를 호출하면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그럼 오브젝트마다 클래스의 </a:t>
            </a:r>
            <a:r>
              <a:rPr lang="en-US" altLang="ko-KR" dirty="0"/>
              <a:t>inline static </a:t>
            </a:r>
            <a:r>
              <a:rPr lang="ko-KR" altLang="en-US" dirty="0"/>
              <a:t>함수 포인터를 이용해 자신의 </a:t>
            </a:r>
            <a:r>
              <a:rPr lang="ko-KR" altLang="en-US" dirty="0" err="1"/>
              <a:t>맴버함수처럼</a:t>
            </a:r>
            <a:r>
              <a:rPr lang="ko-KR" altLang="en-US" dirty="0"/>
              <a:t> 호출을 하게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해당 </a:t>
            </a:r>
            <a:r>
              <a:rPr lang="ko-KR" altLang="en-US" dirty="0" err="1"/>
              <a:t>함수포인터는</a:t>
            </a:r>
            <a:r>
              <a:rPr lang="ko-KR" altLang="en-US" dirty="0"/>
              <a:t> 작업을 시작하기 전에 프로그래머가 정할 수 있으며</a:t>
            </a:r>
            <a:r>
              <a:rPr lang="en-US" altLang="ko-KR" dirty="0"/>
              <a:t>, </a:t>
            </a:r>
            <a:r>
              <a:rPr lang="ko-KR" altLang="en-US" dirty="0"/>
              <a:t>그것은 </a:t>
            </a:r>
            <a:r>
              <a:rPr lang="en-US" altLang="ko-KR" dirty="0"/>
              <a:t>Update, Render, </a:t>
            </a:r>
            <a:r>
              <a:rPr lang="en-US" altLang="ko-KR" dirty="0" err="1"/>
              <a:t>BLASUpdate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다양한 작업을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함수는 </a:t>
            </a:r>
            <a:r>
              <a:rPr lang="en-US" altLang="ko-KR" dirty="0"/>
              <a:t>template</a:t>
            </a:r>
            <a:r>
              <a:rPr lang="ko-KR" altLang="en-US" dirty="0"/>
              <a:t>함수이기 때문에</a:t>
            </a:r>
            <a:r>
              <a:rPr lang="en-US" altLang="ko-KR" dirty="0"/>
              <a:t>, </a:t>
            </a:r>
            <a:r>
              <a:rPr lang="ko-KR" altLang="en-US" dirty="0" err="1"/>
              <a:t>탬플릿</a:t>
            </a:r>
            <a:r>
              <a:rPr lang="ko-KR" altLang="en-US" dirty="0"/>
              <a:t> 변수로 </a:t>
            </a:r>
            <a:endParaRPr lang="en-US" altLang="ko-KR" dirty="0"/>
          </a:p>
          <a:p>
            <a:r>
              <a:rPr lang="ko-KR" altLang="en-US" dirty="0"/>
              <a:t>어떤 오브젝트에 대해 연산을 </a:t>
            </a:r>
            <a:r>
              <a:rPr lang="ko-KR" altLang="en-US" dirty="0" err="1"/>
              <a:t>수행할건지도</a:t>
            </a:r>
            <a:r>
              <a:rPr lang="ko-KR" altLang="en-US" dirty="0"/>
              <a:t> 선택이 가능하다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내부적으로 </a:t>
            </a:r>
            <a:r>
              <a:rPr lang="en-US" altLang="ko-KR" dirty="0"/>
              <a:t>if </a:t>
            </a:r>
            <a:r>
              <a:rPr lang="en-US" altLang="ko-KR" dirty="0" err="1"/>
              <a:t>constexpr</a:t>
            </a:r>
            <a:r>
              <a:rPr lang="en-US" altLang="ko-KR" dirty="0"/>
              <a:t> </a:t>
            </a:r>
            <a:r>
              <a:rPr lang="ko-KR" altLang="en-US" dirty="0"/>
              <a:t>로 되어있어서 변수가 다르면 컴파일러는 다른 코드를 만든다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221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86B-4189-A705-595E-FAD18984A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EBC4AA-47CF-660C-366B-409E4A6B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Occulsion</a:t>
            </a:r>
            <a:r>
              <a:rPr lang="en-US" altLang="ko-KR" sz="5400" dirty="0"/>
              <a:t> 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5DF22-CBFA-20BB-DD37-3C4DBA847093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13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95A7-DA9D-F0A8-C566-F712543F1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5352EE-19BE-3DF0-05D5-E21F81DF2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Forward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53687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7562-469E-2493-FB5F-78294FBBE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93453-CAFC-F41A-1651-9A49100AD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Defered</a:t>
            </a:r>
            <a:r>
              <a:rPr lang="en-US" altLang="ko-KR" sz="5400" dirty="0"/>
              <a:t> Rendering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6ADAE-70E3-CF4B-B423-1A220BE1DEFD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881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554B0-8457-5AC0-FC79-71B22A61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660CE-F0B8-B2E9-55DA-8184AF76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DrawCalls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067884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59AF8-CDFA-63AA-4348-0A639A58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FE5E0-907E-6869-A61A-4F6D83E68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Instancing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412510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7D4E-9CB6-3B9E-E70D-B60D11190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1752-72BC-1B6A-1BF0-BCEDB2AD2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Static/Dynamic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15665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CED9-93B6-CFBD-840B-B69AA825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B1D5E-E57E-1E77-D7CA-2467B26BB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SkinMesh</a:t>
            </a:r>
            <a:r>
              <a:rPr lang="en-US" altLang="ko-KR" sz="5400" dirty="0"/>
              <a:t>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4147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99C3-5AB8-D579-375F-5CD63D04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25907-11B0-9A9A-61CB-E8E9773CB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Mirror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33062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75314-AEDC-574B-CBFE-23A4EC30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DA6C2-84C9-3C6A-6FD9-036446154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Particle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84927-6AF3-F87B-3315-B8AB439EFC04}"/>
              </a:ext>
            </a:extLst>
          </p:cNvPr>
          <p:cNvSpPr txBox="1"/>
          <p:nvPr/>
        </p:nvSpPr>
        <p:spPr>
          <a:xfrm>
            <a:off x="0" y="868680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동건아 이거 </a:t>
            </a:r>
            <a:r>
              <a:rPr lang="ko-KR" altLang="en-US" dirty="0" err="1"/>
              <a:t>적어주셈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8472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C5B2-FCBE-B8B8-ED5E-04C115E9B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04B38-937C-7497-BCE3-E08EE548A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Raytracing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DD4CD7-816C-FA9A-C461-BB44F19645FC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B1B66-3C57-318E-9C76-6DC14B0977E1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CBFBB-3512-2E4D-9613-056B18232163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6F82D-A44D-11C5-642B-D050A1486AA0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941C1-8B60-2278-B4C7-C5F999B335D3}"/>
              </a:ext>
            </a:extLst>
          </p:cNvPr>
          <p:cNvSpPr txBox="1"/>
          <p:nvPr/>
        </p:nvSpPr>
        <p:spPr>
          <a:xfrm>
            <a:off x="180092" y="5202531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A03762-B42B-6DE9-B229-6BA898BFAE60}"/>
              </a:ext>
            </a:extLst>
          </p:cNvPr>
          <p:cNvSpPr txBox="1"/>
          <p:nvPr/>
        </p:nvSpPr>
        <p:spPr>
          <a:xfrm>
            <a:off x="6096000" y="5215181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9643042"/>
                  </p:ext>
                </p:extLst>
              </p:nvPr>
            </p:nvGraphicFramePr>
            <p:xfrm>
              <a:off x="6096000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5" cId="1216493664">
                    <pslz:zmPr id="{8943EDC0-607D-41EF-AEAF-4ED0CAF5FDE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0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6977482"/>
                  </p:ext>
                </p:extLst>
              </p:nvPr>
            </p:nvGraphicFramePr>
            <p:xfrm>
              <a:off x="8711381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6" cId="904325592">
                    <pslz:zmPr id="{9E0EBCD9-BD83-4563-B14E-89E01394AE33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11381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995F415-D58E-73A2-0A6E-7795F7D25400}"/>
              </a:ext>
            </a:extLst>
          </p:cNvPr>
          <p:cNvSpPr txBox="1"/>
          <p:nvPr/>
        </p:nvSpPr>
        <p:spPr>
          <a:xfrm>
            <a:off x="91601" y="1467599"/>
            <a:ext cx="57790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SkinMesh</a:t>
            </a:r>
            <a:r>
              <a:rPr lang="ko-KR" altLang="en-US" dirty="0"/>
              <a:t>의 </a:t>
            </a:r>
            <a:r>
              <a:rPr lang="en-US" altLang="ko-KR" dirty="0"/>
              <a:t>BLAS Update</a:t>
            </a:r>
            <a:r>
              <a:rPr lang="ko-KR" altLang="en-US" dirty="0"/>
              <a:t>의 경우 </a:t>
            </a:r>
            <a:r>
              <a:rPr lang="en-US" altLang="ko-KR" dirty="0" err="1"/>
              <a:t>game.RenderTour</a:t>
            </a:r>
            <a:r>
              <a:rPr lang="ko-KR" altLang="en-US" dirty="0"/>
              <a:t>를</a:t>
            </a:r>
            <a:endParaRPr lang="en-US" altLang="ko-KR" dirty="0"/>
          </a:p>
          <a:p>
            <a:r>
              <a:rPr lang="ko-KR" altLang="en-US" dirty="0"/>
              <a:t>사용해 보이는 스킨 </a:t>
            </a:r>
            <a:r>
              <a:rPr lang="ko-KR" altLang="en-US" dirty="0" err="1"/>
              <a:t>메쉬에</a:t>
            </a:r>
            <a:r>
              <a:rPr lang="ko-KR" altLang="en-US" dirty="0"/>
              <a:t> 대해서만 </a:t>
            </a:r>
            <a:endParaRPr lang="en-US" altLang="ko-KR" dirty="0"/>
          </a:p>
          <a:p>
            <a:r>
              <a:rPr lang="ko-KR" altLang="en-US" dirty="0"/>
              <a:t>업데이트를 수행한다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슬라이드 확대/축소 10"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74667222"/>
                  </p:ext>
                </p:extLst>
              </p:nvPr>
            </p:nvGraphicFramePr>
            <p:xfrm>
              <a:off x="6096000" y="1520347"/>
              <a:ext cx="2778325" cy="1562808"/>
            </p:xfrm>
            <a:graphic>
              <a:graphicData uri="http://schemas.microsoft.com/office/powerpoint/2016/slidezoom">
                <pslz:sldZm>
                  <pslz:sldZmObj sldId="286" cId="471672495">
                    <pslz:zmPr id="{47ADBA83-62CC-4C39-B974-4F5B113AD202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슬라이드 확대/축소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96000" y="152034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10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3EA2-2F9A-BBA9-FCED-EA621E86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8507F-D2F3-0813-40BE-C41B7850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– Vertex</a:t>
            </a:r>
            <a:r>
              <a:rPr lang="ko-KR" altLang="en-US" sz="5400" dirty="0"/>
              <a:t> </a:t>
            </a:r>
            <a:r>
              <a:rPr lang="en-US" altLang="ko-KR" sz="5400" dirty="0"/>
              <a:t>Compute</a:t>
            </a:r>
            <a:endParaRPr lang="ko-KR" altLang="en-US" sz="5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0998AD-A07F-1BD6-CC03-61628BF4B0BC}"/>
              </a:ext>
            </a:extLst>
          </p:cNvPr>
          <p:cNvSpPr txBox="1"/>
          <p:nvPr/>
        </p:nvSpPr>
        <p:spPr>
          <a:xfrm>
            <a:off x="206477" y="868680"/>
            <a:ext cx="1134483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메쉬를</a:t>
            </a:r>
            <a:r>
              <a:rPr lang="ko-KR" altLang="en-US" dirty="0"/>
              <a:t> </a:t>
            </a:r>
            <a:r>
              <a:rPr lang="ko-KR" altLang="en-US" dirty="0" err="1"/>
              <a:t>만들때마다</a:t>
            </a:r>
            <a:r>
              <a:rPr lang="ko-KR" altLang="en-US" dirty="0"/>
              <a:t> </a:t>
            </a:r>
            <a:r>
              <a:rPr lang="en-US" altLang="ko-KR" dirty="0"/>
              <a:t>BLAS</a:t>
            </a:r>
            <a:r>
              <a:rPr lang="ko-KR" altLang="en-US" dirty="0"/>
              <a:t>를 함께 빌드하며</a:t>
            </a:r>
            <a:r>
              <a:rPr lang="en-US" altLang="ko-KR" dirty="0"/>
              <a:t>,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인덱스 데이터를 </a:t>
            </a:r>
            <a:endParaRPr lang="en-US" altLang="ko-KR" dirty="0"/>
          </a:p>
          <a:p>
            <a:r>
              <a:rPr lang="ko-KR" altLang="en-US" dirty="0"/>
              <a:t>두개의 </a:t>
            </a:r>
            <a:r>
              <a:rPr lang="en-US" altLang="ko-KR" dirty="0" err="1"/>
              <a:t>GPURes</a:t>
            </a:r>
            <a:r>
              <a:rPr lang="ko-KR" altLang="en-US" dirty="0"/>
              <a:t>인 풀에 집어넣는다</a:t>
            </a:r>
            <a:r>
              <a:rPr lang="en-US" altLang="ko-KR" dirty="0"/>
              <a:t>. &gt;&gt; </a:t>
            </a:r>
            <a:r>
              <a:rPr lang="ko-KR" altLang="en-US" dirty="0"/>
              <a:t>때문에 모든 </a:t>
            </a:r>
            <a:r>
              <a:rPr lang="ko-KR" altLang="en-US" dirty="0" err="1"/>
              <a:t>버택스</a:t>
            </a:r>
            <a:r>
              <a:rPr lang="ko-KR" altLang="en-US" dirty="0"/>
              <a:t> 데이터</a:t>
            </a:r>
            <a:r>
              <a:rPr lang="en-US" altLang="ko-KR" dirty="0"/>
              <a:t>, </a:t>
            </a:r>
            <a:r>
              <a:rPr lang="ko-KR" altLang="en-US" dirty="0"/>
              <a:t>모든 인덱스 데이터가 이 두 리소스 내에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- </a:t>
            </a:r>
            <a:r>
              <a:rPr lang="ko-KR" altLang="en-US" dirty="0"/>
              <a:t>다만 이 </a:t>
            </a:r>
            <a:r>
              <a:rPr lang="ko-KR" altLang="en-US" dirty="0" err="1"/>
              <a:t>메쉬의</a:t>
            </a:r>
            <a:r>
              <a:rPr lang="ko-KR" altLang="en-US" dirty="0"/>
              <a:t> 데이터를 레스터 렌더링에서도 재활용하기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 err="1"/>
              <a:t>메쉬마다</a:t>
            </a:r>
            <a:r>
              <a:rPr lang="ko-KR" altLang="en-US" dirty="0"/>
              <a:t> </a:t>
            </a:r>
            <a:r>
              <a:rPr lang="en-US" altLang="ko-KR" dirty="0" err="1"/>
              <a:t>VertexBufferView</a:t>
            </a:r>
            <a:r>
              <a:rPr lang="en-US" altLang="ko-KR" dirty="0"/>
              <a:t>, </a:t>
            </a:r>
            <a:r>
              <a:rPr lang="en-US" altLang="ko-KR" dirty="0" err="1"/>
              <a:t>IndexBufferView</a:t>
            </a:r>
            <a:r>
              <a:rPr lang="ko-KR" altLang="en-US" dirty="0"/>
              <a:t>를 만들어야 했는데 그러기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/>
              <a:t>모든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시작점</a:t>
            </a:r>
            <a:r>
              <a:rPr lang="en-US" altLang="ko-KR" dirty="0"/>
              <a:t>, </a:t>
            </a:r>
            <a:r>
              <a:rPr lang="ko-KR" altLang="en-US" dirty="0"/>
              <a:t>그 안의 모든 </a:t>
            </a:r>
            <a:r>
              <a:rPr lang="ko-KR" altLang="en-US" dirty="0" err="1"/>
              <a:t>서브메쉬들의</a:t>
            </a:r>
            <a:r>
              <a:rPr lang="ko-KR" altLang="en-US" dirty="0"/>
              <a:t> 인덱스 시작점들을 </a:t>
            </a:r>
            <a:endParaRPr lang="en-US" altLang="ko-KR" dirty="0"/>
          </a:p>
          <a:p>
            <a:r>
              <a:rPr lang="en-US" altLang="ko-KR" dirty="0"/>
              <a:t>		256</a:t>
            </a:r>
            <a:r>
              <a:rPr lang="ko-KR" altLang="en-US" dirty="0"/>
              <a:t>바이트로 얼라인해야 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	</a:t>
            </a:r>
            <a:r>
              <a:rPr lang="ko-KR" altLang="en-US" dirty="0"/>
              <a:t>때문에 같은 </a:t>
            </a:r>
            <a:r>
              <a:rPr lang="ko-KR" altLang="en-US" dirty="0" err="1"/>
              <a:t>메쉬라도</a:t>
            </a:r>
            <a:r>
              <a:rPr lang="ko-KR" altLang="en-US" dirty="0"/>
              <a:t> 데이터가 연속적이지 않고 정렬되어 끊겨져 있을 것이다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 err="1"/>
              <a:t>렌더를</a:t>
            </a:r>
            <a:r>
              <a:rPr lang="ko-KR" altLang="en-US" dirty="0"/>
              <a:t> 시작하면</a:t>
            </a:r>
            <a:endParaRPr lang="en-US" altLang="ko-KR" dirty="0"/>
          </a:p>
          <a:p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컬링으로</a:t>
            </a:r>
            <a:r>
              <a:rPr lang="ko-KR" altLang="en-US" dirty="0"/>
              <a:t> 걸러낸 </a:t>
            </a:r>
            <a:r>
              <a:rPr lang="ko-KR" altLang="en-US" dirty="0" err="1"/>
              <a:t>스킨메쉬들의</a:t>
            </a:r>
            <a:r>
              <a:rPr lang="ko-KR" altLang="en-US" dirty="0"/>
              <a:t> 데이터를 변형시키고</a:t>
            </a:r>
            <a:r>
              <a:rPr lang="en-US" altLang="ko-KR" dirty="0"/>
              <a:t>, BLAS refit</a:t>
            </a:r>
            <a:r>
              <a:rPr lang="ko-KR" altLang="en-US" dirty="0"/>
              <a:t>을 수행한다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또한 각</a:t>
            </a:r>
            <a:r>
              <a:rPr lang="en-US" altLang="ko-KR" dirty="0"/>
              <a:t> </a:t>
            </a:r>
            <a:r>
              <a:rPr lang="ko-KR" altLang="en-US" dirty="0"/>
              <a:t>프레임마다</a:t>
            </a:r>
            <a:r>
              <a:rPr lang="en-US" altLang="ko-KR" dirty="0"/>
              <a:t> TLAS</a:t>
            </a:r>
            <a:r>
              <a:rPr lang="ko-KR" altLang="en-US" dirty="0"/>
              <a:t>를 빌드하고 </a:t>
            </a:r>
            <a:r>
              <a:rPr lang="en-US" altLang="ko-KR" dirty="0"/>
              <a:t>AS </a:t>
            </a:r>
            <a:r>
              <a:rPr lang="ko-KR" altLang="en-US" dirty="0"/>
              <a:t>바인딩</a:t>
            </a:r>
            <a:endParaRPr lang="en-US" altLang="ko-KR" dirty="0"/>
          </a:p>
          <a:p>
            <a:r>
              <a:rPr lang="ko-KR" altLang="en-US" dirty="0" err="1"/>
              <a:t>메쉬들의</a:t>
            </a:r>
            <a:r>
              <a:rPr lang="ko-KR" altLang="en-US" dirty="0"/>
              <a:t> 데이터를 모아놓은 </a:t>
            </a:r>
            <a:r>
              <a:rPr lang="en-US" altLang="ko-KR" dirty="0"/>
              <a:t>Vertex Buffer SRV, Index Buffer SRV</a:t>
            </a:r>
            <a:r>
              <a:rPr lang="ko-KR" altLang="en-US" dirty="0"/>
              <a:t>를 </a:t>
            </a:r>
            <a:r>
              <a:rPr lang="ko-KR" altLang="en-US" dirty="0" err="1"/>
              <a:t>셰이더에</a:t>
            </a:r>
            <a:r>
              <a:rPr lang="ko-KR" altLang="en-US" dirty="0"/>
              <a:t> 바인딩을 하고</a:t>
            </a:r>
            <a:endParaRPr lang="en-US" altLang="ko-KR" dirty="0"/>
          </a:p>
          <a:p>
            <a:r>
              <a:rPr lang="ko-KR" altLang="en-US" dirty="0"/>
              <a:t>렌더링을 시작한다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화면에서 어떤 픽셀이 </a:t>
            </a:r>
            <a:r>
              <a:rPr lang="ko-KR" altLang="en-US" dirty="0" err="1"/>
              <a:t>메쉬내부에</a:t>
            </a:r>
            <a:r>
              <a:rPr lang="ko-KR" altLang="en-US" dirty="0"/>
              <a:t> 있는 점인지는 </a:t>
            </a:r>
            <a:r>
              <a:rPr lang="en-US" altLang="ko-KR" dirty="0"/>
              <a:t>BLAS</a:t>
            </a:r>
            <a:r>
              <a:rPr lang="ko-KR" altLang="en-US" dirty="0"/>
              <a:t>가 판단하며</a:t>
            </a:r>
            <a:r>
              <a:rPr lang="en-US" altLang="ko-KR" dirty="0"/>
              <a:t>, </a:t>
            </a:r>
            <a:r>
              <a:rPr lang="ko-KR" altLang="en-US" dirty="0"/>
              <a:t>해당 </a:t>
            </a:r>
            <a:r>
              <a:rPr lang="ko-KR" altLang="en-US" dirty="0" err="1"/>
              <a:t>버택스들의</a:t>
            </a:r>
            <a:r>
              <a:rPr lang="ko-KR" altLang="en-US" dirty="0"/>
              <a:t> 자세한 데이터들은 </a:t>
            </a:r>
            <a:endParaRPr lang="en-US" altLang="ko-KR" dirty="0"/>
          </a:p>
          <a:p>
            <a:r>
              <a:rPr lang="en-US" altLang="ko-KR" dirty="0"/>
              <a:t>Vertex Buffer SRV, Index Buffer SRV</a:t>
            </a:r>
            <a:r>
              <a:rPr lang="ko-KR" altLang="en-US" dirty="0"/>
              <a:t>들을 </a:t>
            </a:r>
            <a:r>
              <a:rPr lang="en-US" altLang="ko-KR" dirty="0"/>
              <a:t>Shader</a:t>
            </a:r>
            <a:r>
              <a:rPr lang="ko-KR" altLang="en-US" dirty="0"/>
              <a:t>에서 </a:t>
            </a:r>
            <a:r>
              <a:rPr lang="en-US" altLang="ko-KR" dirty="0" err="1"/>
              <a:t>StructuredBuffer</a:t>
            </a:r>
            <a:r>
              <a:rPr lang="ko-KR" altLang="en-US" dirty="0"/>
              <a:t>로 바인딩하여 알아볼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672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CB50-1033-5F70-E3A4-665999B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F971F-634B-67AA-12B9-CF68B65C6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Default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16493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B3C2-30AA-00C3-D9F1-2F7189F1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4D2C6-C28A-4290-484E-B3D5AD61C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</a:t>
            </a:r>
            <a:r>
              <a:rPr lang="en-US" altLang="ko-KR" sz="5400" dirty="0" err="1"/>
              <a:t>SkinMesh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0432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491-2192-30D6-6517-4936C9A5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A54F4-F8D4-8CF6-D65C-6CFCFA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Screen Render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72162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33AE-9F99-9267-D62C-B42EA2D7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FE72D-544F-807F-1F47-DD6EEC2A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Game Data Exporter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78F3F3-D071-F010-C6DC-9D6FFAC83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45" y="1031240"/>
            <a:ext cx="8014667" cy="390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842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6FD6-4547-098A-8B02-39E52B50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9DAB3F-2228-5FAA-389C-96DC91241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GameLogic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54750978"/>
                  </p:ext>
                </p:extLst>
              </p:nvPr>
            </p:nvGraphicFramePr>
            <p:xfrm>
              <a:off x="-1" y="1050207"/>
              <a:ext cx="5893893" cy="3315315"/>
            </p:xfrm>
            <a:graphic>
              <a:graphicData uri="http://schemas.microsoft.com/office/powerpoint/2016/slidezoom">
                <pslz:sldZm>
                  <pslz:sldZmObj sldId="278" cId="3420612943">
                    <pslz:zmPr id="{F2039B65-B6FC-4B2F-A42A-6D0581CC8FE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3" cy="331531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1050207"/>
                <a:ext cx="5893893" cy="331531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494546"/>
                  </p:ext>
                </p:extLst>
              </p:nvPr>
            </p:nvGraphicFramePr>
            <p:xfrm>
              <a:off x="6298109" y="1050207"/>
              <a:ext cx="5893891" cy="3315314"/>
            </p:xfrm>
            <a:graphic>
              <a:graphicData uri="http://schemas.microsoft.com/office/powerpoint/2016/slidezoom">
                <pslz:sldZm>
                  <pslz:sldZmObj sldId="279" cId="2927238059">
                    <pslz:zmPr id="{EFAEE96A-68E4-4BA0-AD76-B19B21DBD83D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1" cy="3315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98109" y="1050207"/>
                <a:ext cx="5893891" cy="3315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8334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4EB2-09FD-458F-0E89-D6CD0EE8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4AF71-758F-BA8D-6192-FEC04D1D8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14BEE-5B9D-F77C-1F44-F02DDDD9145C}"/>
              </a:ext>
            </a:extLst>
          </p:cNvPr>
          <p:cNvSpPr txBox="1"/>
          <p:nvPr/>
        </p:nvSpPr>
        <p:spPr>
          <a:xfrm>
            <a:off x="137160" y="868680"/>
            <a:ext cx="123177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는 각 배열의 자리의 활성</a:t>
            </a:r>
            <a:r>
              <a:rPr lang="en-US" altLang="ko-KR" dirty="0"/>
              <a:t>/</a:t>
            </a:r>
            <a:r>
              <a:rPr lang="ko-KR" altLang="en-US" dirty="0"/>
              <a:t>비활성 혹은 할당</a:t>
            </a:r>
            <a:r>
              <a:rPr lang="en-US" altLang="ko-KR" dirty="0"/>
              <a:t>/</a:t>
            </a:r>
            <a:r>
              <a:rPr lang="ko-KR" altLang="en-US" dirty="0" err="1"/>
              <a:t>비할당</a:t>
            </a:r>
            <a:r>
              <a:rPr lang="ko-KR" altLang="en-US" dirty="0"/>
              <a:t> 여부를 </a:t>
            </a:r>
            <a:r>
              <a:rPr lang="en-US" altLang="ko-KR" dirty="0"/>
              <a:t>bit </a:t>
            </a:r>
            <a:r>
              <a:rPr lang="ko-KR" altLang="en-US" dirty="0"/>
              <a:t>배열로 나타낸다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Alloc</a:t>
            </a:r>
            <a:r>
              <a:rPr lang="en-US" altLang="ko-KR" dirty="0"/>
              <a:t>()</a:t>
            </a:r>
            <a:r>
              <a:rPr lang="ko-KR" altLang="en-US" dirty="0"/>
              <a:t>을 하면 비트가 </a:t>
            </a:r>
            <a:r>
              <a:rPr lang="en-US" altLang="ko-KR" dirty="0"/>
              <a:t>0</a:t>
            </a:r>
            <a:r>
              <a:rPr lang="ko-KR" altLang="en-US" dirty="0"/>
              <a:t>인 자리를 선택하여 </a:t>
            </a:r>
            <a:r>
              <a:rPr lang="en-US" altLang="ko-KR" dirty="0"/>
              <a:t>1</a:t>
            </a:r>
            <a:r>
              <a:rPr lang="ko-KR" altLang="en-US" dirty="0"/>
              <a:t>로 만들고 해당 위치를 </a:t>
            </a:r>
            <a:r>
              <a:rPr lang="en-US" altLang="ko-KR" dirty="0"/>
              <a:t>int </a:t>
            </a:r>
            <a:r>
              <a:rPr lang="ko-KR" altLang="en-US" dirty="0"/>
              <a:t>인덱스로 반환한다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인덱스를 오브젝트가 가지고 있다가 </a:t>
            </a:r>
            <a:r>
              <a:rPr lang="en-US" altLang="ko-KR" dirty="0"/>
              <a:t>Free(index) </a:t>
            </a:r>
            <a:r>
              <a:rPr lang="ko-KR" altLang="en-US" dirty="0"/>
              <a:t>를 호출하여 다시 해제할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할당과정은 꽤나 빠르다</a:t>
            </a:r>
            <a:r>
              <a:rPr lang="en-US" altLang="ko-KR" dirty="0"/>
              <a:t>. </a:t>
            </a:r>
            <a:r>
              <a:rPr lang="ko-KR" altLang="en-US" dirty="0"/>
              <a:t>왜냐하면 가장 마지막 </a:t>
            </a:r>
            <a:r>
              <a:rPr lang="en-US" altLang="ko-KR" dirty="0"/>
              <a:t>0</a:t>
            </a:r>
            <a:r>
              <a:rPr lang="ko-KR" altLang="en-US" dirty="0"/>
              <a:t>을 항상 저장하게끔 알고리즘이 </a:t>
            </a:r>
            <a:r>
              <a:rPr lang="ko-KR" altLang="en-US" dirty="0" err="1"/>
              <a:t>짜여있기도</a:t>
            </a:r>
            <a:r>
              <a:rPr lang="ko-KR" altLang="en-US" dirty="0"/>
              <a:t> 하고</a:t>
            </a:r>
            <a:r>
              <a:rPr lang="en-US" altLang="ko-KR" dirty="0"/>
              <a:t>, (</a:t>
            </a:r>
            <a:r>
              <a:rPr lang="ko-KR" altLang="en-US" dirty="0"/>
              <a:t>곧바로 그걸 선택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또한 </a:t>
            </a:r>
            <a:r>
              <a:rPr lang="en-US" altLang="ko-KR" dirty="0"/>
              <a:t>bit </a:t>
            </a:r>
            <a:r>
              <a:rPr lang="ko-KR" altLang="en-US" dirty="0"/>
              <a:t>배열로 되어있기 때문에 </a:t>
            </a:r>
            <a:r>
              <a:rPr lang="en-US" altLang="ko-KR" dirty="0"/>
              <a:t>32</a:t>
            </a:r>
            <a:r>
              <a:rPr lang="ko-KR" altLang="en-US" dirty="0"/>
              <a:t>개의 오브젝트의 할당여부를 한번에 검사할 수 있다</a:t>
            </a:r>
            <a:r>
              <a:rPr lang="en-US" altLang="ko-KR" dirty="0"/>
              <a:t>. 0xFFFFFFFF</a:t>
            </a:r>
            <a:r>
              <a:rPr lang="ko-KR" altLang="en-US" dirty="0"/>
              <a:t>가 아니라면</a:t>
            </a:r>
            <a:endParaRPr lang="en-US" altLang="ko-KR" dirty="0"/>
          </a:p>
          <a:p>
            <a:r>
              <a:rPr lang="ko-KR" altLang="en-US" dirty="0"/>
              <a:t>그곳에 </a:t>
            </a:r>
            <a:r>
              <a:rPr lang="en-US" altLang="ko-KR" dirty="0"/>
              <a:t>0</a:t>
            </a:r>
            <a:r>
              <a:rPr lang="ko-KR" altLang="en-US" dirty="0"/>
              <a:t>이 있다는 것이니 해당 </a:t>
            </a:r>
            <a:r>
              <a:rPr lang="en-US" altLang="ko-KR" dirty="0"/>
              <a:t>doubleword </a:t>
            </a:r>
            <a:r>
              <a:rPr lang="ko-KR" altLang="en-US" dirty="0"/>
              <a:t>를 </a:t>
            </a:r>
            <a:r>
              <a:rPr lang="en-US" altLang="ko-KR" dirty="0"/>
              <a:t>bit </a:t>
            </a:r>
            <a:r>
              <a:rPr lang="ko-KR" altLang="en-US" dirty="0"/>
              <a:t>순회한다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슬라이드 확대/축소 7"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57729037"/>
                  </p:ext>
                </p:extLst>
              </p:nvPr>
            </p:nvGraphicFramePr>
            <p:xfrm>
              <a:off x="205986" y="2768395"/>
              <a:ext cx="6617109" cy="3722124"/>
            </p:xfrm>
            <a:graphic>
              <a:graphicData uri="http://schemas.microsoft.com/office/powerpoint/2016/slidezoom">
                <pslz:sldZm>
                  <pslz:sldZmObj sldId="283" cId="977256668">
                    <pslz:zmPr id="{64EB6C04-2ACE-4F0E-BEC1-03A316A8B18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17109" cy="372212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슬라이드 확대/축소 7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986" y="2768395"/>
                <a:ext cx="6617109" cy="372212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612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6BDEE-4E30-B33C-786A-A062222B6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51FA0-2288-B9C4-6639-D7C68CFC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r>
              <a:rPr lang="ko-KR" altLang="en-US" sz="5400" dirty="0"/>
              <a:t>의 순회 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07CD42-075F-59E4-8451-B20704309C2E}"/>
              </a:ext>
            </a:extLst>
          </p:cNvPr>
          <p:cNvSpPr txBox="1"/>
          <p:nvPr/>
        </p:nvSpPr>
        <p:spPr>
          <a:xfrm>
            <a:off x="159773" y="970455"/>
            <a:ext cx="117667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로 관리되는 오브젝트의 순회는 결국 활성화 비트 </a:t>
            </a:r>
            <a:r>
              <a:rPr lang="en-US" altLang="ko-KR" dirty="0"/>
              <a:t>(1)</a:t>
            </a:r>
            <a:r>
              <a:rPr lang="ko-KR" altLang="en-US" dirty="0"/>
              <a:t>로 켜진 오브젝트만을 대상으로 이루어지는데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이는 </a:t>
            </a:r>
            <a:r>
              <a:rPr lang="en-US" altLang="ko-KR" dirty="0" err="1"/>
              <a:t>IndexRange</a:t>
            </a:r>
            <a:r>
              <a:rPr lang="ko-KR" altLang="en-US" dirty="0"/>
              <a:t>의 배열로 해당하는 오브젝트 대상을 미리 뽑아두고 순회를 할 수 있다</a:t>
            </a:r>
            <a:r>
              <a:rPr lang="en-US" altLang="ko-KR" dirty="0"/>
              <a:t>. (</a:t>
            </a:r>
            <a:r>
              <a:rPr lang="ko-KR" altLang="en-US" dirty="0"/>
              <a:t>가장 빠른 방식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GetTourPairs</a:t>
            </a:r>
            <a:r>
              <a:rPr lang="en-US" altLang="ko-KR" dirty="0"/>
              <a:t> range</a:t>
            </a:r>
            <a:r>
              <a:rPr lang="ko-KR" altLang="en-US" dirty="0"/>
              <a:t>의 </a:t>
            </a:r>
            <a:r>
              <a:rPr lang="en-US" altLang="ko-KR" dirty="0" err="1"/>
              <a:t>startindex</a:t>
            </a:r>
            <a:r>
              <a:rPr lang="en-US" altLang="ko-KR" dirty="0"/>
              <a:t>, </a:t>
            </a:r>
            <a:r>
              <a:rPr lang="en-US" altLang="ko-KR" dirty="0" err="1"/>
              <a:t>endindex</a:t>
            </a:r>
            <a:r>
              <a:rPr lang="ko-KR" altLang="en-US" dirty="0"/>
              <a:t>를 담은 </a:t>
            </a:r>
            <a:r>
              <a:rPr lang="en-US" altLang="ko-KR" dirty="0"/>
              <a:t>pair</a:t>
            </a:r>
            <a:r>
              <a:rPr lang="ko-KR" altLang="en-US" dirty="0"/>
              <a:t>들을 순회하며 오브젝트를 처리하면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아래 코드 </a:t>
            </a:r>
            <a:r>
              <a:rPr lang="ko-KR" altLang="en-US" dirty="0" err="1"/>
              <a:t>처럼</a:t>
            </a:r>
            <a:r>
              <a:rPr lang="ko-KR" altLang="en-US" dirty="0"/>
              <a:t> 사용된다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8A0B7B-D6B7-55EF-F9E4-3607956E6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3" y="2247697"/>
            <a:ext cx="7025640" cy="236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56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0CFE-B1DF-AF97-9299-369ACD56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94679-0F0F-9BFC-2144-B64E52D65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7D6DC-84FB-9AB3-5CDA-77D37639647D}"/>
              </a:ext>
            </a:extLst>
          </p:cNvPr>
          <p:cNvSpPr txBox="1"/>
          <p:nvPr/>
        </p:nvSpPr>
        <p:spPr>
          <a:xfrm>
            <a:off x="0" y="868680"/>
            <a:ext cx="102579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공간을 </a:t>
            </a:r>
            <a:r>
              <a:rPr lang="ko-KR" altLang="en-US" dirty="0" err="1"/>
              <a:t>청크로</a:t>
            </a:r>
            <a:r>
              <a:rPr lang="ko-KR" altLang="en-US" dirty="0"/>
              <a:t> 나누었다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왜 나누었는가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1. Render</a:t>
            </a:r>
            <a:r>
              <a:rPr lang="ko-KR" altLang="en-US" dirty="0"/>
              <a:t>에서 오브젝트가 많아지더라도 뷰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빠르게 하고 싶었음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만약 </a:t>
            </a:r>
            <a:r>
              <a:rPr lang="ko-KR" altLang="en-US" dirty="0" err="1"/>
              <a:t>청크가</a:t>
            </a:r>
            <a:r>
              <a:rPr lang="ko-KR" altLang="en-US" dirty="0"/>
              <a:t> 없다면 오브젝트마다 </a:t>
            </a:r>
            <a:r>
              <a:rPr lang="ko-KR" altLang="en-US" dirty="0" err="1"/>
              <a:t>프러스텀에</a:t>
            </a:r>
            <a:r>
              <a:rPr lang="ko-KR" altLang="en-US" dirty="0"/>
              <a:t> 들어가는지 체크를 했어야 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서버에서 충돌검사를 할 것을 염두에 두었다</a:t>
            </a:r>
            <a:r>
              <a:rPr lang="en-US" altLang="ko-KR" dirty="0"/>
              <a:t>. </a:t>
            </a:r>
            <a:r>
              <a:rPr lang="ko-KR" altLang="en-US" dirty="0"/>
              <a:t>충돌의 검사는 </a:t>
            </a:r>
            <a:r>
              <a:rPr lang="en-US" altLang="ko-KR" dirty="0"/>
              <a:t>O(N^2)</a:t>
            </a:r>
            <a:r>
              <a:rPr lang="ko-KR" altLang="en-US" dirty="0"/>
              <a:t>의 복잡도를 가지기 때문에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작업을 잘게 분할을 하지 않으면 </a:t>
            </a:r>
            <a:r>
              <a:rPr lang="en-US" altLang="ko-KR" dirty="0" err="1"/>
              <a:t>cpu</a:t>
            </a:r>
            <a:r>
              <a:rPr lang="en-US" altLang="ko-KR" dirty="0"/>
              <a:t> </a:t>
            </a:r>
            <a:r>
              <a:rPr lang="ko-KR" altLang="en-US" dirty="0"/>
              <a:t>의 부담이 심해질 것 같았다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때문에 기본적으로 모든 오브젝트들은 </a:t>
            </a:r>
            <a:r>
              <a:rPr lang="en-US" altLang="ko-KR" dirty="0"/>
              <a:t>Chunk </a:t>
            </a:r>
            <a:r>
              <a:rPr lang="ko-KR" altLang="en-US" dirty="0"/>
              <a:t>안에 있어야 했고</a:t>
            </a:r>
            <a:r>
              <a:rPr lang="en-US" altLang="ko-KR" dirty="0"/>
              <a:t>, </a:t>
            </a:r>
            <a:r>
              <a:rPr lang="en-US" altLang="ko-KR" dirty="0" err="1"/>
              <a:t>chunck</a:t>
            </a:r>
            <a:r>
              <a:rPr lang="en-US" altLang="ko-KR" dirty="0"/>
              <a:t> </a:t>
            </a:r>
            <a:r>
              <a:rPr lang="ko-KR" altLang="en-US" dirty="0"/>
              <a:t>안에 </a:t>
            </a:r>
            <a:endParaRPr lang="en-US" altLang="ko-KR" dirty="0"/>
          </a:p>
          <a:p>
            <a:r>
              <a:rPr lang="en-US" altLang="ko-KR" dirty="0" err="1"/>
              <a:t>StaticObjectVecset</a:t>
            </a:r>
            <a:r>
              <a:rPr lang="en-US" altLang="ko-KR" dirty="0"/>
              <a:t>, </a:t>
            </a:r>
            <a:r>
              <a:rPr lang="en-US" altLang="ko-KR" dirty="0" err="1"/>
              <a:t>DynamicObjectVecset</a:t>
            </a:r>
            <a:r>
              <a:rPr lang="en-US" altLang="ko-KR" dirty="0"/>
              <a:t>, </a:t>
            </a:r>
            <a:r>
              <a:rPr lang="en-US" altLang="ko-KR" dirty="0" err="1"/>
              <a:t>SkinMeshObjectVecset</a:t>
            </a:r>
            <a:r>
              <a:rPr lang="ko-KR" altLang="en-US" dirty="0"/>
              <a:t>을 분리하여 저장한다</a:t>
            </a:r>
            <a:r>
              <a:rPr lang="en-US" altLang="ko-KR" dirty="0"/>
              <a:t>.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1875436"/>
                  </p:ext>
                </p:extLst>
              </p:nvPr>
            </p:nvGraphicFramePr>
            <p:xfrm>
              <a:off x="176980" y="3177004"/>
              <a:ext cx="6235507" cy="3507473"/>
            </p:xfrm>
            <a:graphic>
              <a:graphicData uri="http://schemas.microsoft.com/office/powerpoint/2016/slidezoom">
                <pslz:sldZm>
                  <pslz:sldZmObj sldId="284" cId="1005892815">
                    <pslz:zmPr id="{FE25BFE4-38C9-478C-8B0E-F498B0B711D0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235507" cy="350747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6980" y="3177004"/>
                <a:ext cx="6235507" cy="350747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72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85CC-4D03-1292-E226-C319E963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DCC37-3080-F4E8-AA7B-4FF66D6E9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의 문제점과 해결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4A892-2A66-07AB-B5AA-3F07562002E2}"/>
              </a:ext>
            </a:extLst>
          </p:cNvPr>
          <p:cNvSpPr txBox="1"/>
          <p:nvPr/>
        </p:nvSpPr>
        <p:spPr>
          <a:xfrm>
            <a:off x="1" y="868680"/>
            <a:ext cx="12090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다만 특정 오브젝트는 여러 </a:t>
            </a:r>
            <a:r>
              <a:rPr lang="ko-KR" altLang="en-US" dirty="0" err="1"/>
              <a:t>청크에</a:t>
            </a:r>
            <a:r>
              <a:rPr lang="ko-KR" altLang="en-US" dirty="0"/>
              <a:t> 속해 있을 수 있다</a:t>
            </a:r>
            <a:r>
              <a:rPr lang="en-US" altLang="ko-KR" dirty="0"/>
              <a:t>. (</a:t>
            </a:r>
            <a:r>
              <a:rPr lang="ko-KR" altLang="en-US" dirty="0"/>
              <a:t>중간에 걸친 경우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이럴 경우 오브젝트의 일부를 포함하는 모든 </a:t>
            </a:r>
            <a:r>
              <a:rPr lang="ko-KR" altLang="en-US" dirty="0" err="1"/>
              <a:t>청크들의</a:t>
            </a:r>
            <a:r>
              <a:rPr lang="ko-KR" altLang="en-US" dirty="0"/>
              <a:t> </a:t>
            </a:r>
            <a:r>
              <a:rPr lang="en-US" altLang="ko-KR" dirty="0" err="1"/>
              <a:t>vecset</a:t>
            </a:r>
            <a:r>
              <a:rPr lang="ko-KR" altLang="en-US" dirty="0"/>
              <a:t>에 해당 오브젝트가 들어가게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다만 이럴 경우 여러 문제가 생기는데</a:t>
            </a:r>
            <a:r>
              <a:rPr lang="en-US" altLang="ko-KR" dirty="0"/>
              <a:t>, </a:t>
            </a:r>
            <a:r>
              <a:rPr lang="ko-KR" altLang="en-US" dirty="0"/>
              <a:t>그것은 다음과 같다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오브젝트마다 한번씩 </a:t>
            </a:r>
            <a:r>
              <a:rPr lang="en-US" altLang="ko-KR" dirty="0"/>
              <a:t>Update</a:t>
            </a:r>
            <a:r>
              <a:rPr lang="ko-KR" altLang="en-US" dirty="0"/>
              <a:t>나 </a:t>
            </a:r>
            <a:r>
              <a:rPr lang="en-US" altLang="ko-KR" dirty="0"/>
              <a:t>Render</a:t>
            </a:r>
            <a:r>
              <a:rPr lang="ko-KR" altLang="en-US" dirty="0"/>
              <a:t>를 수행해야 </a:t>
            </a:r>
            <a:r>
              <a:rPr lang="ko-KR" altLang="en-US" dirty="0" err="1"/>
              <a:t>할때는</a:t>
            </a:r>
            <a:r>
              <a:rPr lang="ko-KR" altLang="en-US" dirty="0"/>
              <a:t> 어떻게 하는가</a:t>
            </a:r>
            <a:r>
              <a:rPr lang="en-US" altLang="ko-KR" dirty="0"/>
              <a:t>? </a:t>
            </a:r>
            <a:r>
              <a:rPr lang="ko-KR" altLang="en-US" dirty="0"/>
              <a:t>그럴 때마다 각자가 이미 해당 동작을</a:t>
            </a:r>
            <a:r>
              <a:rPr lang="en-US" altLang="ko-KR" dirty="0"/>
              <a:t> </a:t>
            </a:r>
            <a:r>
              <a:rPr lang="ko-KR" altLang="en-US" dirty="0"/>
              <a:t>수행했다는 표시를 해야 하는데</a:t>
            </a:r>
            <a:r>
              <a:rPr lang="en-US" altLang="ko-KR" dirty="0"/>
              <a:t>, </a:t>
            </a:r>
            <a:r>
              <a:rPr lang="ko-KR" altLang="en-US" dirty="0"/>
              <a:t>어디에 어떻게 할 것인가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해당 오브젝트가 이동을 하게 된다면</a:t>
            </a:r>
            <a:r>
              <a:rPr lang="en-US" altLang="ko-KR" dirty="0"/>
              <a:t>, </a:t>
            </a:r>
            <a:r>
              <a:rPr lang="ko-KR" altLang="en-US" dirty="0" err="1"/>
              <a:t>청크에서</a:t>
            </a:r>
            <a:r>
              <a:rPr lang="ko-KR" altLang="en-US" dirty="0"/>
              <a:t> 해당 오브젝트가 빠져나가야 한다</a:t>
            </a:r>
            <a:r>
              <a:rPr lang="en-US" altLang="ko-KR" dirty="0"/>
              <a:t>. </a:t>
            </a:r>
            <a:r>
              <a:rPr lang="ko-KR" altLang="en-US" dirty="0"/>
              <a:t>그러나 </a:t>
            </a:r>
            <a:r>
              <a:rPr lang="en-US" altLang="ko-KR" dirty="0" err="1"/>
              <a:t>vecset</a:t>
            </a:r>
            <a:r>
              <a:rPr lang="ko-KR" altLang="en-US" dirty="0"/>
              <a:t>은 해당 오브젝트가 자신이 어떤 인덱스를 가지고 있었는지 기억해야만 </a:t>
            </a:r>
            <a:r>
              <a:rPr lang="en-US" altLang="ko-KR" dirty="0"/>
              <a:t>Free</a:t>
            </a:r>
            <a:r>
              <a:rPr lang="ko-KR" altLang="en-US" dirty="0"/>
              <a:t>를 할 수 있었다</a:t>
            </a:r>
            <a:r>
              <a:rPr lang="en-US" altLang="ko-KR" dirty="0"/>
              <a:t>. </a:t>
            </a:r>
            <a:r>
              <a:rPr lang="ko-KR" altLang="en-US" dirty="0"/>
              <a:t>그럼 어떻게 이동을 정상적으로 처리할 수 있겠는가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54558329"/>
                  </p:ext>
                </p:extLst>
              </p:nvPr>
            </p:nvGraphicFramePr>
            <p:xfrm>
              <a:off x="101599" y="3177004"/>
              <a:ext cx="6381135" cy="3589388"/>
            </p:xfrm>
            <a:graphic>
              <a:graphicData uri="http://schemas.microsoft.com/office/powerpoint/2016/slidezoom">
                <pslz:sldZm>
                  <pslz:sldZmObj sldId="285" cId="1008121533">
                    <pslz:zmPr id="{1F90038D-034A-4EAB-AB1E-5F294533117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381135" cy="358938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599" y="3177004"/>
                <a:ext cx="6381135" cy="358938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5892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583A-7194-4E96-4BF8-C3EB893F3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28DFD-DCCC-E85F-7428-B796C919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8255"/>
            <a:ext cx="12309987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에 들어가기 위한 </a:t>
            </a:r>
            <a:r>
              <a:rPr lang="en-US" altLang="ko-KR" sz="5400" dirty="0" err="1"/>
              <a:t>GameObject</a:t>
            </a:r>
            <a:r>
              <a:rPr lang="en-US" altLang="ko-KR" sz="5400" dirty="0"/>
              <a:t> </a:t>
            </a:r>
            <a:r>
              <a:rPr lang="ko-KR" altLang="en-US" sz="5400" dirty="0"/>
              <a:t>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8B6FB-BE27-2E62-CE2E-7CF75573670C}"/>
              </a:ext>
            </a:extLst>
          </p:cNvPr>
          <p:cNvSpPr txBox="1"/>
          <p:nvPr/>
        </p:nvSpPr>
        <p:spPr>
          <a:xfrm>
            <a:off x="1" y="868680"/>
            <a:ext cx="1209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그것은 다음과 같은 </a:t>
            </a:r>
            <a:r>
              <a:rPr lang="en-US" altLang="ko-KR" dirty="0" err="1"/>
              <a:t>GameObject</a:t>
            </a:r>
            <a:r>
              <a:rPr lang="en-US" altLang="ko-KR" dirty="0"/>
              <a:t> </a:t>
            </a:r>
            <a:r>
              <a:rPr lang="ko-KR" altLang="en-US" dirty="0"/>
              <a:t>구조로 해결한다</a:t>
            </a:r>
            <a:r>
              <a:rPr lang="en-US" altLang="ko-KR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325B53-DC7C-5E0F-193E-47B984BD6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" y="1238012"/>
            <a:ext cx="8209281" cy="3128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5F6586-A141-DF33-A5D4-18BFC127592F}"/>
              </a:ext>
            </a:extLst>
          </p:cNvPr>
          <p:cNvSpPr txBox="1"/>
          <p:nvPr/>
        </p:nvSpPr>
        <p:spPr>
          <a:xfrm>
            <a:off x="0" y="4366414"/>
            <a:ext cx="973702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TourID</a:t>
            </a:r>
            <a:r>
              <a:rPr lang="en-US" altLang="ko-KR" sz="1400" dirty="0"/>
              <a:t> : </a:t>
            </a:r>
            <a:r>
              <a:rPr lang="ko-KR" altLang="en-US" sz="1400" dirty="0"/>
              <a:t>해당 작업에 하나의</a:t>
            </a:r>
            <a:r>
              <a:rPr lang="en-US" altLang="ko-KR" sz="1400" dirty="0"/>
              <a:t>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</a:t>
            </a:r>
            <a:r>
              <a:rPr lang="ko-KR" altLang="en-US" sz="1400" dirty="0" err="1"/>
              <a:t>할당받는다</a:t>
            </a:r>
            <a:r>
              <a:rPr lang="en-US" altLang="ko-KR" sz="1400" dirty="0"/>
              <a:t>. </a:t>
            </a:r>
            <a:r>
              <a:rPr lang="ko-KR" altLang="en-US" sz="1400" dirty="0"/>
              <a:t>그리고 만약 해당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와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가 다르다면</a:t>
            </a:r>
            <a:endParaRPr lang="en-US" altLang="ko-KR" sz="1400" dirty="0"/>
          </a:p>
          <a:p>
            <a:r>
              <a:rPr lang="ko-KR" altLang="en-US" sz="1400" dirty="0"/>
              <a:t>작업을 수행한 후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로 바꾼다</a:t>
            </a:r>
            <a:r>
              <a:rPr lang="en-US" altLang="ko-KR" sz="1400" dirty="0"/>
              <a:t>. </a:t>
            </a:r>
            <a:r>
              <a:rPr lang="ko-KR" altLang="en-US" sz="1400" dirty="0"/>
              <a:t>그러면 다른 </a:t>
            </a:r>
            <a:r>
              <a:rPr lang="ko-KR" altLang="en-US" sz="1400" dirty="0" err="1"/>
              <a:t>청크에서</a:t>
            </a:r>
            <a:r>
              <a:rPr lang="ko-KR" altLang="en-US" sz="1400" dirty="0"/>
              <a:t> 해당 오브젝트를 참조하더라도</a:t>
            </a:r>
            <a:r>
              <a:rPr lang="en-US" altLang="ko-KR" sz="1400" dirty="0"/>
              <a:t>, </a:t>
            </a:r>
          </a:p>
          <a:p>
            <a:r>
              <a:rPr lang="en-US" altLang="ko-KR" sz="1400" dirty="0" err="1"/>
              <a:t>TourID</a:t>
            </a:r>
            <a:r>
              <a:rPr lang="ko-KR" altLang="en-US" sz="1400" dirty="0"/>
              <a:t>가 같으니 작업을 수행하지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결과적으로 어떤 작업이든 모든 오브젝트에 대해 한번씩 수행이 가능하다</a:t>
            </a:r>
            <a:r>
              <a:rPr lang="en-US" altLang="ko-KR" sz="14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89B979-258E-D8D2-B5A0-4D3994A8D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58" y="5260657"/>
            <a:ext cx="2257425" cy="14573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F7EBE-9AA6-8EC3-90DB-41E0FB4C6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0941" y="6060757"/>
            <a:ext cx="2790825" cy="6572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783B8-1844-1FF7-3056-C781CE636D96}"/>
              </a:ext>
            </a:extLst>
          </p:cNvPr>
          <p:cNvSpPr txBox="1"/>
          <p:nvPr/>
        </p:nvSpPr>
        <p:spPr>
          <a:xfrm>
            <a:off x="2480941" y="5260657"/>
            <a:ext cx="51243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이동시의 문제는 각 축마다 최소와 길이를 가지는 범위와</a:t>
            </a:r>
            <a:r>
              <a:rPr lang="en-US" altLang="ko-KR" sz="1400" dirty="0"/>
              <a:t>, </a:t>
            </a:r>
            <a:r>
              <a:rPr lang="ko-KR" altLang="en-US" sz="1400" dirty="0"/>
              <a:t>해당 범위에 </a:t>
            </a:r>
            <a:r>
              <a:rPr lang="ko-KR" altLang="en-US" sz="1400" dirty="0" err="1"/>
              <a:t>청크들에서</a:t>
            </a:r>
            <a:r>
              <a:rPr lang="ko-KR" altLang="en-US" sz="1400" dirty="0"/>
              <a:t> 해당 오브젝트가 어떤 인덱스에 있는지 저장하는 배열을 </a:t>
            </a:r>
            <a:r>
              <a:rPr lang="ko-KR" altLang="en-US" sz="1400" dirty="0" err="1"/>
              <a:t>힙</a:t>
            </a:r>
            <a:r>
              <a:rPr lang="ko-KR" altLang="en-US" sz="1400" dirty="0"/>
              <a:t> 메모리로 할당하여 해결한다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08121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B74A-4402-F9C6-688E-EB495521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DA8AC-A393-9337-7348-EFCF4D458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AD6AEC-D4E7-CD96-5EEE-F49C9D7D504D}"/>
              </a:ext>
            </a:extLst>
          </p:cNvPr>
          <p:cNvSpPr txBox="1"/>
          <p:nvPr/>
        </p:nvSpPr>
        <p:spPr>
          <a:xfrm>
            <a:off x="0" y="776749"/>
            <a:ext cx="3712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전체 실행의 타임라인을 보여준다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9585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1225</Words>
  <Application>Microsoft Office PowerPoint</Application>
  <PresentationFormat>와이드스크린</PresentationFormat>
  <Paragraphs>187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4" baseType="lpstr">
      <vt:lpstr>맑은 고딕</vt:lpstr>
      <vt:lpstr>Arial</vt:lpstr>
      <vt:lpstr>Office 테마</vt:lpstr>
      <vt:lpstr>PulseCity Graphics High Level Design</vt:lpstr>
      <vt:lpstr>Graphics</vt:lpstr>
      <vt:lpstr>Render</vt:lpstr>
      <vt:lpstr>3D Object</vt:lpstr>
      <vt:lpstr>ResourceBinding</vt:lpstr>
      <vt:lpstr>ShaderVisibleDescHeap의 확장 / 정리</vt:lpstr>
      <vt:lpstr>DescIndex</vt:lpstr>
      <vt:lpstr>Raster</vt:lpstr>
      <vt:lpstr>View Frustum Culling</vt:lpstr>
      <vt:lpstr>Occulsion Culling</vt:lpstr>
      <vt:lpstr>Forward Rendering</vt:lpstr>
      <vt:lpstr>Defered Rendering</vt:lpstr>
      <vt:lpstr>DrawCalls</vt:lpstr>
      <vt:lpstr>Instancing</vt:lpstr>
      <vt:lpstr>Static/Dynamic Object</vt:lpstr>
      <vt:lpstr>SkinMesh Object</vt:lpstr>
      <vt:lpstr>Mirror</vt:lpstr>
      <vt:lpstr>Particle</vt:lpstr>
      <vt:lpstr>Raytracing</vt:lpstr>
      <vt:lpstr>DXR – Vertex Compute</vt:lpstr>
      <vt:lpstr>DXR - Default</vt:lpstr>
      <vt:lpstr>DXR - SkinMesh</vt:lpstr>
      <vt:lpstr>Screen Render</vt:lpstr>
      <vt:lpstr>Game Data Exporter</vt:lpstr>
      <vt:lpstr>GameLogic</vt:lpstr>
      <vt:lpstr>BitAlloter</vt:lpstr>
      <vt:lpstr>BitAlloter의 순회 방법</vt:lpstr>
      <vt:lpstr>Chunck</vt:lpstr>
      <vt:lpstr>Chunck의 문제점과 해결</vt:lpstr>
      <vt:lpstr>Chunck에 들어가기 위한 GameObject 구조</vt:lpstr>
      <vt:lpstr>TimeLine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훈철 노</cp:lastModifiedBy>
  <cp:revision>14</cp:revision>
  <dcterms:created xsi:type="dcterms:W3CDTF">2026-03-06T12:08:56Z</dcterms:created>
  <dcterms:modified xsi:type="dcterms:W3CDTF">2026-03-12T03:15:00Z</dcterms:modified>
</cp:coreProperties>
</file>