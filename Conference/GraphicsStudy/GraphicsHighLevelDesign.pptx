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41"/>
  </p:notesMasterIdLst>
  <p:sldIdLst>
    <p:sldId id="256" r:id="rId2"/>
    <p:sldId id="257" r:id="rId3"/>
    <p:sldId id="258" r:id="rId4"/>
    <p:sldId id="261" r:id="rId5"/>
    <p:sldId id="277" r:id="rId6"/>
    <p:sldId id="280" r:id="rId7"/>
    <p:sldId id="294" r:id="rId8"/>
    <p:sldId id="282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63" r:id="rId21"/>
    <p:sldId id="286" r:id="rId22"/>
    <p:sldId id="275" r:id="rId23"/>
    <p:sldId id="276" r:id="rId24"/>
    <p:sldId id="262" r:id="rId25"/>
    <p:sldId id="290" r:id="rId26"/>
    <p:sldId id="291" r:id="rId27"/>
    <p:sldId id="292" r:id="rId28"/>
    <p:sldId id="293" r:id="rId29"/>
    <p:sldId id="259" r:id="rId30"/>
    <p:sldId id="260" r:id="rId31"/>
    <p:sldId id="278" r:id="rId32"/>
    <p:sldId id="283" r:id="rId33"/>
    <p:sldId id="279" r:id="rId34"/>
    <p:sldId id="284" r:id="rId35"/>
    <p:sldId id="285" r:id="rId36"/>
    <p:sldId id="281" r:id="rId37"/>
    <p:sldId id="287" r:id="rId38"/>
    <p:sldId id="288" r:id="rId39"/>
    <p:sldId id="289" r:id="rId40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96" d="100"/>
          <a:sy n="96" d="100"/>
        </p:scale>
        <p:origin x="11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presProps" Target="presProp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viewProps" Target="viewProps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20" Type="http://schemas.openxmlformats.org/officeDocument/2006/relationships/slide" Target="slides/slide19.xml"/><Relationship Id="rId41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08C81D3-5E4D-495D-8DE1-4F2327BCEE89}" type="datetimeFigureOut">
              <a:rPr lang="ko-KR" altLang="en-US" smtClean="0"/>
              <a:t>2026-04-13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F195A5E-4983-45AC-854B-86DE2CB7007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72088693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F195A5E-4983-45AC-854B-86DE2CB70077}" type="slidenum">
              <a:rPr lang="ko-KR" altLang="en-US" smtClean="0"/>
              <a:t>38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2530062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6911667-CB7C-F5FF-0195-7C83980221C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09B5A3E0-1BDA-0ACD-BE74-1DE378C160B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C3BC4E4C-3BE6-0151-0F36-E350DBA6D94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8810A9B-0CC6-4053-BA0B-965178095DC3}" type="datetimeFigureOut">
              <a:rPr lang="ko-KR" altLang="en-US" smtClean="0"/>
              <a:t>2026-04-13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A167095E-309E-DC86-F2F3-35FE40C4D2E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87FA2E33-AE15-B44B-B127-D3EC84D925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03D46D-42EC-4B9A-8C93-1DB66FB43B4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0608674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81048595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8EB336C-4465-B7E5-AEF8-B842EE1B8A9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3307A707-47B1-1DFE-A3F5-F7D1784A680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AECB557F-C268-589E-1A89-F93307E1C69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8810A9B-0CC6-4053-BA0B-965178095DC3}" type="datetimeFigureOut">
              <a:rPr lang="ko-KR" altLang="en-US" smtClean="0"/>
              <a:t>2026-04-13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5F98AA3A-3E15-19BB-0376-705EC1E6610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327D080F-D6C8-A98D-9BD5-E5358DBD458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03D46D-42EC-4B9A-8C93-1DB66FB43B4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327642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ADEA919-DB9F-AA44-514F-E83D151A2E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9720BB94-D4E2-EA4E-6D4F-70BBC392A52B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4983D592-1DC9-F4FB-DD15-F990B61E8FC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A7A98548-3991-42EF-BF78-94A652F8833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8810A9B-0CC6-4053-BA0B-965178095DC3}" type="datetimeFigureOut">
              <a:rPr lang="ko-KR" altLang="en-US" smtClean="0"/>
              <a:t>2026-04-13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EC2C6558-0528-1011-8F63-3ABC83E7F62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58A47886-1951-F992-0E4B-49FCD5A3F5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03D46D-42EC-4B9A-8C93-1DB66FB43B4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4917179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B492F3F-2CF0-D360-A9E2-C97B9FEBBF2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A1D6AF9E-3D0D-9864-6DC2-97E293A2FA5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F131ECF1-45BE-EFDC-3BC2-4380E9087A1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40ABB87-B6FF-69D5-1A88-75AAC61071F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708B575F-2DA0-EADD-491C-D9511B5348F3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1E045B9D-5AB3-DAB6-335D-16FBD933E43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8810A9B-0CC6-4053-BA0B-965178095DC3}" type="datetimeFigureOut">
              <a:rPr lang="ko-KR" altLang="en-US" smtClean="0"/>
              <a:t>2026-04-13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03E7848D-E3EA-F5E0-428D-0D03B4FEDD4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CEE678A1-058F-9933-3D1B-F6B497D7BA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03D46D-42EC-4B9A-8C93-1DB66FB43B4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5366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950F551-490B-B1FD-AE9E-4ECE4287950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7C18D455-C21E-7BDC-C99C-3E5F5982CD5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8810A9B-0CC6-4053-BA0B-965178095DC3}" type="datetimeFigureOut">
              <a:rPr lang="ko-KR" altLang="en-US" smtClean="0"/>
              <a:t>2026-04-13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3925FE4A-4C2E-9B76-C167-8D3082B8AC2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4CB0B167-A1E6-21AB-AEED-C1EF8B67EC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03D46D-42EC-4B9A-8C93-1DB66FB43B4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2720112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D27F7544-BBB9-D31A-44D1-A889C923C0E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8810A9B-0CC6-4053-BA0B-965178095DC3}" type="datetimeFigureOut">
              <a:rPr lang="ko-KR" altLang="en-US" smtClean="0"/>
              <a:t>2026-04-13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4F53B226-E494-E03A-59FC-111368B459B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383875A-CEB6-B054-669D-5E363265B4D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03D46D-42EC-4B9A-8C93-1DB66FB43B4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8100982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7587C45-12CC-118F-008B-B547D785189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70D05B32-5B13-642E-654E-4334EAF1E8E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B383FAAE-29DA-E312-F053-FBD54C0EF87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49A4EDBE-FE08-6C56-4106-6DDDFCDD373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8810A9B-0CC6-4053-BA0B-965178095DC3}" type="datetimeFigureOut">
              <a:rPr lang="ko-KR" altLang="en-US" smtClean="0"/>
              <a:t>2026-04-13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CBF74E9A-000A-5436-9E9F-9C85B8338EB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B2774CD5-1097-BA1B-ADCA-140F0EEB0B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03D46D-42EC-4B9A-8C93-1DB66FB43B4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93545323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9428A0B-AF0A-1C88-5FAB-80DF1175FA4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505412DD-B51A-F172-8611-C41C53DD87A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A50BB49F-9774-DE8F-847E-0ECDDFED45B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A2FBB108-8ABB-0E67-7573-41CC7FC107D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8810A9B-0CC6-4053-BA0B-965178095DC3}" type="datetimeFigureOut">
              <a:rPr lang="ko-KR" altLang="en-US" smtClean="0"/>
              <a:t>2026-04-13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F98AE1D5-44E4-8CCE-26AD-DB366F9A0A5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45A87879-0178-3E4F-EA66-8B1D9E56D40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03D46D-42EC-4B9A-8C93-1DB66FB43B4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95372580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C4B2C6B-5C67-D462-4640-96F79D6BFAD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12080BC9-1E78-ECD8-2D7F-0D2595D0A30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54022DC4-906B-5F7F-1EA1-6821558DD78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8810A9B-0CC6-4053-BA0B-965178095DC3}" type="datetimeFigureOut">
              <a:rPr lang="ko-KR" altLang="en-US" smtClean="0"/>
              <a:t>2026-04-13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B79D2998-515C-827D-47EA-335C6567695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A6B8EB56-4201-CD7E-2D34-4C7BA1B00EF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03D46D-42EC-4B9A-8C93-1DB66FB43B4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71048044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37595BA7-98C2-C32A-8C4B-7D7617F1E20A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BFE73663-D25C-A2C9-69EE-01943331F01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10B659C4-84A1-79EB-91FF-71F77E3204F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8810A9B-0CC6-4053-BA0B-965178095DC3}" type="datetimeFigureOut">
              <a:rPr lang="ko-KR" altLang="en-US" smtClean="0"/>
              <a:t>2026-04-13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1472C64F-B985-D920-0EDA-68B66E08B98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D5EFC818-6B48-A0B9-3FAF-938696CFFA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03D46D-42EC-4B9A-8C93-1DB66FB43B4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98140237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60ECC9B6-0A56-4D27-B017-65477A7A42D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5884A9E2-763E-F066-2A8A-2026C3A8B07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46B9A6CF-796D-28B4-4EF2-2224626E1D3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8810A9B-0CC6-4053-BA0B-965178095DC3}" type="datetimeFigureOut">
              <a:rPr lang="ko-KR" altLang="en-US" smtClean="0"/>
              <a:t>2026-04-13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3C0389D8-B406-0661-395C-D0DC0F0FF61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51792EF2-614F-C5CC-2A6D-BAC81463605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103D46D-42EC-4B9A-8C93-1DB66FB43B4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80047824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3.png"/><Relationship Id="rId3" Type="http://schemas.openxmlformats.org/officeDocument/2006/relationships/slide" Target="slide3.xml"/><Relationship Id="rId7" Type="http://schemas.openxmlformats.org/officeDocument/2006/relationships/image" Target="../media/image210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6" Type="http://schemas.openxmlformats.org/officeDocument/2006/relationships/slide" Target="slide29.xml"/><Relationship Id="rId5" Type="http://schemas.openxmlformats.org/officeDocument/2006/relationships/image" Target="../media/image2.png"/><Relationship Id="rId10" Type="http://schemas.openxmlformats.org/officeDocument/2006/relationships/image" Target="../media/image36.png"/><Relationship Id="rId4" Type="http://schemas.openxmlformats.org/officeDocument/2006/relationships/image" Target="../media/image110.png"/><Relationship Id="rId9" Type="http://schemas.openxmlformats.org/officeDocument/2006/relationships/slide" Target="slide30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slide" Target="slide4.xml"/><Relationship Id="rId7" Type="http://schemas.openxmlformats.org/officeDocument/2006/relationships/image" Target="../media/image50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Relationship Id="rId6" Type="http://schemas.openxmlformats.org/officeDocument/2006/relationships/slide" Target="slide24.xml"/><Relationship Id="rId5" Type="http://schemas.openxmlformats.org/officeDocument/2006/relationships/image" Target="../media/image5.png"/><Relationship Id="rId4" Type="http://schemas.openxmlformats.org/officeDocument/2006/relationships/image" Target="../media/image40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png"/><Relationship Id="rId13" Type="http://schemas.openxmlformats.org/officeDocument/2006/relationships/image" Target="../media/image9.png"/><Relationship Id="rId3" Type="http://schemas.openxmlformats.org/officeDocument/2006/relationships/slide" Target="slide9.xml"/><Relationship Id="rId7" Type="http://schemas.openxmlformats.org/officeDocument/2006/relationships/image" Target="../media/image70.png"/><Relationship Id="rId12" Type="http://schemas.openxmlformats.org/officeDocument/2006/relationships/slide" Target="slide38.xml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Relationship Id="rId6" Type="http://schemas.openxmlformats.org/officeDocument/2006/relationships/slide" Target="slide20.xml"/><Relationship Id="rId11" Type="http://schemas.openxmlformats.org/officeDocument/2006/relationships/image" Target="../media/image9.png"/><Relationship Id="rId5" Type="http://schemas.openxmlformats.org/officeDocument/2006/relationships/image" Target="../media/image7.png"/><Relationship Id="rId10" Type="http://schemas.openxmlformats.org/officeDocument/2006/relationships/image" Target="../media/image80.png"/><Relationship Id="rId4" Type="http://schemas.openxmlformats.org/officeDocument/2006/relationships/image" Target="../media/image60.png"/><Relationship Id="rId9" Type="http://schemas.openxmlformats.org/officeDocument/2006/relationships/slide" Target="slide5.xml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1.png"/><Relationship Id="rId3" Type="http://schemas.openxmlformats.org/officeDocument/2006/relationships/image" Target="../media/image11.png"/><Relationship Id="rId7" Type="http://schemas.openxmlformats.org/officeDocument/2006/relationships/slide" Target="slide8.xml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2.png"/><Relationship Id="rId5" Type="http://schemas.openxmlformats.org/officeDocument/2006/relationships/image" Target="../media/image100.png"/><Relationship Id="rId4" Type="http://schemas.openxmlformats.org/officeDocument/2006/relationships/slide" Target="slide6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slide" Target="slide7.xml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17.png"/><Relationship Id="rId13" Type="http://schemas.openxmlformats.org/officeDocument/2006/relationships/image" Target="../media/image160.png"/><Relationship Id="rId18" Type="http://schemas.openxmlformats.org/officeDocument/2006/relationships/slide" Target="slide15.xml"/><Relationship Id="rId26" Type="http://schemas.openxmlformats.org/officeDocument/2006/relationships/image" Target="../media/image23.png"/><Relationship Id="rId3" Type="http://schemas.openxmlformats.org/officeDocument/2006/relationships/slide" Target="slide10.xml"/><Relationship Id="rId21" Type="http://schemas.openxmlformats.org/officeDocument/2006/relationships/slide" Target="slide16.xml"/><Relationship Id="rId7" Type="http://schemas.openxmlformats.org/officeDocument/2006/relationships/image" Target="../media/image140.png"/><Relationship Id="rId12" Type="http://schemas.openxmlformats.org/officeDocument/2006/relationships/slide" Target="slide13.xml"/><Relationship Id="rId17" Type="http://schemas.openxmlformats.org/officeDocument/2006/relationships/image" Target="../media/image20.png"/><Relationship Id="rId25" Type="http://schemas.openxmlformats.org/officeDocument/2006/relationships/image" Target="../media/image200.png"/><Relationship Id="rId2" Type="http://schemas.openxmlformats.org/officeDocument/2006/relationships/image" Target="../media/image15.png"/><Relationship Id="rId16" Type="http://schemas.openxmlformats.org/officeDocument/2006/relationships/image" Target="../media/image170.png"/><Relationship Id="rId20" Type="http://schemas.openxmlformats.org/officeDocument/2006/relationships/image" Target="../media/image21.png"/><Relationship Id="rId29" Type="http://schemas.openxmlformats.org/officeDocument/2006/relationships/image" Target="../media/image24.png"/><Relationship Id="rId1" Type="http://schemas.openxmlformats.org/officeDocument/2006/relationships/slideLayout" Target="../slideLayouts/slideLayout2.xml"/><Relationship Id="rId6" Type="http://schemas.openxmlformats.org/officeDocument/2006/relationships/slide" Target="slide11.xml"/><Relationship Id="rId11" Type="http://schemas.openxmlformats.org/officeDocument/2006/relationships/image" Target="../media/image18.png"/><Relationship Id="rId24" Type="http://schemas.openxmlformats.org/officeDocument/2006/relationships/slide" Target="slide17.xml"/><Relationship Id="rId5" Type="http://schemas.openxmlformats.org/officeDocument/2006/relationships/image" Target="../media/image16.png"/><Relationship Id="rId15" Type="http://schemas.openxmlformats.org/officeDocument/2006/relationships/slide" Target="slide14.xml"/><Relationship Id="rId23" Type="http://schemas.openxmlformats.org/officeDocument/2006/relationships/image" Target="../media/image22.png"/><Relationship Id="rId28" Type="http://schemas.openxmlformats.org/officeDocument/2006/relationships/image" Target="../media/image211.png"/><Relationship Id="rId10" Type="http://schemas.openxmlformats.org/officeDocument/2006/relationships/image" Target="../media/image150.png"/><Relationship Id="rId19" Type="http://schemas.openxmlformats.org/officeDocument/2006/relationships/image" Target="../media/image180.png"/><Relationship Id="rId31" Type="http://schemas.openxmlformats.org/officeDocument/2006/relationships/image" Target="../media/image220.png"/><Relationship Id="rId4" Type="http://schemas.openxmlformats.org/officeDocument/2006/relationships/image" Target="../media/image130.png"/><Relationship Id="rId9" Type="http://schemas.openxmlformats.org/officeDocument/2006/relationships/slide" Target="slide12.xml"/><Relationship Id="rId14" Type="http://schemas.openxmlformats.org/officeDocument/2006/relationships/image" Target="../media/image19.png"/><Relationship Id="rId22" Type="http://schemas.openxmlformats.org/officeDocument/2006/relationships/image" Target="../media/image190.png"/><Relationship Id="rId27" Type="http://schemas.openxmlformats.org/officeDocument/2006/relationships/slide" Target="slide18.xml"/><Relationship Id="rId30" Type="http://schemas.openxmlformats.org/officeDocument/2006/relationships/slide" Target="slide1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8" Type="http://schemas.openxmlformats.org/officeDocument/2006/relationships/image" Target="../media/image27.png"/><Relationship Id="rId3" Type="http://schemas.openxmlformats.org/officeDocument/2006/relationships/slide" Target="slide22.xml"/><Relationship Id="rId7" Type="http://schemas.openxmlformats.org/officeDocument/2006/relationships/image" Target="../media/image240.png"/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Relationship Id="rId6" Type="http://schemas.openxmlformats.org/officeDocument/2006/relationships/slide" Target="slide23.xml"/><Relationship Id="rId5" Type="http://schemas.openxmlformats.org/officeDocument/2006/relationships/image" Target="../media/image26.png"/><Relationship Id="rId4" Type="http://schemas.openxmlformats.org/officeDocument/2006/relationships/image" Target="../media/image230.png"/><Relationship Id="rId9" Type="http://schemas.openxmlformats.org/officeDocument/2006/relationships/image" Target="../media/image250.png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slide" Target="slide25.xml"/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71.pn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slide" Target="slide26.xml"/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80.png"/></Relationships>
</file>

<file path=ppt/slides/_rels/slide26.xml.rels><?xml version="1.0" encoding="UTF-8" standalone="yes"?>
<Relationships xmlns="http://schemas.openxmlformats.org/package/2006/relationships"><Relationship Id="rId8" Type="http://schemas.openxmlformats.org/officeDocument/2006/relationships/image" Target="../media/image32.png"/><Relationship Id="rId3" Type="http://schemas.openxmlformats.org/officeDocument/2006/relationships/slide" Target="slide27.xml"/><Relationship Id="rId7" Type="http://schemas.openxmlformats.org/officeDocument/2006/relationships/image" Target="../media/image31.png"/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2.xml"/><Relationship Id="rId6" Type="http://schemas.openxmlformats.org/officeDocument/2006/relationships/slide" Target="slide28.xml"/><Relationship Id="rId5" Type="http://schemas.openxmlformats.org/officeDocument/2006/relationships/image" Target="../media/image31.png"/><Relationship Id="rId4" Type="http://schemas.openxmlformats.org/officeDocument/2006/relationships/image" Target="../media/image30.png"/><Relationship Id="rId9" Type="http://schemas.openxmlformats.org/officeDocument/2006/relationships/image" Target="../media/image33.png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slide" Target="slide31.xml"/><Relationship Id="rId7" Type="http://schemas.openxmlformats.org/officeDocument/2006/relationships/image" Target="../media/image270.png"/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2.xml"/><Relationship Id="rId6" Type="http://schemas.openxmlformats.org/officeDocument/2006/relationships/slide" Target="slide33.xml"/><Relationship Id="rId5" Type="http://schemas.openxmlformats.org/officeDocument/2006/relationships/image" Target="../media/image38.png"/><Relationship Id="rId4" Type="http://schemas.openxmlformats.org/officeDocument/2006/relationships/image" Target="../media/image260.png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slide" Target="slide32.xml"/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90.png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1.png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slide" Target="slide34.xml"/><Relationship Id="rId2" Type="http://schemas.openxmlformats.org/officeDocument/2006/relationships/image" Target="../media/image42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10.png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slide" Target="slide35.xml"/><Relationship Id="rId2" Type="http://schemas.openxmlformats.org/officeDocument/2006/relationships/image" Target="../media/image43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20.png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5.png"/><Relationship Id="rId2" Type="http://schemas.openxmlformats.org/officeDocument/2006/relationships/image" Target="../media/image44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6.png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slide" Target="slide37.xml"/><Relationship Id="rId2" Type="http://schemas.openxmlformats.org/officeDocument/2006/relationships/image" Target="../media/image47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7.png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slide" Target="slide38.xml"/><Relationship Id="rId2" Type="http://schemas.openxmlformats.org/officeDocument/2006/relationships/image" Target="../media/image48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8.png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6183D43-07EE-049C-C24B-0A078F8D3CC1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altLang="ko-KR" dirty="0" err="1"/>
              <a:t>PulseCity</a:t>
            </a:r>
            <a:r>
              <a:rPr lang="en-US" altLang="ko-KR" dirty="0"/>
              <a:t> Graphics</a:t>
            </a:r>
            <a:br>
              <a:rPr lang="en-US" altLang="ko-KR" dirty="0"/>
            </a:br>
            <a:r>
              <a:rPr lang="en-US" altLang="ko-KR" dirty="0"/>
              <a:t>High Level Design</a:t>
            </a:r>
            <a:endParaRPr lang="ko-KR" altLang="en-US" dirty="0"/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5F11FA04-DF0B-D736-6704-5BE10BC1E643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altLang="ko-KR" dirty="0"/>
              <a:t>2021180007 </a:t>
            </a:r>
            <a:r>
              <a:rPr lang="ko-KR" altLang="en-US" dirty="0"/>
              <a:t>노훈철</a:t>
            </a:r>
          </a:p>
        </p:txBody>
      </p:sp>
    </p:spTree>
    <p:extLst>
      <p:ext uri="{BB962C8B-B14F-4D97-AF65-F5344CB8AC3E}">
        <p14:creationId xmlns:p14="http://schemas.microsoft.com/office/powerpoint/2010/main" val="395647356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FC45916-71F7-272F-304B-9E34B61DFBD2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0" y="0"/>
            <a:ext cx="10515600" cy="850425"/>
          </a:xfrm>
        </p:spPr>
        <p:txBody>
          <a:bodyPr/>
          <a:lstStyle/>
          <a:p>
            <a:r>
              <a:rPr lang="en-US" altLang="ko-KR" dirty="0"/>
              <a:t>Graphics</a:t>
            </a:r>
            <a:endParaRPr lang="ko-KR" altLang="en-US" dirty="0"/>
          </a:p>
        </p:txBody>
      </p:sp>
      <mc:AlternateContent xmlns:mc="http://schemas.openxmlformats.org/markup-compatibility/2006" xmlns:pslz="http://schemas.microsoft.com/office/powerpoint/2016/slidezoom">
        <mc:Choice Requires="pslz">
          <p:graphicFrame>
            <p:nvGraphicFramePr>
              <p:cNvPr id="5" name="슬라이드 확대/축소 4">
                <a:extLst>
                  <a:ext uri="{FF2B5EF4-FFF2-40B4-BE49-F238E27FC236}">
                    <a16:creationId xmlns:a16="http://schemas.microsoft.com/office/drawing/2014/main" id="{A579FC0D-2E2E-9683-6D62-9C7EC87E6B50}"/>
                  </a:ext>
                </a:extLst>
              </p:cNvPr>
              <p:cNvGraphicFramePr>
                <a:graphicFrameLocks noChangeAspect="1"/>
              </p:cNvGraphicFramePr>
              <p:nvPr>
                <p:extLst>
                  <p:ext uri="{D42A27DB-BD31-4B8C-83A1-F6EECF244321}">
                    <p14:modId xmlns:p14="http://schemas.microsoft.com/office/powerpoint/2010/main" val="1262191781"/>
                  </p:ext>
                </p:extLst>
              </p:nvPr>
            </p:nvGraphicFramePr>
            <p:xfrm>
              <a:off x="152399" y="850425"/>
              <a:ext cx="8993353" cy="5058762"/>
            </p:xfrm>
            <a:graphic>
              <a:graphicData uri="http://schemas.microsoft.com/office/powerpoint/2016/slidezoom">
                <pslz:sldZm>
                  <pslz:sldZmObj sldId="258" cId="1942532360">
                    <pslz:zmPr id="{14DEAE9B-8230-4592-97EE-BE2D7C5B8087}" returnToParent="0" transitionDur="1000">
                      <p166:blipFill xmlns:p166="http://schemas.microsoft.com/office/powerpoint/2016/6/main">
                        <a:blip r:embed="rId2"/>
                        <a:stretch>
                          <a:fillRect/>
                        </a:stretch>
                      </p166:blipFill>
                      <p166:spPr xmlns:p166="http://schemas.microsoft.com/office/powerpoint/2016/6/main">
                        <a:xfrm>
                          <a:off x="0" y="0"/>
                          <a:ext cx="8993353" cy="5058762"/>
                        </a:xfrm>
                        <a:prstGeom prst="rect">
                          <a:avLst/>
                        </a:prstGeom>
                        <a:ln w="3175">
                          <a:solidFill>
                            <a:prstClr val="ltGray"/>
                          </a:solidFill>
                        </a:ln>
                      </p166:spPr>
                    </pslz:zmPr>
                  </pslz:sldZmObj>
                </pslz:sldZm>
              </a:graphicData>
            </a:graphic>
          </p:graphicFrame>
        </mc:Choice>
        <mc:Fallback xmlns="">
          <p:pic>
            <p:nvPicPr>
              <p:cNvPr id="5" name="슬라이드 확대/축소 4">
                <a:hlinkClick r:id="rId3" action="ppaction://hlinksldjump"/>
                <a:extLst>
                  <a:ext uri="{FF2B5EF4-FFF2-40B4-BE49-F238E27FC236}">
                    <a16:creationId xmlns:a16="http://schemas.microsoft.com/office/drawing/2014/main" id="{A579FC0D-2E2E-9683-6D62-9C7EC87E6B50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/>
              </p:cNvPicPr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152399" y="850425"/>
                <a:ext cx="8993353" cy="5058762"/>
              </a:xfrm>
              <a:prstGeom prst="rect">
                <a:avLst/>
              </a:prstGeom>
              <a:ln w="3175">
                <a:solidFill>
                  <a:prstClr val="ltGray"/>
                </a:solidFill>
              </a:ln>
            </p:spPr>
          </p:pic>
        </mc:Fallback>
      </mc:AlternateContent>
      <mc:AlternateContent xmlns:mc="http://schemas.openxmlformats.org/markup-compatibility/2006" xmlns:pslz="http://schemas.microsoft.com/office/powerpoint/2016/slidezoom">
        <mc:Choice Requires="pslz">
          <p:graphicFrame>
            <p:nvGraphicFramePr>
              <p:cNvPr id="7" name="슬라이드 확대/축소 6">
                <a:extLst>
                  <a:ext uri="{FF2B5EF4-FFF2-40B4-BE49-F238E27FC236}">
                    <a16:creationId xmlns:a16="http://schemas.microsoft.com/office/drawing/2014/main" id="{099CA36F-9802-FBA9-6C3B-B7C08A48B94D}"/>
                  </a:ext>
                </a:extLst>
              </p:cNvPr>
              <p:cNvGraphicFramePr>
                <a:graphicFrameLocks noChangeAspect="1"/>
              </p:cNvGraphicFramePr>
              <p:nvPr>
                <p:extLst>
                  <p:ext uri="{D42A27DB-BD31-4B8C-83A1-F6EECF244321}">
                    <p14:modId xmlns:p14="http://schemas.microsoft.com/office/powerpoint/2010/main" val="3922074109"/>
                  </p:ext>
                </p:extLst>
              </p:nvPr>
            </p:nvGraphicFramePr>
            <p:xfrm>
              <a:off x="9271819" y="2477872"/>
              <a:ext cx="2762748" cy="1554046"/>
            </p:xfrm>
            <a:graphic>
              <a:graphicData uri="http://schemas.microsoft.com/office/powerpoint/2016/slidezoom">
                <pslz:sldZm>
                  <pslz:sldZmObj sldId="259" cId="2433842180">
                    <pslz:zmPr id="{9592065C-C584-4DF5-A15A-E16791647284}" returnToParent="0" transitionDur="1000">
                      <p166:blipFill xmlns:p166="http://schemas.microsoft.com/office/powerpoint/2016/6/main">
                        <a:blip r:embed="rId5"/>
                        <a:stretch>
                          <a:fillRect/>
                        </a:stretch>
                      </p166:blipFill>
                      <p166:spPr xmlns:p166="http://schemas.microsoft.com/office/powerpoint/2016/6/main">
                        <a:xfrm>
                          <a:off x="0" y="0"/>
                          <a:ext cx="2762748" cy="1554046"/>
                        </a:xfrm>
                        <a:prstGeom prst="rect">
                          <a:avLst/>
                        </a:prstGeom>
                        <a:ln w="3175">
                          <a:solidFill>
                            <a:prstClr val="ltGray"/>
                          </a:solidFill>
                        </a:ln>
                      </p166:spPr>
                    </pslz:zmPr>
                  </pslz:sldZmObj>
                </pslz:sldZm>
              </a:graphicData>
            </a:graphic>
          </p:graphicFrame>
        </mc:Choice>
        <mc:Fallback xmlns="">
          <p:pic>
            <p:nvPicPr>
              <p:cNvPr id="7" name="슬라이드 확대/축소 6">
                <a:hlinkClick r:id="rId6" action="ppaction://hlinksldjump"/>
                <a:extLst>
                  <a:ext uri="{FF2B5EF4-FFF2-40B4-BE49-F238E27FC236}">
                    <a16:creationId xmlns:a16="http://schemas.microsoft.com/office/drawing/2014/main" id="{099CA36F-9802-FBA9-6C3B-B7C08A48B94D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/>
              </p:cNvPicPr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9271819" y="2477872"/>
                <a:ext cx="2762748" cy="1554046"/>
              </a:xfrm>
              <a:prstGeom prst="rect">
                <a:avLst/>
              </a:prstGeom>
              <a:ln w="3175">
                <a:solidFill>
                  <a:prstClr val="ltGray"/>
                </a:solidFill>
              </a:ln>
            </p:spPr>
          </p:pic>
        </mc:Fallback>
      </mc:AlternateContent>
      <mc:AlternateContent xmlns:mc="http://schemas.openxmlformats.org/markup-compatibility/2006" xmlns:pslz="http://schemas.microsoft.com/office/powerpoint/2016/slidezoom">
        <mc:Choice Requires="pslz">
          <p:graphicFrame>
            <p:nvGraphicFramePr>
              <p:cNvPr id="9" name="슬라이드 확대/축소 8">
                <a:extLst>
                  <a:ext uri="{FF2B5EF4-FFF2-40B4-BE49-F238E27FC236}">
                    <a16:creationId xmlns:a16="http://schemas.microsoft.com/office/drawing/2014/main" id="{D1C1B1AA-7BD2-1858-C0B3-6BB9B3E60AD7}"/>
                  </a:ext>
                </a:extLst>
              </p:cNvPr>
              <p:cNvGraphicFramePr>
                <a:graphicFrameLocks noChangeAspect="1"/>
              </p:cNvGraphicFramePr>
              <p:nvPr>
                <p:extLst>
                  <p:ext uri="{D42A27DB-BD31-4B8C-83A1-F6EECF244321}">
                    <p14:modId xmlns:p14="http://schemas.microsoft.com/office/powerpoint/2010/main" val="893450460"/>
                  </p:ext>
                </p:extLst>
              </p:nvPr>
            </p:nvGraphicFramePr>
            <p:xfrm>
              <a:off x="9271819" y="850425"/>
              <a:ext cx="2762748" cy="1554045"/>
            </p:xfrm>
            <a:graphic>
              <a:graphicData uri="http://schemas.microsoft.com/office/powerpoint/2016/slidezoom">
                <pslz:sldZm>
                  <pslz:sldZmObj sldId="260" cId="2758334147">
                    <pslz:zmPr id="{230FFD24-AFDE-44C3-B5BB-C0CA796D3700}" returnToParent="0" transitionDur="1000">
                      <p166:blipFill xmlns:p166="http://schemas.microsoft.com/office/powerpoint/2016/6/main">
                        <a:blip r:embed="rId8"/>
                        <a:stretch>
                          <a:fillRect/>
                        </a:stretch>
                      </p166:blipFill>
                      <p166:spPr xmlns:p166="http://schemas.microsoft.com/office/powerpoint/2016/6/main">
                        <a:xfrm>
                          <a:off x="0" y="0"/>
                          <a:ext cx="2762748" cy="1554045"/>
                        </a:xfrm>
                        <a:prstGeom prst="rect">
                          <a:avLst/>
                        </a:prstGeom>
                        <a:ln w="3175">
                          <a:solidFill>
                            <a:prstClr val="ltGray"/>
                          </a:solidFill>
                        </a:ln>
                      </p166:spPr>
                    </pslz:zmPr>
                  </pslz:sldZmObj>
                </pslz:sldZm>
              </a:graphicData>
            </a:graphic>
          </p:graphicFrame>
        </mc:Choice>
        <mc:Fallback xmlns="">
          <p:pic>
            <p:nvPicPr>
              <p:cNvPr id="9" name="슬라이드 확대/축소 8">
                <a:hlinkClick r:id="rId9" action="ppaction://hlinksldjump"/>
                <a:extLst>
                  <a:ext uri="{FF2B5EF4-FFF2-40B4-BE49-F238E27FC236}">
                    <a16:creationId xmlns:a16="http://schemas.microsoft.com/office/drawing/2014/main" id="{D1C1B1AA-7BD2-1858-C0B3-6BB9B3E60AD7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/>
              </p:cNvPicPr>
              <p:nvPr/>
            </p:nvPicPr>
            <p:blipFill>
              <a:blip r:embed="rId10"/>
              <a:stretch>
                <a:fillRect/>
              </a:stretch>
            </p:blipFill>
            <p:spPr>
              <a:xfrm>
                <a:off x="9271819" y="850425"/>
                <a:ext cx="2762748" cy="1554045"/>
              </a:xfrm>
              <a:prstGeom prst="rect">
                <a:avLst/>
              </a:prstGeom>
              <a:ln w="3175">
                <a:solidFill>
                  <a:prstClr val="ltGray"/>
                </a:solidFill>
              </a:ln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363124943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5E16178-17B0-5641-76A2-7A0CA77DB6EB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0" y="18255"/>
            <a:ext cx="10515600" cy="850425"/>
          </a:xfrm>
        </p:spPr>
        <p:txBody>
          <a:bodyPr>
            <a:normAutofit/>
          </a:bodyPr>
          <a:lstStyle/>
          <a:p>
            <a:r>
              <a:rPr lang="en-US" altLang="ko-KR" sz="5400" dirty="0"/>
              <a:t>Render</a:t>
            </a:r>
            <a:endParaRPr lang="ko-KR" altLang="en-US" sz="5400" dirty="0"/>
          </a:p>
        </p:txBody>
      </p:sp>
      <mc:AlternateContent xmlns:mc="http://schemas.openxmlformats.org/markup-compatibility/2006" xmlns:pslz="http://schemas.microsoft.com/office/powerpoint/2016/slidezoom">
        <mc:Choice Requires="pslz">
          <p:graphicFrame>
            <p:nvGraphicFramePr>
              <p:cNvPr id="5" name="슬라이드 확대/축소 4">
                <a:extLst>
                  <a:ext uri="{FF2B5EF4-FFF2-40B4-BE49-F238E27FC236}">
                    <a16:creationId xmlns:a16="http://schemas.microsoft.com/office/drawing/2014/main" id="{03BEAF41-04DA-51CD-9AA7-45495F5B0EFB}"/>
                  </a:ext>
                </a:extLst>
              </p:cNvPr>
              <p:cNvGraphicFramePr>
                <a:graphicFrameLocks noChangeAspect="1"/>
              </p:cNvGraphicFramePr>
              <p:nvPr>
                <p:extLst>
                  <p:ext uri="{D42A27DB-BD31-4B8C-83A1-F6EECF244321}">
                    <p14:modId xmlns:p14="http://schemas.microsoft.com/office/powerpoint/2010/main" val="1674305885"/>
                  </p:ext>
                </p:extLst>
              </p:nvPr>
            </p:nvGraphicFramePr>
            <p:xfrm>
              <a:off x="0" y="1428084"/>
              <a:ext cx="7792774" cy="4383435"/>
            </p:xfrm>
            <a:graphic>
              <a:graphicData uri="http://schemas.microsoft.com/office/powerpoint/2016/slidezoom">
                <pslz:sldZm>
                  <pslz:sldZmObj sldId="261" cId="3409075809">
                    <pslz:zmPr id="{87D8E69D-5F44-4570-B3F7-073FACC1EEA8}" returnToParent="0" transitionDur="1000">
                      <p166:blipFill xmlns:p166="http://schemas.microsoft.com/office/powerpoint/2016/6/main">
                        <a:blip r:embed="rId2"/>
                        <a:stretch>
                          <a:fillRect/>
                        </a:stretch>
                      </p166:blipFill>
                      <p166:spPr xmlns:p166="http://schemas.microsoft.com/office/powerpoint/2016/6/main">
                        <a:xfrm>
                          <a:off x="0" y="0"/>
                          <a:ext cx="7792774" cy="4383435"/>
                        </a:xfrm>
                        <a:prstGeom prst="rect">
                          <a:avLst/>
                        </a:prstGeom>
                        <a:ln w="3175">
                          <a:solidFill>
                            <a:prstClr val="ltGray"/>
                          </a:solidFill>
                        </a:ln>
                      </p166:spPr>
                    </pslz:zmPr>
                  </pslz:sldZmObj>
                </pslz:sldZm>
              </a:graphicData>
            </a:graphic>
          </p:graphicFrame>
        </mc:Choice>
        <mc:Fallback xmlns="">
          <p:pic>
            <p:nvPicPr>
              <p:cNvPr id="5" name="슬라이드 확대/축소 4">
                <a:hlinkClick r:id="rId3" action="ppaction://hlinksldjump"/>
                <a:extLst>
                  <a:ext uri="{FF2B5EF4-FFF2-40B4-BE49-F238E27FC236}">
                    <a16:creationId xmlns:a16="http://schemas.microsoft.com/office/drawing/2014/main" id="{03BEAF41-04DA-51CD-9AA7-45495F5B0EFB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/>
              </p:cNvPicPr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0" y="1428084"/>
                <a:ext cx="7792774" cy="4383435"/>
              </a:xfrm>
              <a:prstGeom prst="rect">
                <a:avLst/>
              </a:prstGeom>
              <a:ln w="3175">
                <a:solidFill>
                  <a:prstClr val="ltGray"/>
                </a:solidFill>
              </a:ln>
            </p:spPr>
          </p:pic>
        </mc:Fallback>
      </mc:AlternateContent>
      <mc:AlternateContent xmlns:mc="http://schemas.openxmlformats.org/markup-compatibility/2006" xmlns:pslz="http://schemas.microsoft.com/office/powerpoint/2016/slidezoom">
        <mc:Choice Requires="pslz">
          <p:graphicFrame>
            <p:nvGraphicFramePr>
              <p:cNvPr id="7" name="슬라이드 확대/축소 6">
                <a:extLst>
                  <a:ext uri="{FF2B5EF4-FFF2-40B4-BE49-F238E27FC236}">
                    <a16:creationId xmlns:a16="http://schemas.microsoft.com/office/drawing/2014/main" id="{5C497EDE-4B29-D25D-0F65-A42F6799D2DD}"/>
                  </a:ext>
                </a:extLst>
              </p:cNvPr>
              <p:cNvGraphicFramePr>
                <a:graphicFrameLocks noChangeAspect="1"/>
              </p:cNvGraphicFramePr>
              <p:nvPr>
                <p:extLst>
                  <p:ext uri="{D42A27DB-BD31-4B8C-83A1-F6EECF244321}">
                    <p14:modId xmlns:p14="http://schemas.microsoft.com/office/powerpoint/2010/main" val="998267273"/>
                  </p:ext>
                </p:extLst>
              </p:nvPr>
            </p:nvGraphicFramePr>
            <p:xfrm>
              <a:off x="7792774" y="3358483"/>
              <a:ext cx="4360953" cy="2453036"/>
            </p:xfrm>
            <a:graphic>
              <a:graphicData uri="http://schemas.microsoft.com/office/powerpoint/2016/slidezoom">
                <pslz:sldZm>
                  <pslz:sldZmObj sldId="262" cId="1872162543">
                    <pslz:zmPr id="{BDC9DA41-B291-4C0C-B1ED-02A85E5FF9C0}" returnToParent="0" transitionDur="1000">
                      <p166:blipFill xmlns:p166="http://schemas.microsoft.com/office/powerpoint/2016/6/main">
                        <a:blip r:embed="rId5"/>
                        <a:stretch>
                          <a:fillRect/>
                        </a:stretch>
                      </p166:blipFill>
                      <p166:spPr xmlns:p166="http://schemas.microsoft.com/office/powerpoint/2016/6/main">
                        <a:xfrm>
                          <a:off x="0" y="0"/>
                          <a:ext cx="4360953" cy="2453036"/>
                        </a:xfrm>
                        <a:prstGeom prst="rect">
                          <a:avLst/>
                        </a:prstGeom>
                        <a:ln w="3175">
                          <a:solidFill>
                            <a:prstClr val="ltGray"/>
                          </a:solidFill>
                        </a:ln>
                      </p166:spPr>
                    </pslz:zmPr>
                  </pslz:sldZmObj>
                </pslz:sldZm>
              </a:graphicData>
            </a:graphic>
          </p:graphicFrame>
        </mc:Choice>
        <mc:Fallback xmlns="">
          <p:pic>
            <p:nvPicPr>
              <p:cNvPr id="7" name="슬라이드 확대/축소 6">
                <a:hlinkClick r:id="rId6" action="ppaction://hlinksldjump"/>
                <a:extLst>
                  <a:ext uri="{FF2B5EF4-FFF2-40B4-BE49-F238E27FC236}">
                    <a16:creationId xmlns:a16="http://schemas.microsoft.com/office/drawing/2014/main" id="{5C497EDE-4B29-D25D-0F65-A42F6799D2DD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/>
              </p:cNvPicPr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7792774" y="3358483"/>
                <a:ext cx="4360953" cy="2453036"/>
              </a:xfrm>
              <a:prstGeom prst="rect">
                <a:avLst/>
              </a:prstGeom>
              <a:ln w="3175">
                <a:solidFill>
                  <a:prstClr val="ltGray"/>
                </a:solidFill>
              </a:ln>
            </p:spPr>
          </p:pic>
        </mc:Fallback>
      </mc:AlternateContent>
      <p:sp>
        <p:nvSpPr>
          <p:cNvPr id="8" name="TextBox 7">
            <a:extLst>
              <a:ext uri="{FF2B5EF4-FFF2-40B4-BE49-F238E27FC236}">
                <a16:creationId xmlns:a16="http://schemas.microsoft.com/office/drawing/2014/main" id="{4D13AE43-1128-595C-DAD6-A48CA2EF3E1B}"/>
              </a:ext>
            </a:extLst>
          </p:cNvPr>
          <p:cNvSpPr txBox="1"/>
          <p:nvPr/>
        </p:nvSpPr>
        <p:spPr>
          <a:xfrm>
            <a:off x="0" y="784433"/>
            <a:ext cx="2300630" cy="369332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ko-KR" altLang="en-US" dirty="0"/>
              <a:t>무엇을 그릴 것인가</a:t>
            </a:r>
            <a:r>
              <a:rPr lang="en-US" altLang="ko-KR" dirty="0"/>
              <a:t>?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94253236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3AA750A-55C6-C388-F9FD-6C4876825B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A11F39F-576F-FCB2-7979-DA4FF04778EE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0" y="18255"/>
            <a:ext cx="10515600" cy="850425"/>
          </a:xfrm>
        </p:spPr>
        <p:txBody>
          <a:bodyPr>
            <a:normAutofit/>
          </a:bodyPr>
          <a:lstStyle/>
          <a:p>
            <a:r>
              <a:rPr lang="en-US" altLang="ko-KR" sz="5400" dirty="0"/>
              <a:t>3D Object</a:t>
            </a:r>
            <a:endParaRPr lang="ko-KR" altLang="en-US" sz="540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2FAA7D4-CEF8-F412-61C0-693BF3A5A112}"/>
              </a:ext>
            </a:extLst>
          </p:cNvPr>
          <p:cNvSpPr txBox="1"/>
          <p:nvPr/>
        </p:nvSpPr>
        <p:spPr>
          <a:xfrm>
            <a:off x="180093" y="1053319"/>
            <a:ext cx="1189749" cy="369332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ko-KR" altLang="en-US" dirty="0" err="1"/>
              <a:t>렌더</a:t>
            </a:r>
            <a:r>
              <a:rPr lang="ko-KR" altLang="en-US" dirty="0"/>
              <a:t> 방식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776C2BE9-38B6-D730-5761-46D908EF2DC9}"/>
              </a:ext>
            </a:extLst>
          </p:cNvPr>
          <p:cNvSpPr txBox="1"/>
          <p:nvPr/>
        </p:nvSpPr>
        <p:spPr>
          <a:xfrm>
            <a:off x="4903975" y="4478260"/>
            <a:ext cx="629724" cy="369332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altLang="ko-KR" dirty="0"/>
              <a:t>LOD</a:t>
            </a:r>
            <a:endParaRPr lang="ko-KR" altLang="en-US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0D616178-666F-5894-389A-2F5B0CE61D99}"/>
              </a:ext>
            </a:extLst>
          </p:cNvPr>
          <p:cNvSpPr txBox="1"/>
          <p:nvPr/>
        </p:nvSpPr>
        <p:spPr>
          <a:xfrm>
            <a:off x="4903975" y="4101584"/>
            <a:ext cx="877163" cy="369332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ko-KR" altLang="en-US" dirty="0"/>
              <a:t>최적화</a:t>
            </a:r>
          </a:p>
        </p:txBody>
      </p:sp>
      <mc:AlternateContent xmlns:mc="http://schemas.openxmlformats.org/markup-compatibility/2006" xmlns:pslz="http://schemas.microsoft.com/office/powerpoint/2016/slidezoom">
        <mc:Choice Requires="pslz">
          <p:graphicFrame>
            <p:nvGraphicFramePr>
              <p:cNvPr id="14" name="슬라이드 확대/축소 13">
                <a:extLst>
                  <a:ext uri="{FF2B5EF4-FFF2-40B4-BE49-F238E27FC236}">
                    <a16:creationId xmlns:a16="http://schemas.microsoft.com/office/drawing/2014/main" id="{D57C7EDA-33B5-E123-6E45-116EC6AEAAF1}"/>
                  </a:ext>
                </a:extLst>
              </p:cNvPr>
              <p:cNvGraphicFramePr>
                <a:graphicFrameLocks noChangeAspect="1"/>
              </p:cNvGraphicFramePr>
              <p:nvPr>
                <p:extLst>
                  <p:ext uri="{D42A27DB-BD31-4B8C-83A1-F6EECF244321}">
                    <p14:modId xmlns:p14="http://schemas.microsoft.com/office/powerpoint/2010/main" val="3610817763"/>
                  </p:ext>
                </p:extLst>
              </p:nvPr>
            </p:nvGraphicFramePr>
            <p:xfrm>
              <a:off x="180091" y="1422605"/>
              <a:ext cx="4324639" cy="2571750"/>
            </p:xfrm>
            <a:graphic>
              <a:graphicData uri="http://schemas.microsoft.com/office/powerpoint/2016/slidezoom">
                <pslz:sldZm>
                  <pslz:sldZmObj sldId="264" cId="2834560521">
                    <pslz:zmPr id="{AEDC7F7A-14EF-4E59-A411-CAB72C0698D9}" returnToParent="0" transitionDur="1000">
                      <p166:blipFill xmlns:p166="http://schemas.microsoft.com/office/powerpoint/2016/6/main">
                        <a:blip r:embed="rId2"/>
                        <a:stretch>
                          <a:fillRect/>
                        </a:stretch>
                      </p166:blipFill>
                      <p166:spPr xmlns:p166="http://schemas.microsoft.com/office/powerpoint/2016/6/main">
                        <a:xfrm>
                          <a:off x="0" y="0"/>
                          <a:ext cx="4324639" cy="2571750"/>
                        </a:xfrm>
                        <a:prstGeom prst="rect">
                          <a:avLst/>
                        </a:prstGeom>
                        <a:ln w="3175">
                          <a:solidFill>
                            <a:prstClr val="ltGray"/>
                          </a:solidFill>
                        </a:ln>
                      </p166:spPr>
                    </pslz:zmPr>
                  </pslz:sldZmObj>
                </pslz:sldZm>
              </a:graphicData>
            </a:graphic>
          </p:graphicFrame>
        </mc:Choice>
        <mc:Fallback xmlns="">
          <p:pic>
            <p:nvPicPr>
              <p:cNvPr id="14" name="슬라이드 확대/축소 13">
                <a:hlinkClick r:id="rId3" action="ppaction://hlinksldjump"/>
                <a:extLst>
                  <a:ext uri="{FF2B5EF4-FFF2-40B4-BE49-F238E27FC236}">
                    <a16:creationId xmlns:a16="http://schemas.microsoft.com/office/drawing/2014/main" id="{D57C7EDA-33B5-E123-6E45-116EC6AEAAF1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/>
              </p:cNvPicPr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180091" y="1422605"/>
                <a:ext cx="4324639" cy="2571750"/>
              </a:xfrm>
              <a:prstGeom prst="rect">
                <a:avLst/>
              </a:prstGeom>
              <a:ln w="3175">
                <a:solidFill>
                  <a:prstClr val="ltGray"/>
                </a:solidFill>
              </a:ln>
            </p:spPr>
          </p:pic>
        </mc:Fallback>
      </mc:AlternateContent>
      <mc:AlternateContent xmlns:mc="http://schemas.openxmlformats.org/markup-compatibility/2006" xmlns:pslz="http://schemas.microsoft.com/office/powerpoint/2016/slidezoom">
        <mc:Choice Requires="pslz">
          <p:graphicFrame>
            <p:nvGraphicFramePr>
              <p:cNvPr id="16" name="슬라이드 확대/축소 15">
                <a:extLst>
                  <a:ext uri="{FF2B5EF4-FFF2-40B4-BE49-F238E27FC236}">
                    <a16:creationId xmlns:a16="http://schemas.microsoft.com/office/drawing/2014/main" id="{1F2766D2-D008-AEC7-46EF-052E4AB5DEF1}"/>
                  </a:ext>
                </a:extLst>
              </p:cNvPr>
              <p:cNvGraphicFramePr>
                <a:graphicFrameLocks noChangeAspect="1"/>
              </p:cNvGraphicFramePr>
              <p:nvPr>
                <p:extLst>
                  <p:ext uri="{D42A27DB-BD31-4B8C-83A1-F6EECF244321}">
                    <p14:modId xmlns:p14="http://schemas.microsoft.com/office/powerpoint/2010/main" val="451666143"/>
                  </p:ext>
                </p:extLst>
              </p:nvPr>
            </p:nvGraphicFramePr>
            <p:xfrm>
              <a:off x="4504730" y="1422605"/>
              <a:ext cx="4324639" cy="2571750"/>
            </p:xfrm>
            <a:graphic>
              <a:graphicData uri="http://schemas.microsoft.com/office/powerpoint/2016/slidezoom">
                <pslz:sldZm>
                  <pslz:sldZmObj sldId="263" cId="3813102566">
                    <pslz:zmPr id="{C2D96DEF-A3A8-4D0C-A6FC-CA1F606221B8}" returnToParent="0" transitionDur="1000">
                      <p166:blipFill xmlns:p166="http://schemas.microsoft.com/office/powerpoint/2016/6/main">
                        <a:blip r:embed="rId5"/>
                        <a:stretch>
                          <a:fillRect/>
                        </a:stretch>
                      </p166:blipFill>
                      <p166:spPr xmlns:p166="http://schemas.microsoft.com/office/powerpoint/2016/6/main">
                        <a:xfrm>
                          <a:off x="0" y="0"/>
                          <a:ext cx="4324639" cy="2571750"/>
                        </a:xfrm>
                        <a:prstGeom prst="rect">
                          <a:avLst/>
                        </a:prstGeom>
                        <a:ln w="3175">
                          <a:solidFill>
                            <a:prstClr val="ltGray"/>
                          </a:solidFill>
                        </a:ln>
                      </p166:spPr>
                    </pslz:zmPr>
                  </pslz:sldZmObj>
                </pslz:sldZm>
              </a:graphicData>
            </a:graphic>
          </p:graphicFrame>
        </mc:Choice>
        <mc:Fallback xmlns="">
          <p:pic>
            <p:nvPicPr>
              <p:cNvPr id="16" name="슬라이드 확대/축소 15">
                <a:hlinkClick r:id="rId6" action="ppaction://hlinksldjump"/>
                <a:extLst>
                  <a:ext uri="{FF2B5EF4-FFF2-40B4-BE49-F238E27FC236}">
                    <a16:creationId xmlns:a16="http://schemas.microsoft.com/office/drawing/2014/main" id="{1F2766D2-D008-AEC7-46EF-052E4AB5DEF1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/>
              </p:cNvPicPr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4504730" y="1422605"/>
                <a:ext cx="4324639" cy="2571750"/>
              </a:xfrm>
              <a:prstGeom prst="rect">
                <a:avLst/>
              </a:prstGeom>
              <a:ln w="3175">
                <a:solidFill>
                  <a:prstClr val="ltGray"/>
                </a:solidFill>
              </a:ln>
            </p:spPr>
          </p:pic>
        </mc:Fallback>
      </mc:AlternateContent>
      <mc:AlternateContent xmlns:mc="http://schemas.openxmlformats.org/markup-compatibility/2006" xmlns:pslz="http://schemas.microsoft.com/office/powerpoint/2016/slidezoom">
        <mc:Choice Requires="pslz">
          <p:graphicFrame>
            <p:nvGraphicFramePr>
              <p:cNvPr id="18" name="슬라이드 확대/축소 17">
                <a:extLst>
                  <a:ext uri="{FF2B5EF4-FFF2-40B4-BE49-F238E27FC236}">
                    <a16:creationId xmlns:a16="http://schemas.microsoft.com/office/drawing/2014/main" id="{B72E0C2E-6C14-ED9C-31C9-A36C4BDAD061}"/>
                  </a:ext>
                </a:extLst>
              </p:cNvPr>
              <p:cNvGraphicFramePr>
                <a:graphicFrameLocks noChangeAspect="1"/>
              </p:cNvGraphicFramePr>
              <p:nvPr>
                <p:extLst>
                  <p:ext uri="{D42A27DB-BD31-4B8C-83A1-F6EECF244321}">
                    <p14:modId xmlns:p14="http://schemas.microsoft.com/office/powerpoint/2010/main" val="2638548891"/>
                  </p:ext>
                </p:extLst>
              </p:nvPr>
            </p:nvGraphicFramePr>
            <p:xfrm>
              <a:off x="180091" y="4407135"/>
              <a:ext cx="4324639" cy="2432610"/>
            </p:xfrm>
            <a:graphic>
              <a:graphicData uri="http://schemas.microsoft.com/office/powerpoint/2016/slidezoom">
                <pslz:sldZm>
                  <pslz:sldZmObj sldId="277" cId="2880208972">
                    <pslz:zmPr id="{141A5183-2B03-4ADA-A208-45830EEB14E8}" returnToParent="0" transitionDur="1000">
                      <p166:blipFill xmlns:p166="http://schemas.microsoft.com/office/powerpoint/2016/6/main">
                        <a:blip r:embed="rId8"/>
                        <a:stretch>
                          <a:fillRect/>
                        </a:stretch>
                      </p166:blipFill>
                      <p166:spPr xmlns:p166="http://schemas.microsoft.com/office/powerpoint/2016/6/main">
                        <a:xfrm>
                          <a:off x="0" y="0"/>
                          <a:ext cx="4324639" cy="2432610"/>
                        </a:xfrm>
                        <a:prstGeom prst="rect">
                          <a:avLst/>
                        </a:prstGeom>
                        <a:ln w="3175">
                          <a:solidFill>
                            <a:prstClr val="ltGray"/>
                          </a:solidFill>
                        </a:ln>
                      </p166:spPr>
                    </pslz:zmPr>
                  </pslz:sldZmObj>
                </pslz:sldZm>
              </a:graphicData>
            </a:graphic>
          </p:graphicFrame>
        </mc:Choice>
        <mc:Fallback xmlns="">
          <p:pic>
            <p:nvPicPr>
              <p:cNvPr id="18" name="슬라이드 확대/축소 17">
                <a:hlinkClick r:id="rId9" action="ppaction://hlinksldjump"/>
                <a:extLst>
                  <a:ext uri="{FF2B5EF4-FFF2-40B4-BE49-F238E27FC236}">
                    <a16:creationId xmlns:a16="http://schemas.microsoft.com/office/drawing/2014/main" id="{B72E0C2E-6C14-ED9C-31C9-A36C4BDAD061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/>
              </p:cNvPicPr>
              <p:nvPr/>
            </p:nvPicPr>
            <p:blipFill>
              <a:blip r:embed="rId10"/>
              <a:stretch>
                <a:fillRect/>
              </a:stretch>
            </p:blipFill>
            <p:spPr>
              <a:xfrm>
                <a:off x="180091" y="4407135"/>
                <a:ext cx="4324639" cy="2432610"/>
              </a:xfrm>
              <a:prstGeom prst="rect">
                <a:avLst/>
              </a:prstGeom>
              <a:ln w="3175">
                <a:solidFill>
                  <a:prstClr val="ltGray"/>
                </a:solidFill>
              </a:ln>
            </p:spPr>
          </p:pic>
        </mc:Fallback>
      </mc:AlternateContent>
      <p:sp>
        <p:nvSpPr>
          <p:cNvPr id="19" name="TextBox 18">
            <a:extLst>
              <a:ext uri="{FF2B5EF4-FFF2-40B4-BE49-F238E27FC236}">
                <a16:creationId xmlns:a16="http://schemas.microsoft.com/office/drawing/2014/main" id="{691EF2A7-8FF3-21B2-06A1-BB5A77BA2873}"/>
              </a:ext>
            </a:extLst>
          </p:cNvPr>
          <p:cNvSpPr txBox="1"/>
          <p:nvPr/>
        </p:nvSpPr>
        <p:spPr>
          <a:xfrm>
            <a:off x="8003662" y="4478260"/>
            <a:ext cx="1651414" cy="369332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ko-KR" altLang="en-US" dirty="0"/>
              <a:t>비동기 렌더링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18B3F80-6E45-2A12-2B78-E94693FE19EE}"/>
              </a:ext>
            </a:extLst>
          </p:cNvPr>
          <p:cNvSpPr txBox="1"/>
          <p:nvPr/>
        </p:nvSpPr>
        <p:spPr>
          <a:xfrm>
            <a:off x="0" y="4062646"/>
            <a:ext cx="1420582" cy="369332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ko-KR" altLang="en-US" dirty="0"/>
              <a:t>리소스 관리</a:t>
            </a:r>
          </a:p>
        </p:txBody>
      </p:sp>
      <mc:AlternateContent xmlns:mc="http://schemas.openxmlformats.org/markup-compatibility/2006" xmlns:pslz="http://schemas.microsoft.com/office/powerpoint/2016/slidezoom">
        <mc:Choice Requires="pslz">
          <p:graphicFrame>
            <p:nvGraphicFramePr>
              <p:cNvPr id="6" name="슬라이드 확대/축소 5">
                <a:extLst>
                  <a:ext uri="{FF2B5EF4-FFF2-40B4-BE49-F238E27FC236}">
                    <a16:creationId xmlns:a16="http://schemas.microsoft.com/office/drawing/2014/main" id="{B0EEB9EE-D82A-E42E-FCD7-842ED158415C}"/>
                  </a:ext>
                </a:extLst>
              </p:cNvPr>
              <p:cNvGraphicFramePr>
                <a:graphicFrameLocks noChangeAspect="1"/>
              </p:cNvGraphicFramePr>
              <p:nvPr>
                <p:extLst>
                  <p:ext uri="{D42A27DB-BD31-4B8C-83A1-F6EECF244321}">
                    <p14:modId xmlns:p14="http://schemas.microsoft.com/office/powerpoint/2010/main" val="1978750524"/>
                  </p:ext>
                </p:extLst>
              </p:nvPr>
            </p:nvGraphicFramePr>
            <p:xfrm>
              <a:off x="8003662" y="4925607"/>
              <a:ext cx="3241000" cy="1823062"/>
            </p:xfrm>
            <a:graphic>
              <a:graphicData uri="http://schemas.microsoft.com/office/powerpoint/2016/slidezoom">
                <pslz:sldZm>
                  <pslz:sldZmObj sldId="288" cId="1454281042">
                    <pslz:zmPr id="{93A88EC4-656D-4BAB-B1B7-CE9C3F364338}" returnToParent="0" transitionDur="1000">
                      <p166:blipFill xmlns:p166="http://schemas.microsoft.com/office/powerpoint/2016/6/main">
                        <a:blip r:embed="rId11"/>
                        <a:stretch>
                          <a:fillRect/>
                        </a:stretch>
                      </p166:blipFill>
                      <p166:spPr xmlns:p166="http://schemas.microsoft.com/office/powerpoint/2016/6/main">
                        <a:xfrm>
                          <a:off x="0" y="0"/>
                          <a:ext cx="3241000" cy="1823062"/>
                        </a:xfrm>
                        <a:prstGeom prst="rect">
                          <a:avLst/>
                        </a:prstGeom>
                        <a:ln w="3175">
                          <a:solidFill>
                            <a:prstClr val="ltGray"/>
                          </a:solidFill>
                        </a:ln>
                      </p166:spPr>
                    </pslz:zmPr>
                  </pslz:sldZmObj>
                </pslz:sldZm>
              </a:graphicData>
            </a:graphic>
          </p:graphicFrame>
        </mc:Choice>
        <mc:Fallback xmlns="">
          <p:pic>
            <p:nvPicPr>
              <p:cNvPr id="6" name="슬라이드 확대/축소 5">
                <a:hlinkClick r:id="rId12" action="ppaction://hlinksldjump"/>
                <a:extLst>
                  <a:ext uri="{FF2B5EF4-FFF2-40B4-BE49-F238E27FC236}">
                    <a16:creationId xmlns:a16="http://schemas.microsoft.com/office/drawing/2014/main" id="{B0EEB9EE-D82A-E42E-FCD7-842ED158415C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/>
              </p:cNvPicPr>
              <p:nvPr/>
            </p:nvPicPr>
            <p:blipFill>
              <a:blip r:embed="rId13"/>
              <a:stretch>
                <a:fillRect/>
              </a:stretch>
            </p:blipFill>
            <p:spPr>
              <a:xfrm>
                <a:off x="8003662" y="4925607"/>
                <a:ext cx="3241000" cy="1823062"/>
              </a:xfrm>
              <a:prstGeom prst="rect">
                <a:avLst/>
              </a:prstGeom>
              <a:ln w="3175">
                <a:solidFill>
                  <a:prstClr val="ltGray"/>
                </a:solidFill>
              </a:ln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340907580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C3D4A40-801A-974C-DD64-1EAD19EC53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4A05023-EA05-E22D-9ADE-49C45BC853EC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0" y="18255"/>
            <a:ext cx="10515600" cy="850425"/>
          </a:xfrm>
        </p:spPr>
        <p:txBody>
          <a:bodyPr>
            <a:normAutofit/>
          </a:bodyPr>
          <a:lstStyle/>
          <a:p>
            <a:r>
              <a:rPr lang="en-US" altLang="ko-KR" sz="5400" dirty="0" err="1"/>
              <a:t>ResourceBinding</a:t>
            </a:r>
            <a:endParaRPr lang="ko-KR" altLang="en-US" sz="5400" dirty="0"/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51D1C021-2D6E-7558-1F1F-E65637E70ED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4160" y="868680"/>
            <a:ext cx="7294880" cy="2874400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1BC41029-88F5-E900-211B-1FC64DABEABA}"/>
              </a:ext>
            </a:extLst>
          </p:cNvPr>
          <p:cNvSpPr txBox="1"/>
          <p:nvPr/>
        </p:nvSpPr>
        <p:spPr>
          <a:xfrm>
            <a:off x="7975599" y="443467"/>
            <a:ext cx="3952241" cy="34163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200" dirty="0"/>
              <a:t>NSV (</a:t>
            </a:r>
            <a:r>
              <a:rPr lang="en-US" altLang="ko-KR" sz="1200" dirty="0" err="1"/>
              <a:t>NonShaderVisibleDescHeap</a:t>
            </a:r>
            <a:r>
              <a:rPr lang="en-US" altLang="ko-KR" sz="1200" dirty="0"/>
              <a:t>) : </a:t>
            </a:r>
          </a:p>
          <a:p>
            <a:r>
              <a:rPr lang="ko-KR" altLang="en-US" sz="1200" dirty="0" err="1"/>
              <a:t>셰이더가</a:t>
            </a:r>
            <a:r>
              <a:rPr lang="ko-KR" altLang="en-US" sz="1200" dirty="0"/>
              <a:t> 볼 수 없는 </a:t>
            </a:r>
            <a:r>
              <a:rPr lang="en-US" altLang="ko-KR" sz="1200" dirty="0"/>
              <a:t>Desc</a:t>
            </a:r>
            <a:r>
              <a:rPr lang="ko-KR" altLang="en-US" sz="1200" dirty="0"/>
              <a:t>들을 저장함</a:t>
            </a:r>
            <a:r>
              <a:rPr lang="en-US" altLang="ko-KR" sz="1200" dirty="0"/>
              <a:t>. </a:t>
            </a:r>
          </a:p>
          <a:p>
            <a:r>
              <a:rPr lang="ko-KR" altLang="en-US" sz="1200" dirty="0"/>
              <a:t>당장 보여지진 않지만 </a:t>
            </a:r>
            <a:r>
              <a:rPr lang="ko-KR" altLang="en-US" sz="1200" dirty="0" err="1"/>
              <a:t>틱당</a:t>
            </a:r>
            <a:r>
              <a:rPr lang="ko-KR" altLang="en-US" sz="1200" dirty="0"/>
              <a:t> 상황에 따라 보일 수 있는 </a:t>
            </a:r>
            <a:r>
              <a:rPr lang="en-US" altLang="ko-KR" sz="1200" dirty="0"/>
              <a:t>Desc</a:t>
            </a:r>
            <a:r>
              <a:rPr lang="ko-KR" altLang="en-US" sz="1200" dirty="0"/>
              <a:t>들의 모임</a:t>
            </a:r>
            <a:endParaRPr lang="en-US" altLang="ko-KR" sz="1200" dirty="0"/>
          </a:p>
          <a:p>
            <a:r>
              <a:rPr lang="en-US" altLang="ko-KR" sz="1200" dirty="0" err="1"/>
              <a:t>BitAlloter</a:t>
            </a:r>
            <a:r>
              <a:rPr lang="en-US" altLang="ko-KR" sz="1200" dirty="0"/>
              <a:t> </a:t>
            </a:r>
            <a:r>
              <a:rPr lang="ko-KR" altLang="en-US" sz="1200" dirty="0"/>
              <a:t>자료구조로 자리의 할당과 해제가 관리된다</a:t>
            </a:r>
            <a:r>
              <a:rPr lang="en-US" altLang="ko-KR" sz="1200" dirty="0"/>
              <a:t>.</a:t>
            </a:r>
          </a:p>
          <a:p>
            <a:endParaRPr lang="en-US" altLang="ko-KR" sz="1200" dirty="0"/>
          </a:p>
          <a:p>
            <a:r>
              <a:rPr lang="en-US" altLang="ko-KR" sz="1200" dirty="0"/>
              <a:t>SV (</a:t>
            </a:r>
            <a:r>
              <a:rPr lang="en-US" altLang="ko-KR" sz="1200" dirty="0" err="1"/>
              <a:t>ShaderVisibleDescHeap</a:t>
            </a:r>
            <a:r>
              <a:rPr lang="en-US" altLang="ko-KR" sz="1200" dirty="0"/>
              <a:t>) : </a:t>
            </a:r>
          </a:p>
          <a:p>
            <a:r>
              <a:rPr lang="ko-KR" altLang="en-US" sz="1200" dirty="0" err="1"/>
              <a:t>셰이더가</a:t>
            </a:r>
            <a:r>
              <a:rPr lang="ko-KR" altLang="en-US" sz="1200" dirty="0"/>
              <a:t> 볼 수 있게 만든 </a:t>
            </a:r>
            <a:r>
              <a:rPr lang="en-US" altLang="ko-KR" sz="1200" dirty="0" err="1"/>
              <a:t>DescHeap</a:t>
            </a:r>
            <a:r>
              <a:rPr lang="en-US" altLang="ko-KR" sz="1200" dirty="0"/>
              <a:t>. </a:t>
            </a:r>
            <a:r>
              <a:rPr lang="ko-KR" altLang="en-US" sz="1200" dirty="0" err="1"/>
              <a:t>인스턴싱을</a:t>
            </a:r>
            <a:r>
              <a:rPr lang="ko-KR" altLang="en-US" sz="1200" dirty="0"/>
              <a:t> 할 수 있도록 </a:t>
            </a:r>
            <a:r>
              <a:rPr lang="en-US" altLang="ko-KR" sz="1200" dirty="0"/>
              <a:t>Desc </a:t>
            </a:r>
            <a:r>
              <a:rPr lang="ko-KR" altLang="en-US" sz="1200" dirty="0"/>
              <a:t>종류별로 영역이 나뉘어져 있다</a:t>
            </a:r>
            <a:r>
              <a:rPr lang="en-US" altLang="ko-KR" sz="1200" dirty="0"/>
              <a:t>.</a:t>
            </a:r>
          </a:p>
          <a:p>
            <a:r>
              <a:rPr lang="ko-KR" altLang="en-US" sz="1200" dirty="0"/>
              <a:t>크게 보면 두개로 나뉘어져 있는데</a:t>
            </a:r>
            <a:r>
              <a:rPr lang="en-US" altLang="ko-KR" sz="1200" dirty="0"/>
              <a:t>, Immortal </a:t>
            </a:r>
            <a:r>
              <a:rPr lang="ko-KR" altLang="en-US" sz="1200" dirty="0"/>
              <a:t>범위와 </a:t>
            </a:r>
            <a:r>
              <a:rPr lang="en-US" altLang="ko-KR" sz="1200" dirty="0"/>
              <a:t>Dynamic </a:t>
            </a:r>
            <a:r>
              <a:rPr lang="ko-KR" altLang="en-US" sz="1200" dirty="0"/>
              <a:t>범위다</a:t>
            </a:r>
            <a:r>
              <a:rPr lang="en-US" altLang="ko-KR" sz="1200" dirty="0"/>
              <a:t>.</a:t>
            </a:r>
          </a:p>
          <a:p>
            <a:r>
              <a:rPr lang="en-US" altLang="ko-KR" sz="1200" dirty="0"/>
              <a:t>Immortal </a:t>
            </a:r>
            <a:r>
              <a:rPr lang="ko-KR" altLang="en-US" sz="1200" dirty="0"/>
              <a:t>범위는 게임이 돌아가면서 쉽게 추가되지 않는 범위다</a:t>
            </a:r>
            <a:r>
              <a:rPr lang="en-US" altLang="ko-KR" sz="1200" dirty="0"/>
              <a:t>.</a:t>
            </a:r>
          </a:p>
          <a:p>
            <a:r>
              <a:rPr lang="en-US" altLang="ko-KR" sz="1200" dirty="0"/>
              <a:t>[</a:t>
            </a:r>
            <a:r>
              <a:rPr lang="ko-KR" altLang="en-US" sz="1200" dirty="0"/>
              <a:t>초기화 리소스 범위</a:t>
            </a:r>
            <a:r>
              <a:rPr lang="en-US" altLang="ko-KR" sz="1200" dirty="0"/>
              <a:t>] [</a:t>
            </a:r>
            <a:r>
              <a:rPr lang="ko-KR" altLang="en-US" sz="1200" dirty="0"/>
              <a:t>재질 </a:t>
            </a:r>
            <a:r>
              <a:rPr lang="ko-KR" altLang="en-US" sz="1200" dirty="0" err="1"/>
              <a:t>텍스쳐</a:t>
            </a:r>
            <a:r>
              <a:rPr lang="en-US" altLang="ko-KR" sz="1200" dirty="0"/>
              <a:t>SRV</a:t>
            </a:r>
            <a:r>
              <a:rPr lang="ko-KR" altLang="en-US" sz="1200" dirty="0"/>
              <a:t> 범위</a:t>
            </a:r>
            <a:r>
              <a:rPr lang="en-US" altLang="ko-KR" sz="1200" dirty="0"/>
              <a:t>] [</a:t>
            </a:r>
            <a:r>
              <a:rPr lang="ko-KR" altLang="en-US" sz="1200" dirty="0"/>
              <a:t>재질 </a:t>
            </a:r>
            <a:r>
              <a:rPr lang="en-US" altLang="ko-KR" sz="1200" dirty="0"/>
              <a:t>CBV </a:t>
            </a:r>
            <a:r>
              <a:rPr lang="ko-KR" altLang="en-US" sz="1200" dirty="0"/>
              <a:t>범위</a:t>
            </a:r>
            <a:r>
              <a:rPr lang="en-US" altLang="ko-KR" sz="1200" dirty="0"/>
              <a:t>] [</a:t>
            </a:r>
            <a:r>
              <a:rPr lang="ko-KR" altLang="en-US" sz="1200" dirty="0" err="1"/>
              <a:t>인스턴싱</a:t>
            </a:r>
            <a:r>
              <a:rPr lang="ko-KR" altLang="en-US" sz="1200" dirty="0"/>
              <a:t> </a:t>
            </a:r>
            <a:r>
              <a:rPr lang="en-US" altLang="ko-KR" sz="1200" dirty="0"/>
              <a:t>SRV </a:t>
            </a:r>
            <a:r>
              <a:rPr lang="ko-KR" altLang="en-US" sz="1200" dirty="0"/>
              <a:t>범위</a:t>
            </a:r>
            <a:r>
              <a:rPr lang="en-US" altLang="ko-KR" sz="1200" dirty="0"/>
              <a:t>] </a:t>
            </a:r>
            <a:r>
              <a:rPr lang="ko-KR" altLang="en-US" sz="1200" dirty="0"/>
              <a:t>등이 포함되어 있다</a:t>
            </a:r>
            <a:r>
              <a:rPr lang="en-US" altLang="ko-KR" sz="1200" dirty="0"/>
              <a:t>.</a:t>
            </a:r>
          </a:p>
          <a:p>
            <a:r>
              <a:rPr lang="en-US" altLang="ko-KR" sz="1200" dirty="0"/>
              <a:t>Dynamic </a:t>
            </a:r>
            <a:r>
              <a:rPr lang="ko-KR" altLang="en-US" sz="1200" dirty="0"/>
              <a:t>범위는 게임이 돌아가면서 </a:t>
            </a:r>
            <a:r>
              <a:rPr lang="ko-KR" altLang="en-US" sz="1200" dirty="0" err="1"/>
              <a:t>틱마다</a:t>
            </a:r>
            <a:r>
              <a:rPr lang="ko-KR" altLang="en-US" sz="1200" dirty="0"/>
              <a:t> </a:t>
            </a:r>
            <a:r>
              <a:rPr lang="ko-KR" altLang="en-US" sz="1200" dirty="0" err="1"/>
              <a:t>렌더가</a:t>
            </a:r>
            <a:r>
              <a:rPr lang="ko-KR" altLang="en-US" sz="1200" dirty="0"/>
              <a:t> 결정될 수도 있는 리소스 </a:t>
            </a:r>
            <a:r>
              <a:rPr lang="en-US" altLang="ko-KR" sz="1200" dirty="0"/>
              <a:t>Desc(NSV</a:t>
            </a:r>
            <a:r>
              <a:rPr lang="ko-KR" altLang="en-US" sz="1200" dirty="0"/>
              <a:t>에 위치</a:t>
            </a:r>
            <a:r>
              <a:rPr lang="en-US" altLang="ko-KR" sz="1200" dirty="0"/>
              <a:t>)</a:t>
            </a:r>
            <a:r>
              <a:rPr lang="ko-KR" altLang="en-US" sz="1200" dirty="0"/>
              <a:t>를 </a:t>
            </a:r>
            <a:r>
              <a:rPr lang="en-US" altLang="ko-KR" sz="1200" dirty="0"/>
              <a:t>Copy</a:t>
            </a:r>
            <a:r>
              <a:rPr lang="ko-KR" altLang="en-US" sz="1200" dirty="0"/>
              <a:t>하여 </a:t>
            </a:r>
            <a:endParaRPr lang="en-US" altLang="ko-KR" sz="1200" dirty="0"/>
          </a:p>
          <a:p>
            <a:r>
              <a:rPr lang="ko-KR" altLang="en-US" sz="1200" dirty="0" err="1"/>
              <a:t>렌더될</a:t>
            </a:r>
            <a:r>
              <a:rPr lang="ko-KR" altLang="en-US" sz="1200" dirty="0"/>
              <a:t> 수 있도록 한다</a:t>
            </a:r>
            <a:r>
              <a:rPr lang="en-US" altLang="ko-KR" sz="1200" dirty="0"/>
              <a:t>.</a:t>
            </a:r>
            <a:endParaRPr lang="ko-KR" altLang="en-US" sz="1200" dirty="0"/>
          </a:p>
        </p:txBody>
      </p:sp>
      <mc:AlternateContent xmlns:mc="http://schemas.openxmlformats.org/markup-compatibility/2006" xmlns:pslz="http://schemas.microsoft.com/office/powerpoint/2016/slidezoom">
        <mc:Choice Requires="pslz">
          <p:graphicFrame>
            <p:nvGraphicFramePr>
              <p:cNvPr id="7" name="슬라이드 확대/축소 6">
                <a:extLst>
                  <a:ext uri="{FF2B5EF4-FFF2-40B4-BE49-F238E27FC236}">
                    <a16:creationId xmlns:a16="http://schemas.microsoft.com/office/drawing/2014/main" id="{AFCB83A2-06F9-E999-1CFD-3E7A26602B23}"/>
                  </a:ext>
                </a:extLst>
              </p:cNvPr>
              <p:cNvGraphicFramePr>
                <a:graphicFrameLocks noChangeAspect="1"/>
              </p:cNvGraphicFramePr>
              <p:nvPr>
                <p:extLst>
                  <p:ext uri="{D42A27DB-BD31-4B8C-83A1-F6EECF244321}">
                    <p14:modId xmlns:p14="http://schemas.microsoft.com/office/powerpoint/2010/main" val="3020058972"/>
                  </p:ext>
                </p:extLst>
              </p:nvPr>
            </p:nvGraphicFramePr>
            <p:xfrm>
              <a:off x="0" y="3941688"/>
              <a:ext cx="5152103" cy="2898058"/>
            </p:xfrm>
            <a:graphic>
              <a:graphicData uri="http://schemas.microsoft.com/office/powerpoint/2016/slidezoom">
                <pslz:sldZm>
                  <pslz:sldZmObj sldId="280" cId="4144978947">
                    <pslz:zmPr id="{16191A8D-A4FD-4417-9519-291E9A703DD7}" returnToParent="0" transitionDur="1000">
                      <p166:blipFill xmlns:p166="http://schemas.microsoft.com/office/powerpoint/2016/6/main">
                        <a:blip r:embed="rId3"/>
                        <a:stretch>
                          <a:fillRect/>
                        </a:stretch>
                      </p166:blipFill>
                      <p166:spPr xmlns:p166="http://schemas.microsoft.com/office/powerpoint/2016/6/main">
                        <a:xfrm>
                          <a:off x="0" y="0"/>
                          <a:ext cx="5152103" cy="2898058"/>
                        </a:xfrm>
                        <a:prstGeom prst="rect">
                          <a:avLst/>
                        </a:prstGeom>
                        <a:ln w="3175">
                          <a:solidFill>
                            <a:prstClr val="ltGray"/>
                          </a:solidFill>
                        </a:ln>
                      </p166:spPr>
                    </pslz:zmPr>
                  </pslz:sldZmObj>
                </pslz:sldZm>
              </a:graphicData>
            </a:graphic>
          </p:graphicFrame>
        </mc:Choice>
        <mc:Fallback xmlns="">
          <p:pic>
            <p:nvPicPr>
              <p:cNvPr id="7" name="슬라이드 확대/축소 6">
                <a:hlinkClick r:id="rId4" action="ppaction://hlinksldjump"/>
                <a:extLst>
                  <a:ext uri="{FF2B5EF4-FFF2-40B4-BE49-F238E27FC236}">
                    <a16:creationId xmlns:a16="http://schemas.microsoft.com/office/drawing/2014/main" id="{AFCB83A2-06F9-E999-1CFD-3E7A26602B23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/>
              </p:cNvPicPr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0" y="3941688"/>
                <a:ext cx="5152103" cy="2898058"/>
              </a:xfrm>
              <a:prstGeom prst="rect">
                <a:avLst/>
              </a:prstGeom>
              <a:ln w="3175">
                <a:solidFill>
                  <a:prstClr val="ltGray"/>
                </a:solidFill>
              </a:ln>
            </p:spPr>
          </p:pic>
        </mc:Fallback>
      </mc:AlternateContent>
      <mc:AlternateContent xmlns:mc="http://schemas.openxmlformats.org/markup-compatibility/2006" xmlns:pslz="http://schemas.microsoft.com/office/powerpoint/2016/slidezoom">
        <mc:Choice Requires="pslz">
          <p:graphicFrame>
            <p:nvGraphicFramePr>
              <p:cNvPr id="9" name="슬라이드 확대/축소 8">
                <a:extLst>
                  <a:ext uri="{FF2B5EF4-FFF2-40B4-BE49-F238E27FC236}">
                    <a16:creationId xmlns:a16="http://schemas.microsoft.com/office/drawing/2014/main" id="{C9C5A58F-C6A3-86E1-87F3-43464A84862D}"/>
                  </a:ext>
                </a:extLst>
              </p:cNvPr>
              <p:cNvGraphicFramePr>
                <a:graphicFrameLocks noChangeAspect="1"/>
              </p:cNvGraphicFramePr>
              <p:nvPr>
                <p:extLst>
                  <p:ext uri="{D42A27DB-BD31-4B8C-83A1-F6EECF244321}">
                    <p14:modId xmlns:p14="http://schemas.microsoft.com/office/powerpoint/2010/main" val="3420006220"/>
                  </p:ext>
                </p:extLst>
              </p:nvPr>
            </p:nvGraphicFramePr>
            <p:xfrm>
              <a:off x="5247968" y="3941687"/>
              <a:ext cx="5152102" cy="2898057"/>
            </p:xfrm>
            <a:graphic>
              <a:graphicData uri="http://schemas.microsoft.com/office/powerpoint/2016/slidezoom">
                <pslz:sldZm>
                  <pslz:sldZmObj sldId="282" cId="825479797">
                    <pslz:zmPr id="{CE5D8C70-59BB-47C2-87D2-7CA7FF77941B}" returnToParent="0" transitionDur="1000">
                      <p166:blipFill xmlns:p166="http://schemas.microsoft.com/office/powerpoint/2016/6/main">
                        <a:blip r:embed="rId6"/>
                        <a:stretch>
                          <a:fillRect/>
                        </a:stretch>
                      </p166:blipFill>
                      <p166:spPr xmlns:p166="http://schemas.microsoft.com/office/powerpoint/2016/6/main">
                        <a:xfrm>
                          <a:off x="0" y="0"/>
                          <a:ext cx="5152102" cy="2898057"/>
                        </a:xfrm>
                        <a:prstGeom prst="rect">
                          <a:avLst/>
                        </a:prstGeom>
                        <a:ln w="3175">
                          <a:solidFill>
                            <a:prstClr val="ltGray"/>
                          </a:solidFill>
                        </a:ln>
                      </p166:spPr>
                    </pslz:zmPr>
                  </pslz:sldZmObj>
                </pslz:sldZm>
              </a:graphicData>
            </a:graphic>
          </p:graphicFrame>
        </mc:Choice>
        <mc:Fallback xmlns="">
          <p:pic>
            <p:nvPicPr>
              <p:cNvPr id="9" name="슬라이드 확대/축소 8">
                <a:hlinkClick r:id="rId7" action="ppaction://hlinksldjump"/>
                <a:extLst>
                  <a:ext uri="{FF2B5EF4-FFF2-40B4-BE49-F238E27FC236}">
                    <a16:creationId xmlns:a16="http://schemas.microsoft.com/office/drawing/2014/main" id="{C9C5A58F-C6A3-86E1-87F3-43464A84862D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/>
              </p:cNvPicPr>
              <p:nvPr/>
            </p:nvPicPr>
            <p:blipFill>
              <a:blip r:embed="rId8"/>
              <a:stretch>
                <a:fillRect/>
              </a:stretch>
            </p:blipFill>
            <p:spPr>
              <a:xfrm>
                <a:off x="5247968" y="3941687"/>
                <a:ext cx="5152102" cy="2898057"/>
              </a:xfrm>
              <a:prstGeom prst="rect">
                <a:avLst/>
              </a:prstGeom>
              <a:ln w="3175">
                <a:solidFill>
                  <a:prstClr val="ltGray"/>
                </a:solidFill>
              </a:ln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288020897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A5D35B0-1648-3A00-F710-2E810A2BB5B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4E7C3BD-55C9-85C7-4AD2-30000BCFEE0B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0" y="18255"/>
            <a:ext cx="11866880" cy="850425"/>
          </a:xfrm>
        </p:spPr>
        <p:txBody>
          <a:bodyPr>
            <a:normAutofit fontScale="90000"/>
          </a:bodyPr>
          <a:lstStyle/>
          <a:p>
            <a:r>
              <a:rPr lang="en-US" altLang="ko-KR" sz="5400" dirty="0" err="1"/>
              <a:t>ShaderVisibleDescHeap</a:t>
            </a:r>
            <a:r>
              <a:rPr lang="ko-KR" altLang="en-US" sz="5400" dirty="0"/>
              <a:t>의 확장 </a:t>
            </a:r>
            <a:r>
              <a:rPr lang="en-US" altLang="ko-KR" sz="5400" dirty="0"/>
              <a:t>/ </a:t>
            </a:r>
            <a:r>
              <a:rPr lang="ko-KR" altLang="en-US" sz="5400" dirty="0"/>
              <a:t>정리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82EE5AE-48F4-504A-C304-88D0C54F7450}"/>
              </a:ext>
            </a:extLst>
          </p:cNvPr>
          <p:cNvSpPr txBox="1"/>
          <p:nvPr/>
        </p:nvSpPr>
        <p:spPr>
          <a:xfrm>
            <a:off x="440129" y="1387881"/>
            <a:ext cx="690581" cy="369332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altLang="ko-KR" dirty="0"/>
              <a:t>Init</a:t>
            </a:r>
            <a:endParaRPr lang="ko-KR" alt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69C81F4-91A0-7289-FBB8-48C2102EFF01}"/>
              </a:ext>
            </a:extLst>
          </p:cNvPr>
          <p:cNvSpPr txBox="1"/>
          <p:nvPr/>
        </p:nvSpPr>
        <p:spPr>
          <a:xfrm>
            <a:off x="1130709" y="1387881"/>
            <a:ext cx="1759975" cy="369332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altLang="ko-KR" dirty="0" err="1"/>
              <a:t>MaterialTexSRV</a:t>
            </a:r>
            <a:endParaRPr lang="ko-KR" altLang="en-US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8BBD023-9CF5-CE26-19C6-66E48D2B4976}"/>
              </a:ext>
            </a:extLst>
          </p:cNvPr>
          <p:cNvSpPr txBox="1"/>
          <p:nvPr/>
        </p:nvSpPr>
        <p:spPr>
          <a:xfrm>
            <a:off x="2890684" y="1387881"/>
            <a:ext cx="1465006" cy="369332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altLang="ko-KR" dirty="0" err="1"/>
              <a:t>MaterialCBV</a:t>
            </a:r>
            <a:endParaRPr lang="ko-KR" altLang="en-US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572A804-BF55-DB67-AEAD-2197F4C27F2C}"/>
              </a:ext>
            </a:extLst>
          </p:cNvPr>
          <p:cNvSpPr txBox="1"/>
          <p:nvPr/>
        </p:nvSpPr>
        <p:spPr>
          <a:xfrm>
            <a:off x="4355690" y="1387881"/>
            <a:ext cx="1691151" cy="369332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altLang="ko-KR" dirty="0" err="1"/>
              <a:t>InstancingSRV</a:t>
            </a:r>
            <a:endParaRPr lang="ko-KR" altLang="en-US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3672122-5080-A5A6-2DEE-7D69CDA84F84}"/>
              </a:ext>
            </a:extLst>
          </p:cNvPr>
          <p:cNvSpPr txBox="1"/>
          <p:nvPr/>
        </p:nvSpPr>
        <p:spPr>
          <a:xfrm>
            <a:off x="6046841" y="1387881"/>
            <a:ext cx="5584720" cy="369332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altLang="ko-KR" dirty="0"/>
              <a:t>Blank</a:t>
            </a:r>
            <a:endParaRPr lang="ko-KR" altLang="en-US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EEA49D7F-39EE-8DDD-C651-3B35646D5CC8}"/>
              </a:ext>
            </a:extLst>
          </p:cNvPr>
          <p:cNvSpPr txBox="1"/>
          <p:nvPr/>
        </p:nvSpPr>
        <p:spPr>
          <a:xfrm>
            <a:off x="170961" y="943614"/>
            <a:ext cx="160486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 err="1"/>
              <a:t>NSV_Creation</a:t>
            </a:r>
            <a:endParaRPr lang="ko-KR" altLang="en-US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9A8A174F-5DAB-36E6-038B-606AB2743A4F}"/>
              </a:ext>
            </a:extLst>
          </p:cNvPr>
          <p:cNvSpPr txBox="1"/>
          <p:nvPr/>
        </p:nvSpPr>
        <p:spPr>
          <a:xfrm>
            <a:off x="510734" y="2471238"/>
            <a:ext cx="126509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 err="1"/>
              <a:t>NSV_Copy</a:t>
            </a:r>
            <a:endParaRPr lang="ko-KR" altLang="en-US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5F68EE92-C83D-C2AD-7DD0-C0FAC6F701B8}"/>
              </a:ext>
            </a:extLst>
          </p:cNvPr>
          <p:cNvSpPr txBox="1"/>
          <p:nvPr/>
        </p:nvSpPr>
        <p:spPr>
          <a:xfrm>
            <a:off x="140150" y="4269988"/>
            <a:ext cx="128855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 err="1"/>
              <a:t>SV_Render</a:t>
            </a:r>
            <a:endParaRPr lang="ko-KR" altLang="en-US" dirty="0"/>
          </a:p>
        </p:txBody>
      </p:sp>
      <p:cxnSp>
        <p:nvCxnSpPr>
          <p:cNvPr id="14" name="직선 화살표 연결선 13">
            <a:extLst>
              <a:ext uri="{FF2B5EF4-FFF2-40B4-BE49-F238E27FC236}">
                <a16:creationId xmlns:a16="http://schemas.microsoft.com/office/drawing/2014/main" id="{0DB98795-016D-B87C-896F-C48687559EC0}"/>
              </a:ext>
            </a:extLst>
          </p:cNvPr>
          <p:cNvCxnSpPr>
            <a:cxnSpLocks/>
          </p:cNvCxnSpPr>
          <p:nvPr/>
        </p:nvCxnSpPr>
        <p:spPr>
          <a:xfrm>
            <a:off x="4355690" y="1281655"/>
            <a:ext cx="0" cy="106226"/>
          </a:xfrm>
          <a:prstGeom prst="straightConnector1">
            <a:avLst/>
          </a:prstGeom>
          <a:ln w="4762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>
            <a:extLst>
              <a:ext uri="{FF2B5EF4-FFF2-40B4-BE49-F238E27FC236}">
                <a16:creationId xmlns:a16="http://schemas.microsoft.com/office/drawing/2014/main" id="{7F26573C-7789-7FBB-0F79-068B3C74B00A}"/>
              </a:ext>
            </a:extLst>
          </p:cNvPr>
          <p:cNvSpPr txBox="1"/>
          <p:nvPr/>
        </p:nvSpPr>
        <p:spPr>
          <a:xfrm>
            <a:off x="3547866" y="819990"/>
            <a:ext cx="509626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200" dirty="0"/>
              <a:t>만약 할당된 범위가 가득 찬 상태에서 다음 </a:t>
            </a:r>
            <a:r>
              <a:rPr lang="en-US" altLang="ko-KR" sz="1200" dirty="0"/>
              <a:t>Desc</a:t>
            </a:r>
            <a:r>
              <a:rPr lang="ko-KR" altLang="en-US" sz="1200" dirty="0"/>
              <a:t>를 넣으려 시도한다면</a:t>
            </a:r>
            <a:r>
              <a:rPr lang="en-US" altLang="ko-KR" sz="1200" dirty="0"/>
              <a:t>, </a:t>
            </a:r>
          </a:p>
          <a:p>
            <a:r>
              <a:rPr lang="en-US" altLang="ko-KR" sz="1200" dirty="0" err="1"/>
              <a:t>NSV_Copy</a:t>
            </a:r>
            <a:r>
              <a:rPr lang="ko-KR" altLang="en-US" sz="1200" dirty="0"/>
              <a:t>를 이용해 </a:t>
            </a:r>
            <a:r>
              <a:rPr lang="en-US" altLang="ko-KR" sz="1200" dirty="0" err="1"/>
              <a:t>NSV_Creation</a:t>
            </a:r>
            <a:r>
              <a:rPr lang="ko-KR" altLang="en-US" sz="1200" dirty="0"/>
              <a:t>의 구조를 전체적으로 바꾼다</a:t>
            </a:r>
            <a:r>
              <a:rPr lang="en-US" altLang="ko-KR" sz="1200" dirty="0"/>
              <a:t>.</a:t>
            </a:r>
            <a:endParaRPr lang="ko-KR" altLang="en-US" sz="1200" dirty="0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995310F7-242F-BD7C-56A2-CD3E70BC04F5}"/>
              </a:ext>
            </a:extLst>
          </p:cNvPr>
          <p:cNvSpPr txBox="1"/>
          <p:nvPr/>
        </p:nvSpPr>
        <p:spPr>
          <a:xfrm>
            <a:off x="440128" y="2091904"/>
            <a:ext cx="690581" cy="369332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altLang="ko-KR" dirty="0"/>
              <a:t>Init</a:t>
            </a:r>
            <a:endParaRPr lang="ko-KR" altLang="en-US" dirty="0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33768962-ED61-F0F6-4F86-363FAF40DFAB}"/>
              </a:ext>
            </a:extLst>
          </p:cNvPr>
          <p:cNvSpPr txBox="1"/>
          <p:nvPr/>
        </p:nvSpPr>
        <p:spPr>
          <a:xfrm>
            <a:off x="1130708" y="2091904"/>
            <a:ext cx="1759975" cy="369332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altLang="ko-KR" dirty="0" err="1"/>
              <a:t>MaterialTexSRV</a:t>
            </a:r>
            <a:endParaRPr lang="ko-KR" altLang="en-US" dirty="0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A49A6B8C-F3F2-10A8-714D-DA14F893C488}"/>
              </a:ext>
            </a:extLst>
          </p:cNvPr>
          <p:cNvSpPr txBox="1"/>
          <p:nvPr/>
        </p:nvSpPr>
        <p:spPr>
          <a:xfrm>
            <a:off x="2890682" y="2091904"/>
            <a:ext cx="3156153" cy="369332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altLang="ko-KR" dirty="0" err="1"/>
              <a:t>MaterialCBV</a:t>
            </a:r>
            <a:endParaRPr lang="ko-KR" altLang="en-US" dirty="0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B58C01C0-5FBF-641A-4D8A-63A153CF08A3}"/>
              </a:ext>
            </a:extLst>
          </p:cNvPr>
          <p:cNvSpPr txBox="1"/>
          <p:nvPr/>
        </p:nvSpPr>
        <p:spPr>
          <a:xfrm>
            <a:off x="6046832" y="2091904"/>
            <a:ext cx="1691151" cy="369332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altLang="ko-KR" dirty="0" err="1"/>
              <a:t>InstancingSRV</a:t>
            </a:r>
            <a:endParaRPr lang="ko-KR" altLang="en-US" dirty="0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87A265FE-3989-5346-2243-C485FBEACC2A}"/>
              </a:ext>
            </a:extLst>
          </p:cNvPr>
          <p:cNvSpPr txBox="1"/>
          <p:nvPr/>
        </p:nvSpPr>
        <p:spPr>
          <a:xfrm>
            <a:off x="7737977" y="2091904"/>
            <a:ext cx="3549444" cy="369332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altLang="ko-KR" dirty="0"/>
              <a:t>Blank</a:t>
            </a:r>
            <a:endParaRPr lang="ko-KR" altLang="en-US" dirty="0"/>
          </a:p>
        </p:txBody>
      </p:sp>
      <p:cxnSp>
        <p:nvCxnSpPr>
          <p:cNvPr id="27" name="직선 화살표 연결선 26">
            <a:extLst>
              <a:ext uri="{FF2B5EF4-FFF2-40B4-BE49-F238E27FC236}">
                <a16:creationId xmlns:a16="http://schemas.microsoft.com/office/drawing/2014/main" id="{269FDB54-5DB1-7183-5414-D2176506831B}"/>
              </a:ext>
            </a:extLst>
          </p:cNvPr>
          <p:cNvCxnSpPr>
            <a:cxnSpLocks/>
          </p:cNvCxnSpPr>
          <p:nvPr/>
        </p:nvCxnSpPr>
        <p:spPr>
          <a:xfrm flipH="1">
            <a:off x="440127" y="1757213"/>
            <a:ext cx="1" cy="280011"/>
          </a:xfrm>
          <a:prstGeom prst="straightConnector1">
            <a:avLst/>
          </a:prstGeom>
          <a:ln w="4762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직선 화살표 연결선 30">
            <a:extLst>
              <a:ext uri="{FF2B5EF4-FFF2-40B4-BE49-F238E27FC236}">
                <a16:creationId xmlns:a16="http://schemas.microsoft.com/office/drawing/2014/main" id="{61F993D0-4C7C-C3D5-785F-4C1231259CC0}"/>
              </a:ext>
            </a:extLst>
          </p:cNvPr>
          <p:cNvCxnSpPr>
            <a:cxnSpLocks/>
          </p:cNvCxnSpPr>
          <p:nvPr/>
        </p:nvCxnSpPr>
        <p:spPr>
          <a:xfrm>
            <a:off x="1130707" y="1757213"/>
            <a:ext cx="7382" cy="334691"/>
          </a:xfrm>
          <a:prstGeom prst="straightConnector1">
            <a:avLst/>
          </a:prstGeom>
          <a:ln w="4762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직선 화살표 연결선 33">
            <a:extLst>
              <a:ext uri="{FF2B5EF4-FFF2-40B4-BE49-F238E27FC236}">
                <a16:creationId xmlns:a16="http://schemas.microsoft.com/office/drawing/2014/main" id="{9ABC3F23-065F-C479-5BC6-0F6BED7EC384}"/>
              </a:ext>
            </a:extLst>
          </p:cNvPr>
          <p:cNvCxnSpPr>
            <a:cxnSpLocks/>
          </p:cNvCxnSpPr>
          <p:nvPr/>
        </p:nvCxnSpPr>
        <p:spPr>
          <a:xfrm flipH="1">
            <a:off x="2890682" y="1747211"/>
            <a:ext cx="1" cy="344693"/>
          </a:xfrm>
          <a:prstGeom prst="straightConnector1">
            <a:avLst/>
          </a:prstGeom>
          <a:ln w="4762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직선 화살표 연결선 34">
            <a:extLst>
              <a:ext uri="{FF2B5EF4-FFF2-40B4-BE49-F238E27FC236}">
                <a16:creationId xmlns:a16="http://schemas.microsoft.com/office/drawing/2014/main" id="{377BA0F5-4D4A-BA77-EB80-C1A901AA2559}"/>
              </a:ext>
            </a:extLst>
          </p:cNvPr>
          <p:cNvCxnSpPr>
            <a:cxnSpLocks/>
          </p:cNvCxnSpPr>
          <p:nvPr/>
        </p:nvCxnSpPr>
        <p:spPr>
          <a:xfrm>
            <a:off x="4355689" y="1757213"/>
            <a:ext cx="0" cy="334691"/>
          </a:xfrm>
          <a:prstGeom prst="straightConnector1">
            <a:avLst/>
          </a:prstGeom>
          <a:ln w="4762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직선 화살표 연결선 37">
            <a:extLst>
              <a:ext uri="{FF2B5EF4-FFF2-40B4-BE49-F238E27FC236}">
                <a16:creationId xmlns:a16="http://schemas.microsoft.com/office/drawing/2014/main" id="{8FC5472E-AE03-9666-7F44-D26C9B4C634F}"/>
              </a:ext>
            </a:extLst>
          </p:cNvPr>
          <p:cNvCxnSpPr>
            <a:cxnSpLocks/>
          </p:cNvCxnSpPr>
          <p:nvPr/>
        </p:nvCxnSpPr>
        <p:spPr>
          <a:xfrm>
            <a:off x="4355689" y="1757213"/>
            <a:ext cx="1740311" cy="334691"/>
          </a:xfrm>
          <a:prstGeom prst="straightConnector1">
            <a:avLst/>
          </a:prstGeom>
          <a:ln w="4762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직선 화살표 연결선 40">
            <a:extLst>
              <a:ext uri="{FF2B5EF4-FFF2-40B4-BE49-F238E27FC236}">
                <a16:creationId xmlns:a16="http://schemas.microsoft.com/office/drawing/2014/main" id="{0005AB73-F653-7C83-295C-53FD927D836B}"/>
              </a:ext>
            </a:extLst>
          </p:cNvPr>
          <p:cNvCxnSpPr>
            <a:cxnSpLocks/>
          </p:cNvCxnSpPr>
          <p:nvPr/>
        </p:nvCxnSpPr>
        <p:spPr>
          <a:xfrm>
            <a:off x="6046832" y="1757213"/>
            <a:ext cx="1683761" cy="326177"/>
          </a:xfrm>
          <a:prstGeom prst="straightConnector1">
            <a:avLst/>
          </a:prstGeom>
          <a:ln w="4762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TextBox 43">
            <a:extLst>
              <a:ext uri="{FF2B5EF4-FFF2-40B4-BE49-F238E27FC236}">
                <a16:creationId xmlns:a16="http://schemas.microsoft.com/office/drawing/2014/main" id="{2604ABE1-83E3-EE2D-E61B-A93466C208FC}"/>
              </a:ext>
            </a:extLst>
          </p:cNvPr>
          <p:cNvSpPr txBox="1"/>
          <p:nvPr/>
        </p:nvSpPr>
        <p:spPr>
          <a:xfrm>
            <a:off x="4395031" y="2091904"/>
            <a:ext cx="1644420" cy="369332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altLang="ko-KR" dirty="0"/>
              <a:t>Blank</a:t>
            </a:r>
            <a:endParaRPr lang="ko-KR" altLang="en-US" dirty="0"/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024E6418-FEB3-9C4B-7842-F191A720123A}"/>
              </a:ext>
            </a:extLst>
          </p:cNvPr>
          <p:cNvSpPr txBox="1"/>
          <p:nvPr/>
        </p:nvSpPr>
        <p:spPr>
          <a:xfrm>
            <a:off x="8554634" y="2527657"/>
            <a:ext cx="352955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200" dirty="0"/>
              <a:t>복사가 끝나면 다시 </a:t>
            </a:r>
            <a:r>
              <a:rPr lang="en-US" altLang="ko-KR" sz="1200" dirty="0"/>
              <a:t>NSV Creation</a:t>
            </a:r>
            <a:r>
              <a:rPr lang="ko-KR" altLang="en-US" sz="1200" dirty="0"/>
              <a:t>으로 복사한다</a:t>
            </a:r>
            <a:r>
              <a:rPr lang="en-US" altLang="ko-KR" sz="1200" dirty="0"/>
              <a:t>.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F5407273-72BE-1144-B711-5791FF225394}"/>
              </a:ext>
            </a:extLst>
          </p:cNvPr>
          <p:cNvSpPr txBox="1"/>
          <p:nvPr/>
        </p:nvSpPr>
        <p:spPr>
          <a:xfrm>
            <a:off x="121798" y="3267732"/>
            <a:ext cx="160486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 err="1"/>
              <a:t>NSV_Creation</a:t>
            </a:r>
            <a:endParaRPr lang="ko-KR" altLang="en-US" dirty="0"/>
          </a:p>
        </p:txBody>
      </p:sp>
      <p:cxnSp>
        <p:nvCxnSpPr>
          <p:cNvPr id="54" name="직선 화살표 연결선 53">
            <a:extLst>
              <a:ext uri="{FF2B5EF4-FFF2-40B4-BE49-F238E27FC236}">
                <a16:creationId xmlns:a16="http://schemas.microsoft.com/office/drawing/2014/main" id="{F625975F-C483-F6FC-8EE1-B0EA55AF1229}"/>
              </a:ext>
            </a:extLst>
          </p:cNvPr>
          <p:cNvCxnSpPr>
            <a:cxnSpLocks/>
          </p:cNvCxnSpPr>
          <p:nvPr/>
        </p:nvCxnSpPr>
        <p:spPr>
          <a:xfrm flipH="1">
            <a:off x="433793" y="2481491"/>
            <a:ext cx="13715" cy="451997"/>
          </a:xfrm>
          <a:prstGeom prst="straightConnector1">
            <a:avLst/>
          </a:prstGeom>
          <a:ln w="4762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9" name="TextBox 58">
            <a:extLst>
              <a:ext uri="{FF2B5EF4-FFF2-40B4-BE49-F238E27FC236}">
                <a16:creationId xmlns:a16="http://schemas.microsoft.com/office/drawing/2014/main" id="{0080ADA2-4D19-BCCB-7A3F-62BCA035F4A7}"/>
              </a:ext>
            </a:extLst>
          </p:cNvPr>
          <p:cNvSpPr txBox="1"/>
          <p:nvPr/>
        </p:nvSpPr>
        <p:spPr>
          <a:xfrm>
            <a:off x="447509" y="2908402"/>
            <a:ext cx="690581" cy="369332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altLang="ko-KR" dirty="0"/>
              <a:t>Init</a:t>
            </a:r>
            <a:endParaRPr lang="ko-KR" altLang="en-US" dirty="0"/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759DCC0A-FE72-6757-3563-74B8C45B9B32}"/>
              </a:ext>
            </a:extLst>
          </p:cNvPr>
          <p:cNvSpPr txBox="1"/>
          <p:nvPr/>
        </p:nvSpPr>
        <p:spPr>
          <a:xfrm>
            <a:off x="1138089" y="2908402"/>
            <a:ext cx="1759975" cy="369332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altLang="ko-KR" dirty="0" err="1"/>
              <a:t>MaterialTexSRV</a:t>
            </a:r>
            <a:endParaRPr lang="ko-KR" altLang="en-US" dirty="0"/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ECD04367-A75F-3125-284C-988658C03EDA}"/>
              </a:ext>
            </a:extLst>
          </p:cNvPr>
          <p:cNvSpPr txBox="1"/>
          <p:nvPr/>
        </p:nvSpPr>
        <p:spPr>
          <a:xfrm>
            <a:off x="2898063" y="2908402"/>
            <a:ext cx="3156153" cy="369332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altLang="ko-KR" dirty="0" err="1"/>
              <a:t>MaterialCBV</a:t>
            </a:r>
            <a:endParaRPr lang="ko-KR" altLang="en-US" dirty="0"/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3A781994-551A-8D9E-C9BF-C4277BCDE966}"/>
              </a:ext>
            </a:extLst>
          </p:cNvPr>
          <p:cNvSpPr txBox="1"/>
          <p:nvPr/>
        </p:nvSpPr>
        <p:spPr>
          <a:xfrm>
            <a:off x="6054213" y="2908402"/>
            <a:ext cx="1691151" cy="369332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altLang="ko-KR" dirty="0" err="1"/>
              <a:t>InstancingSRV</a:t>
            </a:r>
            <a:endParaRPr lang="ko-KR" altLang="en-US" dirty="0"/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8F51BFD0-402F-9810-354D-08CACF0F23DF}"/>
              </a:ext>
            </a:extLst>
          </p:cNvPr>
          <p:cNvSpPr txBox="1"/>
          <p:nvPr/>
        </p:nvSpPr>
        <p:spPr>
          <a:xfrm>
            <a:off x="7745358" y="2908402"/>
            <a:ext cx="3549444" cy="369332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altLang="ko-KR" dirty="0"/>
              <a:t>Blank</a:t>
            </a:r>
            <a:endParaRPr lang="ko-KR" altLang="en-US" dirty="0"/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C20D2B5E-BBE3-9DA8-1A4D-BE3653907D56}"/>
              </a:ext>
            </a:extLst>
          </p:cNvPr>
          <p:cNvSpPr txBox="1"/>
          <p:nvPr/>
        </p:nvSpPr>
        <p:spPr>
          <a:xfrm>
            <a:off x="4402412" y="2908402"/>
            <a:ext cx="1644420" cy="369332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altLang="ko-KR" dirty="0"/>
              <a:t>Blank</a:t>
            </a:r>
            <a:endParaRPr lang="ko-KR" altLang="en-US" dirty="0"/>
          </a:p>
        </p:txBody>
      </p:sp>
      <p:cxnSp>
        <p:nvCxnSpPr>
          <p:cNvPr id="66" name="직선 화살표 연결선 65">
            <a:extLst>
              <a:ext uri="{FF2B5EF4-FFF2-40B4-BE49-F238E27FC236}">
                <a16:creationId xmlns:a16="http://schemas.microsoft.com/office/drawing/2014/main" id="{C5B7F068-C48D-DE59-1F9D-3760695A6CD3}"/>
              </a:ext>
            </a:extLst>
          </p:cNvPr>
          <p:cNvCxnSpPr>
            <a:cxnSpLocks/>
          </p:cNvCxnSpPr>
          <p:nvPr/>
        </p:nvCxnSpPr>
        <p:spPr>
          <a:xfrm>
            <a:off x="7758022" y="2481491"/>
            <a:ext cx="0" cy="426911"/>
          </a:xfrm>
          <a:prstGeom prst="straightConnector1">
            <a:avLst/>
          </a:prstGeom>
          <a:ln w="4762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7" name="TextBox 66">
            <a:extLst>
              <a:ext uri="{FF2B5EF4-FFF2-40B4-BE49-F238E27FC236}">
                <a16:creationId xmlns:a16="http://schemas.microsoft.com/office/drawing/2014/main" id="{1F509294-E334-83DE-E764-B830FFD348BE}"/>
              </a:ext>
            </a:extLst>
          </p:cNvPr>
          <p:cNvSpPr txBox="1"/>
          <p:nvPr/>
        </p:nvSpPr>
        <p:spPr>
          <a:xfrm>
            <a:off x="6651573" y="3360065"/>
            <a:ext cx="5540427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200" dirty="0" err="1"/>
              <a:t>렌더가</a:t>
            </a:r>
            <a:r>
              <a:rPr lang="ko-KR" altLang="en-US" sz="1200" dirty="0"/>
              <a:t> 시작하기 바로 직전에 </a:t>
            </a:r>
            <a:r>
              <a:rPr lang="en-US" altLang="ko-KR" sz="1200" dirty="0" err="1"/>
              <a:t>SV_Render</a:t>
            </a:r>
            <a:r>
              <a:rPr lang="ko-KR" altLang="en-US" sz="1200" dirty="0"/>
              <a:t>로 복사한다</a:t>
            </a:r>
            <a:r>
              <a:rPr lang="en-US" altLang="ko-KR" sz="1200" dirty="0"/>
              <a:t>. (</a:t>
            </a:r>
            <a:r>
              <a:rPr lang="ko-KR" altLang="en-US" sz="1200" dirty="0" err="1"/>
              <a:t>셰이더에서</a:t>
            </a:r>
            <a:r>
              <a:rPr lang="ko-KR" altLang="en-US" sz="1200" dirty="0"/>
              <a:t> 볼 수 있게</a:t>
            </a:r>
            <a:r>
              <a:rPr lang="en-US" altLang="ko-KR" sz="1200" dirty="0"/>
              <a:t>)</a:t>
            </a:r>
            <a:endParaRPr lang="ko-KR" altLang="en-US" sz="1200" dirty="0"/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C26EA721-D511-BCEC-C2AB-D58417E619C3}"/>
              </a:ext>
            </a:extLst>
          </p:cNvPr>
          <p:cNvSpPr txBox="1"/>
          <p:nvPr/>
        </p:nvSpPr>
        <p:spPr>
          <a:xfrm>
            <a:off x="447509" y="3910658"/>
            <a:ext cx="690581" cy="369332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altLang="ko-KR" dirty="0"/>
              <a:t>Init</a:t>
            </a:r>
            <a:endParaRPr lang="ko-KR" altLang="en-US" dirty="0"/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CA2D193D-E998-371D-EA07-3F10454B5504}"/>
              </a:ext>
            </a:extLst>
          </p:cNvPr>
          <p:cNvSpPr txBox="1"/>
          <p:nvPr/>
        </p:nvSpPr>
        <p:spPr>
          <a:xfrm>
            <a:off x="1138089" y="3910658"/>
            <a:ext cx="1759975" cy="369332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altLang="ko-KR" dirty="0" err="1"/>
              <a:t>MaterialTexSRV</a:t>
            </a:r>
            <a:endParaRPr lang="ko-KR" altLang="en-US" dirty="0"/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786CB40D-2BC5-F194-0A63-278D06DF875D}"/>
              </a:ext>
            </a:extLst>
          </p:cNvPr>
          <p:cNvSpPr txBox="1"/>
          <p:nvPr/>
        </p:nvSpPr>
        <p:spPr>
          <a:xfrm>
            <a:off x="2898063" y="3910658"/>
            <a:ext cx="3156153" cy="369332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altLang="ko-KR" dirty="0" err="1"/>
              <a:t>MaterialCBV</a:t>
            </a:r>
            <a:endParaRPr lang="ko-KR" altLang="en-US" dirty="0"/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DC7160A3-9976-75FE-2FB2-B0BEE293C7A3}"/>
              </a:ext>
            </a:extLst>
          </p:cNvPr>
          <p:cNvSpPr txBox="1"/>
          <p:nvPr/>
        </p:nvSpPr>
        <p:spPr>
          <a:xfrm>
            <a:off x="6054213" y="3910658"/>
            <a:ext cx="1691151" cy="369332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altLang="ko-KR" dirty="0" err="1"/>
              <a:t>InstancingSRV</a:t>
            </a:r>
            <a:endParaRPr lang="ko-KR" altLang="en-US" dirty="0"/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2E7A911D-C963-177F-A887-26EB550BE6B5}"/>
              </a:ext>
            </a:extLst>
          </p:cNvPr>
          <p:cNvSpPr txBox="1"/>
          <p:nvPr/>
        </p:nvSpPr>
        <p:spPr>
          <a:xfrm>
            <a:off x="7745358" y="3910658"/>
            <a:ext cx="3549444" cy="369332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altLang="ko-KR" dirty="0" err="1"/>
              <a:t>DynamicRange</a:t>
            </a:r>
            <a:endParaRPr lang="ko-KR" altLang="en-US" dirty="0"/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A1F37391-E26A-CA67-EE80-F49983813355}"/>
              </a:ext>
            </a:extLst>
          </p:cNvPr>
          <p:cNvSpPr txBox="1"/>
          <p:nvPr/>
        </p:nvSpPr>
        <p:spPr>
          <a:xfrm>
            <a:off x="4402412" y="3910658"/>
            <a:ext cx="1644420" cy="369332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altLang="ko-KR" dirty="0"/>
              <a:t>Blank</a:t>
            </a:r>
            <a:endParaRPr lang="ko-KR" altLang="en-US" dirty="0"/>
          </a:p>
        </p:txBody>
      </p:sp>
      <p:cxnSp>
        <p:nvCxnSpPr>
          <p:cNvPr id="74" name="직선 화살표 연결선 73">
            <a:extLst>
              <a:ext uri="{FF2B5EF4-FFF2-40B4-BE49-F238E27FC236}">
                <a16:creationId xmlns:a16="http://schemas.microsoft.com/office/drawing/2014/main" id="{9F36B26D-4E70-E1F3-E097-8DF2EE82C592}"/>
              </a:ext>
            </a:extLst>
          </p:cNvPr>
          <p:cNvCxnSpPr>
            <a:cxnSpLocks/>
          </p:cNvCxnSpPr>
          <p:nvPr/>
        </p:nvCxnSpPr>
        <p:spPr>
          <a:xfrm flipH="1">
            <a:off x="440128" y="3292818"/>
            <a:ext cx="7380" cy="617840"/>
          </a:xfrm>
          <a:prstGeom prst="straightConnector1">
            <a:avLst/>
          </a:prstGeom>
          <a:ln w="4762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6" name="직선 화살표 연결선 75">
            <a:extLst>
              <a:ext uri="{FF2B5EF4-FFF2-40B4-BE49-F238E27FC236}">
                <a16:creationId xmlns:a16="http://schemas.microsoft.com/office/drawing/2014/main" id="{7114C01D-7B99-0696-68AB-54D07669F2D6}"/>
              </a:ext>
            </a:extLst>
          </p:cNvPr>
          <p:cNvCxnSpPr>
            <a:cxnSpLocks/>
          </p:cNvCxnSpPr>
          <p:nvPr/>
        </p:nvCxnSpPr>
        <p:spPr>
          <a:xfrm>
            <a:off x="7745358" y="3267732"/>
            <a:ext cx="7387" cy="642926"/>
          </a:xfrm>
          <a:prstGeom prst="straightConnector1">
            <a:avLst/>
          </a:prstGeom>
          <a:ln w="4762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pslz="http://schemas.microsoft.com/office/powerpoint/2016/slidezoom" Requires="pslz">
          <p:graphicFrame>
            <p:nvGraphicFramePr>
              <p:cNvPr id="33" name="슬라이드 확대/축소 32">
                <a:extLst>
                  <a:ext uri="{FF2B5EF4-FFF2-40B4-BE49-F238E27FC236}">
                    <a16:creationId xmlns:a16="http://schemas.microsoft.com/office/drawing/2014/main" id="{719920B9-52AF-7979-CBF3-6D4417F30F18}"/>
                  </a:ext>
                </a:extLst>
              </p:cNvPr>
              <p:cNvGraphicFramePr>
                <a:graphicFrameLocks noChangeAspect="1"/>
              </p:cNvGraphicFramePr>
              <p:nvPr>
                <p:extLst>
                  <p:ext uri="{D42A27DB-BD31-4B8C-83A1-F6EECF244321}">
                    <p14:modId xmlns:p14="http://schemas.microsoft.com/office/powerpoint/2010/main" val="1671951764"/>
                  </p:ext>
                </p:extLst>
              </p:nvPr>
            </p:nvGraphicFramePr>
            <p:xfrm>
              <a:off x="433793" y="4639320"/>
              <a:ext cx="3785294" cy="2129228"/>
            </p:xfrm>
            <a:graphic>
              <a:graphicData uri="http://schemas.microsoft.com/office/powerpoint/2016/slidezoom">
                <pslz:sldZm>
                  <pslz:sldZmObj sldId="294" cId="932065989">
                    <pslz:zmPr id="{5073C7AB-0B7C-4532-8F90-51F0BDE4C8D2}" returnToParent="0" transitionDur="1000">
                      <p166:blipFill xmlns:p166="http://schemas.microsoft.com/office/powerpoint/2016/6/main">
                        <a:blip r:embed="rId2"/>
                        <a:stretch>
                          <a:fillRect/>
                        </a:stretch>
                      </p166:blipFill>
                      <p166:spPr xmlns:p166="http://schemas.microsoft.com/office/powerpoint/2016/6/main">
                        <a:xfrm>
                          <a:off x="0" y="0"/>
                          <a:ext cx="3785294" cy="2129228"/>
                        </a:xfrm>
                        <a:prstGeom prst="rect">
                          <a:avLst/>
                        </a:prstGeom>
                        <a:ln w="3175">
                          <a:solidFill>
                            <a:prstClr val="ltGray"/>
                          </a:solidFill>
                        </a:ln>
                      </p166:spPr>
                    </pslz:zmPr>
                  </pslz:sldZmObj>
                </pslz:sldZm>
              </a:graphicData>
            </a:graphic>
          </p:graphicFrame>
        </mc:Choice>
        <mc:Fallback>
          <p:pic>
            <p:nvPicPr>
              <p:cNvPr id="33" name="슬라이드 확대/축소 32">
                <a:hlinkClick r:id="rId3" action="ppaction://hlinksldjump"/>
                <a:extLst>
                  <a:ext uri="{FF2B5EF4-FFF2-40B4-BE49-F238E27FC236}">
                    <a16:creationId xmlns:a16="http://schemas.microsoft.com/office/drawing/2014/main" id="{719920B9-52AF-7979-CBF3-6D4417F30F18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433793" y="4639320"/>
                <a:ext cx="3785294" cy="2129228"/>
              </a:xfrm>
              <a:prstGeom prst="rect">
                <a:avLst/>
              </a:prstGeom>
              <a:ln w="3175">
                <a:solidFill>
                  <a:prstClr val="ltGray"/>
                </a:solidFill>
              </a:ln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414497894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B09E2D0-F179-5758-E73D-F3AE2D0B7249}"/>
              </a:ext>
            </a:extLst>
          </p:cNvPr>
          <p:cNvSpPr txBox="1">
            <a:spLocks/>
          </p:cNvSpPr>
          <p:nvPr/>
        </p:nvSpPr>
        <p:spPr>
          <a:xfrm>
            <a:off x="0" y="18255"/>
            <a:ext cx="11866880" cy="8504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7500"/>
          </a:bodyPr>
          <a:lstStyle>
            <a:lvl1pPr algn="l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ko-KR" sz="5400"/>
              <a:t>Zone</a:t>
            </a:r>
            <a:r>
              <a:rPr lang="ko-KR" altLang="en-US" sz="5400"/>
              <a:t>이 변할때의 </a:t>
            </a:r>
            <a:r>
              <a:rPr lang="en-US" altLang="ko-KR" sz="5400"/>
              <a:t>SVDescHeap</a:t>
            </a:r>
            <a:endParaRPr lang="ko-KR" altLang="en-US" sz="5400" dirty="0"/>
          </a:p>
        </p:txBody>
      </p:sp>
    </p:spTree>
    <p:extLst>
      <p:ext uri="{BB962C8B-B14F-4D97-AF65-F5344CB8AC3E}">
        <p14:creationId xmlns:p14="http://schemas.microsoft.com/office/powerpoint/2010/main" val="93206598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673648C-C07A-B4F6-89BC-44968E71D2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D540FD7-4500-3811-D022-B50DC4F4B655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0" y="18255"/>
            <a:ext cx="11866880" cy="850425"/>
          </a:xfrm>
        </p:spPr>
        <p:txBody>
          <a:bodyPr>
            <a:normAutofit/>
          </a:bodyPr>
          <a:lstStyle/>
          <a:p>
            <a:r>
              <a:rPr lang="en-US" altLang="ko-KR" sz="5400" dirty="0" err="1"/>
              <a:t>DescIndex</a:t>
            </a:r>
            <a:endParaRPr lang="ko-KR" altLang="en-US" sz="5400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51FF546-9227-039F-804C-D2A8FDF1D693}"/>
              </a:ext>
            </a:extLst>
          </p:cNvPr>
          <p:cNvSpPr txBox="1"/>
          <p:nvPr/>
        </p:nvSpPr>
        <p:spPr>
          <a:xfrm>
            <a:off x="419809" y="1128281"/>
            <a:ext cx="690581" cy="369332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altLang="ko-KR" dirty="0"/>
              <a:t>Init</a:t>
            </a:r>
            <a:endParaRPr lang="ko-KR" alt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C517E53-2F5F-6D6E-CED8-B3E6EF82D32D}"/>
              </a:ext>
            </a:extLst>
          </p:cNvPr>
          <p:cNvSpPr txBox="1"/>
          <p:nvPr/>
        </p:nvSpPr>
        <p:spPr>
          <a:xfrm>
            <a:off x="1110389" y="1128281"/>
            <a:ext cx="1759975" cy="369332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altLang="ko-KR" dirty="0" err="1"/>
              <a:t>MaterialTexSRV</a:t>
            </a:r>
            <a:endParaRPr lang="ko-KR" altLang="en-US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E7BEDF2-4306-F04A-41EC-3033EF9DEEA0}"/>
              </a:ext>
            </a:extLst>
          </p:cNvPr>
          <p:cNvSpPr txBox="1"/>
          <p:nvPr/>
        </p:nvSpPr>
        <p:spPr>
          <a:xfrm>
            <a:off x="2870364" y="1128281"/>
            <a:ext cx="1465006" cy="369332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altLang="ko-KR" dirty="0" err="1"/>
              <a:t>MaterialCBV</a:t>
            </a:r>
            <a:endParaRPr lang="ko-KR" altLang="en-US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C8BE8A0-5586-EA19-E0A3-F7DF232EBF7A}"/>
              </a:ext>
            </a:extLst>
          </p:cNvPr>
          <p:cNvSpPr txBox="1"/>
          <p:nvPr/>
        </p:nvSpPr>
        <p:spPr>
          <a:xfrm>
            <a:off x="4335370" y="1128281"/>
            <a:ext cx="1691151" cy="369332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altLang="ko-KR" dirty="0" err="1"/>
              <a:t>InstancingSRV</a:t>
            </a:r>
            <a:endParaRPr lang="ko-KR" altLang="en-US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CE35BE7-EAF2-A0EC-9AD8-140EE1F89D48}"/>
              </a:ext>
            </a:extLst>
          </p:cNvPr>
          <p:cNvSpPr txBox="1"/>
          <p:nvPr/>
        </p:nvSpPr>
        <p:spPr>
          <a:xfrm>
            <a:off x="6026521" y="1128281"/>
            <a:ext cx="5584720" cy="369332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altLang="ko-KR" dirty="0"/>
              <a:t>Blank</a:t>
            </a:r>
            <a:endParaRPr lang="ko-KR" altLang="en-US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60744242-AE13-8E1D-0498-5FC0DA3F7976}"/>
              </a:ext>
            </a:extLst>
          </p:cNvPr>
          <p:cNvSpPr txBox="1"/>
          <p:nvPr/>
        </p:nvSpPr>
        <p:spPr>
          <a:xfrm>
            <a:off x="150641" y="684014"/>
            <a:ext cx="160486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 err="1"/>
              <a:t>NSV_Creation</a:t>
            </a:r>
            <a:endParaRPr lang="ko-KR" altLang="en-US" dirty="0"/>
          </a:p>
        </p:txBody>
      </p:sp>
      <p:cxnSp>
        <p:nvCxnSpPr>
          <p:cNvPr id="14" name="직선 화살표 연결선 13">
            <a:extLst>
              <a:ext uri="{FF2B5EF4-FFF2-40B4-BE49-F238E27FC236}">
                <a16:creationId xmlns:a16="http://schemas.microsoft.com/office/drawing/2014/main" id="{74081D3B-520B-AEEF-E432-70864ADCE90D}"/>
              </a:ext>
            </a:extLst>
          </p:cNvPr>
          <p:cNvCxnSpPr>
            <a:cxnSpLocks/>
          </p:cNvCxnSpPr>
          <p:nvPr/>
        </p:nvCxnSpPr>
        <p:spPr>
          <a:xfrm>
            <a:off x="4335370" y="1022055"/>
            <a:ext cx="0" cy="106226"/>
          </a:xfrm>
          <a:prstGeom prst="straightConnector1">
            <a:avLst/>
          </a:prstGeom>
          <a:ln w="4762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>
            <a:extLst>
              <a:ext uri="{FF2B5EF4-FFF2-40B4-BE49-F238E27FC236}">
                <a16:creationId xmlns:a16="http://schemas.microsoft.com/office/drawing/2014/main" id="{1D35D3E5-D332-1ED6-A355-A9BCD0E56A6A}"/>
              </a:ext>
            </a:extLst>
          </p:cNvPr>
          <p:cNvSpPr txBox="1"/>
          <p:nvPr/>
        </p:nvSpPr>
        <p:spPr>
          <a:xfrm>
            <a:off x="223907" y="2802798"/>
            <a:ext cx="7973208" cy="32316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200" dirty="0"/>
              <a:t>SVDescHeap2 </a:t>
            </a:r>
            <a:r>
              <a:rPr lang="ko-KR" altLang="en-US" sz="1200" dirty="0"/>
              <a:t>구조체에서는</a:t>
            </a:r>
            <a:r>
              <a:rPr lang="en-US" altLang="ko-KR" sz="1200" dirty="0"/>
              <a:t>,</a:t>
            </a:r>
          </a:p>
          <a:p>
            <a:r>
              <a:rPr lang="ko-KR" altLang="en-US" sz="1200" dirty="0"/>
              <a:t>리소스 생성에는 </a:t>
            </a:r>
            <a:r>
              <a:rPr lang="en-US" altLang="ko-KR" sz="1200" dirty="0" err="1"/>
              <a:t>NSV_Creation</a:t>
            </a:r>
            <a:r>
              <a:rPr lang="ko-KR" altLang="en-US" sz="1200" dirty="0"/>
              <a:t>의 </a:t>
            </a:r>
            <a:r>
              <a:rPr lang="en-US" altLang="ko-KR" sz="1200" dirty="0"/>
              <a:t>Desc</a:t>
            </a:r>
            <a:r>
              <a:rPr lang="ko-KR" altLang="en-US" sz="1200" dirty="0"/>
              <a:t>를 참조해야 하지만</a:t>
            </a:r>
            <a:r>
              <a:rPr lang="en-US" altLang="ko-KR" sz="1200" dirty="0"/>
              <a:t>, </a:t>
            </a:r>
            <a:r>
              <a:rPr lang="ko-KR" altLang="en-US" sz="1200" dirty="0"/>
              <a:t>렌더링을 </a:t>
            </a:r>
            <a:r>
              <a:rPr lang="ko-KR" altLang="en-US" sz="1200" dirty="0" err="1"/>
              <a:t>할때는</a:t>
            </a:r>
            <a:r>
              <a:rPr lang="ko-KR" altLang="en-US" sz="1200" dirty="0"/>
              <a:t> </a:t>
            </a:r>
            <a:r>
              <a:rPr lang="en-US" altLang="ko-KR" sz="1200" dirty="0" err="1"/>
              <a:t>SV_Render</a:t>
            </a:r>
            <a:r>
              <a:rPr lang="ko-KR" altLang="en-US" sz="1200" dirty="0"/>
              <a:t>의 </a:t>
            </a:r>
            <a:r>
              <a:rPr lang="en-US" altLang="ko-KR" sz="1200" dirty="0"/>
              <a:t>Desc</a:t>
            </a:r>
            <a:r>
              <a:rPr lang="ko-KR" altLang="en-US" sz="1200" dirty="0"/>
              <a:t>를 참조해야 한다</a:t>
            </a:r>
            <a:r>
              <a:rPr lang="en-US" altLang="ko-KR" sz="1200" dirty="0"/>
              <a:t>.</a:t>
            </a:r>
          </a:p>
          <a:p>
            <a:r>
              <a:rPr lang="ko-KR" altLang="en-US" sz="1200" dirty="0"/>
              <a:t>때문에 리소스가 </a:t>
            </a:r>
            <a:r>
              <a:rPr lang="en-US" altLang="ko-KR" sz="1200" dirty="0" err="1"/>
              <a:t>DescHandle</a:t>
            </a:r>
            <a:r>
              <a:rPr lang="ko-KR" altLang="en-US" sz="1200" dirty="0"/>
              <a:t>을 두개 </a:t>
            </a:r>
            <a:r>
              <a:rPr lang="ko-KR" altLang="en-US" sz="1200" dirty="0" err="1"/>
              <a:t>가져야한다는</a:t>
            </a:r>
            <a:r>
              <a:rPr lang="ko-KR" altLang="en-US" sz="1200" dirty="0"/>
              <a:t> 단점이 있었다</a:t>
            </a:r>
            <a:r>
              <a:rPr lang="en-US" altLang="ko-KR" sz="1200" dirty="0"/>
              <a:t>.</a:t>
            </a:r>
          </a:p>
          <a:p>
            <a:endParaRPr lang="en-US" altLang="ko-KR" sz="1200" dirty="0"/>
          </a:p>
          <a:p>
            <a:r>
              <a:rPr lang="ko-KR" altLang="en-US" sz="1200" dirty="0"/>
              <a:t>이를 극복하기 위해서 </a:t>
            </a:r>
            <a:br>
              <a:rPr lang="en-US" altLang="ko-KR" sz="1200" dirty="0"/>
            </a:br>
            <a:r>
              <a:rPr lang="en-US" altLang="ko-KR" sz="1200" dirty="0" err="1"/>
              <a:t>DescIndex</a:t>
            </a:r>
            <a:r>
              <a:rPr lang="ko-KR" altLang="en-US" sz="1200" dirty="0"/>
              <a:t>라는 구조체를 만들었다</a:t>
            </a:r>
            <a:r>
              <a:rPr lang="en-US" altLang="ko-KR" sz="1200" dirty="0"/>
              <a:t>. </a:t>
            </a:r>
          </a:p>
          <a:p>
            <a:r>
              <a:rPr lang="en-US" altLang="ko-KR" sz="1200" dirty="0" err="1"/>
              <a:t>isShaderVisible</a:t>
            </a:r>
            <a:r>
              <a:rPr lang="ko-KR" altLang="en-US" sz="1200" dirty="0"/>
              <a:t>가 </a:t>
            </a:r>
            <a:r>
              <a:rPr lang="en-US" altLang="ko-KR" sz="1200" dirty="0"/>
              <a:t>true</a:t>
            </a:r>
            <a:r>
              <a:rPr lang="ko-KR" altLang="en-US" sz="1200" dirty="0"/>
              <a:t>면 </a:t>
            </a:r>
            <a:r>
              <a:rPr lang="en-US" altLang="ko-KR" sz="1200" dirty="0" err="1"/>
              <a:t>SVDescHeap</a:t>
            </a:r>
            <a:r>
              <a:rPr lang="en-US" altLang="ko-KR" sz="1200" dirty="0"/>
              <a:t> </a:t>
            </a:r>
            <a:r>
              <a:rPr lang="ko-KR" altLang="en-US" sz="1200" dirty="0"/>
              <a:t>구조체안에 있다는 것이고</a:t>
            </a:r>
            <a:r>
              <a:rPr lang="en-US" altLang="ko-KR" sz="1200" dirty="0"/>
              <a:t>, </a:t>
            </a:r>
          </a:p>
          <a:p>
            <a:r>
              <a:rPr lang="ko-KR" altLang="en-US" sz="1200" dirty="0"/>
              <a:t>아니라면 </a:t>
            </a:r>
            <a:r>
              <a:rPr lang="en-US" altLang="ko-KR" sz="1200" dirty="0" err="1"/>
              <a:t>ResourceDescSaver</a:t>
            </a:r>
            <a:r>
              <a:rPr lang="ko-KR" altLang="en-US" sz="1200" dirty="0"/>
              <a:t>에 들어가서 나중에 유동적으로 리소스를 보여주겠다는 </a:t>
            </a:r>
            <a:endParaRPr lang="en-US" altLang="ko-KR" sz="1200" dirty="0"/>
          </a:p>
          <a:p>
            <a:r>
              <a:rPr lang="ko-KR" altLang="en-US" sz="1200" dirty="0"/>
              <a:t>의미다</a:t>
            </a:r>
            <a:r>
              <a:rPr lang="en-US" altLang="ko-KR" sz="1200" dirty="0"/>
              <a:t>. </a:t>
            </a:r>
            <a:r>
              <a:rPr lang="ko-KR" altLang="en-US" sz="1200" dirty="0"/>
              <a:t>때문에 </a:t>
            </a:r>
            <a:r>
              <a:rPr lang="en-US" altLang="ko-KR" sz="1200" dirty="0" err="1"/>
              <a:t>isShaderVisible</a:t>
            </a:r>
            <a:r>
              <a:rPr lang="ko-KR" altLang="en-US" sz="1200" dirty="0"/>
              <a:t>이 </a:t>
            </a:r>
            <a:r>
              <a:rPr lang="en-US" altLang="ko-KR" sz="1200" dirty="0"/>
              <a:t>false</a:t>
            </a:r>
            <a:r>
              <a:rPr lang="ko-KR" altLang="en-US" sz="1200" dirty="0"/>
              <a:t>면 </a:t>
            </a:r>
            <a:r>
              <a:rPr lang="en-US" altLang="ko-KR" sz="1200" dirty="0"/>
              <a:t>Render</a:t>
            </a:r>
            <a:r>
              <a:rPr lang="ko-KR" altLang="en-US" sz="1200" dirty="0"/>
              <a:t>용 </a:t>
            </a:r>
            <a:r>
              <a:rPr lang="en-US" altLang="ko-KR" sz="1200" dirty="0"/>
              <a:t>Desc</a:t>
            </a:r>
            <a:r>
              <a:rPr lang="ko-KR" altLang="en-US" sz="1200" dirty="0"/>
              <a:t>가 존재할 수 없다</a:t>
            </a:r>
            <a:r>
              <a:rPr lang="en-US" altLang="ko-KR" sz="1200" dirty="0"/>
              <a:t>.</a:t>
            </a:r>
          </a:p>
          <a:p>
            <a:endParaRPr lang="en-US" altLang="ko-KR" sz="1200" dirty="0"/>
          </a:p>
          <a:p>
            <a:r>
              <a:rPr lang="en-US" altLang="ko-KR" sz="1200" dirty="0"/>
              <a:t>Type</a:t>
            </a:r>
            <a:r>
              <a:rPr lang="ko-KR" altLang="en-US" sz="1200" dirty="0"/>
              <a:t>은 이 </a:t>
            </a:r>
            <a:r>
              <a:rPr lang="ko-KR" altLang="en-US" sz="1200" dirty="0" err="1"/>
              <a:t>디스크립터의</a:t>
            </a:r>
            <a:r>
              <a:rPr lang="ko-KR" altLang="en-US" sz="1200" dirty="0"/>
              <a:t> 타입을 말해준다</a:t>
            </a:r>
            <a:r>
              <a:rPr lang="en-US" altLang="ko-KR" sz="1200" dirty="0"/>
              <a:t>. UAVSRVCBV, RTV, DSV</a:t>
            </a:r>
            <a:r>
              <a:rPr lang="ko-KR" altLang="en-US" sz="1200" dirty="0"/>
              <a:t>등이 있다</a:t>
            </a:r>
            <a:r>
              <a:rPr lang="en-US" altLang="ko-KR" sz="1200" dirty="0"/>
              <a:t>.</a:t>
            </a:r>
          </a:p>
          <a:p>
            <a:r>
              <a:rPr lang="en-US" altLang="ko-KR" sz="1200" dirty="0"/>
              <a:t>Index</a:t>
            </a:r>
            <a:r>
              <a:rPr lang="ko-KR" altLang="en-US" sz="1200" dirty="0"/>
              <a:t>는 해당 </a:t>
            </a:r>
            <a:r>
              <a:rPr lang="en-US" altLang="ko-KR" sz="1200" dirty="0"/>
              <a:t>Desc</a:t>
            </a:r>
            <a:r>
              <a:rPr lang="ko-KR" altLang="en-US" sz="1200" dirty="0"/>
              <a:t>가 </a:t>
            </a:r>
            <a:r>
              <a:rPr lang="en-US" altLang="ko-KR" sz="1200" dirty="0" err="1"/>
              <a:t>DecsHeap</a:t>
            </a:r>
            <a:r>
              <a:rPr lang="ko-KR" altLang="en-US" sz="1200" dirty="0"/>
              <a:t>에 </a:t>
            </a:r>
            <a:r>
              <a:rPr lang="ko-KR" altLang="en-US" sz="1200" dirty="0" err="1"/>
              <a:t>몇번째</a:t>
            </a:r>
            <a:r>
              <a:rPr lang="ko-KR" altLang="en-US" sz="1200" dirty="0"/>
              <a:t> </a:t>
            </a:r>
            <a:r>
              <a:rPr lang="en-US" altLang="ko-KR" sz="1200" dirty="0"/>
              <a:t>Desc</a:t>
            </a:r>
            <a:r>
              <a:rPr lang="ko-KR" altLang="en-US" sz="1200" dirty="0"/>
              <a:t>인지 알려준다</a:t>
            </a:r>
            <a:r>
              <a:rPr lang="en-US" altLang="ko-KR" sz="1200" dirty="0"/>
              <a:t>.</a:t>
            </a:r>
          </a:p>
          <a:p>
            <a:endParaRPr lang="en-US" altLang="ko-KR" sz="1200" dirty="0"/>
          </a:p>
          <a:p>
            <a:r>
              <a:rPr lang="ko-KR" altLang="en-US" sz="1200" dirty="0"/>
              <a:t>때문에 </a:t>
            </a:r>
            <a:r>
              <a:rPr lang="en-US" altLang="ko-KR" sz="1200" dirty="0" err="1"/>
              <a:t>DescHeap</a:t>
            </a:r>
            <a:r>
              <a:rPr lang="ko-KR" altLang="en-US" sz="1200" dirty="0"/>
              <a:t>의 구조가 바뀌더라도</a:t>
            </a:r>
            <a:r>
              <a:rPr lang="en-US" altLang="ko-KR" sz="1200" dirty="0"/>
              <a:t>, </a:t>
            </a:r>
            <a:r>
              <a:rPr lang="ko-KR" altLang="en-US" sz="1200" dirty="0"/>
              <a:t>리소스의 </a:t>
            </a:r>
            <a:r>
              <a:rPr lang="en-US" altLang="ko-KR" sz="1200" dirty="0" err="1"/>
              <a:t>DescIndex</a:t>
            </a:r>
            <a:r>
              <a:rPr lang="ko-KR" altLang="en-US" sz="1200" dirty="0"/>
              <a:t>의 </a:t>
            </a:r>
            <a:r>
              <a:rPr lang="en-US" altLang="ko-KR" sz="1200" dirty="0"/>
              <a:t>index</a:t>
            </a:r>
            <a:r>
              <a:rPr lang="ko-KR" altLang="en-US" sz="1200" dirty="0"/>
              <a:t>값만 </a:t>
            </a:r>
            <a:endParaRPr lang="en-US" altLang="ko-KR" sz="1200" dirty="0"/>
          </a:p>
          <a:p>
            <a:r>
              <a:rPr lang="ko-KR" altLang="en-US" sz="1200" dirty="0"/>
              <a:t>변화량만큼 </a:t>
            </a:r>
            <a:r>
              <a:rPr lang="ko-KR" altLang="en-US" sz="1200" dirty="0" err="1"/>
              <a:t>이격하게</a:t>
            </a:r>
            <a:r>
              <a:rPr lang="ko-KR" altLang="en-US" sz="1200" dirty="0"/>
              <a:t> 되면 </a:t>
            </a:r>
            <a:r>
              <a:rPr lang="en-US" altLang="ko-KR" sz="1200" dirty="0"/>
              <a:t>Desc</a:t>
            </a:r>
            <a:r>
              <a:rPr lang="ko-KR" altLang="en-US" sz="1200" dirty="0"/>
              <a:t>확장이 </a:t>
            </a:r>
            <a:r>
              <a:rPr lang="ko-KR" altLang="en-US" sz="1200" dirty="0" err="1"/>
              <a:t>무리없이</a:t>
            </a:r>
            <a:r>
              <a:rPr lang="ko-KR" altLang="en-US" sz="1200" dirty="0"/>
              <a:t> 가능했다</a:t>
            </a:r>
            <a:r>
              <a:rPr lang="en-US" altLang="ko-KR" sz="1200" dirty="0"/>
              <a:t>.</a:t>
            </a:r>
          </a:p>
          <a:p>
            <a:r>
              <a:rPr lang="ko-KR" altLang="en-US" sz="1200" dirty="0"/>
              <a:t>이걸 하기 위해 </a:t>
            </a:r>
            <a:r>
              <a:rPr lang="en-US" altLang="ko-KR" sz="1200" dirty="0"/>
              <a:t>Game </a:t>
            </a:r>
            <a:r>
              <a:rPr lang="ko-KR" altLang="en-US" sz="1200" dirty="0"/>
              <a:t>구조체에 반영구적인 리소스들의 구조체에 </a:t>
            </a:r>
            <a:r>
              <a:rPr lang="en-US" altLang="ko-KR" sz="1200" dirty="0" err="1"/>
              <a:t>DescIndex</a:t>
            </a:r>
            <a:r>
              <a:rPr lang="ko-KR" altLang="en-US" sz="1200" dirty="0"/>
              <a:t>가 있다</a:t>
            </a:r>
            <a:r>
              <a:rPr lang="en-US" altLang="ko-KR" sz="1200" dirty="0"/>
              <a:t>.</a:t>
            </a:r>
          </a:p>
          <a:p>
            <a:r>
              <a:rPr lang="ko-KR" altLang="en-US" sz="1200" dirty="0"/>
              <a:t>구조가 </a:t>
            </a:r>
            <a:r>
              <a:rPr lang="ko-KR" altLang="en-US" sz="1200" dirty="0" err="1"/>
              <a:t>바뀔때</a:t>
            </a:r>
            <a:r>
              <a:rPr lang="ko-KR" altLang="en-US" sz="1200" dirty="0"/>
              <a:t> 해당 리소스들을 순회하면서 </a:t>
            </a:r>
            <a:r>
              <a:rPr lang="en-US" altLang="ko-KR" sz="1200" dirty="0" err="1"/>
              <a:t>DescIndex</a:t>
            </a:r>
            <a:r>
              <a:rPr lang="ko-KR" altLang="en-US" sz="1200" dirty="0"/>
              <a:t>를 알맞게 </a:t>
            </a:r>
            <a:r>
              <a:rPr lang="ko-KR" altLang="en-US" sz="1200" dirty="0" err="1"/>
              <a:t>이격해준다</a:t>
            </a:r>
            <a:r>
              <a:rPr lang="en-US" altLang="ko-KR" sz="1200" dirty="0"/>
              <a:t>.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29E64583-56D7-435A-4447-CF29C9AF75E8}"/>
              </a:ext>
            </a:extLst>
          </p:cNvPr>
          <p:cNvSpPr txBox="1"/>
          <p:nvPr/>
        </p:nvSpPr>
        <p:spPr>
          <a:xfrm>
            <a:off x="419808" y="2339197"/>
            <a:ext cx="690581" cy="369332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altLang="ko-KR" dirty="0"/>
              <a:t>Init</a:t>
            </a:r>
            <a:endParaRPr lang="ko-KR" altLang="en-US" dirty="0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8DE6B82C-FE50-C151-EA53-1E9599CF3E55}"/>
              </a:ext>
            </a:extLst>
          </p:cNvPr>
          <p:cNvSpPr txBox="1"/>
          <p:nvPr/>
        </p:nvSpPr>
        <p:spPr>
          <a:xfrm>
            <a:off x="1110388" y="2339197"/>
            <a:ext cx="1759975" cy="369332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altLang="ko-KR" dirty="0" err="1"/>
              <a:t>MaterialTexSRV</a:t>
            </a:r>
            <a:endParaRPr lang="ko-KR" altLang="en-US" dirty="0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7E6208B5-587A-5946-B112-5285C5100DC2}"/>
              </a:ext>
            </a:extLst>
          </p:cNvPr>
          <p:cNvSpPr txBox="1"/>
          <p:nvPr/>
        </p:nvSpPr>
        <p:spPr>
          <a:xfrm>
            <a:off x="2870362" y="2339197"/>
            <a:ext cx="3156153" cy="369332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altLang="ko-KR" dirty="0" err="1"/>
              <a:t>MaterialCBV</a:t>
            </a:r>
            <a:endParaRPr lang="ko-KR" altLang="en-US" dirty="0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9E2EC6BD-B450-D684-EA31-9914DCCE0A82}"/>
              </a:ext>
            </a:extLst>
          </p:cNvPr>
          <p:cNvSpPr txBox="1"/>
          <p:nvPr/>
        </p:nvSpPr>
        <p:spPr>
          <a:xfrm>
            <a:off x="6026512" y="2339197"/>
            <a:ext cx="1691151" cy="369332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altLang="ko-KR" dirty="0" err="1"/>
              <a:t>InstancingSRV</a:t>
            </a:r>
            <a:endParaRPr lang="ko-KR" altLang="en-US" dirty="0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3E3FED09-CAF1-67CF-9356-D34711CDC1CB}"/>
              </a:ext>
            </a:extLst>
          </p:cNvPr>
          <p:cNvSpPr txBox="1"/>
          <p:nvPr/>
        </p:nvSpPr>
        <p:spPr>
          <a:xfrm>
            <a:off x="7717657" y="2339197"/>
            <a:ext cx="3549444" cy="369332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altLang="ko-KR" dirty="0"/>
              <a:t>Blank</a:t>
            </a:r>
            <a:endParaRPr lang="ko-KR" altLang="en-US" dirty="0"/>
          </a:p>
        </p:txBody>
      </p:sp>
      <p:cxnSp>
        <p:nvCxnSpPr>
          <p:cNvPr id="27" name="직선 화살표 연결선 26">
            <a:extLst>
              <a:ext uri="{FF2B5EF4-FFF2-40B4-BE49-F238E27FC236}">
                <a16:creationId xmlns:a16="http://schemas.microsoft.com/office/drawing/2014/main" id="{0757F81F-4BEB-6676-4C51-29EDE84E28CC}"/>
              </a:ext>
            </a:extLst>
          </p:cNvPr>
          <p:cNvCxnSpPr>
            <a:cxnSpLocks/>
          </p:cNvCxnSpPr>
          <p:nvPr/>
        </p:nvCxnSpPr>
        <p:spPr>
          <a:xfrm flipH="1">
            <a:off x="394472" y="1497613"/>
            <a:ext cx="25336" cy="841584"/>
          </a:xfrm>
          <a:prstGeom prst="straightConnector1">
            <a:avLst/>
          </a:prstGeom>
          <a:ln w="4762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직선 화살표 연결선 30">
            <a:extLst>
              <a:ext uri="{FF2B5EF4-FFF2-40B4-BE49-F238E27FC236}">
                <a16:creationId xmlns:a16="http://schemas.microsoft.com/office/drawing/2014/main" id="{1B745534-686F-E271-BBE6-17FBCB243018}"/>
              </a:ext>
            </a:extLst>
          </p:cNvPr>
          <p:cNvCxnSpPr>
            <a:cxnSpLocks/>
          </p:cNvCxnSpPr>
          <p:nvPr/>
        </p:nvCxnSpPr>
        <p:spPr>
          <a:xfrm>
            <a:off x="1110387" y="1497613"/>
            <a:ext cx="0" cy="861588"/>
          </a:xfrm>
          <a:prstGeom prst="straightConnector1">
            <a:avLst/>
          </a:prstGeom>
          <a:ln w="4762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직선 화살표 연결선 33">
            <a:extLst>
              <a:ext uri="{FF2B5EF4-FFF2-40B4-BE49-F238E27FC236}">
                <a16:creationId xmlns:a16="http://schemas.microsoft.com/office/drawing/2014/main" id="{F43D9D05-A342-7AF7-A6FB-DF85950711D2}"/>
              </a:ext>
            </a:extLst>
          </p:cNvPr>
          <p:cNvCxnSpPr>
            <a:cxnSpLocks/>
          </p:cNvCxnSpPr>
          <p:nvPr/>
        </p:nvCxnSpPr>
        <p:spPr>
          <a:xfrm>
            <a:off x="2870363" y="1487611"/>
            <a:ext cx="0" cy="861588"/>
          </a:xfrm>
          <a:prstGeom prst="straightConnector1">
            <a:avLst/>
          </a:prstGeom>
          <a:ln w="4762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직선 화살표 연결선 34">
            <a:extLst>
              <a:ext uri="{FF2B5EF4-FFF2-40B4-BE49-F238E27FC236}">
                <a16:creationId xmlns:a16="http://schemas.microsoft.com/office/drawing/2014/main" id="{89182AF9-F4DB-37D4-381D-E4C354FD65C8}"/>
              </a:ext>
            </a:extLst>
          </p:cNvPr>
          <p:cNvCxnSpPr>
            <a:cxnSpLocks/>
          </p:cNvCxnSpPr>
          <p:nvPr/>
        </p:nvCxnSpPr>
        <p:spPr>
          <a:xfrm>
            <a:off x="4335369" y="1497613"/>
            <a:ext cx="0" cy="841584"/>
          </a:xfrm>
          <a:prstGeom prst="straightConnector1">
            <a:avLst/>
          </a:prstGeom>
          <a:ln w="4762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직선 화살표 연결선 37">
            <a:extLst>
              <a:ext uri="{FF2B5EF4-FFF2-40B4-BE49-F238E27FC236}">
                <a16:creationId xmlns:a16="http://schemas.microsoft.com/office/drawing/2014/main" id="{8CDD0A11-6CA2-9C2C-A085-0C5091D62419}"/>
              </a:ext>
            </a:extLst>
          </p:cNvPr>
          <p:cNvCxnSpPr>
            <a:cxnSpLocks/>
          </p:cNvCxnSpPr>
          <p:nvPr/>
        </p:nvCxnSpPr>
        <p:spPr>
          <a:xfrm>
            <a:off x="4335369" y="1497613"/>
            <a:ext cx="1698520" cy="841584"/>
          </a:xfrm>
          <a:prstGeom prst="straightConnector1">
            <a:avLst/>
          </a:prstGeom>
          <a:ln w="4762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직선 화살표 연결선 40">
            <a:extLst>
              <a:ext uri="{FF2B5EF4-FFF2-40B4-BE49-F238E27FC236}">
                <a16:creationId xmlns:a16="http://schemas.microsoft.com/office/drawing/2014/main" id="{FC9C3C5A-0405-C848-341C-D9F384467D7E}"/>
              </a:ext>
            </a:extLst>
          </p:cNvPr>
          <p:cNvCxnSpPr>
            <a:cxnSpLocks/>
          </p:cNvCxnSpPr>
          <p:nvPr/>
        </p:nvCxnSpPr>
        <p:spPr>
          <a:xfrm>
            <a:off x="6026512" y="1497613"/>
            <a:ext cx="1683771" cy="841584"/>
          </a:xfrm>
          <a:prstGeom prst="straightConnector1">
            <a:avLst/>
          </a:prstGeom>
          <a:ln w="4762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TextBox 43">
            <a:extLst>
              <a:ext uri="{FF2B5EF4-FFF2-40B4-BE49-F238E27FC236}">
                <a16:creationId xmlns:a16="http://schemas.microsoft.com/office/drawing/2014/main" id="{8DD040DF-2515-A5CA-DFAB-2894FEFDCD0E}"/>
              </a:ext>
            </a:extLst>
          </p:cNvPr>
          <p:cNvSpPr txBox="1"/>
          <p:nvPr/>
        </p:nvSpPr>
        <p:spPr>
          <a:xfrm>
            <a:off x="4374711" y="2339197"/>
            <a:ext cx="1644420" cy="369332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altLang="ko-KR" dirty="0"/>
              <a:t>Blank</a:t>
            </a:r>
            <a:endParaRPr lang="ko-KR" altLang="en-US" dirty="0"/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248E80E2-52C8-2F79-37AB-054E39759C2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69305" y="3616397"/>
            <a:ext cx="5834201" cy="303574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2547979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A5AB2EB-63E8-19DA-D97D-80DEC84CB46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305D5DA-F8C1-0101-8899-CE12B5358791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0" y="0"/>
            <a:ext cx="10515600" cy="850425"/>
          </a:xfrm>
        </p:spPr>
        <p:txBody>
          <a:bodyPr>
            <a:normAutofit/>
          </a:bodyPr>
          <a:lstStyle/>
          <a:p>
            <a:r>
              <a:rPr lang="en-US" altLang="ko-KR" sz="5400" dirty="0"/>
              <a:t>Raster</a:t>
            </a:r>
            <a:endParaRPr lang="ko-KR" altLang="en-US" sz="5400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DA1DB6C-95A0-A1B2-4D02-A6CB2E37E12E}"/>
              </a:ext>
            </a:extLst>
          </p:cNvPr>
          <p:cNvSpPr txBox="1"/>
          <p:nvPr/>
        </p:nvSpPr>
        <p:spPr>
          <a:xfrm>
            <a:off x="180093" y="1053319"/>
            <a:ext cx="1412566" cy="369332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altLang="ko-KR" dirty="0"/>
              <a:t>Object</a:t>
            </a:r>
            <a:r>
              <a:rPr lang="ko-KR" altLang="en-US" dirty="0"/>
              <a:t> </a:t>
            </a:r>
            <a:r>
              <a:rPr lang="ko-KR" altLang="en-US" dirty="0" err="1"/>
              <a:t>컬링</a:t>
            </a:r>
            <a:endParaRPr lang="ko-KR" alt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901BE55-94EE-5B97-C9B9-F09CD1DB5D8B}"/>
              </a:ext>
            </a:extLst>
          </p:cNvPr>
          <p:cNvSpPr txBox="1"/>
          <p:nvPr/>
        </p:nvSpPr>
        <p:spPr>
          <a:xfrm>
            <a:off x="6096000" y="1053319"/>
            <a:ext cx="2778325" cy="369332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ko-KR" altLang="en-US" dirty="0"/>
              <a:t>드로우 콜 </a:t>
            </a:r>
            <a:r>
              <a:rPr lang="en-US" altLang="ko-KR" dirty="0"/>
              <a:t>&amp; </a:t>
            </a:r>
            <a:r>
              <a:rPr lang="ko-KR" altLang="en-US" dirty="0" err="1"/>
              <a:t>버택스</a:t>
            </a:r>
            <a:r>
              <a:rPr lang="ko-KR" altLang="en-US" dirty="0"/>
              <a:t> 처리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17C9A4F-1973-1886-F88C-DC848725BA94}"/>
              </a:ext>
            </a:extLst>
          </p:cNvPr>
          <p:cNvSpPr txBox="1"/>
          <p:nvPr/>
        </p:nvSpPr>
        <p:spPr>
          <a:xfrm>
            <a:off x="180093" y="3127925"/>
            <a:ext cx="1790875" cy="369332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altLang="ko-KR"/>
              <a:t>Light </a:t>
            </a:r>
            <a:r>
              <a:rPr lang="ko-KR" altLang="en-US" dirty="0"/>
              <a:t>처리</a:t>
            </a:r>
            <a:r>
              <a:rPr lang="en-US" altLang="ko-KR" dirty="0"/>
              <a:t> </a:t>
            </a:r>
            <a:r>
              <a:rPr lang="ko-KR" altLang="en-US" dirty="0"/>
              <a:t>방법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21FE83F-6A9C-C4FC-AC86-A2965F3E8423}"/>
              </a:ext>
            </a:extLst>
          </p:cNvPr>
          <p:cNvSpPr txBox="1"/>
          <p:nvPr/>
        </p:nvSpPr>
        <p:spPr>
          <a:xfrm>
            <a:off x="6096000" y="3145596"/>
            <a:ext cx="2252540" cy="369332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altLang="ko-KR" dirty="0" err="1"/>
              <a:t>GameObject</a:t>
            </a:r>
            <a:r>
              <a:rPr lang="ko-KR" altLang="en-US" dirty="0"/>
              <a:t>의 종류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D817599-D3B0-6A9E-4AB9-6130367C0457}"/>
              </a:ext>
            </a:extLst>
          </p:cNvPr>
          <p:cNvSpPr txBox="1"/>
          <p:nvPr/>
        </p:nvSpPr>
        <p:spPr>
          <a:xfrm>
            <a:off x="170093" y="4796507"/>
            <a:ext cx="877163" cy="369332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ko-KR" altLang="en-US" dirty="0"/>
              <a:t>그림자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FC1D38C-86C6-135F-62CE-EA4B051E0B45}"/>
              </a:ext>
            </a:extLst>
          </p:cNvPr>
          <p:cNvSpPr txBox="1"/>
          <p:nvPr/>
        </p:nvSpPr>
        <p:spPr>
          <a:xfrm>
            <a:off x="2958417" y="4796507"/>
            <a:ext cx="646331" cy="369332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ko-KR" altLang="en-US" dirty="0"/>
              <a:t>반사</a:t>
            </a:r>
          </a:p>
        </p:txBody>
      </p:sp>
      <mc:AlternateContent xmlns:mc="http://schemas.openxmlformats.org/markup-compatibility/2006" xmlns:pslz="http://schemas.microsoft.com/office/powerpoint/2016/slidezoom">
        <mc:Choice Requires="pslz">
          <p:graphicFrame>
            <p:nvGraphicFramePr>
              <p:cNvPr id="10" name="슬라이드 확대/축소 9">
                <a:extLst>
                  <a:ext uri="{FF2B5EF4-FFF2-40B4-BE49-F238E27FC236}">
                    <a16:creationId xmlns:a16="http://schemas.microsoft.com/office/drawing/2014/main" id="{36927159-5589-C7AD-107C-FBCE2C8E580D}"/>
                  </a:ext>
                </a:extLst>
              </p:cNvPr>
              <p:cNvGraphicFramePr>
                <a:graphicFrameLocks noChangeAspect="1"/>
              </p:cNvGraphicFramePr>
              <p:nvPr>
                <p:extLst>
                  <p:ext uri="{D42A27DB-BD31-4B8C-83A1-F6EECF244321}">
                    <p14:modId xmlns:p14="http://schemas.microsoft.com/office/powerpoint/2010/main" val="618330889"/>
                  </p:ext>
                </p:extLst>
              </p:nvPr>
            </p:nvGraphicFramePr>
            <p:xfrm>
              <a:off x="180092" y="1472797"/>
              <a:ext cx="2778325" cy="1562808"/>
            </p:xfrm>
            <a:graphic>
              <a:graphicData uri="http://schemas.microsoft.com/office/powerpoint/2016/slidezoom">
                <pslz:sldZm>
                  <pslz:sldZmObj sldId="265" cId="263221488">
                    <pslz:zmPr id="{63EE1A11-4E94-4C25-BFC1-4158C6B23861}" returnToParent="0" transitionDur="1000">
                      <p166:blipFill xmlns:p166="http://schemas.microsoft.com/office/powerpoint/2016/6/main">
                        <a:blip r:embed="rId2"/>
                        <a:stretch>
                          <a:fillRect/>
                        </a:stretch>
                      </p166:blipFill>
                      <p166:spPr xmlns:p166="http://schemas.microsoft.com/office/powerpoint/2016/6/main">
                        <a:xfrm>
                          <a:off x="0" y="0"/>
                          <a:ext cx="2778325" cy="1562808"/>
                        </a:xfrm>
                        <a:prstGeom prst="rect">
                          <a:avLst/>
                        </a:prstGeom>
                        <a:ln w="3175">
                          <a:solidFill>
                            <a:prstClr val="ltGray"/>
                          </a:solidFill>
                        </a:ln>
                      </p166:spPr>
                    </pslz:zmPr>
                  </pslz:sldZmObj>
                </pslz:sldZm>
              </a:graphicData>
            </a:graphic>
          </p:graphicFrame>
        </mc:Choice>
        <mc:Fallback xmlns="">
          <p:pic>
            <p:nvPicPr>
              <p:cNvPr id="10" name="슬라이드 확대/축소 9">
                <a:hlinkClick r:id="rId3" action="ppaction://hlinksldjump"/>
                <a:extLst>
                  <a:ext uri="{FF2B5EF4-FFF2-40B4-BE49-F238E27FC236}">
                    <a16:creationId xmlns:a16="http://schemas.microsoft.com/office/drawing/2014/main" id="{36927159-5589-C7AD-107C-FBCE2C8E580D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/>
              </p:cNvPicPr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180092" y="1472797"/>
                <a:ext cx="2778325" cy="1562808"/>
              </a:xfrm>
              <a:prstGeom prst="rect">
                <a:avLst/>
              </a:prstGeom>
              <a:ln w="3175">
                <a:solidFill>
                  <a:prstClr val="ltGray"/>
                </a:solidFill>
              </a:ln>
            </p:spPr>
          </p:pic>
        </mc:Fallback>
      </mc:AlternateContent>
      <mc:AlternateContent xmlns:mc="http://schemas.openxmlformats.org/markup-compatibility/2006" xmlns:pslz="http://schemas.microsoft.com/office/powerpoint/2016/slidezoom">
        <mc:Choice Requires="pslz">
          <p:graphicFrame>
            <p:nvGraphicFramePr>
              <p:cNvPr id="12" name="슬라이드 확대/축소 11">
                <a:extLst>
                  <a:ext uri="{FF2B5EF4-FFF2-40B4-BE49-F238E27FC236}">
                    <a16:creationId xmlns:a16="http://schemas.microsoft.com/office/drawing/2014/main" id="{C51DCB39-E942-FDA7-1A76-5358BBA4881C}"/>
                  </a:ext>
                </a:extLst>
              </p:cNvPr>
              <p:cNvGraphicFramePr>
                <a:graphicFrameLocks noChangeAspect="1"/>
              </p:cNvGraphicFramePr>
              <p:nvPr>
                <p:extLst>
                  <p:ext uri="{D42A27DB-BD31-4B8C-83A1-F6EECF244321}">
                    <p14:modId xmlns:p14="http://schemas.microsoft.com/office/powerpoint/2010/main" val="431832620"/>
                  </p:ext>
                </p:extLst>
              </p:nvPr>
            </p:nvGraphicFramePr>
            <p:xfrm>
              <a:off x="2958417" y="1472797"/>
              <a:ext cx="2778325" cy="1562808"/>
            </p:xfrm>
            <a:graphic>
              <a:graphicData uri="http://schemas.microsoft.com/office/powerpoint/2016/slidezoom">
                <pslz:sldZm>
                  <pslz:sldZmObj sldId="266" cId="2502613761">
                    <pslz:zmPr id="{3DF0F88A-C4B4-4B73-8457-00D116026201}" returnToParent="0" transitionDur="1000">
                      <p166:blipFill xmlns:p166="http://schemas.microsoft.com/office/powerpoint/2016/6/main">
                        <a:blip r:embed="rId5"/>
                        <a:stretch>
                          <a:fillRect/>
                        </a:stretch>
                      </p166:blipFill>
                      <p166:spPr xmlns:p166="http://schemas.microsoft.com/office/powerpoint/2016/6/main">
                        <a:xfrm>
                          <a:off x="0" y="0"/>
                          <a:ext cx="2778325" cy="1562808"/>
                        </a:xfrm>
                        <a:prstGeom prst="rect">
                          <a:avLst/>
                        </a:prstGeom>
                        <a:ln w="3175">
                          <a:solidFill>
                            <a:prstClr val="ltGray"/>
                          </a:solidFill>
                        </a:ln>
                      </p166:spPr>
                    </pslz:zmPr>
                  </pslz:sldZmObj>
                </pslz:sldZm>
              </a:graphicData>
            </a:graphic>
          </p:graphicFrame>
        </mc:Choice>
        <mc:Fallback xmlns="">
          <p:pic>
            <p:nvPicPr>
              <p:cNvPr id="12" name="슬라이드 확대/축소 11">
                <a:hlinkClick r:id="rId6" action="ppaction://hlinksldjump"/>
                <a:extLst>
                  <a:ext uri="{FF2B5EF4-FFF2-40B4-BE49-F238E27FC236}">
                    <a16:creationId xmlns:a16="http://schemas.microsoft.com/office/drawing/2014/main" id="{C51DCB39-E942-FDA7-1A76-5358BBA4881C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/>
              </p:cNvPicPr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2958417" y="1472797"/>
                <a:ext cx="2778325" cy="1562808"/>
              </a:xfrm>
              <a:prstGeom prst="rect">
                <a:avLst/>
              </a:prstGeom>
              <a:ln w="3175">
                <a:solidFill>
                  <a:prstClr val="ltGray"/>
                </a:solidFill>
              </a:ln>
            </p:spPr>
          </p:pic>
        </mc:Fallback>
      </mc:AlternateContent>
      <mc:AlternateContent xmlns:mc="http://schemas.openxmlformats.org/markup-compatibility/2006" xmlns:pslz="http://schemas.microsoft.com/office/powerpoint/2016/slidezoom">
        <mc:Choice Requires="pslz">
          <p:graphicFrame>
            <p:nvGraphicFramePr>
              <p:cNvPr id="14" name="슬라이드 확대/축소 13">
                <a:extLst>
                  <a:ext uri="{FF2B5EF4-FFF2-40B4-BE49-F238E27FC236}">
                    <a16:creationId xmlns:a16="http://schemas.microsoft.com/office/drawing/2014/main" id="{3A0C60E9-4CCD-9FCA-D82D-4FDF9CC5D6A4}"/>
                  </a:ext>
                </a:extLst>
              </p:cNvPr>
              <p:cNvGraphicFramePr>
                <a:graphicFrameLocks noChangeAspect="1"/>
              </p:cNvGraphicFramePr>
              <p:nvPr>
                <p:extLst>
                  <p:ext uri="{D42A27DB-BD31-4B8C-83A1-F6EECF244321}">
                    <p14:modId xmlns:p14="http://schemas.microsoft.com/office/powerpoint/2010/main" val="2575518450"/>
                  </p:ext>
                </p:extLst>
              </p:nvPr>
            </p:nvGraphicFramePr>
            <p:xfrm>
              <a:off x="170093" y="3526416"/>
              <a:ext cx="2159045" cy="1214463"/>
            </p:xfrm>
            <a:graphic>
              <a:graphicData uri="http://schemas.microsoft.com/office/powerpoint/2016/slidezoom">
                <pslz:sldZm>
                  <pslz:sldZmObj sldId="267" cId="553687500">
                    <pslz:zmPr id="{2E8E69AB-0855-4BA1-8AD9-35242E1A23E1}" returnToParent="0" transitionDur="1000">
                      <p166:blipFill xmlns:p166="http://schemas.microsoft.com/office/powerpoint/2016/6/main">
                        <a:blip r:embed="rId8"/>
                        <a:stretch>
                          <a:fillRect/>
                        </a:stretch>
                      </p166:blipFill>
                      <p166:spPr xmlns:p166="http://schemas.microsoft.com/office/powerpoint/2016/6/main">
                        <a:xfrm>
                          <a:off x="0" y="0"/>
                          <a:ext cx="2159045" cy="1214463"/>
                        </a:xfrm>
                        <a:prstGeom prst="rect">
                          <a:avLst/>
                        </a:prstGeom>
                        <a:ln w="3175">
                          <a:solidFill>
                            <a:prstClr val="ltGray"/>
                          </a:solidFill>
                        </a:ln>
                      </p166:spPr>
                    </pslz:zmPr>
                  </pslz:sldZmObj>
                </pslz:sldZm>
              </a:graphicData>
            </a:graphic>
          </p:graphicFrame>
        </mc:Choice>
        <mc:Fallback xmlns="">
          <p:pic>
            <p:nvPicPr>
              <p:cNvPr id="14" name="슬라이드 확대/축소 13">
                <a:hlinkClick r:id="rId9" action="ppaction://hlinksldjump"/>
                <a:extLst>
                  <a:ext uri="{FF2B5EF4-FFF2-40B4-BE49-F238E27FC236}">
                    <a16:creationId xmlns:a16="http://schemas.microsoft.com/office/drawing/2014/main" id="{3A0C60E9-4CCD-9FCA-D82D-4FDF9CC5D6A4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/>
              </p:cNvPicPr>
              <p:nvPr/>
            </p:nvPicPr>
            <p:blipFill>
              <a:blip r:embed="rId10"/>
              <a:stretch>
                <a:fillRect/>
              </a:stretch>
            </p:blipFill>
            <p:spPr>
              <a:xfrm>
                <a:off x="170093" y="3526416"/>
                <a:ext cx="2159045" cy="1214463"/>
              </a:xfrm>
              <a:prstGeom prst="rect">
                <a:avLst/>
              </a:prstGeom>
              <a:ln w="3175">
                <a:solidFill>
                  <a:prstClr val="ltGray"/>
                </a:solidFill>
              </a:ln>
            </p:spPr>
          </p:pic>
        </mc:Fallback>
      </mc:AlternateContent>
      <mc:AlternateContent xmlns:mc="http://schemas.openxmlformats.org/markup-compatibility/2006" xmlns:pslz="http://schemas.microsoft.com/office/powerpoint/2016/slidezoom">
        <mc:Choice Requires="pslz">
          <p:graphicFrame>
            <p:nvGraphicFramePr>
              <p:cNvPr id="16" name="슬라이드 확대/축소 15">
                <a:extLst>
                  <a:ext uri="{FF2B5EF4-FFF2-40B4-BE49-F238E27FC236}">
                    <a16:creationId xmlns:a16="http://schemas.microsoft.com/office/drawing/2014/main" id="{32EBC4D6-83AD-7410-0B85-375DF64E846E}"/>
                  </a:ext>
                </a:extLst>
              </p:cNvPr>
              <p:cNvGraphicFramePr>
                <a:graphicFrameLocks noChangeAspect="1"/>
              </p:cNvGraphicFramePr>
              <p:nvPr>
                <p:extLst>
                  <p:ext uri="{D42A27DB-BD31-4B8C-83A1-F6EECF244321}">
                    <p14:modId xmlns:p14="http://schemas.microsoft.com/office/powerpoint/2010/main" val="1062386230"/>
                  </p:ext>
                </p:extLst>
              </p:nvPr>
            </p:nvGraphicFramePr>
            <p:xfrm>
              <a:off x="2329138" y="3526416"/>
              <a:ext cx="2159045" cy="1214463"/>
            </p:xfrm>
            <a:graphic>
              <a:graphicData uri="http://schemas.microsoft.com/office/powerpoint/2016/slidezoom">
                <pslz:sldZm>
                  <pslz:sldZmObj sldId="268" cId="1408819320">
                    <pslz:zmPr id="{7AF5255F-B81A-4905-9CB3-DA9548B249DD}" returnToParent="0" transitionDur="1000">
                      <p166:blipFill xmlns:p166="http://schemas.microsoft.com/office/powerpoint/2016/6/main">
                        <a:blip r:embed="rId11"/>
                        <a:stretch>
                          <a:fillRect/>
                        </a:stretch>
                      </p166:blipFill>
                      <p166:spPr xmlns:p166="http://schemas.microsoft.com/office/powerpoint/2016/6/main">
                        <a:xfrm>
                          <a:off x="0" y="0"/>
                          <a:ext cx="2159045" cy="1214463"/>
                        </a:xfrm>
                        <a:prstGeom prst="rect">
                          <a:avLst/>
                        </a:prstGeom>
                        <a:ln w="3175">
                          <a:solidFill>
                            <a:prstClr val="ltGray"/>
                          </a:solidFill>
                        </a:ln>
                      </p166:spPr>
                    </pslz:zmPr>
                  </pslz:sldZmObj>
                </pslz:sldZm>
              </a:graphicData>
            </a:graphic>
          </p:graphicFrame>
        </mc:Choice>
        <mc:Fallback xmlns="">
          <p:pic>
            <p:nvPicPr>
              <p:cNvPr id="16" name="슬라이드 확대/축소 15">
                <a:hlinkClick r:id="rId12" action="ppaction://hlinksldjump"/>
                <a:extLst>
                  <a:ext uri="{FF2B5EF4-FFF2-40B4-BE49-F238E27FC236}">
                    <a16:creationId xmlns:a16="http://schemas.microsoft.com/office/drawing/2014/main" id="{32EBC4D6-83AD-7410-0B85-375DF64E846E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/>
              </p:cNvPicPr>
              <p:nvPr/>
            </p:nvPicPr>
            <p:blipFill>
              <a:blip r:embed="rId13"/>
              <a:stretch>
                <a:fillRect/>
              </a:stretch>
            </p:blipFill>
            <p:spPr>
              <a:xfrm>
                <a:off x="2329138" y="3526416"/>
                <a:ext cx="2159045" cy="1214463"/>
              </a:xfrm>
              <a:prstGeom prst="rect">
                <a:avLst/>
              </a:prstGeom>
              <a:ln w="3175">
                <a:solidFill>
                  <a:prstClr val="ltGray"/>
                </a:solidFill>
              </a:ln>
            </p:spPr>
          </p:pic>
        </mc:Fallback>
      </mc:AlternateContent>
      <mc:AlternateContent xmlns:mc="http://schemas.openxmlformats.org/markup-compatibility/2006" xmlns:pslz="http://schemas.microsoft.com/office/powerpoint/2016/slidezoom">
        <mc:Choice Requires="pslz">
          <p:graphicFrame>
            <p:nvGraphicFramePr>
              <p:cNvPr id="18" name="슬라이드 확대/축소 17">
                <a:extLst>
                  <a:ext uri="{FF2B5EF4-FFF2-40B4-BE49-F238E27FC236}">
                    <a16:creationId xmlns:a16="http://schemas.microsoft.com/office/drawing/2014/main" id="{E3ABA768-448A-8C95-D4DF-4AADB0CABC92}"/>
                  </a:ext>
                </a:extLst>
              </p:cNvPr>
              <p:cNvGraphicFramePr>
                <a:graphicFrameLocks noChangeAspect="1"/>
              </p:cNvGraphicFramePr>
              <p:nvPr>
                <p:extLst>
                  <p:ext uri="{D42A27DB-BD31-4B8C-83A1-F6EECF244321}">
                    <p14:modId xmlns:p14="http://schemas.microsoft.com/office/powerpoint/2010/main" val="727357297"/>
                  </p:ext>
                </p:extLst>
              </p:nvPr>
            </p:nvGraphicFramePr>
            <p:xfrm>
              <a:off x="6096000" y="1485048"/>
              <a:ext cx="2778325" cy="1562808"/>
            </p:xfrm>
            <a:graphic>
              <a:graphicData uri="http://schemas.microsoft.com/office/powerpoint/2016/slidezoom">
                <pslz:sldZm>
                  <pslz:sldZmObj sldId="269" cId="2067884293">
                    <pslz:zmPr id="{93AF7E91-8F99-4C22-8120-C7F863FEA8A4}" returnToParent="0" transitionDur="1000">
                      <p166:blipFill xmlns:p166="http://schemas.microsoft.com/office/powerpoint/2016/6/main">
                        <a:blip r:embed="rId14"/>
                        <a:stretch>
                          <a:fillRect/>
                        </a:stretch>
                      </p166:blipFill>
                      <p166:spPr xmlns:p166="http://schemas.microsoft.com/office/powerpoint/2016/6/main">
                        <a:xfrm>
                          <a:off x="0" y="0"/>
                          <a:ext cx="2778325" cy="1562808"/>
                        </a:xfrm>
                        <a:prstGeom prst="rect">
                          <a:avLst/>
                        </a:prstGeom>
                        <a:ln w="3175">
                          <a:solidFill>
                            <a:prstClr val="ltGray"/>
                          </a:solidFill>
                        </a:ln>
                      </p166:spPr>
                    </pslz:zmPr>
                  </pslz:sldZmObj>
                </pslz:sldZm>
              </a:graphicData>
            </a:graphic>
          </p:graphicFrame>
        </mc:Choice>
        <mc:Fallback xmlns="">
          <p:pic>
            <p:nvPicPr>
              <p:cNvPr id="18" name="슬라이드 확대/축소 17">
                <a:hlinkClick r:id="rId15" action="ppaction://hlinksldjump"/>
                <a:extLst>
                  <a:ext uri="{FF2B5EF4-FFF2-40B4-BE49-F238E27FC236}">
                    <a16:creationId xmlns:a16="http://schemas.microsoft.com/office/drawing/2014/main" id="{E3ABA768-448A-8C95-D4DF-4AADB0CABC92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/>
              </p:cNvPicPr>
              <p:nvPr/>
            </p:nvPicPr>
            <p:blipFill>
              <a:blip r:embed="rId16"/>
              <a:stretch>
                <a:fillRect/>
              </a:stretch>
            </p:blipFill>
            <p:spPr>
              <a:xfrm>
                <a:off x="6096000" y="1485048"/>
                <a:ext cx="2778325" cy="1562808"/>
              </a:xfrm>
              <a:prstGeom prst="rect">
                <a:avLst/>
              </a:prstGeom>
              <a:ln w="3175">
                <a:solidFill>
                  <a:prstClr val="ltGray"/>
                </a:solidFill>
              </a:ln>
            </p:spPr>
          </p:pic>
        </mc:Fallback>
      </mc:AlternateContent>
      <mc:AlternateContent xmlns:mc="http://schemas.openxmlformats.org/markup-compatibility/2006" xmlns:pslz="http://schemas.microsoft.com/office/powerpoint/2016/slidezoom">
        <mc:Choice Requires="pslz">
          <p:graphicFrame>
            <p:nvGraphicFramePr>
              <p:cNvPr id="20" name="슬라이드 확대/축소 19">
                <a:extLst>
                  <a:ext uri="{FF2B5EF4-FFF2-40B4-BE49-F238E27FC236}">
                    <a16:creationId xmlns:a16="http://schemas.microsoft.com/office/drawing/2014/main" id="{59C39FA5-0760-1928-8B3F-B56EAB6C80C7}"/>
                  </a:ext>
                </a:extLst>
              </p:cNvPr>
              <p:cNvGraphicFramePr>
                <a:graphicFrameLocks noChangeAspect="1"/>
              </p:cNvGraphicFramePr>
              <p:nvPr>
                <p:extLst>
                  <p:ext uri="{D42A27DB-BD31-4B8C-83A1-F6EECF244321}">
                    <p14:modId xmlns:p14="http://schemas.microsoft.com/office/powerpoint/2010/main" val="1827605296"/>
                  </p:ext>
                </p:extLst>
              </p:nvPr>
            </p:nvGraphicFramePr>
            <p:xfrm>
              <a:off x="8874324" y="1472797"/>
              <a:ext cx="2778325" cy="1562808"/>
            </p:xfrm>
            <a:graphic>
              <a:graphicData uri="http://schemas.microsoft.com/office/powerpoint/2016/slidezoom">
                <pslz:sldZm>
                  <pslz:sldZmObj sldId="270" cId="4125104201">
                    <pslz:zmPr id="{3ECA6620-0ABA-4E04-813F-EADB7CE9CF63}" returnToParent="0" transitionDur="1000">
                      <p166:blipFill xmlns:p166="http://schemas.microsoft.com/office/powerpoint/2016/6/main">
                        <a:blip r:embed="rId17"/>
                        <a:stretch>
                          <a:fillRect/>
                        </a:stretch>
                      </p166:blipFill>
                      <p166:spPr xmlns:p166="http://schemas.microsoft.com/office/powerpoint/2016/6/main">
                        <a:xfrm>
                          <a:off x="0" y="0"/>
                          <a:ext cx="2778325" cy="1562808"/>
                        </a:xfrm>
                        <a:prstGeom prst="rect">
                          <a:avLst/>
                        </a:prstGeom>
                        <a:ln w="3175">
                          <a:solidFill>
                            <a:prstClr val="ltGray"/>
                          </a:solidFill>
                        </a:ln>
                      </p166:spPr>
                    </pslz:zmPr>
                  </pslz:sldZmObj>
                </pslz:sldZm>
              </a:graphicData>
            </a:graphic>
          </p:graphicFrame>
        </mc:Choice>
        <mc:Fallback xmlns="">
          <p:pic>
            <p:nvPicPr>
              <p:cNvPr id="20" name="슬라이드 확대/축소 19">
                <a:hlinkClick r:id="rId18" action="ppaction://hlinksldjump"/>
                <a:extLst>
                  <a:ext uri="{FF2B5EF4-FFF2-40B4-BE49-F238E27FC236}">
                    <a16:creationId xmlns:a16="http://schemas.microsoft.com/office/drawing/2014/main" id="{59C39FA5-0760-1928-8B3F-B56EAB6C80C7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/>
              </p:cNvPicPr>
              <p:nvPr/>
            </p:nvPicPr>
            <p:blipFill>
              <a:blip r:embed="rId19"/>
              <a:stretch>
                <a:fillRect/>
              </a:stretch>
            </p:blipFill>
            <p:spPr>
              <a:xfrm>
                <a:off x="8874324" y="1472797"/>
                <a:ext cx="2778325" cy="1562808"/>
              </a:xfrm>
              <a:prstGeom prst="rect">
                <a:avLst/>
              </a:prstGeom>
              <a:ln w="3175">
                <a:solidFill>
                  <a:prstClr val="ltGray"/>
                </a:solidFill>
              </a:ln>
            </p:spPr>
          </p:pic>
        </mc:Fallback>
      </mc:AlternateContent>
      <mc:AlternateContent xmlns:mc="http://schemas.openxmlformats.org/markup-compatibility/2006" xmlns:pslz="http://schemas.microsoft.com/office/powerpoint/2016/slidezoom">
        <mc:Choice Requires="pslz">
          <p:graphicFrame>
            <p:nvGraphicFramePr>
              <p:cNvPr id="22" name="슬라이드 확대/축소 21">
                <a:extLst>
                  <a:ext uri="{FF2B5EF4-FFF2-40B4-BE49-F238E27FC236}">
                    <a16:creationId xmlns:a16="http://schemas.microsoft.com/office/drawing/2014/main" id="{604035B8-239E-68C6-0F7C-1B5A3AF20E87}"/>
                  </a:ext>
                </a:extLst>
              </p:cNvPr>
              <p:cNvGraphicFramePr>
                <a:graphicFrameLocks noChangeAspect="1"/>
              </p:cNvGraphicFramePr>
              <p:nvPr>
                <p:extLst>
                  <p:ext uri="{D42A27DB-BD31-4B8C-83A1-F6EECF244321}">
                    <p14:modId xmlns:p14="http://schemas.microsoft.com/office/powerpoint/2010/main" val="2372493122"/>
                  </p:ext>
                </p:extLst>
              </p:nvPr>
            </p:nvGraphicFramePr>
            <p:xfrm>
              <a:off x="6096000" y="3549391"/>
              <a:ext cx="2675925" cy="1505208"/>
            </p:xfrm>
            <a:graphic>
              <a:graphicData uri="http://schemas.microsoft.com/office/powerpoint/2016/slidezoom">
                <pslz:sldZm>
                  <pslz:sldZmObj sldId="271" cId="1815665238">
                    <pslz:zmPr id="{D690743E-41F9-4BAE-8242-679BCA3314E1}" returnToParent="0" transitionDur="1000">
                      <p166:blipFill xmlns:p166="http://schemas.microsoft.com/office/powerpoint/2016/6/main">
                        <a:blip r:embed="rId20"/>
                        <a:stretch>
                          <a:fillRect/>
                        </a:stretch>
                      </p166:blipFill>
                      <p166:spPr xmlns:p166="http://schemas.microsoft.com/office/powerpoint/2016/6/main">
                        <a:xfrm>
                          <a:off x="0" y="0"/>
                          <a:ext cx="2675925" cy="1505208"/>
                        </a:xfrm>
                        <a:prstGeom prst="rect">
                          <a:avLst/>
                        </a:prstGeom>
                        <a:ln w="3175">
                          <a:solidFill>
                            <a:prstClr val="ltGray"/>
                          </a:solidFill>
                        </a:ln>
                      </p166:spPr>
                    </pslz:zmPr>
                  </pslz:sldZmObj>
                </pslz:sldZm>
              </a:graphicData>
            </a:graphic>
          </p:graphicFrame>
        </mc:Choice>
        <mc:Fallback xmlns="">
          <p:pic>
            <p:nvPicPr>
              <p:cNvPr id="22" name="슬라이드 확대/축소 21">
                <a:hlinkClick r:id="rId21" action="ppaction://hlinksldjump"/>
                <a:extLst>
                  <a:ext uri="{FF2B5EF4-FFF2-40B4-BE49-F238E27FC236}">
                    <a16:creationId xmlns:a16="http://schemas.microsoft.com/office/drawing/2014/main" id="{604035B8-239E-68C6-0F7C-1B5A3AF20E87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/>
              </p:cNvPicPr>
              <p:nvPr/>
            </p:nvPicPr>
            <p:blipFill>
              <a:blip r:embed="rId22"/>
              <a:stretch>
                <a:fillRect/>
              </a:stretch>
            </p:blipFill>
            <p:spPr>
              <a:xfrm>
                <a:off x="6096000" y="3549391"/>
                <a:ext cx="2675925" cy="1505208"/>
              </a:xfrm>
              <a:prstGeom prst="rect">
                <a:avLst/>
              </a:prstGeom>
              <a:ln w="3175">
                <a:solidFill>
                  <a:prstClr val="ltGray"/>
                </a:solidFill>
              </a:ln>
            </p:spPr>
          </p:pic>
        </mc:Fallback>
      </mc:AlternateContent>
      <mc:AlternateContent xmlns:mc="http://schemas.openxmlformats.org/markup-compatibility/2006" xmlns:pslz="http://schemas.microsoft.com/office/powerpoint/2016/slidezoom">
        <mc:Choice Requires="pslz">
          <p:graphicFrame>
            <p:nvGraphicFramePr>
              <p:cNvPr id="24" name="슬라이드 확대/축소 23">
                <a:extLst>
                  <a:ext uri="{FF2B5EF4-FFF2-40B4-BE49-F238E27FC236}">
                    <a16:creationId xmlns:a16="http://schemas.microsoft.com/office/drawing/2014/main" id="{B671F9B6-EB52-FCB9-BBD7-0E50EC64E97F}"/>
                  </a:ext>
                </a:extLst>
              </p:cNvPr>
              <p:cNvGraphicFramePr>
                <a:graphicFrameLocks noChangeAspect="1"/>
              </p:cNvGraphicFramePr>
              <p:nvPr>
                <p:extLst>
                  <p:ext uri="{D42A27DB-BD31-4B8C-83A1-F6EECF244321}">
                    <p14:modId xmlns:p14="http://schemas.microsoft.com/office/powerpoint/2010/main" val="1979250511"/>
                  </p:ext>
                </p:extLst>
              </p:nvPr>
            </p:nvGraphicFramePr>
            <p:xfrm>
              <a:off x="8770534" y="3537905"/>
              <a:ext cx="2675923" cy="1505208"/>
            </p:xfrm>
            <a:graphic>
              <a:graphicData uri="http://schemas.microsoft.com/office/powerpoint/2016/slidezoom">
                <pslz:sldZm>
                  <pslz:sldZmObj sldId="272" cId="1441472548">
                    <pslz:zmPr id="{66D908C9-8FC9-4375-A6D9-E08696BEBFD6}" returnToParent="0" transitionDur="1000">
                      <p166:blipFill xmlns:p166="http://schemas.microsoft.com/office/powerpoint/2016/6/main">
                        <a:blip r:embed="rId23"/>
                        <a:stretch>
                          <a:fillRect/>
                        </a:stretch>
                      </p166:blipFill>
                      <p166:spPr xmlns:p166="http://schemas.microsoft.com/office/powerpoint/2016/6/main">
                        <a:xfrm>
                          <a:off x="0" y="0"/>
                          <a:ext cx="2675923" cy="1505208"/>
                        </a:xfrm>
                        <a:prstGeom prst="rect">
                          <a:avLst/>
                        </a:prstGeom>
                        <a:ln w="3175">
                          <a:solidFill>
                            <a:prstClr val="ltGray"/>
                          </a:solidFill>
                        </a:ln>
                      </p166:spPr>
                    </pslz:zmPr>
                  </pslz:sldZmObj>
                </pslz:sldZm>
              </a:graphicData>
            </a:graphic>
          </p:graphicFrame>
        </mc:Choice>
        <mc:Fallback xmlns="">
          <p:pic>
            <p:nvPicPr>
              <p:cNvPr id="24" name="슬라이드 확대/축소 23">
                <a:hlinkClick r:id="rId24" action="ppaction://hlinksldjump"/>
                <a:extLst>
                  <a:ext uri="{FF2B5EF4-FFF2-40B4-BE49-F238E27FC236}">
                    <a16:creationId xmlns:a16="http://schemas.microsoft.com/office/drawing/2014/main" id="{B671F9B6-EB52-FCB9-BBD7-0E50EC64E97F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/>
              </p:cNvPicPr>
              <p:nvPr/>
            </p:nvPicPr>
            <p:blipFill>
              <a:blip r:embed="rId25"/>
              <a:stretch>
                <a:fillRect/>
              </a:stretch>
            </p:blipFill>
            <p:spPr>
              <a:xfrm>
                <a:off x="8770534" y="3537905"/>
                <a:ext cx="2675923" cy="1505208"/>
              </a:xfrm>
              <a:prstGeom prst="rect">
                <a:avLst/>
              </a:prstGeom>
              <a:ln w="3175">
                <a:solidFill>
                  <a:prstClr val="ltGray"/>
                </a:solidFill>
              </a:ln>
            </p:spPr>
          </p:pic>
        </mc:Fallback>
      </mc:AlternateContent>
      <mc:AlternateContent xmlns:mc="http://schemas.openxmlformats.org/markup-compatibility/2006" xmlns:pslz="http://schemas.microsoft.com/office/powerpoint/2016/slidezoom">
        <mc:Choice Requires="pslz">
          <p:graphicFrame>
            <p:nvGraphicFramePr>
              <p:cNvPr id="26" name="슬라이드 확대/축소 25">
                <a:extLst>
                  <a:ext uri="{FF2B5EF4-FFF2-40B4-BE49-F238E27FC236}">
                    <a16:creationId xmlns:a16="http://schemas.microsoft.com/office/drawing/2014/main" id="{ED5ABB81-9220-E126-B9B6-67934342BCC2}"/>
                  </a:ext>
                </a:extLst>
              </p:cNvPr>
              <p:cNvGraphicFramePr>
                <a:graphicFrameLocks noChangeAspect="1"/>
              </p:cNvGraphicFramePr>
              <p:nvPr>
                <p:extLst>
                  <p:ext uri="{D42A27DB-BD31-4B8C-83A1-F6EECF244321}">
                    <p14:modId xmlns:p14="http://schemas.microsoft.com/office/powerpoint/2010/main" val="2021749043"/>
                  </p:ext>
                </p:extLst>
              </p:nvPr>
            </p:nvGraphicFramePr>
            <p:xfrm>
              <a:off x="6096000" y="5043113"/>
              <a:ext cx="2675923" cy="1505207"/>
            </p:xfrm>
            <a:graphic>
              <a:graphicData uri="http://schemas.microsoft.com/office/powerpoint/2016/slidezoom">
                <pslz:sldZm>
                  <pslz:sldZmObj sldId="273" cId="533062821">
                    <pslz:zmPr id="{5F53CD1A-DB62-4CA5-81C2-8000346DE2CB}" returnToParent="0" transitionDur="1000">
                      <p166:blipFill xmlns:p166="http://schemas.microsoft.com/office/powerpoint/2016/6/main">
                        <a:blip r:embed="rId26"/>
                        <a:stretch>
                          <a:fillRect/>
                        </a:stretch>
                      </p166:blipFill>
                      <p166:spPr xmlns:p166="http://schemas.microsoft.com/office/powerpoint/2016/6/main">
                        <a:xfrm>
                          <a:off x="0" y="0"/>
                          <a:ext cx="2675923" cy="1505207"/>
                        </a:xfrm>
                        <a:prstGeom prst="rect">
                          <a:avLst/>
                        </a:prstGeom>
                        <a:ln w="3175">
                          <a:solidFill>
                            <a:prstClr val="ltGray"/>
                          </a:solidFill>
                        </a:ln>
                      </p166:spPr>
                    </pslz:zmPr>
                  </pslz:sldZmObj>
                </pslz:sldZm>
              </a:graphicData>
            </a:graphic>
          </p:graphicFrame>
        </mc:Choice>
        <mc:Fallback xmlns="">
          <p:pic>
            <p:nvPicPr>
              <p:cNvPr id="26" name="슬라이드 확대/축소 25">
                <a:hlinkClick r:id="rId27" action="ppaction://hlinksldjump"/>
                <a:extLst>
                  <a:ext uri="{FF2B5EF4-FFF2-40B4-BE49-F238E27FC236}">
                    <a16:creationId xmlns:a16="http://schemas.microsoft.com/office/drawing/2014/main" id="{ED5ABB81-9220-E126-B9B6-67934342BCC2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/>
              </p:cNvPicPr>
              <p:nvPr/>
            </p:nvPicPr>
            <p:blipFill>
              <a:blip r:embed="rId28"/>
              <a:stretch>
                <a:fillRect/>
              </a:stretch>
            </p:blipFill>
            <p:spPr>
              <a:xfrm>
                <a:off x="6096000" y="5043113"/>
                <a:ext cx="2675923" cy="1505207"/>
              </a:xfrm>
              <a:prstGeom prst="rect">
                <a:avLst/>
              </a:prstGeom>
              <a:ln w="3175">
                <a:solidFill>
                  <a:prstClr val="ltGray"/>
                </a:solidFill>
              </a:ln>
            </p:spPr>
          </p:pic>
        </mc:Fallback>
      </mc:AlternateContent>
      <mc:AlternateContent xmlns:mc="http://schemas.openxmlformats.org/markup-compatibility/2006" xmlns:pslz="http://schemas.microsoft.com/office/powerpoint/2016/slidezoom">
        <mc:Choice Requires="pslz">
          <p:graphicFrame>
            <p:nvGraphicFramePr>
              <p:cNvPr id="28" name="슬라이드 확대/축소 27">
                <a:extLst>
                  <a:ext uri="{FF2B5EF4-FFF2-40B4-BE49-F238E27FC236}">
                    <a16:creationId xmlns:a16="http://schemas.microsoft.com/office/drawing/2014/main" id="{54DA1A88-CDE0-047B-2EDF-C1A1595113E2}"/>
                  </a:ext>
                </a:extLst>
              </p:cNvPr>
              <p:cNvGraphicFramePr>
                <a:graphicFrameLocks noChangeAspect="1"/>
              </p:cNvGraphicFramePr>
              <p:nvPr>
                <p:extLst>
                  <p:ext uri="{D42A27DB-BD31-4B8C-83A1-F6EECF244321}">
                    <p14:modId xmlns:p14="http://schemas.microsoft.com/office/powerpoint/2010/main" val="292157263"/>
                  </p:ext>
                </p:extLst>
              </p:nvPr>
            </p:nvGraphicFramePr>
            <p:xfrm>
              <a:off x="8770534" y="5019840"/>
              <a:ext cx="2675925" cy="1505208"/>
            </p:xfrm>
            <a:graphic>
              <a:graphicData uri="http://schemas.microsoft.com/office/powerpoint/2016/slidezoom">
                <pslz:sldZm>
                  <pslz:sldZmObj sldId="274" cId="2958472303">
                    <pslz:zmPr id="{40C1809C-2EF7-4796-9DA2-52B9603AB8D1}" returnToParent="0" transitionDur="1000">
                      <p166:blipFill xmlns:p166="http://schemas.microsoft.com/office/powerpoint/2016/6/main">
                        <a:blip r:embed="rId29"/>
                        <a:stretch>
                          <a:fillRect/>
                        </a:stretch>
                      </p166:blipFill>
                      <p166:spPr xmlns:p166="http://schemas.microsoft.com/office/powerpoint/2016/6/main">
                        <a:xfrm>
                          <a:off x="0" y="0"/>
                          <a:ext cx="2675925" cy="1505208"/>
                        </a:xfrm>
                        <a:prstGeom prst="rect">
                          <a:avLst/>
                        </a:prstGeom>
                        <a:ln w="3175">
                          <a:solidFill>
                            <a:prstClr val="ltGray"/>
                          </a:solidFill>
                        </a:ln>
                      </p166:spPr>
                    </pslz:zmPr>
                  </pslz:sldZmObj>
                </pslz:sldZm>
              </a:graphicData>
            </a:graphic>
          </p:graphicFrame>
        </mc:Choice>
        <mc:Fallback xmlns="">
          <p:pic>
            <p:nvPicPr>
              <p:cNvPr id="28" name="슬라이드 확대/축소 27">
                <a:hlinkClick r:id="rId30" action="ppaction://hlinksldjump"/>
                <a:extLst>
                  <a:ext uri="{FF2B5EF4-FFF2-40B4-BE49-F238E27FC236}">
                    <a16:creationId xmlns:a16="http://schemas.microsoft.com/office/drawing/2014/main" id="{54DA1A88-CDE0-047B-2EDF-C1A1595113E2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/>
              </p:cNvPicPr>
              <p:nvPr/>
            </p:nvPicPr>
            <p:blipFill>
              <a:blip r:embed="rId31"/>
              <a:stretch>
                <a:fillRect/>
              </a:stretch>
            </p:blipFill>
            <p:spPr>
              <a:xfrm>
                <a:off x="8770534" y="5019840"/>
                <a:ext cx="2675925" cy="1505208"/>
              </a:xfrm>
              <a:prstGeom prst="rect">
                <a:avLst/>
              </a:prstGeom>
              <a:ln w="3175">
                <a:solidFill>
                  <a:prstClr val="ltGray"/>
                </a:solidFill>
              </a:ln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283456052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3DC0FAD-80DD-3F81-E810-F6E3C6FEEA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F2EA518-73B9-C10A-263D-8BA9BCFAF9A9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0" y="18255"/>
            <a:ext cx="10515600" cy="850425"/>
          </a:xfrm>
        </p:spPr>
        <p:txBody>
          <a:bodyPr>
            <a:normAutofit/>
          </a:bodyPr>
          <a:lstStyle/>
          <a:p>
            <a:r>
              <a:rPr lang="en-US" altLang="ko-KR" sz="5400" dirty="0"/>
              <a:t>View</a:t>
            </a:r>
            <a:r>
              <a:rPr lang="ko-KR" altLang="en-US" sz="5400" dirty="0"/>
              <a:t> </a:t>
            </a:r>
            <a:r>
              <a:rPr lang="en-US" altLang="ko-KR" sz="5400" dirty="0"/>
              <a:t>Frustum</a:t>
            </a:r>
            <a:r>
              <a:rPr lang="ko-KR" altLang="en-US" sz="5400" dirty="0"/>
              <a:t> </a:t>
            </a:r>
            <a:r>
              <a:rPr lang="en-US" altLang="ko-KR" sz="5400" dirty="0"/>
              <a:t>Culling</a:t>
            </a:r>
            <a:endParaRPr lang="ko-KR" altLang="en-US" sz="5400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AC6FA67-470F-213F-77A3-0454538B1C1D}"/>
              </a:ext>
            </a:extLst>
          </p:cNvPr>
          <p:cNvSpPr txBox="1"/>
          <p:nvPr/>
        </p:nvSpPr>
        <p:spPr>
          <a:xfrm>
            <a:off x="12404" y="796412"/>
            <a:ext cx="11704999" cy="397031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dirty="0"/>
              <a:t>하나의 뷰 포트는 두개의 </a:t>
            </a:r>
            <a:r>
              <a:rPr lang="ko-KR" altLang="en-US" dirty="0" err="1"/>
              <a:t>프러스텀을</a:t>
            </a:r>
            <a:r>
              <a:rPr lang="ko-KR" altLang="en-US" dirty="0"/>
              <a:t> 가질 수 있다</a:t>
            </a:r>
            <a:r>
              <a:rPr lang="en-US" altLang="ko-KR" dirty="0"/>
              <a:t>.</a:t>
            </a:r>
          </a:p>
          <a:p>
            <a:pPr marL="342900" indent="-342900">
              <a:buAutoNum type="arabicPeriod"/>
            </a:pPr>
            <a:r>
              <a:rPr lang="ko-KR" altLang="en-US" dirty="0"/>
              <a:t>직교 </a:t>
            </a:r>
            <a:r>
              <a:rPr lang="ko-KR" altLang="en-US" dirty="0" err="1"/>
              <a:t>프러스텀</a:t>
            </a:r>
            <a:endParaRPr lang="en-US" altLang="ko-KR" dirty="0"/>
          </a:p>
          <a:p>
            <a:pPr marL="342900" indent="-342900">
              <a:buAutoNum type="arabicPeriod"/>
            </a:pPr>
            <a:r>
              <a:rPr lang="ko-KR" altLang="en-US" dirty="0"/>
              <a:t>원근 </a:t>
            </a:r>
            <a:r>
              <a:rPr lang="ko-KR" altLang="en-US" dirty="0" err="1"/>
              <a:t>프러스텀</a:t>
            </a:r>
            <a:endParaRPr lang="en-US" altLang="ko-KR" dirty="0"/>
          </a:p>
          <a:p>
            <a:r>
              <a:rPr lang="ko-KR" altLang="en-US" dirty="0"/>
              <a:t>직교는 </a:t>
            </a:r>
            <a:r>
              <a:rPr lang="ko-KR" altLang="en-US" dirty="0" err="1"/>
              <a:t>디렉션</a:t>
            </a:r>
            <a:r>
              <a:rPr lang="ko-KR" altLang="en-US" dirty="0"/>
              <a:t> </a:t>
            </a:r>
            <a:r>
              <a:rPr lang="ko-KR" altLang="en-US" dirty="0" err="1"/>
              <a:t>라이팅의</a:t>
            </a:r>
            <a:r>
              <a:rPr lang="ko-KR" altLang="en-US" dirty="0"/>
              <a:t> 쉐도우 매핑과 같은 작업을 </a:t>
            </a:r>
            <a:r>
              <a:rPr lang="ko-KR" altLang="en-US" dirty="0" err="1"/>
              <a:t>할때</a:t>
            </a:r>
            <a:r>
              <a:rPr lang="ko-KR" altLang="en-US" dirty="0"/>
              <a:t> 오브젝트들을 직교로 거르기 위해 사용된다</a:t>
            </a:r>
            <a:r>
              <a:rPr lang="en-US" altLang="ko-KR" dirty="0"/>
              <a:t>.</a:t>
            </a:r>
          </a:p>
          <a:p>
            <a:r>
              <a:rPr lang="ko-KR" altLang="en-US" dirty="0"/>
              <a:t>원근은 화면 렌더링</a:t>
            </a:r>
            <a:r>
              <a:rPr lang="en-US" altLang="ko-KR" dirty="0"/>
              <a:t>, </a:t>
            </a:r>
            <a:r>
              <a:rPr lang="ko-KR" altLang="en-US" dirty="0" err="1"/>
              <a:t>오쿨루션</a:t>
            </a:r>
            <a:r>
              <a:rPr lang="ko-KR" altLang="en-US" dirty="0"/>
              <a:t> </a:t>
            </a:r>
            <a:r>
              <a:rPr lang="ko-KR" altLang="en-US" dirty="0" err="1"/>
              <a:t>컬링</a:t>
            </a:r>
            <a:r>
              <a:rPr lang="en-US" altLang="ko-KR" dirty="0"/>
              <a:t>, </a:t>
            </a:r>
            <a:r>
              <a:rPr lang="ko-KR" altLang="en-US" dirty="0"/>
              <a:t>그리고 </a:t>
            </a:r>
            <a:r>
              <a:rPr lang="ko-KR" altLang="en-US" dirty="0" err="1"/>
              <a:t>레이트레이싱에서</a:t>
            </a:r>
            <a:r>
              <a:rPr lang="ko-KR" altLang="en-US" dirty="0"/>
              <a:t> </a:t>
            </a:r>
            <a:r>
              <a:rPr lang="en-US" altLang="ko-KR" dirty="0" err="1"/>
              <a:t>SkinMeshBLASUpdate</a:t>
            </a:r>
            <a:r>
              <a:rPr lang="ko-KR" altLang="en-US" dirty="0"/>
              <a:t>를 위해 사용된다</a:t>
            </a:r>
            <a:r>
              <a:rPr lang="en-US" altLang="ko-KR" dirty="0"/>
              <a:t>.</a:t>
            </a:r>
          </a:p>
          <a:p>
            <a:r>
              <a:rPr lang="ko-KR" altLang="en-US" dirty="0"/>
              <a:t>직교나 원근이나 </a:t>
            </a:r>
            <a:r>
              <a:rPr lang="ko-KR" altLang="en-US" dirty="0" err="1"/>
              <a:t>프러스텀</a:t>
            </a:r>
            <a:r>
              <a:rPr lang="ko-KR" altLang="en-US" dirty="0"/>
              <a:t> </a:t>
            </a:r>
            <a:r>
              <a:rPr lang="ko-KR" altLang="en-US" dirty="0" err="1"/>
              <a:t>컬링을</a:t>
            </a:r>
            <a:r>
              <a:rPr lang="ko-KR" altLang="en-US" dirty="0"/>
              <a:t> 하는 방법은 간단하다</a:t>
            </a:r>
            <a:r>
              <a:rPr lang="en-US" altLang="ko-KR" dirty="0"/>
              <a:t>.</a:t>
            </a:r>
          </a:p>
          <a:p>
            <a:r>
              <a:rPr lang="ko-KR" altLang="en-US" dirty="0"/>
              <a:t>그저 </a:t>
            </a:r>
            <a:r>
              <a:rPr lang="en-US" altLang="ko-KR" dirty="0"/>
              <a:t>Game </a:t>
            </a:r>
            <a:r>
              <a:rPr lang="ko-KR" altLang="en-US" dirty="0"/>
              <a:t>구조체에 있는 </a:t>
            </a:r>
            <a:r>
              <a:rPr lang="en-US" altLang="ko-KR" dirty="0" err="1"/>
              <a:t>RenderTour</a:t>
            </a:r>
            <a:r>
              <a:rPr lang="en-US" altLang="ko-KR" dirty="0"/>
              <a:t> </a:t>
            </a:r>
            <a:r>
              <a:rPr lang="ko-KR" altLang="en-US" dirty="0"/>
              <a:t>함수를 호출하면 된다</a:t>
            </a:r>
            <a:r>
              <a:rPr lang="en-US" altLang="ko-KR" dirty="0"/>
              <a:t>.</a:t>
            </a:r>
          </a:p>
          <a:p>
            <a:endParaRPr lang="en-US" altLang="ko-KR" dirty="0"/>
          </a:p>
          <a:p>
            <a:r>
              <a:rPr lang="ko-KR" altLang="en-US" dirty="0"/>
              <a:t>그럼 오브젝트마다 클래스의 </a:t>
            </a:r>
            <a:r>
              <a:rPr lang="en-US" altLang="ko-KR" dirty="0"/>
              <a:t>inline static </a:t>
            </a:r>
            <a:r>
              <a:rPr lang="ko-KR" altLang="en-US" dirty="0"/>
              <a:t>함수 포인터를 이용해 자신의 </a:t>
            </a:r>
            <a:r>
              <a:rPr lang="ko-KR" altLang="en-US" dirty="0" err="1"/>
              <a:t>맴버함수처럼</a:t>
            </a:r>
            <a:r>
              <a:rPr lang="ko-KR" altLang="en-US" dirty="0"/>
              <a:t> 호출을 하게 된다</a:t>
            </a:r>
            <a:r>
              <a:rPr lang="en-US" altLang="ko-KR" dirty="0"/>
              <a:t>.</a:t>
            </a:r>
          </a:p>
          <a:p>
            <a:r>
              <a:rPr lang="ko-KR" altLang="en-US" dirty="0"/>
              <a:t>해당 </a:t>
            </a:r>
            <a:r>
              <a:rPr lang="ko-KR" altLang="en-US" dirty="0" err="1"/>
              <a:t>함수포인터는</a:t>
            </a:r>
            <a:r>
              <a:rPr lang="ko-KR" altLang="en-US" dirty="0"/>
              <a:t> 작업을 시작하기 전에 프로그래머가 정할 수 있으며</a:t>
            </a:r>
            <a:r>
              <a:rPr lang="en-US" altLang="ko-KR" dirty="0"/>
              <a:t>, </a:t>
            </a:r>
            <a:r>
              <a:rPr lang="ko-KR" altLang="en-US" dirty="0"/>
              <a:t>그것은 </a:t>
            </a:r>
            <a:r>
              <a:rPr lang="en-US" altLang="ko-KR" dirty="0"/>
              <a:t>Update, Render, </a:t>
            </a:r>
            <a:r>
              <a:rPr lang="en-US" altLang="ko-KR" dirty="0" err="1"/>
              <a:t>BLASUpdate</a:t>
            </a:r>
            <a:r>
              <a:rPr lang="ko-KR" altLang="en-US" dirty="0"/>
              <a:t>등</a:t>
            </a:r>
            <a:endParaRPr lang="en-US" altLang="ko-KR" dirty="0"/>
          </a:p>
          <a:p>
            <a:r>
              <a:rPr lang="ko-KR" altLang="en-US" dirty="0"/>
              <a:t>다양한 작업을 할 수 있다</a:t>
            </a:r>
            <a:r>
              <a:rPr lang="en-US" altLang="ko-KR" dirty="0"/>
              <a:t>.</a:t>
            </a:r>
          </a:p>
          <a:p>
            <a:r>
              <a:rPr lang="ko-KR" altLang="en-US" dirty="0"/>
              <a:t>또한 </a:t>
            </a:r>
            <a:r>
              <a:rPr lang="en-US" altLang="ko-KR" dirty="0" err="1"/>
              <a:t>RenderTour</a:t>
            </a:r>
            <a:r>
              <a:rPr lang="en-US" altLang="ko-KR" dirty="0"/>
              <a:t> </a:t>
            </a:r>
            <a:r>
              <a:rPr lang="ko-KR" altLang="en-US" dirty="0"/>
              <a:t>함수는 </a:t>
            </a:r>
            <a:r>
              <a:rPr lang="en-US" altLang="ko-KR" dirty="0"/>
              <a:t>template</a:t>
            </a:r>
            <a:r>
              <a:rPr lang="ko-KR" altLang="en-US" dirty="0"/>
              <a:t>함수이기 때문에</a:t>
            </a:r>
            <a:r>
              <a:rPr lang="en-US" altLang="ko-KR" dirty="0"/>
              <a:t>, </a:t>
            </a:r>
            <a:r>
              <a:rPr lang="ko-KR" altLang="en-US" dirty="0" err="1"/>
              <a:t>탬플릿</a:t>
            </a:r>
            <a:r>
              <a:rPr lang="ko-KR" altLang="en-US" dirty="0"/>
              <a:t> 변수로 </a:t>
            </a:r>
            <a:endParaRPr lang="en-US" altLang="ko-KR" dirty="0"/>
          </a:p>
          <a:p>
            <a:r>
              <a:rPr lang="ko-KR" altLang="en-US" dirty="0"/>
              <a:t>어떤 오브젝트에 대해 연산을 </a:t>
            </a:r>
            <a:r>
              <a:rPr lang="ko-KR" altLang="en-US" dirty="0" err="1"/>
              <a:t>수행할건지도</a:t>
            </a:r>
            <a:r>
              <a:rPr lang="ko-KR" altLang="en-US" dirty="0"/>
              <a:t> 선택이 가능하다</a:t>
            </a:r>
            <a:r>
              <a:rPr lang="en-US" altLang="ko-KR" dirty="0"/>
              <a:t>.</a:t>
            </a:r>
          </a:p>
          <a:p>
            <a:r>
              <a:rPr lang="ko-KR" altLang="en-US" dirty="0"/>
              <a:t>내부적으로 </a:t>
            </a:r>
            <a:r>
              <a:rPr lang="en-US" altLang="ko-KR" dirty="0"/>
              <a:t>if </a:t>
            </a:r>
            <a:r>
              <a:rPr lang="en-US" altLang="ko-KR" dirty="0" err="1"/>
              <a:t>constexpr</a:t>
            </a:r>
            <a:r>
              <a:rPr lang="en-US" altLang="ko-KR" dirty="0"/>
              <a:t> </a:t>
            </a:r>
            <a:r>
              <a:rPr lang="ko-KR" altLang="en-US" dirty="0"/>
              <a:t>로 되어있어서 변수가 다르면 컴파일러는 다른 코드를 만든다</a:t>
            </a:r>
            <a:r>
              <a:rPr lang="en-US" altLang="ko-KR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6322148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644986B-4189-A705-595E-FAD18984A05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1EBC4AA-47CF-660C-366B-409E4A6BC84B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0" y="18255"/>
            <a:ext cx="10515600" cy="850425"/>
          </a:xfrm>
        </p:spPr>
        <p:txBody>
          <a:bodyPr>
            <a:normAutofit/>
          </a:bodyPr>
          <a:lstStyle/>
          <a:p>
            <a:r>
              <a:rPr lang="en-US" altLang="ko-KR" sz="5400" dirty="0" err="1"/>
              <a:t>Occulsion</a:t>
            </a:r>
            <a:r>
              <a:rPr lang="en-US" altLang="ko-KR" sz="5400" dirty="0"/>
              <a:t> Culling</a:t>
            </a:r>
            <a:endParaRPr lang="ko-KR" altLang="en-US" sz="5400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155DF22-CBFA-20BB-DD37-3C4DBA847093}"/>
              </a:ext>
            </a:extLst>
          </p:cNvPr>
          <p:cNvSpPr txBox="1"/>
          <p:nvPr/>
        </p:nvSpPr>
        <p:spPr>
          <a:xfrm>
            <a:off x="0" y="868680"/>
            <a:ext cx="232788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dirty="0"/>
              <a:t>아직 실현되지 못함</a:t>
            </a:r>
            <a:r>
              <a:rPr lang="en-US" altLang="ko-KR" dirty="0"/>
              <a:t>.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50261376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6F295A7-DA9D-F0A8-C566-F712543F1F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E5352EE-19BE-3DF0-05D5-E21F81DF2C8F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0" y="18255"/>
            <a:ext cx="10515600" cy="850425"/>
          </a:xfrm>
        </p:spPr>
        <p:txBody>
          <a:bodyPr>
            <a:normAutofit/>
          </a:bodyPr>
          <a:lstStyle/>
          <a:p>
            <a:r>
              <a:rPr lang="en-US" altLang="ko-KR" sz="5400" dirty="0"/>
              <a:t>Forward Rendering</a:t>
            </a:r>
            <a:endParaRPr lang="ko-KR" altLang="en-US" sz="5400" dirty="0"/>
          </a:p>
        </p:txBody>
      </p:sp>
    </p:spTree>
    <p:extLst>
      <p:ext uri="{BB962C8B-B14F-4D97-AF65-F5344CB8AC3E}">
        <p14:creationId xmlns:p14="http://schemas.microsoft.com/office/powerpoint/2010/main" val="55368750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61B7562-469E-2493-FB5F-78294FBBE6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5693453-CAFC-F41A-1651-9A49100AD50B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0" y="18255"/>
            <a:ext cx="10515600" cy="850425"/>
          </a:xfrm>
        </p:spPr>
        <p:txBody>
          <a:bodyPr>
            <a:normAutofit/>
          </a:bodyPr>
          <a:lstStyle/>
          <a:p>
            <a:r>
              <a:rPr lang="en-US" altLang="ko-KR" sz="5400" dirty="0" err="1"/>
              <a:t>Defered</a:t>
            </a:r>
            <a:r>
              <a:rPr lang="en-US" altLang="ko-KR" sz="5400" dirty="0"/>
              <a:t> Rendering</a:t>
            </a:r>
            <a:endParaRPr lang="ko-KR" altLang="en-US" sz="5400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166ADAE-70E3-CF4B-B423-1A220BE1DEFD}"/>
              </a:ext>
            </a:extLst>
          </p:cNvPr>
          <p:cNvSpPr txBox="1"/>
          <p:nvPr/>
        </p:nvSpPr>
        <p:spPr>
          <a:xfrm>
            <a:off x="0" y="868680"/>
            <a:ext cx="232788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dirty="0"/>
              <a:t>아직 실현되지 못함</a:t>
            </a:r>
            <a:r>
              <a:rPr lang="en-US" altLang="ko-KR" dirty="0"/>
              <a:t>.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40881932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63554B0-8457-5AC0-FC79-71B22A619E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43660CE-F0B8-B2E9-55DA-8184AF760910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0" y="18255"/>
            <a:ext cx="10515600" cy="850425"/>
          </a:xfrm>
        </p:spPr>
        <p:txBody>
          <a:bodyPr>
            <a:normAutofit/>
          </a:bodyPr>
          <a:lstStyle/>
          <a:p>
            <a:r>
              <a:rPr lang="en-US" altLang="ko-KR" sz="5400" dirty="0" err="1"/>
              <a:t>DrawCalls</a:t>
            </a:r>
            <a:endParaRPr lang="ko-KR" altLang="en-US" sz="5400" dirty="0"/>
          </a:p>
        </p:txBody>
      </p:sp>
    </p:spTree>
    <p:extLst>
      <p:ext uri="{BB962C8B-B14F-4D97-AF65-F5344CB8AC3E}">
        <p14:creationId xmlns:p14="http://schemas.microsoft.com/office/powerpoint/2010/main" val="206788429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1D59AF8-CDFA-63AA-4348-0A639A5835A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82FE5E0-907E-6869-A61A-4F6D83E6830F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0" y="18255"/>
            <a:ext cx="10515600" cy="850425"/>
          </a:xfrm>
        </p:spPr>
        <p:txBody>
          <a:bodyPr>
            <a:normAutofit/>
          </a:bodyPr>
          <a:lstStyle/>
          <a:p>
            <a:r>
              <a:rPr lang="en-US" altLang="ko-KR" sz="5400" dirty="0"/>
              <a:t>Instancing</a:t>
            </a:r>
            <a:endParaRPr lang="ko-KR" altLang="en-US" sz="5400" dirty="0"/>
          </a:p>
        </p:txBody>
      </p:sp>
    </p:spTree>
    <p:extLst>
      <p:ext uri="{BB962C8B-B14F-4D97-AF65-F5344CB8AC3E}">
        <p14:creationId xmlns:p14="http://schemas.microsoft.com/office/powerpoint/2010/main" val="4125104201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C6B7D4E-9CB6-3B9E-E70D-B60D111900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94F1752-72BC-1B6A-1BF0-BCEDB2AD2C08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0" y="18255"/>
            <a:ext cx="10515600" cy="850425"/>
          </a:xfrm>
        </p:spPr>
        <p:txBody>
          <a:bodyPr>
            <a:normAutofit/>
          </a:bodyPr>
          <a:lstStyle/>
          <a:p>
            <a:r>
              <a:rPr lang="en-US" altLang="ko-KR" sz="5400" dirty="0"/>
              <a:t>Static/Dynamic Object</a:t>
            </a:r>
            <a:endParaRPr lang="ko-KR" altLang="en-US" sz="5400" dirty="0"/>
          </a:p>
        </p:txBody>
      </p:sp>
    </p:spTree>
    <p:extLst>
      <p:ext uri="{BB962C8B-B14F-4D97-AF65-F5344CB8AC3E}">
        <p14:creationId xmlns:p14="http://schemas.microsoft.com/office/powerpoint/2010/main" val="1815665238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F46CED9-93B6-CFBD-840B-B69AA8255E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B8B1D5E-E57E-1E77-D7CA-2467B26BBC51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0" y="18255"/>
            <a:ext cx="10515600" cy="850425"/>
          </a:xfrm>
        </p:spPr>
        <p:txBody>
          <a:bodyPr>
            <a:normAutofit/>
          </a:bodyPr>
          <a:lstStyle/>
          <a:p>
            <a:r>
              <a:rPr lang="en-US" altLang="ko-KR" sz="5400" dirty="0" err="1"/>
              <a:t>SkinMesh</a:t>
            </a:r>
            <a:r>
              <a:rPr lang="en-US" altLang="ko-KR" sz="5400" dirty="0"/>
              <a:t> Object</a:t>
            </a:r>
            <a:endParaRPr lang="ko-KR" altLang="en-US" sz="5400" dirty="0"/>
          </a:p>
        </p:txBody>
      </p:sp>
    </p:spTree>
    <p:extLst>
      <p:ext uri="{BB962C8B-B14F-4D97-AF65-F5344CB8AC3E}">
        <p14:creationId xmlns:p14="http://schemas.microsoft.com/office/powerpoint/2010/main" val="1441472548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C1099C3-5AB8-D579-375F-5CD63D0482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F325907-11B0-9A9A-61CB-E8E9773CBECF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0" y="18255"/>
            <a:ext cx="10515600" cy="850425"/>
          </a:xfrm>
        </p:spPr>
        <p:txBody>
          <a:bodyPr>
            <a:normAutofit/>
          </a:bodyPr>
          <a:lstStyle/>
          <a:p>
            <a:r>
              <a:rPr lang="en-US" altLang="ko-KR" sz="5400" dirty="0"/>
              <a:t>Mirror</a:t>
            </a:r>
            <a:endParaRPr lang="ko-KR" altLang="en-US" sz="5400" dirty="0"/>
          </a:p>
        </p:txBody>
      </p:sp>
    </p:spTree>
    <p:extLst>
      <p:ext uri="{BB962C8B-B14F-4D97-AF65-F5344CB8AC3E}">
        <p14:creationId xmlns:p14="http://schemas.microsoft.com/office/powerpoint/2010/main" val="533062821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FF75314-AEDC-574B-CBFE-23A4EC3023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4BDA6C2-84C9-3C6A-6FD9-036446154970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0" y="18255"/>
            <a:ext cx="10515600" cy="850425"/>
          </a:xfrm>
        </p:spPr>
        <p:txBody>
          <a:bodyPr>
            <a:normAutofit/>
          </a:bodyPr>
          <a:lstStyle/>
          <a:p>
            <a:r>
              <a:rPr lang="en-US" altLang="ko-KR" sz="5400" dirty="0"/>
              <a:t>Particle</a:t>
            </a:r>
            <a:endParaRPr lang="ko-KR" altLang="en-US" sz="5400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D284927-6AF3-F87B-3315-B8AB439EFC04}"/>
              </a:ext>
            </a:extLst>
          </p:cNvPr>
          <p:cNvSpPr txBox="1"/>
          <p:nvPr/>
        </p:nvSpPr>
        <p:spPr>
          <a:xfrm>
            <a:off x="104237" y="868680"/>
            <a:ext cx="12087763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b="1" dirty="0"/>
              <a:t>Particle Management &amp; Update</a:t>
            </a:r>
          </a:p>
          <a:p>
            <a:r>
              <a:rPr lang="ko-KR" altLang="en-US" dirty="0"/>
              <a:t>모든 </a:t>
            </a:r>
            <a:r>
              <a:rPr lang="ko-KR" altLang="en-US" dirty="0" err="1"/>
              <a:t>파티클</a:t>
            </a:r>
            <a:r>
              <a:rPr lang="ko-KR" altLang="en-US" dirty="0"/>
              <a:t> 데이터는 </a:t>
            </a:r>
            <a:r>
              <a:rPr lang="en-US" altLang="ko-KR" b="1" dirty="0" err="1"/>
              <a:t>StructuredBuffer</a:t>
            </a:r>
            <a:r>
              <a:rPr lang="ko-KR" altLang="en-US" dirty="0"/>
              <a:t> 형태로 </a:t>
            </a:r>
            <a:r>
              <a:rPr lang="en-US" altLang="ko-KR" dirty="0"/>
              <a:t>GPU </a:t>
            </a:r>
            <a:r>
              <a:rPr lang="ko-KR" altLang="en-US" dirty="0"/>
              <a:t>전용 메모리에 상주하며</a:t>
            </a:r>
            <a:r>
              <a:rPr lang="en-US" altLang="ko-KR" dirty="0"/>
              <a:t>, </a:t>
            </a:r>
            <a:r>
              <a:rPr lang="en-US" altLang="ko-KR" b="1" dirty="0"/>
              <a:t>Compute Shader</a:t>
            </a:r>
            <a:r>
              <a:rPr lang="ko-KR" altLang="en-US" dirty="0"/>
              <a:t>를 통해 </a:t>
            </a:r>
            <a:r>
              <a:rPr lang="en-US" altLang="ko-KR" dirty="0"/>
              <a:t>CPU </a:t>
            </a:r>
            <a:r>
              <a:rPr lang="ko-KR" altLang="en-US" dirty="0"/>
              <a:t>개입 없이 업데이트됨</a:t>
            </a:r>
            <a:endParaRPr lang="en-US" altLang="ko-KR" dirty="0"/>
          </a:p>
          <a:p>
            <a:r>
              <a:rPr lang="en-US" altLang="ko-KR" b="1" dirty="0"/>
              <a:t>Update Logic</a:t>
            </a:r>
            <a:r>
              <a:rPr lang="en-US" altLang="ko-KR" dirty="0"/>
              <a:t>: </a:t>
            </a:r>
            <a:r>
              <a:rPr lang="ko-KR" altLang="en-US" dirty="0"/>
              <a:t>매 프레임 </a:t>
            </a:r>
            <a:r>
              <a:rPr lang="en-US" altLang="ko-KR" dirty="0" err="1"/>
              <a:t>TimeCB</a:t>
            </a:r>
            <a:r>
              <a:rPr lang="ko-KR" altLang="en-US" dirty="0"/>
              <a:t>로부터 </a:t>
            </a:r>
            <a:r>
              <a:rPr lang="en-US" altLang="ko-KR" dirty="0"/>
              <a:t>dt(</a:t>
            </a:r>
            <a:r>
              <a:rPr lang="en-US" altLang="ko-KR" dirty="0" err="1"/>
              <a:t>DeltaTime</a:t>
            </a:r>
            <a:r>
              <a:rPr lang="en-US" altLang="ko-KR" dirty="0"/>
              <a:t>)</a:t>
            </a:r>
            <a:r>
              <a:rPr lang="ko-KR" altLang="en-US" dirty="0"/>
              <a:t>를 전달받아 위치 연산</a:t>
            </a:r>
            <a:r>
              <a:rPr lang="en-US" altLang="ko-KR" dirty="0"/>
              <a:t>, </a:t>
            </a:r>
            <a:r>
              <a:rPr lang="ko-KR" altLang="en-US" dirty="0"/>
              <a:t>수명</a:t>
            </a:r>
            <a:r>
              <a:rPr lang="en-US" altLang="ko-KR" dirty="0"/>
              <a:t>(Life/Age) </a:t>
            </a:r>
            <a:r>
              <a:rPr lang="ko-KR" altLang="en-US" dirty="0"/>
              <a:t>계산</a:t>
            </a:r>
            <a:r>
              <a:rPr lang="en-US" altLang="ko-KR" dirty="0"/>
              <a:t>, </a:t>
            </a:r>
            <a:r>
              <a:rPr lang="ko-KR" altLang="en-US" dirty="0"/>
              <a:t>물리 시뮬레이션</a:t>
            </a:r>
            <a:r>
              <a:rPr lang="en-US" altLang="ko-KR" dirty="0"/>
              <a:t>(</a:t>
            </a:r>
            <a:r>
              <a:rPr lang="ko-KR" altLang="en-US" dirty="0"/>
              <a:t>중력</a:t>
            </a:r>
            <a:r>
              <a:rPr lang="en-US" altLang="ko-KR" dirty="0"/>
              <a:t>, </a:t>
            </a:r>
            <a:r>
              <a:rPr lang="ko-KR" altLang="en-US" dirty="0"/>
              <a:t>감쇠</a:t>
            </a:r>
            <a:r>
              <a:rPr lang="en-US" altLang="ko-KR" dirty="0"/>
              <a:t>)</a:t>
            </a:r>
            <a:r>
              <a:rPr lang="ko-KR" altLang="en-US" dirty="0"/>
              <a:t>을 병렬로 수행</a:t>
            </a:r>
            <a:r>
              <a:rPr lang="en-US" altLang="ko-KR" dirty="0"/>
              <a:t>.</a:t>
            </a:r>
          </a:p>
          <a:p>
            <a:r>
              <a:rPr lang="en-US" altLang="ko-KR" b="1" dirty="0"/>
              <a:t>Dispatch Strategy</a:t>
            </a:r>
            <a:r>
              <a:rPr lang="en-US" altLang="ko-KR" dirty="0"/>
              <a:t>: </a:t>
            </a:r>
            <a:r>
              <a:rPr lang="ko-KR" altLang="en-US" dirty="0"/>
              <a:t>대량의 </a:t>
            </a:r>
            <a:r>
              <a:rPr lang="ko-KR" altLang="en-US" dirty="0" err="1"/>
              <a:t>파티클을</a:t>
            </a:r>
            <a:r>
              <a:rPr lang="ko-KR" altLang="en-US" dirty="0"/>
              <a:t> 처리하기 위해 </a:t>
            </a:r>
            <a:r>
              <a:rPr lang="ko-KR" altLang="en-US" dirty="0" err="1"/>
              <a:t>파티클</a:t>
            </a:r>
            <a:r>
              <a:rPr lang="ko-KR" altLang="en-US" dirty="0"/>
              <a:t> 개수에 맞춰 </a:t>
            </a:r>
            <a:r>
              <a:rPr lang="en-US" altLang="ko-KR" dirty="0"/>
              <a:t>Thread Group</a:t>
            </a:r>
            <a:r>
              <a:rPr lang="ko-KR" altLang="en-US" dirty="0"/>
              <a:t>을 최적화하여 호출</a:t>
            </a:r>
            <a:r>
              <a:rPr lang="en-US" altLang="ko-KR" dirty="0"/>
              <a:t>.</a:t>
            </a:r>
          </a:p>
          <a:p>
            <a:r>
              <a:rPr lang="en-US" altLang="ko-KR" dirty="0"/>
              <a:t>.</a:t>
            </a:r>
            <a:endParaRPr lang="ko-KR" altLang="en-US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330DBC7-DC95-8B9C-5FC6-18A01CB67F68}"/>
              </a:ext>
            </a:extLst>
          </p:cNvPr>
          <p:cNvSpPr txBox="1"/>
          <p:nvPr/>
        </p:nvSpPr>
        <p:spPr>
          <a:xfrm>
            <a:off x="0" y="2826633"/>
            <a:ext cx="12087763" cy="341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altLang="ko-KR" b="1" dirty="0"/>
              <a:t>Resource &amp; Rendering Pipeline</a:t>
            </a:r>
          </a:p>
          <a:p>
            <a:pPr>
              <a:buNone/>
            </a:pPr>
            <a:r>
              <a:rPr lang="en-US" altLang="ko-KR" dirty="0"/>
              <a:t>CPU</a:t>
            </a:r>
            <a:r>
              <a:rPr lang="ko-KR" altLang="en-US" dirty="0"/>
              <a:t>는 최소한의 상수 데이터만 갱신하고</a:t>
            </a:r>
            <a:r>
              <a:rPr lang="en-US" altLang="ko-KR" dirty="0"/>
              <a:t>, </a:t>
            </a:r>
            <a:r>
              <a:rPr lang="ko-KR" altLang="en-US" dirty="0"/>
              <a:t>실제 렌더링에 필요한 모든 연산은 </a:t>
            </a:r>
            <a:r>
              <a:rPr lang="en-US" altLang="ko-KR" dirty="0"/>
              <a:t>GPU </a:t>
            </a:r>
            <a:r>
              <a:rPr lang="ko-KR" altLang="en-US" dirty="0"/>
              <a:t>내에서 완결</a:t>
            </a:r>
            <a:r>
              <a:rPr lang="en-US" altLang="ko-KR" dirty="0"/>
              <a:t>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altLang="ko-KR" b="1" dirty="0"/>
              <a:t>Root Signature Design</a:t>
            </a:r>
            <a:r>
              <a:rPr lang="en-US" altLang="ko-KR" dirty="0"/>
              <a:t>: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altLang="ko-KR" b="1" dirty="0"/>
              <a:t>UAV (u0)</a:t>
            </a:r>
            <a:r>
              <a:rPr lang="en-US" altLang="ko-KR" dirty="0"/>
              <a:t>: </a:t>
            </a:r>
            <a:r>
              <a:rPr lang="ko-KR" altLang="en-US" dirty="0" err="1"/>
              <a:t>파티클</a:t>
            </a:r>
            <a:r>
              <a:rPr lang="ko-KR" altLang="en-US" dirty="0"/>
              <a:t> 데이터 쓰기</a:t>
            </a:r>
            <a:r>
              <a:rPr lang="en-US" altLang="ko-KR" dirty="0"/>
              <a:t>/</a:t>
            </a:r>
            <a:r>
              <a:rPr lang="ko-KR" altLang="en-US" dirty="0"/>
              <a:t>읽기용 </a:t>
            </a:r>
            <a:r>
              <a:rPr lang="en-US" altLang="ko-KR" dirty="0"/>
              <a:t>(Compute)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altLang="ko-KR" b="1" dirty="0"/>
              <a:t>SRV (t0)</a:t>
            </a:r>
            <a:r>
              <a:rPr lang="en-US" altLang="ko-KR" dirty="0"/>
              <a:t>: </a:t>
            </a:r>
            <a:r>
              <a:rPr lang="ko-KR" altLang="en-US" dirty="0"/>
              <a:t>업데이트된 데이터를 </a:t>
            </a:r>
            <a:r>
              <a:rPr lang="en-US" altLang="ko-KR" dirty="0"/>
              <a:t>Vertex Shader</a:t>
            </a:r>
            <a:r>
              <a:rPr lang="ko-KR" altLang="en-US" dirty="0"/>
              <a:t>에서 참조 </a:t>
            </a:r>
            <a:r>
              <a:rPr lang="en-US" altLang="ko-KR" dirty="0"/>
              <a:t>(Rendering)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altLang="ko-KR" b="1" dirty="0"/>
              <a:t>CBV (b0, b1)</a:t>
            </a:r>
            <a:r>
              <a:rPr lang="en-US" altLang="ko-KR" dirty="0"/>
              <a:t>: </a:t>
            </a:r>
            <a:r>
              <a:rPr lang="ko-KR" altLang="en-US" dirty="0"/>
              <a:t>시간 데이터</a:t>
            </a:r>
            <a:r>
              <a:rPr lang="en-US" altLang="ko-KR" dirty="0"/>
              <a:t>(</a:t>
            </a:r>
            <a:r>
              <a:rPr lang="en-US" altLang="ko-KR" dirty="0" err="1">
                <a:latin typeface="Courier New" panose="02070309020205020404" pitchFamily="49" charset="0"/>
              </a:rPr>
              <a:t>TimeCB</a:t>
            </a:r>
            <a:r>
              <a:rPr lang="en-US" altLang="ko-KR" dirty="0"/>
              <a:t>) </a:t>
            </a:r>
            <a:r>
              <a:rPr lang="ko-KR" altLang="en-US" dirty="0"/>
              <a:t>및 특정 이벤트 데이터</a:t>
            </a:r>
            <a:r>
              <a:rPr lang="en-US" altLang="ko-KR" dirty="0"/>
              <a:t>(</a:t>
            </a:r>
            <a:r>
              <a:rPr lang="en-US" altLang="ko-KR" dirty="0" err="1">
                <a:latin typeface="Courier New" panose="02070309020205020404" pitchFamily="49" charset="0"/>
              </a:rPr>
              <a:t>MuzzleCB</a:t>
            </a:r>
            <a:r>
              <a:rPr lang="en-US" altLang="ko-KR" dirty="0"/>
              <a:t>) </a:t>
            </a:r>
            <a:r>
              <a:rPr lang="ko-KR" altLang="en-US" dirty="0"/>
              <a:t>바인딩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altLang="ko-KR" b="1" dirty="0"/>
              <a:t>Geometry-less Rendering</a:t>
            </a:r>
            <a:r>
              <a:rPr lang="en-US" altLang="ko-KR" dirty="0"/>
              <a:t>: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ko-KR" altLang="en-US" dirty="0"/>
              <a:t>별도의 </a:t>
            </a:r>
            <a:r>
              <a:rPr lang="en-US" altLang="ko-KR" dirty="0"/>
              <a:t>Vertex Buffer </a:t>
            </a:r>
            <a:r>
              <a:rPr lang="ko-KR" altLang="en-US" dirty="0"/>
              <a:t>없이 </a:t>
            </a:r>
            <a:r>
              <a:rPr lang="en-US" altLang="ko-KR" dirty="0" err="1">
                <a:latin typeface="Courier New" panose="02070309020205020404" pitchFamily="49" charset="0"/>
              </a:rPr>
              <a:t>SV_VertexID</a:t>
            </a:r>
            <a:r>
              <a:rPr lang="ko-KR" altLang="en-US" dirty="0"/>
              <a:t>를 사용하여 </a:t>
            </a:r>
            <a:r>
              <a:rPr lang="ko-KR" altLang="en-US" dirty="0" err="1"/>
              <a:t>셰이더</a:t>
            </a:r>
            <a:r>
              <a:rPr lang="ko-KR" altLang="en-US" dirty="0"/>
              <a:t> 내부에서 빌보드</a:t>
            </a:r>
            <a:r>
              <a:rPr lang="en-US" altLang="ko-KR" dirty="0"/>
              <a:t>(Billboard) </a:t>
            </a:r>
            <a:r>
              <a:rPr lang="ko-KR" altLang="en-US" dirty="0"/>
              <a:t>정점을 실시간 생성</a:t>
            </a:r>
            <a:r>
              <a:rPr lang="en-US" altLang="ko-KR" dirty="0"/>
              <a:t>.</a:t>
            </a:r>
            <a:r>
              <a:rPr lang="ko-KR" altLang="en-US" dirty="0"/>
              <a:t> </a:t>
            </a:r>
            <a:r>
              <a:rPr lang="en-US" altLang="ko-KR" b="1" dirty="0"/>
              <a:t>Instanced Drawing</a:t>
            </a:r>
            <a:r>
              <a:rPr lang="en-US" altLang="ko-KR" dirty="0"/>
              <a:t>: </a:t>
            </a:r>
            <a:r>
              <a:rPr lang="ko-KR" altLang="en-US" dirty="0" err="1"/>
              <a:t>파티클</a:t>
            </a:r>
            <a:r>
              <a:rPr lang="ko-KR" altLang="en-US" dirty="0"/>
              <a:t> 개수만큼 </a:t>
            </a:r>
            <a:r>
              <a:rPr lang="en-US" altLang="ko-KR" dirty="0" err="1">
                <a:latin typeface="Courier New" panose="02070309020205020404" pitchFamily="49" charset="0"/>
              </a:rPr>
              <a:t>DrawInstanced</a:t>
            </a:r>
            <a:r>
              <a:rPr lang="ko-KR" altLang="en-US" dirty="0"/>
              <a:t>를 호출하여 기하학적 메모리 점유율을 최소화</a:t>
            </a:r>
            <a:r>
              <a:rPr lang="en-US" altLang="ko-KR" dirty="0"/>
              <a:t>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altLang="ko-KR" b="1" dirty="0"/>
              <a:t>Visual Optimization</a:t>
            </a:r>
            <a:r>
              <a:rPr lang="en-US" altLang="ko-KR" dirty="0"/>
              <a:t>: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altLang="ko-KR" b="1" dirty="0"/>
              <a:t>Additive Blending</a:t>
            </a:r>
            <a:r>
              <a:rPr lang="en-US" altLang="ko-KR" dirty="0"/>
              <a:t>: </a:t>
            </a:r>
            <a:r>
              <a:rPr lang="ko-KR" altLang="en-US" dirty="0"/>
              <a:t>빛의 중첩 표현을 위해 가산 혼합 적용</a:t>
            </a:r>
            <a:r>
              <a:rPr lang="en-US" altLang="ko-KR" dirty="0"/>
              <a:t>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altLang="ko-KR" b="1" dirty="0"/>
              <a:t>Depth Stencil</a:t>
            </a:r>
            <a:r>
              <a:rPr lang="en-US" altLang="ko-KR" dirty="0"/>
              <a:t>: </a:t>
            </a:r>
            <a:r>
              <a:rPr lang="ko-KR" altLang="en-US" dirty="0" err="1"/>
              <a:t>파티클</a:t>
            </a:r>
            <a:r>
              <a:rPr lang="ko-KR" altLang="en-US" dirty="0"/>
              <a:t> 간의 불필요한 가림을 방지하고 부드러운 합성을 위해 </a:t>
            </a:r>
            <a:r>
              <a:rPr lang="en-US" altLang="ko-KR" dirty="0" err="1">
                <a:latin typeface="Courier New" panose="02070309020205020404" pitchFamily="49" charset="0"/>
              </a:rPr>
              <a:t>DepthWrite</a:t>
            </a:r>
            <a:r>
              <a:rPr lang="ko-KR" altLang="en-US" dirty="0"/>
              <a:t>를 비활성화</a:t>
            </a:r>
            <a:r>
              <a:rPr lang="en-US" altLang="ko-KR" dirty="0"/>
              <a:t>(</a:t>
            </a:r>
            <a:r>
              <a:rPr lang="en-US" altLang="ko-KR" dirty="0">
                <a:latin typeface="Courier New" panose="02070309020205020404" pitchFamily="49" charset="0"/>
              </a:rPr>
              <a:t>ZERO</a:t>
            </a:r>
            <a:r>
              <a:rPr lang="en-US" altLang="ko-KR" dirty="0"/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2958472303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1BEC5B2-FCBE-B8B8-ED5E-04C115E9B7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1E04B38-937C-7497-BCE3-E08EE548A656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0" y="18255"/>
            <a:ext cx="10515600" cy="850425"/>
          </a:xfrm>
        </p:spPr>
        <p:txBody>
          <a:bodyPr>
            <a:normAutofit/>
          </a:bodyPr>
          <a:lstStyle/>
          <a:p>
            <a:r>
              <a:rPr lang="en-US" altLang="ko-KR" sz="5400" dirty="0"/>
              <a:t>Raytracing</a:t>
            </a:r>
            <a:endParaRPr lang="ko-KR" altLang="en-US" sz="5400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EDD4CD7-816C-FA9A-C461-BB44F19645FC}"/>
              </a:ext>
            </a:extLst>
          </p:cNvPr>
          <p:cNvSpPr txBox="1"/>
          <p:nvPr/>
        </p:nvSpPr>
        <p:spPr>
          <a:xfrm>
            <a:off x="180093" y="1053319"/>
            <a:ext cx="1412566" cy="369332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altLang="ko-KR" dirty="0"/>
              <a:t>Object</a:t>
            </a:r>
            <a:r>
              <a:rPr lang="ko-KR" altLang="en-US" dirty="0"/>
              <a:t> </a:t>
            </a:r>
            <a:r>
              <a:rPr lang="ko-KR" altLang="en-US" dirty="0" err="1"/>
              <a:t>컬링</a:t>
            </a:r>
            <a:endParaRPr lang="ko-KR" alt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A3B1B66-3C57-318E-9C76-6DC14B0977E1}"/>
              </a:ext>
            </a:extLst>
          </p:cNvPr>
          <p:cNvSpPr txBox="1"/>
          <p:nvPr/>
        </p:nvSpPr>
        <p:spPr>
          <a:xfrm>
            <a:off x="6096000" y="1053319"/>
            <a:ext cx="2778325" cy="369332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ko-KR" altLang="en-US" dirty="0"/>
              <a:t>드로우 콜 </a:t>
            </a:r>
            <a:r>
              <a:rPr lang="en-US" altLang="ko-KR" dirty="0"/>
              <a:t>&amp; </a:t>
            </a:r>
            <a:r>
              <a:rPr lang="ko-KR" altLang="en-US" dirty="0" err="1"/>
              <a:t>버택스</a:t>
            </a:r>
            <a:r>
              <a:rPr lang="ko-KR" altLang="en-US" dirty="0"/>
              <a:t> 처리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9ACBFBB-3512-2E4D-9613-056B18232163}"/>
              </a:ext>
            </a:extLst>
          </p:cNvPr>
          <p:cNvSpPr txBox="1"/>
          <p:nvPr/>
        </p:nvSpPr>
        <p:spPr>
          <a:xfrm>
            <a:off x="180093" y="3127925"/>
            <a:ext cx="1790875" cy="369332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altLang="ko-KR" dirty="0"/>
              <a:t>Light </a:t>
            </a:r>
            <a:r>
              <a:rPr lang="ko-KR" altLang="en-US" dirty="0"/>
              <a:t>처리</a:t>
            </a:r>
            <a:r>
              <a:rPr lang="en-US" altLang="ko-KR" dirty="0"/>
              <a:t> </a:t>
            </a:r>
            <a:r>
              <a:rPr lang="ko-KR" altLang="en-US" dirty="0"/>
              <a:t>방법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8336F82D-A44D-11C5-642B-D050A1486AA0}"/>
              </a:ext>
            </a:extLst>
          </p:cNvPr>
          <p:cNvSpPr txBox="1"/>
          <p:nvPr/>
        </p:nvSpPr>
        <p:spPr>
          <a:xfrm>
            <a:off x="6096000" y="3145596"/>
            <a:ext cx="2252540" cy="369332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altLang="ko-KR" dirty="0" err="1"/>
              <a:t>GameObject</a:t>
            </a:r>
            <a:r>
              <a:rPr lang="ko-KR" altLang="en-US" dirty="0"/>
              <a:t>의 종류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FB941C1-8B60-2278-B4C7-C5F999B335D3}"/>
              </a:ext>
            </a:extLst>
          </p:cNvPr>
          <p:cNvSpPr txBox="1"/>
          <p:nvPr/>
        </p:nvSpPr>
        <p:spPr>
          <a:xfrm>
            <a:off x="180092" y="5202531"/>
            <a:ext cx="877163" cy="369332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ko-KR" altLang="en-US" dirty="0"/>
              <a:t>그림자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7A03762-B42B-6DE9-B229-6BA898BFAE60}"/>
              </a:ext>
            </a:extLst>
          </p:cNvPr>
          <p:cNvSpPr txBox="1"/>
          <p:nvPr/>
        </p:nvSpPr>
        <p:spPr>
          <a:xfrm>
            <a:off x="6096000" y="5215181"/>
            <a:ext cx="646331" cy="369332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ko-KR" altLang="en-US" dirty="0"/>
              <a:t>반사</a:t>
            </a:r>
          </a:p>
        </p:txBody>
      </p:sp>
      <mc:AlternateContent xmlns:mc="http://schemas.openxmlformats.org/markup-compatibility/2006" xmlns:pslz="http://schemas.microsoft.com/office/powerpoint/2016/slidezoom">
        <mc:Choice Requires="pslz">
          <p:graphicFrame>
            <p:nvGraphicFramePr>
              <p:cNvPr id="10" name="슬라이드 확대/축소 9">
                <a:extLst>
                  <a:ext uri="{FF2B5EF4-FFF2-40B4-BE49-F238E27FC236}">
                    <a16:creationId xmlns:a16="http://schemas.microsoft.com/office/drawing/2014/main" id="{377F04DF-8C5B-CA8D-4197-8F4BF5B5FFF6}"/>
                  </a:ext>
                </a:extLst>
              </p:cNvPr>
              <p:cNvGraphicFramePr>
                <a:graphicFrameLocks noChangeAspect="1"/>
              </p:cNvGraphicFramePr>
              <p:nvPr>
                <p:extLst>
                  <p:ext uri="{D42A27DB-BD31-4B8C-83A1-F6EECF244321}">
                    <p14:modId xmlns:p14="http://schemas.microsoft.com/office/powerpoint/2010/main" val="1309643042"/>
                  </p:ext>
                </p:extLst>
              </p:nvPr>
            </p:nvGraphicFramePr>
            <p:xfrm>
              <a:off x="6096000" y="3623153"/>
              <a:ext cx="2615381" cy="1471152"/>
            </p:xfrm>
            <a:graphic>
              <a:graphicData uri="http://schemas.microsoft.com/office/powerpoint/2016/slidezoom">
                <pslz:sldZm>
                  <pslz:sldZmObj sldId="275" cId="1216493664">
                    <pslz:zmPr id="{8943EDC0-607D-41EF-AEAF-4ED0CAF5FDEC}" returnToParent="0" transitionDur="1000">
                      <p166:blipFill xmlns:p166="http://schemas.microsoft.com/office/powerpoint/2016/6/main">
                        <a:blip r:embed="rId2"/>
                        <a:stretch>
                          <a:fillRect/>
                        </a:stretch>
                      </p166:blipFill>
                      <p166:spPr xmlns:p166="http://schemas.microsoft.com/office/powerpoint/2016/6/main">
                        <a:xfrm>
                          <a:off x="0" y="0"/>
                          <a:ext cx="2615381" cy="1471152"/>
                        </a:xfrm>
                        <a:prstGeom prst="rect">
                          <a:avLst/>
                        </a:prstGeom>
                        <a:ln w="3175">
                          <a:solidFill>
                            <a:prstClr val="ltGray"/>
                          </a:solidFill>
                        </a:ln>
                      </p166:spPr>
                    </pslz:zmPr>
                  </pslz:sldZmObj>
                </pslz:sldZm>
              </a:graphicData>
            </a:graphic>
          </p:graphicFrame>
        </mc:Choice>
        <mc:Fallback xmlns="">
          <p:pic>
            <p:nvPicPr>
              <p:cNvPr id="10" name="슬라이드 확대/축소 9">
                <a:hlinkClick r:id="rId3" action="ppaction://hlinksldjump"/>
                <a:extLst>
                  <a:ext uri="{FF2B5EF4-FFF2-40B4-BE49-F238E27FC236}">
                    <a16:creationId xmlns:a16="http://schemas.microsoft.com/office/drawing/2014/main" id="{377F04DF-8C5B-CA8D-4197-8F4BF5B5FFF6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/>
              </p:cNvPicPr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6096000" y="3623153"/>
                <a:ext cx="2615381" cy="1471152"/>
              </a:xfrm>
              <a:prstGeom prst="rect">
                <a:avLst/>
              </a:prstGeom>
              <a:ln w="3175">
                <a:solidFill>
                  <a:prstClr val="ltGray"/>
                </a:solidFill>
              </a:ln>
            </p:spPr>
          </p:pic>
        </mc:Fallback>
      </mc:AlternateContent>
      <mc:AlternateContent xmlns:mc="http://schemas.openxmlformats.org/markup-compatibility/2006" xmlns:pslz="http://schemas.microsoft.com/office/powerpoint/2016/slidezoom">
        <mc:Choice Requires="pslz">
          <p:graphicFrame>
            <p:nvGraphicFramePr>
              <p:cNvPr id="12" name="슬라이드 확대/축소 11">
                <a:extLst>
                  <a:ext uri="{FF2B5EF4-FFF2-40B4-BE49-F238E27FC236}">
                    <a16:creationId xmlns:a16="http://schemas.microsoft.com/office/drawing/2014/main" id="{8F29BC11-36B9-45F7-4879-A46D2C89FB68}"/>
                  </a:ext>
                </a:extLst>
              </p:cNvPr>
              <p:cNvGraphicFramePr>
                <a:graphicFrameLocks noChangeAspect="1"/>
              </p:cNvGraphicFramePr>
              <p:nvPr>
                <p:extLst>
                  <p:ext uri="{D42A27DB-BD31-4B8C-83A1-F6EECF244321}">
                    <p14:modId xmlns:p14="http://schemas.microsoft.com/office/powerpoint/2010/main" val="3106977482"/>
                  </p:ext>
                </p:extLst>
              </p:nvPr>
            </p:nvGraphicFramePr>
            <p:xfrm>
              <a:off x="8711381" y="3623153"/>
              <a:ext cx="2615381" cy="1471152"/>
            </p:xfrm>
            <a:graphic>
              <a:graphicData uri="http://schemas.microsoft.com/office/powerpoint/2016/slidezoom">
                <pslz:sldZm>
                  <pslz:sldZmObj sldId="276" cId="904325592">
                    <pslz:zmPr id="{9E0EBCD9-BD83-4563-B14E-89E01394AE33}" returnToParent="0" transitionDur="1000">
                      <p166:blipFill xmlns:p166="http://schemas.microsoft.com/office/powerpoint/2016/6/main">
                        <a:blip r:embed="rId5"/>
                        <a:stretch>
                          <a:fillRect/>
                        </a:stretch>
                      </p166:blipFill>
                      <p166:spPr xmlns:p166="http://schemas.microsoft.com/office/powerpoint/2016/6/main">
                        <a:xfrm>
                          <a:off x="0" y="0"/>
                          <a:ext cx="2615381" cy="1471152"/>
                        </a:xfrm>
                        <a:prstGeom prst="rect">
                          <a:avLst/>
                        </a:prstGeom>
                        <a:ln w="3175">
                          <a:solidFill>
                            <a:prstClr val="ltGray"/>
                          </a:solidFill>
                        </a:ln>
                      </p166:spPr>
                    </pslz:zmPr>
                  </pslz:sldZmObj>
                </pslz:sldZm>
              </a:graphicData>
            </a:graphic>
          </p:graphicFrame>
        </mc:Choice>
        <mc:Fallback xmlns="">
          <p:pic>
            <p:nvPicPr>
              <p:cNvPr id="12" name="슬라이드 확대/축소 11">
                <a:hlinkClick r:id="rId6" action="ppaction://hlinksldjump"/>
                <a:extLst>
                  <a:ext uri="{FF2B5EF4-FFF2-40B4-BE49-F238E27FC236}">
                    <a16:creationId xmlns:a16="http://schemas.microsoft.com/office/drawing/2014/main" id="{8F29BC11-36B9-45F7-4879-A46D2C89FB68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/>
              </p:cNvPicPr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8711381" y="3623153"/>
                <a:ext cx="2615381" cy="1471152"/>
              </a:xfrm>
              <a:prstGeom prst="rect">
                <a:avLst/>
              </a:prstGeom>
              <a:ln w="3175">
                <a:solidFill>
                  <a:prstClr val="ltGray"/>
                </a:solidFill>
              </a:ln>
            </p:spPr>
          </p:pic>
        </mc:Fallback>
      </mc:AlternateContent>
      <p:sp>
        <p:nvSpPr>
          <p:cNvPr id="13" name="TextBox 12">
            <a:extLst>
              <a:ext uri="{FF2B5EF4-FFF2-40B4-BE49-F238E27FC236}">
                <a16:creationId xmlns:a16="http://schemas.microsoft.com/office/drawing/2014/main" id="{2995F415-D58E-73A2-0A6E-7795F7D25400}"/>
              </a:ext>
            </a:extLst>
          </p:cNvPr>
          <p:cNvSpPr txBox="1"/>
          <p:nvPr/>
        </p:nvSpPr>
        <p:spPr>
          <a:xfrm>
            <a:off x="91601" y="1467599"/>
            <a:ext cx="5779018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 err="1"/>
              <a:t>SkinMesh</a:t>
            </a:r>
            <a:r>
              <a:rPr lang="ko-KR" altLang="en-US" dirty="0"/>
              <a:t>의 </a:t>
            </a:r>
            <a:r>
              <a:rPr lang="en-US" altLang="ko-KR" dirty="0"/>
              <a:t>BLAS Update</a:t>
            </a:r>
            <a:r>
              <a:rPr lang="ko-KR" altLang="en-US" dirty="0"/>
              <a:t>의 경우 </a:t>
            </a:r>
            <a:r>
              <a:rPr lang="en-US" altLang="ko-KR" dirty="0" err="1"/>
              <a:t>game.RenderTour</a:t>
            </a:r>
            <a:r>
              <a:rPr lang="ko-KR" altLang="en-US" dirty="0"/>
              <a:t>를</a:t>
            </a:r>
            <a:endParaRPr lang="en-US" altLang="ko-KR" dirty="0"/>
          </a:p>
          <a:p>
            <a:r>
              <a:rPr lang="ko-KR" altLang="en-US" dirty="0"/>
              <a:t>사용해 보이는 스킨 </a:t>
            </a:r>
            <a:r>
              <a:rPr lang="ko-KR" altLang="en-US" dirty="0" err="1"/>
              <a:t>메쉬에</a:t>
            </a:r>
            <a:r>
              <a:rPr lang="ko-KR" altLang="en-US" dirty="0"/>
              <a:t> 대해서만 </a:t>
            </a:r>
            <a:endParaRPr lang="en-US" altLang="ko-KR" dirty="0"/>
          </a:p>
          <a:p>
            <a:r>
              <a:rPr lang="ko-KR" altLang="en-US" dirty="0"/>
              <a:t>업데이트를 수행한다</a:t>
            </a:r>
            <a:r>
              <a:rPr lang="en-US" altLang="ko-KR" dirty="0"/>
              <a:t>.</a:t>
            </a:r>
            <a:endParaRPr lang="ko-KR" altLang="en-US" dirty="0"/>
          </a:p>
        </p:txBody>
      </p:sp>
      <mc:AlternateContent xmlns:mc="http://schemas.openxmlformats.org/markup-compatibility/2006" xmlns:pslz="http://schemas.microsoft.com/office/powerpoint/2016/slidezoom">
        <mc:Choice Requires="pslz">
          <p:graphicFrame>
            <p:nvGraphicFramePr>
              <p:cNvPr id="11" name="슬라이드 확대/축소 10">
                <a:extLst>
                  <a:ext uri="{FF2B5EF4-FFF2-40B4-BE49-F238E27FC236}">
                    <a16:creationId xmlns:a16="http://schemas.microsoft.com/office/drawing/2014/main" id="{5D85872A-69A6-B12A-6362-54B353177F6F}"/>
                  </a:ext>
                </a:extLst>
              </p:cNvPr>
              <p:cNvGraphicFramePr>
                <a:graphicFrameLocks noChangeAspect="1"/>
              </p:cNvGraphicFramePr>
              <p:nvPr>
                <p:extLst>
                  <p:ext uri="{D42A27DB-BD31-4B8C-83A1-F6EECF244321}">
                    <p14:modId xmlns:p14="http://schemas.microsoft.com/office/powerpoint/2010/main" val="1374667222"/>
                  </p:ext>
                </p:extLst>
              </p:nvPr>
            </p:nvGraphicFramePr>
            <p:xfrm>
              <a:off x="6096000" y="1520347"/>
              <a:ext cx="2778325" cy="1562808"/>
            </p:xfrm>
            <a:graphic>
              <a:graphicData uri="http://schemas.microsoft.com/office/powerpoint/2016/slidezoom">
                <pslz:sldZm>
                  <pslz:sldZmObj sldId="286" cId="471672495">
                    <pslz:zmPr id="{47ADBA83-62CC-4C39-B974-4F5B113AD202}" returnToParent="0" transitionDur="1000">
                      <p166:blipFill xmlns:p166="http://schemas.microsoft.com/office/powerpoint/2016/6/main">
                        <a:blip r:embed="rId8"/>
                        <a:stretch>
                          <a:fillRect/>
                        </a:stretch>
                      </p166:blipFill>
                      <p166:spPr xmlns:p166="http://schemas.microsoft.com/office/powerpoint/2016/6/main">
                        <a:xfrm>
                          <a:off x="0" y="0"/>
                          <a:ext cx="2778325" cy="1562808"/>
                        </a:xfrm>
                        <a:prstGeom prst="rect">
                          <a:avLst/>
                        </a:prstGeom>
                        <a:ln w="3175">
                          <a:solidFill>
                            <a:prstClr val="ltGray"/>
                          </a:solidFill>
                        </a:ln>
                      </p166:spPr>
                    </pslz:zmPr>
                  </pslz:sldZmObj>
                </pslz:sldZm>
              </a:graphicData>
            </a:graphic>
          </p:graphicFrame>
        </mc:Choice>
        <mc:Fallback xmlns="">
          <p:pic>
            <p:nvPicPr>
              <p:cNvPr id="11" name="슬라이드 확대/축소 10">
                <a:hlinkClick r:id="rId3" action="ppaction://hlinksldjump"/>
                <a:extLst>
                  <a:ext uri="{FF2B5EF4-FFF2-40B4-BE49-F238E27FC236}">
                    <a16:creationId xmlns:a16="http://schemas.microsoft.com/office/drawing/2014/main" id="{5D85872A-69A6-B12A-6362-54B353177F6F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/>
              </p:cNvPicPr>
              <p:nvPr/>
            </p:nvPicPr>
            <p:blipFill>
              <a:blip r:embed="rId9"/>
              <a:stretch>
                <a:fillRect/>
              </a:stretch>
            </p:blipFill>
            <p:spPr>
              <a:xfrm>
                <a:off x="6096000" y="1520347"/>
                <a:ext cx="2778325" cy="1562808"/>
              </a:xfrm>
              <a:prstGeom prst="rect">
                <a:avLst/>
              </a:prstGeom>
              <a:ln w="3175">
                <a:solidFill>
                  <a:prstClr val="ltGray"/>
                </a:solidFill>
              </a:ln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3813102566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28D3EA2-2F9A-BBA9-FCED-EA621E860D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338507F-D2F3-0813-40BE-C41B7850B7FF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0" y="18255"/>
            <a:ext cx="10515600" cy="850425"/>
          </a:xfrm>
        </p:spPr>
        <p:txBody>
          <a:bodyPr>
            <a:normAutofit/>
          </a:bodyPr>
          <a:lstStyle/>
          <a:p>
            <a:r>
              <a:rPr lang="en-US" altLang="ko-KR" sz="5400" dirty="0"/>
              <a:t>DXR – Vertex</a:t>
            </a:r>
            <a:r>
              <a:rPr lang="ko-KR" altLang="en-US" sz="5400" dirty="0"/>
              <a:t> </a:t>
            </a:r>
            <a:r>
              <a:rPr lang="en-US" altLang="ko-KR" sz="5400" dirty="0"/>
              <a:t>Compute</a:t>
            </a:r>
            <a:endParaRPr lang="ko-KR" altLang="en-US" sz="5400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1A0998AD-A07F-1BD6-CC03-61628BF4B0BC}"/>
              </a:ext>
            </a:extLst>
          </p:cNvPr>
          <p:cNvSpPr txBox="1"/>
          <p:nvPr/>
        </p:nvSpPr>
        <p:spPr>
          <a:xfrm>
            <a:off x="206477" y="868680"/>
            <a:ext cx="11344832" cy="507831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 err="1"/>
              <a:t>메쉬를</a:t>
            </a:r>
            <a:r>
              <a:rPr lang="ko-KR" altLang="en-US" dirty="0"/>
              <a:t> </a:t>
            </a:r>
            <a:r>
              <a:rPr lang="ko-KR" altLang="en-US" dirty="0" err="1"/>
              <a:t>만들때마다</a:t>
            </a:r>
            <a:r>
              <a:rPr lang="ko-KR" altLang="en-US" dirty="0"/>
              <a:t> </a:t>
            </a:r>
            <a:r>
              <a:rPr lang="en-US" altLang="ko-KR" dirty="0"/>
              <a:t>BLAS</a:t>
            </a:r>
            <a:r>
              <a:rPr lang="ko-KR" altLang="en-US" dirty="0"/>
              <a:t>를 함께 빌드하며</a:t>
            </a:r>
            <a:r>
              <a:rPr lang="en-US" altLang="ko-KR" dirty="0"/>
              <a:t>, </a:t>
            </a:r>
            <a:r>
              <a:rPr lang="ko-KR" altLang="en-US" dirty="0" err="1"/>
              <a:t>메쉬의</a:t>
            </a:r>
            <a:r>
              <a:rPr lang="ko-KR" altLang="en-US" dirty="0"/>
              <a:t> </a:t>
            </a:r>
            <a:r>
              <a:rPr lang="ko-KR" altLang="en-US" dirty="0" err="1"/>
              <a:t>버택스</a:t>
            </a:r>
            <a:r>
              <a:rPr lang="ko-KR" altLang="en-US" dirty="0"/>
              <a:t> </a:t>
            </a:r>
            <a:r>
              <a:rPr lang="en-US" altLang="ko-KR" dirty="0"/>
              <a:t>/</a:t>
            </a:r>
            <a:r>
              <a:rPr lang="ko-KR" altLang="en-US" dirty="0"/>
              <a:t> 인덱스 데이터를 </a:t>
            </a:r>
            <a:endParaRPr lang="en-US" altLang="ko-KR" dirty="0"/>
          </a:p>
          <a:p>
            <a:r>
              <a:rPr lang="ko-KR" altLang="en-US" dirty="0"/>
              <a:t>두개의 </a:t>
            </a:r>
            <a:r>
              <a:rPr lang="en-US" altLang="ko-KR" dirty="0" err="1"/>
              <a:t>GPURes</a:t>
            </a:r>
            <a:r>
              <a:rPr lang="ko-KR" altLang="en-US" dirty="0"/>
              <a:t>인 풀에 집어넣는다</a:t>
            </a:r>
            <a:r>
              <a:rPr lang="en-US" altLang="ko-KR" dirty="0"/>
              <a:t>. &gt;&gt; </a:t>
            </a:r>
            <a:r>
              <a:rPr lang="ko-KR" altLang="en-US" dirty="0"/>
              <a:t>때문에 모든 </a:t>
            </a:r>
            <a:r>
              <a:rPr lang="ko-KR" altLang="en-US" dirty="0" err="1"/>
              <a:t>버택스</a:t>
            </a:r>
            <a:r>
              <a:rPr lang="ko-KR" altLang="en-US" dirty="0"/>
              <a:t> 데이터</a:t>
            </a:r>
            <a:r>
              <a:rPr lang="en-US" altLang="ko-KR" dirty="0"/>
              <a:t>, </a:t>
            </a:r>
            <a:r>
              <a:rPr lang="ko-KR" altLang="en-US" dirty="0"/>
              <a:t>모든 인덱스 데이터가 이 두 리소스 내에 있다</a:t>
            </a:r>
            <a:r>
              <a:rPr lang="en-US" altLang="ko-KR" dirty="0"/>
              <a:t>.</a:t>
            </a:r>
          </a:p>
          <a:p>
            <a:r>
              <a:rPr lang="en-US" altLang="ko-KR" dirty="0"/>
              <a:t>	- </a:t>
            </a:r>
            <a:r>
              <a:rPr lang="ko-KR" altLang="en-US" dirty="0"/>
              <a:t>다만 이 </a:t>
            </a:r>
            <a:r>
              <a:rPr lang="ko-KR" altLang="en-US" dirty="0" err="1"/>
              <a:t>메쉬의</a:t>
            </a:r>
            <a:r>
              <a:rPr lang="ko-KR" altLang="en-US" dirty="0"/>
              <a:t> 데이터를 레스터 렌더링에서도 재활용하기 위해서는 </a:t>
            </a:r>
            <a:endParaRPr lang="en-US" altLang="ko-KR" dirty="0"/>
          </a:p>
          <a:p>
            <a:r>
              <a:rPr lang="en-US" altLang="ko-KR" dirty="0"/>
              <a:t>		</a:t>
            </a:r>
            <a:r>
              <a:rPr lang="ko-KR" altLang="en-US" dirty="0" err="1"/>
              <a:t>메쉬마다</a:t>
            </a:r>
            <a:r>
              <a:rPr lang="ko-KR" altLang="en-US" dirty="0"/>
              <a:t> </a:t>
            </a:r>
            <a:r>
              <a:rPr lang="en-US" altLang="ko-KR" dirty="0" err="1"/>
              <a:t>VertexBufferView</a:t>
            </a:r>
            <a:r>
              <a:rPr lang="en-US" altLang="ko-KR" dirty="0"/>
              <a:t>, </a:t>
            </a:r>
            <a:r>
              <a:rPr lang="en-US" altLang="ko-KR" dirty="0" err="1"/>
              <a:t>IndexBufferView</a:t>
            </a:r>
            <a:r>
              <a:rPr lang="ko-KR" altLang="en-US" dirty="0"/>
              <a:t>를 만들어야 했는데 그러기 위해서는 </a:t>
            </a:r>
            <a:endParaRPr lang="en-US" altLang="ko-KR" dirty="0"/>
          </a:p>
          <a:p>
            <a:r>
              <a:rPr lang="en-US" altLang="ko-KR" dirty="0"/>
              <a:t>		</a:t>
            </a:r>
            <a:r>
              <a:rPr lang="ko-KR" altLang="en-US" dirty="0"/>
              <a:t>모든 </a:t>
            </a:r>
            <a:r>
              <a:rPr lang="ko-KR" altLang="en-US" dirty="0" err="1"/>
              <a:t>메쉬의</a:t>
            </a:r>
            <a:r>
              <a:rPr lang="ko-KR" altLang="en-US" dirty="0"/>
              <a:t> </a:t>
            </a:r>
            <a:r>
              <a:rPr lang="ko-KR" altLang="en-US" dirty="0" err="1"/>
              <a:t>버택스</a:t>
            </a:r>
            <a:r>
              <a:rPr lang="ko-KR" altLang="en-US" dirty="0"/>
              <a:t> 시작점</a:t>
            </a:r>
            <a:r>
              <a:rPr lang="en-US" altLang="ko-KR" dirty="0"/>
              <a:t>, </a:t>
            </a:r>
            <a:r>
              <a:rPr lang="ko-KR" altLang="en-US" dirty="0"/>
              <a:t>그 안의 모든 </a:t>
            </a:r>
            <a:r>
              <a:rPr lang="ko-KR" altLang="en-US" dirty="0" err="1"/>
              <a:t>서브메쉬들의</a:t>
            </a:r>
            <a:r>
              <a:rPr lang="ko-KR" altLang="en-US" dirty="0"/>
              <a:t> 인덱스 시작점들을 </a:t>
            </a:r>
            <a:endParaRPr lang="en-US" altLang="ko-KR" dirty="0"/>
          </a:p>
          <a:p>
            <a:r>
              <a:rPr lang="en-US" altLang="ko-KR" dirty="0"/>
              <a:t>		256</a:t>
            </a:r>
            <a:r>
              <a:rPr lang="ko-KR" altLang="en-US" dirty="0"/>
              <a:t>바이트로 얼라인해야 했다</a:t>
            </a:r>
            <a:r>
              <a:rPr lang="en-US" altLang="ko-KR" dirty="0"/>
              <a:t>.</a:t>
            </a:r>
          </a:p>
          <a:p>
            <a:r>
              <a:rPr lang="en-US" altLang="ko-KR" dirty="0"/>
              <a:t>		</a:t>
            </a:r>
            <a:r>
              <a:rPr lang="ko-KR" altLang="en-US" dirty="0"/>
              <a:t>때문에 같은 </a:t>
            </a:r>
            <a:r>
              <a:rPr lang="ko-KR" altLang="en-US" dirty="0" err="1"/>
              <a:t>메쉬라도</a:t>
            </a:r>
            <a:r>
              <a:rPr lang="ko-KR" altLang="en-US" dirty="0"/>
              <a:t> 데이터가 연속적이지 않고 정렬되어 끊겨져 있을 것이다</a:t>
            </a:r>
            <a:r>
              <a:rPr lang="en-US" altLang="ko-KR" dirty="0"/>
              <a:t>. </a:t>
            </a:r>
          </a:p>
          <a:p>
            <a:endParaRPr lang="en-US" altLang="ko-KR" dirty="0"/>
          </a:p>
          <a:p>
            <a:r>
              <a:rPr lang="ko-KR" altLang="en-US" dirty="0" err="1"/>
              <a:t>렌더를</a:t>
            </a:r>
            <a:r>
              <a:rPr lang="ko-KR" altLang="en-US" dirty="0"/>
              <a:t> 시작하면</a:t>
            </a:r>
            <a:endParaRPr lang="en-US" altLang="ko-KR" dirty="0"/>
          </a:p>
          <a:p>
            <a:r>
              <a:rPr lang="ko-KR" altLang="en-US" dirty="0" err="1"/>
              <a:t>프러스텀</a:t>
            </a:r>
            <a:r>
              <a:rPr lang="ko-KR" altLang="en-US" dirty="0"/>
              <a:t> </a:t>
            </a:r>
            <a:r>
              <a:rPr lang="ko-KR" altLang="en-US" dirty="0" err="1"/>
              <a:t>컬링으로</a:t>
            </a:r>
            <a:r>
              <a:rPr lang="ko-KR" altLang="en-US" dirty="0"/>
              <a:t> 걸러낸 </a:t>
            </a:r>
            <a:r>
              <a:rPr lang="ko-KR" altLang="en-US" dirty="0" err="1"/>
              <a:t>스킨메쉬들의</a:t>
            </a:r>
            <a:r>
              <a:rPr lang="ko-KR" altLang="en-US" dirty="0"/>
              <a:t> 데이터를 변형시키고</a:t>
            </a:r>
            <a:r>
              <a:rPr lang="en-US" altLang="ko-KR" dirty="0"/>
              <a:t>, BLAS refit</a:t>
            </a:r>
            <a:r>
              <a:rPr lang="ko-KR" altLang="en-US" dirty="0"/>
              <a:t>을 수행한다</a:t>
            </a:r>
            <a:r>
              <a:rPr lang="en-US" altLang="ko-KR" dirty="0"/>
              <a:t>.</a:t>
            </a:r>
          </a:p>
          <a:p>
            <a:endParaRPr lang="en-US" altLang="ko-KR" dirty="0"/>
          </a:p>
          <a:p>
            <a:r>
              <a:rPr lang="ko-KR" altLang="en-US" dirty="0"/>
              <a:t>또한 각</a:t>
            </a:r>
            <a:r>
              <a:rPr lang="en-US" altLang="ko-KR" dirty="0"/>
              <a:t> </a:t>
            </a:r>
            <a:r>
              <a:rPr lang="ko-KR" altLang="en-US" dirty="0"/>
              <a:t>프레임마다</a:t>
            </a:r>
            <a:r>
              <a:rPr lang="en-US" altLang="ko-KR" dirty="0"/>
              <a:t> TLAS</a:t>
            </a:r>
            <a:r>
              <a:rPr lang="ko-KR" altLang="en-US" dirty="0"/>
              <a:t>를 빌드하고 </a:t>
            </a:r>
            <a:r>
              <a:rPr lang="en-US" altLang="ko-KR" dirty="0"/>
              <a:t>AS </a:t>
            </a:r>
            <a:r>
              <a:rPr lang="ko-KR" altLang="en-US" dirty="0"/>
              <a:t>바인딩</a:t>
            </a:r>
            <a:endParaRPr lang="en-US" altLang="ko-KR" dirty="0"/>
          </a:p>
          <a:p>
            <a:r>
              <a:rPr lang="ko-KR" altLang="en-US" dirty="0" err="1"/>
              <a:t>메쉬들의</a:t>
            </a:r>
            <a:r>
              <a:rPr lang="ko-KR" altLang="en-US" dirty="0"/>
              <a:t> 데이터를 모아놓은 </a:t>
            </a:r>
            <a:r>
              <a:rPr lang="en-US" altLang="ko-KR" dirty="0"/>
              <a:t>Vertex Buffer SRV, Index Buffer SRV</a:t>
            </a:r>
            <a:r>
              <a:rPr lang="ko-KR" altLang="en-US" dirty="0"/>
              <a:t>를 </a:t>
            </a:r>
            <a:r>
              <a:rPr lang="ko-KR" altLang="en-US" dirty="0" err="1"/>
              <a:t>셰이더에</a:t>
            </a:r>
            <a:r>
              <a:rPr lang="ko-KR" altLang="en-US" dirty="0"/>
              <a:t> 바인딩을 하고</a:t>
            </a:r>
            <a:endParaRPr lang="en-US" altLang="ko-KR" dirty="0"/>
          </a:p>
          <a:p>
            <a:r>
              <a:rPr lang="ko-KR" altLang="en-US" dirty="0"/>
              <a:t>렌더링을 시작한다</a:t>
            </a:r>
            <a:r>
              <a:rPr lang="en-US" altLang="ko-KR" dirty="0"/>
              <a:t>.</a:t>
            </a:r>
          </a:p>
          <a:p>
            <a:endParaRPr lang="en-US" altLang="ko-KR" dirty="0"/>
          </a:p>
          <a:p>
            <a:r>
              <a:rPr lang="ko-KR" altLang="en-US" dirty="0"/>
              <a:t>화면에서 어떤 픽셀이 </a:t>
            </a:r>
            <a:r>
              <a:rPr lang="ko-KR" altLang="en-US" dirty="0" err="1"/>
              <a:t>메쉬내부에</a:t>
            </a:r>
            <a:r>
              <a:rPr lang="ko-KR" altLang="en-US" dirty="0"/>
              <a:t> 있는 점인지는 </a:t>
            </a:r>
            <a:r>
              <a:rPr lang="en-US" altLang="ko-KR" dirty="0"/>
              <a:t>BLAS</a:t>
            </a:r>
            <a:r>
              <a:rPr lang="ko-KR" altLang="en-US" dirty="0"/>
              <a:t>가 판단하며</a:t>
            </a:r>
            <a:r>
              <a:rPr lang="en-US" altLang="ko-KR" dirty="0"/>
              <a:t>, </a:t>
            </a:r>
            <a:r>
              <a:rPr lang="ko-KR" altLang="en-US" dirty="0"/>
              <a:t>해당 </a:t>
            </a:r>
            <a:r>
              <a:rPr lang="ko-KR" altLang="en-US" dirty="0" err="1"/>
              <a:t>버택스들의</a:t>
            </a:r>
            <a:r>
              <a:rPr lang="ko-KR" altLang="en-US" dirty="0"/>
              <a:t> 자세한 데이터들은 </a:t>
            </a:r>
            <a:endParaRPr lang="en-US" altLang="ko-KR" dirty="0"/>
          </a:p>
          <a:p>
            <a:r>
              <a:rPr lang="en-US" altLang="ko-KR" dirty="0"/>
              <a:t>Vertex Buffer SRV, Index Buffer SRV</a:t>
            </a:r>
            <a:r>
              <a:rPr lang="ko-KR" altLang="en-US" dirty="0"/>
              <a:t>들을 </a:t>
            </a:r>
            <a:r>
              <a:rPr lang="en-US" altLang="ko-KR" dirty="0"/>
              <a:t>Shader</a:t>
            </a:r>
            <a:r>
              <a:rPr lang="ko-KR" altLang="en-US" dirty="0"/>
              <a:t>에서 </a:t>
            </a:r>
            <a:r>
              <a:rPr lang="en-US" altLang="ko-KR" dirty="0" err="1"/>
              <a:t>StructuredBuffer</a:t>
            </a:r>
            <a:r>
              <a:rPr lang="ko-KR" altLang="en-US" dirty="0"/>
              <a:t>로 바인딩하여 알아볼 수 있다</a:t>
            </a:r>
            <a:r>
              <a:rPr lang="en-US" altLang="ko-KR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471672495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0B7CB50-1033-5F70-E3A4-665999B4AC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25F971F-634B-67AA-12B9-CF68B65C699B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0" y="18255"/>
            <a:ext cx="10515600" cy="850425"/>
          </a:xfrm>
        </p:spPr>
        <p:txBody>
          <a:bodyPr>
            <a:normAutofit/>
          </a:bodyPr>
          <a:lstStyle/>
          <a:p>
            <a:r>
              <a:rPr lang="en-US" altLang="ko-KR" sz="5400" dirty="0"/>
              <a:t>DXR - Default</a:t>
            </a:r>
            <a:endParaRPr lang="ko-KR" altLang="en-US" sz="5400" dirty="0"/>
          </a:p>
        </p:txBody>
      </p:sp>
    </p:spTree>
    <p:extLst>
      <p:ext uri="{BB962C8B-B14F-4D97-AF65-F5344CB8AC3E}">
        <p14:creationId xmlns:p14="http://schemas.microsoft.com/office/powerpoint/2010/main" val="1216493664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CE4B3C2-30AA-00C3-D9F1-2F7189F1862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214D2C6-C28A-4290-484E-B3D5AD61CE94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0" y="18255"/>
            <a:ext cx="10515600" cy="850425"/>
          </a:xfrm>
        </p:spPr>
        <p:txBody>
          <a:bodyPr>
            <a:normAutofit/>
          </a:bodyPr>
          <a:lstStyle/>
          <a:p>
            <a:r>
              <a:rPr lang="en-US" altLang="ko-KR" sz="5400" dirty="0"/>
              <a:t>DXR - </a:t>
            </a:r>
            <a:r>
              <a:rPr lang="en-US" altLang="ko-KR" sz="5400" dirty="0" err="1"/>
              <a:t>SkinMesh</a:t>
            </a:r>
            <a:endParaRPr lang="ko-KR" altLang="en-US" sz="5400" dirty="0"/>
          </a:p>
        </p:txBody>
      </p:sp>
    </p:spTree>
    <p:extLst>
      <p:ext uri="{BB962C8B-B14F-4D97-AF65-F5344CB8AC3E}">
        <p14:creationId xmlns:p14="http://schemas.microsoft.com/office/powerpoint/2010/main" val="904325592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0B1C491-2192-30D6-6517-4936C9A550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04A54F4-F8D4-8CF6-D65C-6CFCFA0FD65B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0" y="18255"/>
            <a:ext cx="10515600" cy="850425"/>
          </a:xfrm>
        </p:spPr>
        <p:txBody>
          <a:bodyPr>
            <a:normAutofit/>
          </a:bodyPr>
          <a:lstStyle/>
          <a:p>
            <a:r>
              <a:rPr lang="en-US" altLang="ko-KR" sz="5400" dirty="0"/>
              <a:t>Screen Render</a:t>
            </a:r>
            <a:endParaRPr lang="ko-KR" altLang="en-US" sz="5400" dirty="0"/>
          </a:p>
        </p:txBody>
      </p:sp>
      <mc:AlternateContent xmlns:mc="http://schemas.openxmlformats.org/markup-compatibility/2006" xmlns:pslz="http://schemas.microsoft.com/office/powerpoint/2016/slidezoom">
        <mc:Choice Requires="pslz">
          <p:graphicFrame>
            <p:nvGraphicFramePr>
              <p:cNvPr id="4" name="슬라이드 확대/축소 3">
                <a:extLst>
                  <a:ext uri="{FF2B5EF4-FFF2-40B4-BE49-F238E27FC236}">
                    <a16:creationId xmlns:a16="http://schemas.microsoft.com/office/drawing/2014/main" id="{D987D80D-0EE6-0BE3-6EC8-CB606ACCC617}"/>
                  </a:ext>
                </a:extLst>
              </p:cNvPr>
              <p:cNvGraphicFramePr>
                <a:graphicFrameLocks noChangeAspect="1"/>
              </p:cNvGraphicFramePr>
              <p:nvPr>
                <p:extLst>
                  <p:ext uri="{D42A27DB-BD31-4B8C-83A1-F6EECF244321}">
                    <p14:modId xmlns:p14="http://schemas.microsoft.com/office/powerpoint/2010/main" val="384271985"/>
                  </p:ext>
                </p:extLst>
              </p:nvPr>
            </p:nvGraphicFramePr>
            <p:xfrm>
              <a:off x="228600" y="1011305"/>
              <a:ext cx="9881706" cy="5558460"/>
            </p:xfrm>
            <a:graphic>
              <a:graphicData uri="http://schemas.microsoft.com/office/powerpoint/2016/slidezoom">
                <pslz:sldZm>
                  <pslz:sldZmObj sldId="290" cId="53786630">
                    <pslz:zmPr id="{DDBEFDEF-232B-4277-A610-6EE99BB4F3A1}" returnToParent="0" transitionDur="1000">
                      <p166:blipFill xmlns:p166="http://schemas.microsoft.com/office/powerpoint/2016/6/main">
                        <a:blip r:embed="rId2"/>
                        <a:stretch>
                          <a:fillRect/>
                        </a:stretch>
                      </p166:blipFill>
                      <p166:spPr xmlns:p166="http://schemas.microsoft.com/office/powerpoint/2016/6/main">
                        <a:xfrm>
                          <a:off x="0" y="0"/>
                          <a:ext cx="9881706" cy="5558460"/>
                        </a:xfrm>
                        <a:prstGeom prst="rect">
                          <a:avLst/>
                        </a:prstGeom>
                        <a:ln w="3175">
                          <a:solidFill>
                            <a:prstClr val="ltGray"/>
                          </a:solidFill>
                        </a:ln>
                      </p166:spPr>
                    </pslz:zmPr>
                  </pslz:sldZmObj>
                </pslz:sldZm>
              </a:graphicData>
            </a:graphic>
          </p:graphicFrame>
        </mc:Choice>
        <mc:Fallback xmlns="">
          <p:pic>
            <p:nvPicPr>
              <p:cNvPr id="4" name="슬라이드 확대/축소 3">
                <a:hlinkClick r:id="rId3" action="ppaction://hlinksldjump"/>
                <a:extLst>
                  <a:ext uri="{FF2B5EF4-FFF2-40B4-BE49-F238E27FC236}">
                    <a16:creationId xmlns:a16="http://schemas.microsoft.com/office/drawing/2014/main" id="{D987D80D-0EE6-0BE3-6EC8-CB606ACCC617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/>
              </p:cNvPicPr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228600" y="1011305"/>
                <a:ext cx="9881706" cy="5558460"/>
              </a:xfrm>
              <a:prstGeom prst="rect">
                <a:avLst/>
              </a:prstGeom>
              <a:ln w="3175">
                <a:solidFill>
                  <a:prstClr val="ltGray"/>
                </a:solidFill>
              </a:ln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1872162543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TextBox 20">
            <a:extLst>
              <a:ext uri="{FF2B5EF4-FFF2-40B4-BE49-F238E27FC236}">
                <a16:creationId xmlns:a16="http://schemas.microsoft.com/office/drawing/2014/main" id="{725FC84E-5001-D609-3CBA-91CEC1EDE130}"/>
              </a:ext>
            </a:extLst>
          </p:cNvPr>
          <p:cNvSpPr txBox="1"/>
          <p:nvPr/>
        </p:nvSpPr>
        <p:spPr>
          <a:xfrm>
            <a:off x="2598615" y="3959033"/>
            <a:ext cx="4358776" cy="2444972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endParaRPr lang="ko-KR" altLang="en-US" dirty="0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E89AA414-D269-BA3B-EDE8-410C2E5D5420}"/>
              </a:ext>
            </a:extLst>
          </p:cNvPr>
          <p:cNvSpPr txBox="1">
            <a:spLocks/>
          </p:cNvSpPr>
          <p:nvPr/>
        </p:nvSpPr>
        <p:spPr>
          <a:xfrm>
            <a:off x="0" y="18255"/>
            <a:ext cx="10515600" cy="8504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ko-KR" sz="5400"/>
              <a:t>UI System</a:t>
            </a:r>
            <a:endParaRPr lang="ko-KR" altLang="en-US" sz="5400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6769BFB-CDA3-6465-4FC4-C21087A12300}"/>
              </a:ext>
            </a:extLst>
          </p:cNvPr>
          <p:cNvSpPr txBox="1"/>
          <p:nvPr/>
        </p:nvSpPr>
        <p:spPr>
          <a:xfrm>
            <a:off x="249664" y="3002735"/>
            <a:ext cx="1320715" cy="646331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altLang="ko-KR"/>
              <a:t>Main</a:t>
            </a:r>
            <a:r>
              <a:rPr lang="ko-KR" altLang="en-US"/>
              <a:t> </a:t>
            </a:r>
            <a:r>
              <a:rPr lang="en-US" altLang="ko-KR"/>
              <a:t>PageStack</a:t>
            </a:r>
            <a:endParaRPr lang="ko-KR" alt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4ADC134-7754-E0E3-7E4C-134D83EA462E}"/>
              </a:ext>
            </a:extLst>
          </p:cNvPr>
          <p:cNvSpPr txBox="1"/>
          <p:nvPr/>
        </p:nvSpPr>
        <p:spPr>
          <a:xfrm>
            <a:off x="249667" y="2158540"/>
            <a:ext cx="1320715" cy="369332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altLang="ko-KR"/>
              <a:t>mainpage</a:t>
            </a:r>
            <a:endParaRPr lang="ko-KR" altLang="en-US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20573FA-E2EC-7C85-2553-DCEED84834F6}"/>
              </a:ext>
            </a:extLst>
          </p:cNvPr>
          <p:cNvSpPr txBox="1"/>
          <p:nvPr/>
        </p:nvSpPr>
        <p:spPr>
          <a:xfrm>
            <a:off x="249666" y="1789208"/>
            <a:ext cx="1320715" cy="369332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altLang="ko-KR"/>
              <a:t>subpage0</a:t>
            </a:r>
            <a:endParaRPr lang="ko-KR" alt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C11EC5B-DBDF-33A0-2E00-05E55D365A7A}"/>
              </a:ext>
            </a:extLst>
          </p:cNvPr>
          <p:cNvSpPr txBox="1"/>
          <p:nvPr/>
        </p:nvSpPr>
        <p:spPr>
          <a:xfrm>
            <a:off x="249665" y="1419876"/>
            <a:ext cx="1320715" cy="369332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altLang="ko-KR"/>
              <a:t>subpage1</a:t>
            </a:r>
            <a:endParaRPr lang="ko-KR" altLang="en-US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8859A53-F8D1-7ECB-D191-CD27F6624B2E}"/>
              </a:ext>
            </a:extLst>
          </p:cNvPr>
          <p:cNvSpPr txBox="1"/>
          <p:nvPr/>
        </p:nvSpPr>
        <p:spPr>
          <a:xfrm>
            <a:off x="249664" y="1050544"/>
            <a:ext cx="1320715" cy="369332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altLang="ko-KR"/>
              <a:t>...</a:t>
            </a:r>
            <a:endParaRPr lang="ko-KR" altLang="en-US" dirty="0"/>
          </a:p>
        </p:txBody>
      </p:sp>
      <p:cxnSp>
        <p:nvCxnSpPr>
          <p:cNvPr id="8" name="직선 화살표 연결선 7">
            <a:extLst>
              <a:ext uri="{FF2B5EF4-FFF2-40B4-BE49-F238E27FC236}">
                <a16:creationId xmlns:a16="http://schemas.microsoft.com/office/drawing/2014/main" id="{7AA26241-78CC-13D5-2F83-B2DA6900C3ED}"/>
              </a:ext>
            </a:extLst>
          </p:cNvPr>
          <p:cNvCxnSpPr>
            <a:cxnSpLocks/>
          </p:cNvCxnSpPr>
          <p:nvPr/>
        </p:nvCxnSpPr>
        <p:spPr>
          <a:xfrm flipV="1">
            <a:off x="1709532" y="1050544"/>
            <a:ext cx="0" cy="1016795"/>
          </a:xfrm>
          <a:prstGeom prst="straightConnector1">
            <a:avLst/>
          </a:prstGeom>
          <a:ln w="4762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4F71D20B-71C1-9A7B-A336-45C7C1D61FD8}"/>
              </a:ext>
            </a:extLst>
          </p:cNvPr>
          <p:cNvSpPr txBox="1"/>
          <p:nvPr/>
        </p:nvSpPr>
        <p:spPr>
          <a:xfrm>
            <a:off x="1746740" y="888751"/>
            <a:ext cx="5030544" cy="175432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/>
              <a:t>페이지는 스택처럼 </a:t>
            </a:r>
            <a:r>
              <a:rPr lang="en-US" altLang="ko-KR"/>
              <a:t>Page</a:t>
            </a:r>
            <a:r>
              <a:rPr lang="ko-KR" altLang="en-US"/>
              <a:t>를 쌓아올릴 수 있다</a:t>
            </a:r>
            <a:endParaRPr lang="en-US" altLang="ko-KR"/>
          </a:p>
          <a:p>
            <a:r>
              <a:rPr lang="ko-KR" altLang="en-US"/>
              <a:t>쌓아올라진 페이지는 아래 부터 출력한다</a:t>
            </a:r>
            <a:r>
              <a:rPr lang="en-US" altLang="ko-KR"/>
              <a:t>.</a:t>
            </a:r>
          </a:p>
          <a:p>
            <a:r>
              <a:rPr lang="en-US" altLang="ko-KR"/>
              <a:t>(</a:t>
            </a:r>
            <a:r>
              <a:rPr lang="ko-KR" altLang="en-US"/>
              <a:t>위가 가장 잘 보이게</a:t>
            </a:r>
            <a:r>
              <a:rPr lang="en-US" altLang="ko-KR"/>
              <a:t>.)</a:t>
            </a:r>
          </a:p>
          <a:p>
            <a:r>
              <a:rPr lang="ko-KR" altLang="en-US"/>
              <a:t>페이지를 전환할때는 페이지를 지우고 </a:t>
            </a:r>
            <a:endParaRPr lang="en-US" altLang="ko-KR"/>
          </a:p>
          <a:p>
            <a:r>
              <a:rPr lang="ko-KR" altLang="en-US"/>
              <a:t>새로운 페이지를 스택에 삽입한다</a:t>
            </a:r>
            <a:r>
              <a:rPr lang="en-US" altLang="ko-KR"/>
              <a:t>.</a:t>
            </a:r>
          </a:p>
          <a:p>
            <a:r>
              <a:rPr lang="ko-KR" altLang="en-US"/>
              <a:t>해당 페이지 스택은 전체화면을 대상으로 한다</a:t>
            </a:r>
            <a:r>
              <a:rPr lang="en-US" altLang="ko-KR"/>
              <a:t>.</a:t>
            </a:r>
          </a:p>
        </p:txBody>
      </p:sp>
      <p:cxnSp>
        <p:nvCxnSpPr>
          <p:cNvPr id="13" name="직선 화살표 연결선 12">
            <a:extLst>
              <a:ext uri="{FF2B5EF4-FFF2-40B4-BE49-F238E27FC236}">
                <a16:creationId xmlns:a16="http://schemas.microsoft.com/office/drawing/2014/main" id="{88E38FA3-82CF-2B92-8ADD-1F38041A5E1A}"/>
              </a:ext>
            </a:extLst>
          </p:cNvPr>
          <p:cNvCxnSpPr>
            <a:cxnSpLocks/>
            <a:stCxn id="4" idx="2"/>
          </p:cNvCxnSpPr>
          <p:nvPr/>
        </p:nvCxnSpPr>
        <p:spPr>
          <a:xfrm>
            <a:off x="910025" y="2527872"/>
            <a:ext cx="2260558" cy="1061829"/>
          </a:xfrm>
          <a:prstGeom prst="straightConnector1">
            <a:avLst/>
          </a:prstGeom>
          <a:ln w="4762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>
            <a:extLst>
              <a:ext uri="{FF2B5EF4-FFF2-40B4-BE49-F238E27FC236}">
                <a16:creationId xmlns:a16="http://schemas.microsoft.com/office/drawing/2014/main" id="{99018B04-5BE8-6078-2ACD-427DA7148EDE}"/>
              </a:ext>
            </a:extLst>
          </p:cNvPr>
          <p:cNvSpPr txBox="1"/>
          <p:nvPr/>
        </p:nvSpPr>
        <p:spPr>
          <a:xfrm>
            <a:off x="2598615" y="3589701"/>
            <a:ext cx="1320715" cy="369332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altLang="ko-KR"/>
              <a:t>mainpage</a:t>
            </a:r>
            <a:endParaRPr lang="ko-KR" altLang="en-US" dirty="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0E5156C6-0D5C-7793-CF76-24E8CCEFF10F}"/>
              </a:ext>
            </a:extLst>
          </p:cNvPr>
          <p:cNvSpPr txBox="1"/>
          <p:nvPr/>
        </p:nvSpPr>
        <p:spPr>
          <a:xfrm>
            <a:off x="3082433" y="4282198"/>
            <a:ext cx="1320715" cy="369332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altLang="ko-KR"/>
              <a:t>UI-Btn0</a:t>
            </a:r>
            <a:endParaRPr lang="ko-KR" altLang="en-US" dirty="0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4B9D1A2A-C56D-F18C-697A-6B2D3DA190C9}"/>
              </a:ext>
            </a:extLst>
          </p:cNvPr>
          <p:cNvSpPr txBox="1"/>
          <p:nvPr/>
        </p:nvSpPr>
        <p:spPr>
          <a:xfrm>
            <a:off x="3393859" y="5160155"/>
            <a:ext cx="1320715" cy="369332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altLang="ko-KR"/>
              <a:t>UI-Edit0</a:t>
            </a:r>
            <a:endParaRPr lang="ko-KR" altLang="en-US" dirty="0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F36F14E4-52B9-0AE2-F24F-B69B3BFD25F4}"/>
              </a:ext>
            </a:extLst>
          </p:cNvPr>
          <p:cNvSpPr txBox="1"/>
          <p:nvPr/>
        </p:nvSpPr>
        <p:spPr>
          <a:xfrm>
            <a:off x="5013280" y="5681109"/>
            <a:ext cx="1320715" cy="369332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altLang="ko-KR"/>
              <a:t>UI-Slider0</a:t>
            </a:r>
            <a:endParaRPr lang="ko-KR" altLang="en-US" dirty="0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6FA0F385-FC41-6104-707B-DF6E5EDE9960}"/>
              </a:ext>
            </a:extLst>
          </p:cNvPr>
          <p:cNvSpPr txBox="1"/>
          <p:nvPr/>
        </p:nvSpPr>
        <p:spPr>
          <a:xfrm>
            <a:off x="4886964" y="4790823"/>
            <a:ext cx="1573345" cy="369332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altLang="ko-KR"/>
              <a:t>UI-Window0</a:t>
            </a:r>
            <a:endParaRPr lang="ko-KR" altLang="en-US" dirty="0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8F9B5539-B0F9-9275-A2D2-61C5C415663E}"/>
              </a:ext>
            </a:extLst>
          </p:cNvPr>
          <p:cNvSpPr txBox="1"/>
          <p:nvPr/>
        </p:nvSpPr>
        <p:spPr>
          <a:xfrm>
            <a:off x="6965613" y="6034673"/>
            <a:ext cx="4185761" cy="73866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400"/>
              <a:t>하나의 페이지에는 여러개의 </a:t>
            </a:r>
            <a:r>
              <a:rPr lang="en-US" altLang="ko-KR" sz="1400"/>
              <a:t>UI</a:t>
            </a:r>
            <a:r>
              <a:rPr lang="ko-KR" altLang="en-US" sz="1400"/>
              <a:t>가 존재할 수 있다</a:t>
            </a:r>
            <a:r>
              <a:rPr lang="en-US" altLang="ko-KR" sz="1400"/>
              <a:t>.</a:t>
            </a:r>
          </a:p>
          <a:p>
            <a:r>
              <a:rPr lang="ko-KR" altLang="en-US" sz="1400"/>
              <a:t>여러 </a:t>
            </a:r>
            <a:r>
              <a:rPr lang="en-US" altLang="ko-KR" sz="1400"/>
              <a:t>UI</a:t>
            </a:r>
            <a:r>
              <a:rPr lang="ko-KR" altLang="en-US" sz="1400"/>
              <a:t>는 개발자의 설계에 따라 다양한 모습을 </a:t>
            </a:r>
            <a:endParaRPr lang="en-US" altLang="ko-KR" sz="1400"/>
          </a:p>
          <a:p>
            <a:r>
              <a:rPr lang="ko-KR" altLang="en-US" sz="1400"/>
              <a:t>가질 수 있고</a:t>
            </a:r>
            <a:r>
              <a:rPr lang="en-US" altLang="ko-KR" sz="1400"/>
              <a:t>, </a:t>
            </a:r>
            <a:r>
              <a:rPr lang="ko-KR" altLang="en-US" sz="1400"/>
              <a:t>다양한 상호작용이 가능하다</a:t>
            </a:r>
            <a:r>
              <a:rPr lang="en-US" altLang="ko-KR" sz="1400"/>
              <a:t>.</a:t>
            </a:r>
          </a:p>
        </p:txBody>
      </p:sp>
      <p:cxnSp>
        <p:nvCxnSpPr>
          <p:cNvPr id="23" name="직선 화살표 연결선 22">
            <a:extLst>
              <a:ext uri="{FF2B5EF4-FFF2-40B4-BE49-F238E27FC236}">
                <a16:creationId xmlns:a16="http://schemas.microsoft.com/office/drawing/2014/main" id="{B729F0B9-4F90-F9FC-B7AB-74E016E59EA9}"/>
              </a:ext>
            </a:extLst>
          </p:cNvPr>
          <p:cNvCxnSpPr>
            <a:cxnSpLocks/>
            <a:stCxn id="20" idx="0"/>
            <a:endCxn id="26" idx="1"/>
          </p:cNvCxnSpPr>
          <p:nvPr/>
        </p:nvCxnSpPr>
        <p:spPr>
          <a:xfrm flipV="1">
            <a:off x="5673637" y="590280"/>
            <a:ext cx="1780937" cy="4200543"/>
          </a:xfrm>
          <a:prstGeom prst="straightConnector1">
            <a:avLst/>
          </a:prstGeom>
          <a:ln w="4762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>
            <a:extLst>
              <a:ext uri="{FF2B5EF4-FFF2-40B4-BE49-F238E27FC236}">
                <a16:creationId xmlns:a16="http://schemas.microsoft.com/office/drawing/2014/main" id="{A4B4666A-FCFD-BA78-A584-15B89936B106}"/>
              </a:ext>
            </a:extLst>
          </p:cNvPr>
          <p:cNvSpPr txBox="1"/>
          <p:nvPr/>
        </p:nvSpPr>
        <p:spPr>
          <a:xfrm>
            <a:off x="7454574" y="405614"/>
            <a:ext cx="1573345" cy="369332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altLang="ko-KR"/>
              <a:t>UI-Window0</a:t>
            </a:r>
            <a:endParaRPr lang="ko-KR" altLang="en-US" dirty="0"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78CE9057-74CE-4416-78DB-5A5B7EE5796E}"/>
              </a:ext>
            </a:extLst>
          </p:cNvPr>
          <p:cNvSpPr txBox="1"/>
          <p:nvPr/>
        </p:nvSpPr>
        <p:spPr>
          <a:xfrm>
            <a:off x="7464289" y="774946"/>
            <a:ext cx="2268749" cy="2444972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endParaRPr lang="ko-KR" altLang="en-US" dirty="0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806AA3C1-F713-1938-93F9-5A35F1DDC1E8}"/>
              </a:ext>
            </a:extLst>
          </p:cNvPr>
          <p:cNvSpPr txBox="1"/>
          <p:nvPr/>
        </p:nvSpPr>
        <p:spPr>
          <a:xfrm>
            <a:off x="7621598" y="2096852"/>
            <a:ext cx="1667409" cy="369332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altLang="ko-KR"/>
              <a:t>win mainpage</a:t>
            </a:r>
            <a:endParaRPr lang="ko-KR" altLang="en-US" dirty="0"/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CFF524A9-CAD1-0C5B-F84C-AC82386B7D08}"/>
              </a:ext>
            </a:extLst>
          </p:cNvPr>
          <p:cNvSpPr txBox="1"/>
          <p:nvPr/>
        </p:nvSpPr>
        <p:spPr>
          <a:xfrm>
            <a:off x="7621597" y="1727520"/>
            <a:ext cx="1667409" cy="369332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altLang="ko-KR"/>
              <a:t>win subpage0</a:t>
            </a:r>
            <a:endParaRPr lang="ko-KR" altLang="en-US" dirty="0"/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7E39A52C-DB41-6801-716D-92503B1CB0D9}"/>
              </a:ext>
            </a:extLst>
          </p:cNvPr>
          <p:cNvSpPr txBox="1"/>
          <p:nvPr/>
        </p:nvSpPr>
        <p:spPr>
          <a:xfrm>
            <a:off x="7621596" y="1362836"/>
            <a:ext cx="1667409" cy="369332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altLang="ko-KR"/>
              <a:t>win subpage1</a:t>
            </a:r>
            <a:endParaRPr lang="ko-KR" altLang="en-US" dirty="0"/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754CBB5F-F08C-079A-E489-084F78852F98}"/>
              </a:ext>
            </a:extLst>
          </p:cNvPr>
          <p:cNvSpPr txBox="1"/>
          <p:nvPr/>
        </p:nvSpPr>
        <p:spPr>
          <a:xfrm>
            <a:off x="7627692" y="2468973"/>
            <a:ext cx="1671030" cy="646331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altLang="ko-KR"/>
              <a:t>Window</a:t>
            </a:r>
            <a:r>
              <a:rPr lang="ko-KR" altLang="en-US"/>
              <a:t> </a:t>
            </a:r>
            <a:r>
              <a:rPr lang="en-US" altLang="ko-KR"/>
              <a:t>PageStack</a:t>
            </a:r>
            <a:endParaRPr lang="ko-KR" altLang="en-US" dirty="0"/>
          </a:p>
        </p:txBody>
      </p:sp>
      <p:cxnSp>
        <p:nvCxnSpPr>
          <p:cNvPr id="32" name="직선 화살표 연결선 31">
            <a:extLst>
              <a:ext uri="{FF2B5EF4-FFF2-40B4-BE49-F238E27FC236}">
                <a16:creationId xmlns:a16="http://schemas.microsoft.com/office/drawing/2014/main" id="{71FB0A14-FA1B-84A5-03A1-CE9C95281141}"/>
              </a:ext>
            </a:extLst>
          </p:cNvPr>
          <p:cNvCxnSpPr>
            <a:cxnSpLocks/>
          </p:cNvCxnSpPr>
          <p:nvPr/>
        </p:nvCxnSpPr>
        <p:spPr>
          <a:xfrm flipV="1">
            <a:off x="9465368" y="1419876"/>
            <a:ext cx="0" cy="1016795"/>
          </a:xfrm>
          <a:prstGeom prst="straightConnector1">
            <a:avLst/>
          </a:prstGeom>
          <a:ln w="4762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TextBox 32">
            <a:extLst>
              <a:ext uri="{FF2B5EF4-FFF2-40B4-BE49-F238E27FC236}">
                <a16:creationId xmlns:a16="http://schemas.microsoft.com/office/drawing/2014/main" id="{22F88F35-CD10-C1B4-2478-5C60231B198D}"/>
              </a:ext>
            </a:extLst>
          </p:cNvPr>
          <p:cNvSpPr txBox="1"/>
          <p:nvPr/>
        </p:nvSpPr>
        <p:spPr>
          <a:xfrm>
            <a:off x="9696919" y="1129727"/>
            <a:ext cx="2306118" cy="18158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400"/>
              <a:t>윈도우에는 해당 윈도우 전용 페이지 스택이</a:t>
            </a:r>
            <a:endParaRPr lang="en-US" altLang="ko-KR" sz="1400"/>
          </a:p>
          <a:p>
            <a:r>
              <a:rPr lang="ko-KR" altLang="en-US" sz="1400"/>
              <a:t>존재한다</a:t>
            </a:r>
            <a:r>
              <a:rPr lang="en-US" altLang="ko-KR" sz="1400"/>
              <a:t>. </a:t>
            </a:r>
          </a:p>
          <a:p>
            <a:r>
              <a:rPr lang="ko-KR" altLang="en-US" sz="1400"/>
              <a:t>해당 페이지들은 윈도우의 영역 안에서만 </a:t>
            </a:r>
            <a:endParaRPr lang="en-US" altLang="ko-KR" sz="1400"/>
          </a:p>
          <a:p>
            <a:r>
              <a:rPr lang="ko-KR" altLang="en-US" sz="1400"/>
              <a:t>상호작용이 가능하며</a:t>
            </a:r>
            <a:r>
              <a:rPr lang="en-US" altLang="ko-KR" sz="1400"/>
              <a:t>, </a:t>
            </a:r>
          </a:p>
          <a:p>
            <a:r>
              <a:rPr lang="ko-KR" altLang="en-US" sz="1400"/>
              <a:t>윈도우가 선택되어야만 상호작용이 가능하다</a:t>
            </a:r>
            <a:r>
              <a:rPr lang="en-US" altLang="ko-KR" sz="1400"/>
              <a:t>.</a:t>
            </a:r>
          </a:p>
        </p:txBody>
      </p:sp>
      <p:sp>
        <p:nvSpPr>
          <p:cNvPr id="34" name="직사각형 33">
            <a:extLst>
              <a:ext uri="{FF2B5EF4-FFF2-40B4-BE49-F238E27FC236}">
                <a16:creationId xmlns:a16="http://schemas.microsoft.com/office/drawing/2014/main" id="{1246102B-E926-837E-A7DC-B129878DAC7A}"/>
              </a:ext>
            </a:extLst>
          </p:cNvPr>
          <p:cNvSpPr/>
          <p:nvPr/>
        </p:nvSpPr>
        <p:spPr>
          <a:xfrm>
            <a:off x="1161599" y="4529398"/>
            <a:ext cx="4121427" cy="2328601"/>
          </a:xfrm>
          <a:prstGeom prst="rect">
            <a:avLst/>
          </a:prstGeom>
          <a:solidFill>
            <a:schemeClr val="tx1">
              <a:lumMod val="75000"/>
              <a:lumOff val="25000"/>
              <a:alpha val="46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11AAF6E8-E126-CE40-F7D2-C745F8101180}"/>
              </a:ext>
            </a:extLst>
          </p:cNvPr>
          <p:cNvSpPr txBox="1"/>
          <p:nvPr/>
        </p:nvSpPr>
        <p:spPr>
          <a:xfrm>
            <a:off x="1170549" y="4166993"/>
            <a:ext cx="1320715" cy="369332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altLang="ko-KR"/>
              <a:t>subpage0</a:t>
            </a:r>
            <a:endParaRPr lang="ko-KR" altLang="en-US" dirty="0"/>
          </a:p>
        </p:txBody>
      </p:sp>
      <p:sp>
        <p:nvSpPr>
          <p:cNvPr id="36" name="직사각형 35">
            <a:extLst>
              <a:ext uri="{FF2B5EF4-FFF2-40B4-BE49-F238E27FC236}">
                <a16:creationId xmlns:a16="http://schemas.microsoft.com/office/drawing/2014/main" id="{ADF19E20-67AC-9129-43D9-9DDF62847C2B}"/>
              </a:ext>
            </a:extLst>
          </p:cNvPr>
          <p:cNvSpPr/>
          <p:nvPr/>
        </p:nvSpPr>
        <p:spPr>
          <a:xfrm>
            <a:off x="-15684" y="5085756"/>
            <a:ext cx="4121427" cy="1772243"/>
          </a:xfrm>
          <a:prstGeom prst="rect">
            <a:avLst/>
          </a:prstGeom>
          <a:solidFill>
            <a:schemeClr val="tx1">
              <a:lumMod val="75000"/>
              <a:lumOff val="25000"/>
              <a:alpha val="46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852CC255-4CA1-5880-EC62-9B96EF2CC269}"/>
              </a:ext>
            </a:extLst>
          </p:cNvPr>
          <p:cNvSpPr txBox="1"/>
          <p:nvPr/>
        </p:nvSpPr>
        <p:spPr>
          <a:xfrm>
            <a:off x="-30628" y="4723351"/>
            <a:ext cx="1320715" cy="369332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altLang="ko-KR"/>
              <a:t>subpage1</a:t>
            </a:r>
            <a:endParaRPr lang="ko-KR" altLang="en-US" dirty="0"/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1D2A3C84-DE22-46AF-77BC-53E395B997B1}"/>
              </a:ext>
            </a:extLst>
          </p:cNvPr>
          <p:cNvSpPr txBox="1"/>
          <p:nvPr/>
        </p:nvSpPr>
        <p:spPr>
          <a:xfrm>
            <a:off x="3410649" y="-16213"/>
            <a:ext cx="232788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dirty="0"/>
              <a:t>아직 실현되지 못함</a:t>
            </a:r>
            <a:r>
              <a:rPr lang="en-US" altLang="ko-KR" dirty="0"/>
              <a:t>.</a:t>
            </a:r>
            <a:endParaRPr lang="ko-KR" altLang="en-US" dirty="0"/>
          </a:p>
        </p:txBody>
      </p:sp>
      <mc:AlternateContent xmlns:mc="http://schemas.openxmlformats.org/markup-compatibility/2006" xmlns:pslz="http://schemas.microsoft.com/office/powerpoint/2016/slidezoom">
        <mc:Choice Requires="pslz">
          <p:graphicFrame>
            <p:nvGraphicFramePr>
              <p:cNvPr id="41" name="슬라이드 확대/축소 40">
                <a:extLst>
                  <a:ext uri="{FF2B5EF4-FFF2-40B4-BE49-F238E27FC236}">
                    <a16:creationId xmlns:a16="http://schemas.microsoft.com/office/drawing/2014/main" id="{E4D31A5E-FB59-3868-F147-5629C48AC39C}"/>
                  </a:ext>
                </a:extLst>
              </p:cNvPr>
              <p:cNvGraphicFramePr>
                <a:graphicFrameLocks noChangeAspect="1"/>
              </p:cNvGraphicFramePr>
              <p:nvPr>
                <p:extLst>
                  <p:ext uri="{D42A27DB-BD31-4B8C-83A1-F6EECF244321}">
                    <p14:modId xmlns:p14="http://schemas.microsoft.com/office/powerpoint/2010/main" val="3065303103"/>
                  </p:ext>
                </p:extLst>
              </p:nvPr>
            </p:nvGraphicFramePr>
            <p:xfrm>
              <a:off x="7151913" y="3262916"/>
              <a:ext cx="4851124" cy="2728758"/>
            </p:xfrm>
            <a:graphic>
              <a:graphicData uri="http://schemas.microsoft.com/office/powerpoint/2016/slidezoom">
                <pslz:sldZm>
                  <pslz:sldZmObj sldId="291" cId="1776988636">
                    <pslz:zmPr id="{A659AF16-7EC3-4AFE-A886-E6C624CE7401}" returnToParent="0" transitionDur="1000">
                      <p166:blipFill xmlns:p166="http://schemas.microsoft.com/office/powerpoint/2016/6/main">
                        <a:blip r:embed="rId2"/>
                        <a:stretch>
                          <a:fillRect/>
                        </a:stretch>
                      </p166:blipFill>
                      <p166:spPr xmlns:p166="http://schemas.microsoft.com/office/powerpoint/2016/6/main">
                        <a:xfrm>
                          <a:off x="0" y="0"/>
                          <a:ext cx="4851124" cy="2728758"/>
                        </a:xfrm>
                        <a:prstGeom prst="rect">
                          <a:avLst/>
                        </a:prstGeom>
                        <a:ln w="3175">
                          <a:solidFill>
                            <a:prstClr val="ltGray"/>
                          </a:solidFill>
                        </a:ln>
                      </p166:spPr>
                    </pslz:zmPr>
                  </pslz:sldZmObj>
                </pslz:sldZm>
              </a:graphicData>
            </a:graphic>
          </p:graphicFrame>
        </mc:Choice>
        <mc:Fallback xmlns="">
          <p:pic>
            <p:nvPicPr>
              <p:cNvPr id="41" name="슬라이드 확대/축소 40">
                <a:hlinkClick r:id="rId3" action="ppaction://hlinksldjump"/>
                <a:extLst>
                  <a:ext uri="{FF2B5EF4-FFF2-40B4-BE49-F238E27FC236}">
                    <a16:creationId xmlns:a16="http://schemas.microsoft.com/office/drawing/2014/main" id="{E4D31A5E-FB59-3868-F147-5629C48AC39C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/>
              </p:cNvPicPr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7151913" y="3262916"/>
                <a:ext cx="4851124" cy="2728758"/>
              </a:xfrm>
              <a:prstGeom prst="rect">
                <a:avLst/>
              </a:prstGeom>
              <a:ln w="3175">
                <a:solidFill>
                  <a:prstClr val="ltGray"/>
                </a:solidFill>
              </a:ln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53786630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E836BA4-811D-39F2-86EE-21C38847FD90}"/>
              </a:ext>
            </a:extLst>
          </p:cNvPr>
          <p:cNvSpPr txBox="1">
            <a:spLocks/>
          </p:cNvSpPr>
          <p:nvPr/>
        </p:nvSpPr>
        <p:spPr>
          <a:xfrm>
            <a:off x="0" y="18255"/>
            <a:ext cx="10515600" cy="8504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ko-KR" sz="5400"/>
              <a:t>UI Structure</a:t>
            </a:r>
            <a:endParaRPr lang="ko-KR" altLang="en-US" sz="5400" dirty="0"/>
          </a:p>
        </p:txBody>
      </p:sp>
      <mc:AlternateContent xmlns:mc="http://schemas.openxmlformats.org/markup-compatibility/2006" xmlns:pslz="http://schemas.microsoft.com/office/powerpoint/2016/slidezoom">
        <mc:Choice Requires="pslz">
          <p:graphicFrame>
            <p:nvGraphicFramePr>
              <p:cNvPr id="4" name="슬라이드 확대/축소 3">
                <a:extLst>
                  <a:ext uri="{FF2B5EF4-FFF2-40B4-BE49-F238E27FC236}">
                    <a16:creationId xmlns:a16="http://schemas.microsoft.com/office/drawing/2014/main" id="{F15FAF58-0634-C8AB-E7F8-57E8F87E7A70}"/>
                  </a:ext>
                </a:extLst>
              </p:cNvPr>
              <p:cNvGraphicFramePr>
                <a:graphicFrameLocks noChangeAspect="1"/>
              </p:cNvGraphicFramePr>
              <p:nvPr>
                <p:extLst>
                  <p:ext uri="{D42A27DB-BD31-4B8C-83A1-F6EECF244321}">
                    <p14:modId xmlns:p14="http://schemas.microsoft.com/office/powerpoint/2010/main" val="2842581265"/>
                  </p:ext>
                </p:extLst>
              </p:nvPr>
            </p:nvGraphicFramePr>
            <p:xfrm>
              <a:off x="6096001" y="0"/>
              <a:ext cx="6096000" cy="3429000"/>
            </p:xfrm>
            <a:graphic>
              <a:graphicData uri="http://schemas.microsoft.com/office/powerpoint/2016/slidezoom">
                <pslz:sldZm>
                  <pslz:sldZmObj sldId="292" cId="1125029623">
                    <pslz:zmPr id="{93C0DF16-85AB-4D2A-99EA-2F62B06E7977}" returnToParent="0" transitionDur="1000">
                      <p166:blipFill xmlns:p166="http://schemas.microsoft.com/office/powerpoint/2016/6/main">
                        <a:blip r:embed="rId2"/>
                        <a:stretch>
                          <a:fillRect/>
                        </a:stretch>
                      </p166:blipFill>
                      <p166:spPr xmlns:p166="http://schemas.microsoft.com/office/powerpoint/2016/6/main">
                        <a:xfrm>
                          <a:off x="0" y="0"/>
                          <a:ext cx="6096000" cy="3429000"/>
                        </a:xfrm>
                        <a:prstGeom prst="rect">
                          <a:avLst/>
                        </a:prstGeom>
                        <a:ln w="3175">
                          <a:solidFill>
                            <a:prstClr val="ltGray"/>
                          </a:solidFill>
                        </a:ln>
                      </p166:spPr>
                    </pslz:zmPr>
                  </pslz:sldZmObj>
                </pslz:sldZm>
              </a:graphicData>
            </a:graphic>
          </p:graphicFrame>
        </mc:Choice>
        <mc:Fallback xmlns="">
          <p:pic>
            <p:nvPicPr>
              <p:cNvPr id="4" name="슬라이드 확대/축소 3">
                <a:hlinkClick r:id="rId3" action="ppaction://hlinksldjump"/>
                <a:extLst>
                  <a:ext uri="{FF2B5EF4-FFF2-40B4-BE49-F238E27FC236}">
                    <a16:creationId xmlns:a16="http://schemas.microsoft.com/office/drawing/2014/main" id="{F15FAF58-0634-C8AB-E7F8-57E8F87E7A70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/>
              </p:cNvPicPr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6096001" y="0"/>
                <a:ext cx="6096000" cy="3429000"/>
              </a:xfrm>
              <a:prstGeom prst="rect">
                <a:avLst/>
              </a:prstGeom>
              <a:ln w="3175">
                <a:solidFill>
                  <a:prstClr val="ltGray"/>
                </a:solidFill>
              </a:ln>
            </p:spPr>
          </p:pic>
        </mc:Fallback>
      </mc:AlternateContent>
      <mc:AlternateContent xmlns:mc="http://schemas.openxmlformats.org/markup-compatibility/2006" xmlns:pslz="http://schemas.microsoft.com/office/powerpoint/2016/slidezoom">
        <mc:Choice Requires="pslz">
          <p:graphicFrame>
            <p:nvGraphicFramePr>
              <p:cNvPr id="6" name="슬라이드 확대/축소 5">
                <a:extLst>
                  <a:ext uri="{FF2B5EF4-FFF2-40B4-BE49-F238E27FC236}">
                    <a16:creationId xmlns:a16="http://schemas.microsoft.com/office/drawing/2014/main" id="{CBA8C4E7-233E-71CC-52E3-C51F7996FA49}"/>
                  </a:ext>
                </a:extLst>
              </p:cNvPr>
              <p:cNvGraphicFramePr>
                <a:graphicFrameLocks noChangeAspect="1"/>
              </p:cNvGraphicFramePr>
              <p:nvPr>
                <p:extLst>
                  <p:ext uri="{D42A27DB-BD31-4B8C-83A1-F6EECF244321}">
                    <p14:modId xmlns:p14="http://schemas.microsoft.com/office/powerpoint/2010/main" val="585531493"/>
                  </p:ext>
                </p:extLst>
              </p:nvPr>
            </p:nvGraphicFramePr>
            <p:xfrm>
              <a:off x="6096000" y="3447255"/>
              <a:ext cx="6096000" cy="3429000"/>
            </p:xfrm>
            <a:graphic>
              <a:graphicData uri="http://schemas.microsoft.com/office/powerpoint/2016/slidezoom">
                <pslz:sldZm>
                  <pslz:sldZmObj sldId="293" cId="1363661584">
                    <pslz:zmPr id="{34B19A3E-D23A-4CB2-B7BE-6C99D0540849}" returnToParent="0" transitionDur="1000">
                      <p166:blipFill xmlns:p166="http://schemas.microsoft.com/office/powerpoint/2016/6/main">
                        <a:blip r:embed="rId5"/>
                        <a:stretch>
                          <a:fillRect/>
                        </a:stretch>
                      </p166:blipFill>
                      <p166:spPr xmlns:p166="http://schemas.microsoft.com/office/powerpoint/2016/6/main">
                        <a:xfrm>
                          <a:off x="0" y="0"/>
                          <a:ext cx="6096000" cy="3429000"/>
                        </a:xfrm>
                        <a:prstGeom prst="rect">
                          <a:avLst/>
                        </a:prstGeom>
                        <a:ln w="3175">
                          <a:solidFill>
                            <a:prstClr val="ltGray"/>
                          </a:solidFill>
                        </a:ln>
                      </p166:spPr>
                    </pslz:zmPr>
                  </pslz:sldZmObj>
                </pslz:sldZm>
              </a:graphicData>
            </a:graphic>
          </p:graphicFrame>
        </mc:Choice>
        <mc:Fallback xmlns="">
          <p:pic>
            <p:nvPicPr>
              <p:cNvPr id="6" name="슬라이드 확대/축소 5">
                <a:hlinkClick r:id="rId6" action="ppaction://hlinksldjump"/>
                <a:extLst>
                  <a:ext uri="{FF2B5EF4-FFF2-40B4-BE49-F238E27FC236}">
                    <a16:creationId xmlns:a16="http://schemas.microsoft.com/office/drawing/2014/main" id="{CBA8C4E7-233E-71CC-52E3-C51F7996FA49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/>
              </p:cNvPicPr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6096000" y="3447255"/>
                <a:ext cx="6096000" cy="3429000"/>
              </a:xfrm>
              <a:prstGeom prst="rect">
                <a:avLst/>
              </a:prstGeom>
              <a:ln w="3175">
                <a:solidFill>
                  <a:prstClr val="ltGray"/>
                </a:solidFill>
              </a:ln>
            </p:spPr>
          </p:pic>
        </mc:Fallback>
      </mc:AlternateContent>
      <p:pic>
        <p:nvPicPr>
          <p:cNvPr id="10" name="그림 9">
            <a:extLst>
              <a:ext uri="{FF2B5EF4-FFF2-40B4-BE49-F238E27FC236}">
                <a16:creationId xmlns:a16="http://schemas.microsoft.com/office/drawing/2014/main" id="{7E9286D1-9FEE-14A0-64CD-1C8E0EE0D16A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9330" y="833075"/>
            <a:ext cx="3419952" cy="5191850"/>
          </a:xfrm>
          <a:prstGeom prst="rect">
            <a:avLst/>
          </a:prstGeom>
        </p:spPr>
      </p:pic>
      <p:pic>
        <p:nvPicPr>
          <p:cNvPr id="12" name="그림 11">
            <a:extLst>
              <a:ext uri="{FF2B5EF4-FFF2-40B4-BE49-F238E27FC236}">
                <a16:creationId xmlns:a16="http://schemas.microsoft.com/office/drawing/2014/main" id="{249712BA-8426-9877-9D1C-EA1295DDFDF2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3529282" y="4611215"/>
            <a:ext cx="2457793" cy="1810003"/>
          </a:xfrm>
          <a:prstGeom prst="rect">
            <a:avLst/>
          </a:prstGeom>
        </p:spPr>
      </p:pic>
      <p:cxnSp>
        <p:nvCxnSpPr>
          <p:cNvPr id="13" name="직선 화살표 연결선 12">
            <a:extLst>
              <a:ext uri="{FF2B5EF4-FFF2-40B4-BE49-F238E27FC236}">
                <a16:creationId xmlns:a16="http://schemas.microsoft.com/office/drawing/2014/main" id="{37BB68EC-A900-A4CE-09A5-3D917C69F50C}"/>
              </a:ext>
            </a:extLst>
          </p:cNvPr>
          <p:cNvCxnSpPr>
            <a:cxnSpLocks/>
          </p:cNvCxnSpPr>
          <p:nvPr/>
        </p:nvCxnSpPr>
        <p:spPr>
          <a:xfrm flipH="1">
            <a:off x="2564296" y="4681330"/>
            <a:ext cx="1073911" cy="0"/>
          </a:xfrm>
          <a:prstGeom prst="straightConnector1">
            <a:avLst/>
          </a:prstGeom>
          <a:ln w="47625">
            <a:solidFill>
              <a:schemeClr val="bg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>
            <a:extLst>
              <a:ext uri="{FF2B5EF4-FFF2-40B4-BE49-F238E27FC236}">
                <a16:creationId xmlns:a16="http://schemas.microsoft.com/office/drawing/2014/main" id="{EA6C37AF-2D69-ED92-477E-694A609CD9D3}"/>
              </a:ext>
            </a:extLst>
          </p:cNvPr>
          <p:cNvSpPr txBox="1"/>
          <p:nvPr/>
        </p:nvSpPr>
        <p:spPr>
          <a:xfrm>
            <a:off x="3529282" y="2871328"/>
            <a:ext cx="2449710" cy="160043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/>
              <a:t>ParamData</a:t>
            </a:r>
            <a:r>
              <a:rPr lang="ko-KR" altLang="en-US" sz="1400"/>
              <a:t>에 </a:t>
            </a:r>
            <a:endParaRPr lang="en-US" altLang="ko-KR" sz="1400"/>
          </a:p>
          <a:p>
            <a:r>
              <a:rPr lang="ko-KR" altLang="en-US" sz="1400"/>
              <a:t>다양한 </a:t>
            </a:r>
            <a:r>
              <a:rPr lang="en-US" altLang="ko-KR" sz="1400"/>
              <a:t>UI</a:t>
            </a:r>
            <a:r>
              <a:rPr lang="ko-KR" altLang="en-US" sz="1400"/>
              <a:t>의 </a:t>
            </a:r>
            <a:r>
              <a:rPr lang="en-US" altLang="ko-KR" sz="1400"/>
              <a:t>Param</a:t>
            </a:r>
            <a:r>
              <a:rPr lang="ko-KR" altLang="en-US" sz="1400"/>
              <a:t>을 넣어</a:t>
            </a:r>
            <a:endParaRPr lang="en-US" altLang="ko-KR" sz="1400"/>
          </a:p>
          <a:p>
            <a:r>
              <a:rPr lang="ko-KR" altLang="en-US" sz="1400"/>
              <a:t>여러 모습으로 만들 수 있다</a:t>
            </a:r>
            <a:r>
              <a:rPr lang="en-US" altLang="ko-KR" sz="1400"/>
              <a:t>.</a:t>
            </a:r>
          </a:p>
          <a:p>
            <a:r>
              <a:rPr lang="en-US" altLang="ko-KR" sz="1400"/>
              <a:t>Render, Update, Event</a:t>
            </a:r>
            <a:r>
              <a:rPr lang="ko-KR" altLang="en-US" sz="1400"/>
              <a:t>를 </a:t>
            </a:r>
            <a:endParaRPr lang="en-US" altLang="ko-KR" sz="1400"/>
          </a:p>
          <a:p>
            <a:r>
              <a:rPr lang="ko-KR" altLang="en-US" sz="1400"/>
              <a:t>수행하는 함수포인터를 </a:t>
            </a:r>
            <a:endParaRPr lang="en-US" altLang="ko-KR" sz="1400"/>
          </a:p>
          <a:p>
            <a:r>
              <a:rPr lang="ko-KR" altLang="en-US" sz="1400"/>
              <a:t>커스텀으로 만들어서 넣을 </a:t>
            </a:r>
            <a:endParaRPr lang="en-US" altLang="ko-KR" sz="1400"/>
          </a:p>
          <a:p>
            <a:r>
              <a:rPr lang="ko-KR" altLang="en-US" sz="1400"/>
              <a:t>수 있다</a:t>
            </a:r>
            <a:r>
              <a:rPr lang="en-US" altLang="ko-KR" sz="140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776988636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9DB0599-0182-417D-62CA-B4873EA962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제목 1">
            <a:extLst>
              <a:ext uri="{FF2B5EF4-FFF2-40B4-BE49-F238E27FC236}">
                <a16:creationId xmlns:a16="http://schemas.microsoft.com/office/drawing/2014/main" id="{2EB0A81F-3370-D5A4-57D9-EA3CCDB0DCE1}"/>
              </a:ext>
            </a:extLst>
          </p:cNvPr>
          <p:cNvSpPr txBox="1">
            <a:spLocks/>
          </p:cNvSpPr>
          <p:nvPr/>
        </p:nvSpPr>
        <p:spPr>
          <a:xfrm>
            <a:off x="0" y="18255"/>
            <a:ext cx="10515600" cy="8504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ko-KR" sz="5400"/>
              <a:t>UI Render</a:t>
            </a:r>
            <a:endParaRPr lang="ko-KR" altLang="en-US" sz="5400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740E91D-3B92-2868-CCC3-0EA5EC4BF8DA}"/>
              </a:ext>
            </a:extLst>
          </p:cNvPr>
          <p:cNvSpPr txBox="1"/>
          <p:nvPr/>
        </p:nvSpPr>
        <p:spPr>
          <a:xfrm>
            <a:off x="110221" y="868680"/>
            <a:ext cx="5078634" cy="73866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/>
              <a:t>UI Rendering</a:t>
            </a:r>
            <a:r>
              <a:rPr lang="ko-KR" altLang="en-US" sz="1400"/>
              <a:t> 다음과 같은 </a:t>
            </a:r>
            <a:r>
              <a:rPr lang="en-US" altLang="ko-KR" sz="1400"/>
              <a:t>4</a:t>
            </a:r>
            <a:r>
              <a:rPr lang="ko-KR" altLang="en-US" sz="1400"/>
              <a:t>가지 셰이더로 나누어진다</a:t>
            </a:r>
            <a:r>
              <a:rPr lang="en-US" altLang="ko-KR" sz="1400"/>
              <a:t>.</a:t>
            </a:r>
          </a:p>
          <a:p>
            <a:r>
              <a:rPr lang="en-US" altLang="ko-KR" sz="1400"/>
              <a:t>4</a:t>
            </a:r>
            <a:r>
              <a:rPr lang="ko-KR" altLang="en-US" sz="1400"/>
              <a:t>개의 셰이더 모두 인스턴싱을 통해 렌더링을 수행한다</a:t>
            </a:r>
            <a:r>
              <a:rPr lang="en-US" altLang="ko-KR" sz="1400"/>
              <a:t>.</a:t>
            </a:r>
          </a:p>
          <a:p>
            <a:r>
              <a:rPr lang="ko-KR" altLang="en-US" sz="1400"/>
              <a:t>때문에 매 프레임마다 인스턴스들의 데이터를 </a:t>
            </a:r>
            <a:r>
              <a:rPr lang="en-US" altLang="ko-KR" sz="1400"/>
              <a:t>Push</a:t>
            </a:r>
            <a:r>
              <a:rPr lang="ko-KR" altLang="en-US" sz="1400"/>
              <a:t>할 것이다</a:t>
            </a:r>
            <a:r>
              <a:rPr lang="en-US" altLang="ko-KR" sz="1400"/>
              <a:t>.</a:t>
            </a:r>
          </a:p>
        </p:txBody>
      </p:sp>
      <p:graphicFrame>
        <p:nvGraphicFramePr>
          <p:cNvPr id="10" name="표 9">
            <a:extLst>
              <a:ext uri="{FF2B5EF4-FFF2-40B4-BE49-F238E27FC236}">
                <a16:creationId xmlns:a16="http://schemas.microsoft.com/office/drawing/2014/main" id="{4F8F01E5-0345-7302-8798-A9F1E519EBE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58152255"/>
              </p:ext>
            </p:extLst>
          </p:nvPr>
        </p:nvGraphicFramePr>
        <p:xfrm>
          <a:off x="183322" y="1719104"/>
          <a:ext cx="7121939" cy="471151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33222">
                  <a:extLst>
                    <a:ext uri="{9D8B030D-6E8A-4147-A177-3AD203B41FA5}">
                      <a16:colId xmlns:a16="http://schemas.microsoft.com/office/drawing/2014/main" val="874733780"/>
                    </a:ext>
                  </a:extLst>
                </a:gridCol>
                <a:gridCol w="2735578">
                  <a:extLst>
                    <a:ext uri="{9D8B030D-6E8A-4147-A177-3AD203B41FA5}">
                      <a16:colId xmlns:a16="http://schemas.microsoft.com/office/drawing/2014/main" val="395432226"/>
                    </a:ext>
                  </a:extLst>
                </a:gridCol>
                <a:gridCol w="2753139">
                  <a:extLst>
                    <a:ext uri="{9D8B030D-6E8A-4147-A177-3AD203B41FA5}">
                      <a16:colId xmlns:a16="http://schemas.microsoft.com/office/drawing/2014/main" val="722743406"/>
                    </a:ext>
                  </a:extLst>
                </a:gridCol>
              </a:tblGrid>
              <a:tr h="854069">
                <a:tc>
                  <a:txBody>
                    <a:bodyPr/>
                    <a:lstStyle/>
                    <a:p>
                      <a:pPr latinLnBrk="1"/>
                      <a:endParaRPr lang="ko-KR" altLang="en-US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b="0">
                          <a:solidFill>
                            <a:schemeClr val="tx1"/>
                          </a:solidFill>
                        </a:rPr>
                        <a:t>TEXT</a:t>
                      </a:r>
                      <a:endParaRPr lang="ko-KR" altLang="en-US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b="0">
                          <a:solidFill>
                            <a:schemeClr val="tx1"/>
                          </a:solidFill>
                        </a:rPr>
                        <a:t>TEXTURE</a:t>
                      </a:r>
                      <a:endParaRPr lang="ko-KR" altLang="en-US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415633731"/>
                  </a:ext>
                </a:extLst>
              </a:tr>
              <a:tr h="1928722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>
                          <a:solidFill>
                            <a:schemeClr val="tx1"/>
                          </a:solidFill>
                        </a:rPr>
                        <a:t>Normal Render</a:t>
                      </a:r>
                      <a:endParaRPr lang="ko-KR" altLang="en-US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>
                          <a:solidFill>
                            <a:schemeClr val="tx1"/>
                          </a:solidFill>
                        </a:rPr>
                        <a:t>SDF Text-NormalRendering</a:t>
                      </a:r>
                      <a:endParaRPr lang="ko-KR" altLang="en-US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>
                          <a:solidFill>
                            <a:schemeClr val="tx1"/>
                          </a:solidFill>
                        </a:rPr>
                        <a:t>Diffuse Screen Render</a:t>
                      </a:r>
                      <a:endParaRPr lang="ko-KR" altLang="en-US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87918053"/>
                  </a:ext>
                </a:extLst>
              </a:tr>
              <a:tr h="1928722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>
                          <a:solidFill>
                            <a:schemeClr val="tx1"/>
                          </a:solidFill>
                        </a:rPr>
                        <a:t>Effect</a:t>
                      </a:r>
                      <a:endParaRPr lang="ko-KR" altLang="en-US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>
                          <a:solidFill>
                            <a:schemeClr val="tx1"/>
                          </a:solidFill>
                        </a:rPr>
                        <a:t>SDF Effect Text Rendering</a:t>
                      </a:r>
                      <a:endParaRPr lang="ko-KR" altLang="en-US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>
                          <a:solidFill>
                            <a:schemeClr val="tx1"/>
                          </a:solidFill>
                        </a:rPr>
                        <a:t>Pixel Effect Texture Render ( </a:t>
                      </a:r>
                      <a:r>
                        <a:rPr lang="ko-KR" altLang="en-US">
                          <a:solidFill>
                            <a:schemeClr val="tx1"/>
                          </a:solidFill>
                        </a:rPr>
                        <a:t>이거 굳이 필요하냐</a:t>
                      </a:r>
                      <a:r>
                        <a:rPr lang="en-US" altLang="ko-KR">
                          <a:solidFill>
                            <a:schemeClr val="tx1"/>
                          </a:solidFill>
                        </a:rPr>
                        <a:t>? </a:t>
                      </a:r>
                      <a:r>
                        <a:rPr lang="ko-KR" altLang="en-US">
                          <a:solidFill>
                            <a:schemeClr val="tx1"/>
                          </a:solidFill>
                        </a:rPr>
                        <a:t>흠</a:t>
                      </a:r>
                      <a:r>
                        <a:rPr lang="en-US" altLang="ko-KR">
                          <a:solidFill>
                            <a:schemeClr val="tx1"/>
                          </a:solidFill>
                        </a:rPr>
                        <a:t>..)</a:t>
                      </a:r>
                      <a:endParaRPr lang="ko-KR" altLang="en-US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73552042"/>
                  </a:ext>
                </a:extLst>
              </a:tr>
            </a:tbl>
          </a:graphicData>
        </a:graphic>
      </p:graphicFrame>
      <p:sp>
        <p:nvSpPr>
          <p:cNvPr id="12" name="TextBox 11">
            <a:extLst>
              <a:ext uri="{FF2B5EF4-FFF2-40B4-BE49-F238E27FC236}">
                <a16:creationId xmlns:a16="http://schemas.microsoft.com/office/drawing/2014/main" id="{49D6BE3B-20C9-BE88-37E5-A5F0400C022E}"/>
              </a:ext>
            </a:extLst>
          </p:cNvPr>
          <p:cNvSpPr txBox="1"/>
          <p:nvPr/>
        </p:nvSpPr>
        <p:spPr>
          <a:xfrm>
            <a:off x="7553966" y="1349772"/>
            <a:ext cx="1228914" cy="369332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altLang="ko-KR"/>
              <a:t>InstanceA</a:t>
            </a:r>
            <a:endParaRPr lang="ko-KR" altLang="en-US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95B66D40-AD38-B903-59D6-CC4CF3E961E3}"/>
              </a:ext>
            </a:extLst>
          </p:cNvPr>
          <p:cNvSpPr txBox="1"/>
          <p:nvPr/>
        </p:nvSpPr>
        <p:spPr>
          <a:xfrm>
            <a:off x="8948757" y="3240157"/>
            <a:ext cx="1228913" cy="369332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altLang="ko-KR"/>
              <a:t>InstanceB</a:t>
            </a:r>
            <a:endParaRPr lang="ko-KR" altLang="en-US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8E4CF968-E4FA-C1A0-E1C5-7B7CBBCD48EA}"/>
              </a:ext>
            </a:extLst>
          </p:cNvPr>
          <p:cNvSpPr txBox="1"/>
          <p:nvPr/>
        </p:nvSpPr>
        <p:spPr>
          <a:xfrm>
            <a:off x="10273975" y="2343685"/>
            <a:ext cx="1228913" cy="369332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altLang="ko-KR"/>
              <a:t>InstanceC</a:t>
            </a:r>
            <a:endParaRPr lang="ko-KR" altLang="en-US" dirty="0"/>
          </a:p>
        </p:txBody>
      </p:sp>
      <p:cxnSp>
        <p:nvCxnSpPr>
          <p:cNvPr id="15" name="직선 화살표 연결선 14">
            <a:extLst>
              <a:ext uri="{FF2B5EF4-FFF2-40B4-BE49-F238E27FC236}">
                <a16:creationId xmlns:a16="http://schemas.microsoft.com/office/drawing/2014/main" id="{11DB89AF-BAFA-7ABB-F5B8-94DBCA47C132}"/>
              </a:ext>
            </a:extLst>
          </p:cNvPr>
          <p:cNvCxnSpPr>
            <a:cxnSpLocks/>
            <a:stCxn id="12" idx="2"/>
          </p:cNvCxnSpPr>
          <p:nvPr/>
        </p:nvCxnSpPr>
        <p:spPr>
          <a:xfrm>
            <a:off x="8168423" y="1719104"/>
            <a:ext cx="0" cy="4154922"/>
          </a:xfrm>
          <a:prstGeom prst="straightConnector1">
            <a:avLst/>
          </a:prstGeom>
          <a:ln w="4762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직선 화살표 연결선 18">
            <a:extLst>
              <a:ext uri="{FF2B5EF4-FFF2-40B4-BE49-F238E27FC236}">
                <a16:creationId xmlns:a16="http://schemas.microsoft.com/office/drawing/2014/main" id="{D731DC11-2488-B375-EE09-77422E28B522}"/>
              </a:ext>
            </a:extLst>
          </p:cNvPr>
          <p:cNvCxnSpPr>
            <a:cxnSpLocks/>
          </p:cNvCxnSpPr>
          <p:nvPr/>
        </p:nvCxnSpPr>
        <p:spPr>
          <a:xfrm>
            <a:off x="9611367" y="3617842"/>
            <a:ext cx="0" cy="2256183"/>
          </a:xfrm>
          <a:prstGeom prst="straightConnector1">
            <a:avLst/>
          </a:prstGeom>
          <a:ln w="4762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직선 화살표 연결선 19">
            <a:extLst>
              <a:ext uri="{FF2B5EF4-FFF2-40B4-BE49-F238E27FC236}">
                <a16:creationId xmlns:a16="http://schemas.microsoft.com/office/drawing/2014/main" id="{DBC2F622-20F1-0CB0-3FE7-F6AB8E5B9613}"/>
              </a:ext>
            </a:extLst>
          </p:cNvPr>
          <p:cNvCxnSpPr>
            <a:cxnSpLocks/>
            <a:stCxn id="14" idx="2"/>
          </p:cNvCxnSpPr>
          <p:nvPr/>
        </p:nvCxnSpPr>
        <p:spPr>
          <a:xfrm>
            <a:off x="10888432" y="2713017"/>
            <a:ext cx="0" cy="3161009"/>
          </a:xfrm>
          <a:prstGeom prst="straightConnector1">
            <a:avLst/>
          </a:prstGeom>
          <a:ln w="4762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>
            <a:extLst>
              <a:ext uri="{FF2B5EF4-FFF2-40B4-BE49-F238E27FC236}">
                <a16:creationId xmlns:a16="http://schemas.microsoft.com/office/drawing/2014/main" id="{A7AE3A93-EFBE-24C6-454B-7C5680072F49}"/>
              </a:ext>
            </a:extLst>
          </p:cNvPr>
          <p:cNvSpPr txBox="1"/>
          <p:nvPr/>
        </p:nvSpPr>
        <p:spPr>
          <a:xfrm>
            <a:off x="7198460" y="980440"/>
            <a:ext cx="4649991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/>
              <a:t>UI Render Loop </a:t>
            </a:r>
            <a:r>
              <a:rPr lang="ko-KR" altLang="en-US" sz="1400"/>
              <a:t>를 돌면서 렌더할 인스턴스들을 모은다</a:t>
            </a:r>
            <a:r>
              <a:rPr lang="en-US" altLang="ko-KR" sz="1400"/>
              <a:t>.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446383F0-3E65-14A7-B68C-385D92F29416}"/>
              </a:ext>
            </a:extLst>
          </p:cNvPr>
          <p:cNvSpPr txBox="1"/>
          <p:nvPr/>
        </p:nvSpPr>
        <p:spPr>
          <a:xfrm>
            <a:off x="7553965" y="5874025"/>
            <a:ext cx="3938980" cy="923330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ko-KR" altLang="en-US"/>
              <a:t>루프가 다 끝나면 </a:t>
            </a:r>
            <a:endParaRPr lang="en-US" altLang="ko-KR"/>
          </a:p>
          <a:p>
            <a:r>
              <a:rPr lang="ko-KR" altLang="en-US"/>
              <a:t>인스턴싱 셰이더에서 모두 렌더링을 수행한다</a:t>
            </a:r>
            <a:r>
              <a:rPr lang="en-US" altLang="ko-KR"/>
              <a:t>.</a:t>
            </a:r>
            <a:endParaRPr lang="ko-KR" altLang="en-US" dirty="0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43DB793D-7306-8593-713D-BC87645DC44D}"/>
              </a:ext>
            </a:extLst>
          </p:cNvPr>
          <p:cNvSpPr txBox="1"/>
          <p:nvPr/>
        </p:nvSpPr>
        <p:spPr>
          <a:xfrm>
            <a:off x="8251362" y="4449225"/>
            <a:ext cx="1228913" cy="369332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altLang="ko-KR"/>
              <a:t>InstanceD</a:t>
            </a:r>
            <a:endParaRPr lang="ko-KR" altLang="en-US" dirty="0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58EF3D2F-D314-1C87-984A-768A2DA2571B}"/>
              </a:ext>
            </a:extLst>
          </p:cNvPr>
          <p:cNvSpPr txBox="1"/>
          <p:nvPr/>
        </p:nvSpPr>
        <p:spPr>
          <a:xfrm>
            <a:off x="9611367" y="3844691"/>
            <a:ext cx="1228913" cy="369332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altLang="ko-KR"/>
              <a:t>InstanceE</a:t>
            </a:r>
            <a:endParaRPr lang="ko-KR" altLang="en-US" dirty="0"/>
          </a:p>
        </p:txBody>
      </p:sp>
      <p:cxnSp>
        <p:nvCxnSpPr>
          <p:cNvPr id="27" name="직선 화살표 연결선 26">
            <a:extLst>
              <a:ext uri="{FF2B5EF4-FFF2-40B4-BE49-F238E27FC236}">
                <a16:creationId xmlns:a16="http://schemas.microsoft.com/office/drawing/2014/main" id="{44586E16-4DAC-A9AD-D2D4-008ED9813202}"/>
              </a:ext>
            </a:extLst>
          </p:cNvPr>
          <p:cNvCxnSpPr>
            <a:cxnSpLocks/>
            <a:stCxn id="25" idx="2"/>
          </p:cNvCxnSpPr>
          <p:nvPr/>
        </p:nvCxnSpPr>
        <p:spPr>
          <a:xfrm>
            <a:off x="8865819" y="4818557"/>
            <a:ext cx="13367" cy="1063821"/>
          </a:xfrm>
          <a:prstGeom prst="straightConnector1">
            <a:avLst/>
          </a:prstGeom>
          <a:ln w="4762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직선 화살표 연결선 29">
            <a:extLst>
              <a:ext uri="{FF2B5EF4-FFF2-40B4-BE49-F238E27FC236}">
                <a16:creationId xmlns:a16="http://schemas.microsoft.com/office/drawing/2014/main" id="{E49BA83E-2894-8EEE-82A6-87436D22BC51}"/>
              </a:ext>
            </a:extLst>
          </p:cNvPr>
          <p:cNvCxnSpPr>
            <a:cxnSpLocks/>
            <a:stCxn id="26" idx="2"/>
          </p:cNvCxnSpPr>
          <p:nvPr/>
        </p:nvCxnSpPr>
        <p:spPr>
          <a:xfrm flipH="1">
            <a:off x="10212456" y="4214023"/>
            <a:ext cx="13368" cy="1660001"/>
          </a:xfrm>
          <a:prstGeom prst="straightConnector1">
            <a:avLst/>
          </a:prstGeom>
          <a:ln w="4762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TextBox 32">
            <a:extLst>
              <a:ext uri="{FF2B5EF4-FFF2-40B4-BE49-F238E27FC236}">
                <a16:creationId xmlns:a16="http://schemas.microsoft.com/office/drawing/2014/main" id="{2C919C5E-1DEE-7F07-C86F-8F90D50BB550}"/>
              </a:ext>
            </a:extLst>
          </p:cNvPr>
          <p:cNvSpPr txBox="1"/>
          <p:nvPr/>
        </p:nvSpPr>
        <p:spPr>
          <a:xfrm>
            <a:off x="8124561" y="1797253"/>
            <a:ext cx="2391039" cy="138499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/>
              <a:t>page</a:t>
            </a:r>
            <a:r>
              <a:rPr lang="ko-KR" altLang="en-US" sz="1400"/>
              <a:t>에 따라 서로 </a:t>
            </a:r>
            <a:r>
              <a:rPr lang="en-US" altLang="ko-KR" sz="1400"/>
              <a:t>depth</a:t>
            </a:r>
            <a:r>
              <a:rPr lang="ko-KR" altLang="en-US" sz="1400"/>
              <a:t>를 </a:t>
            </a:r>
            <a:endParaRPr lang="en-US" altLang="ko-KR" sz="1400"/>
          </a:p>
          <a:p>
            <a:r>
              <a:rPr lang="ko-KR" altLang="en-US" sz="1400"/>
              <a:t>다르게 하여 앞뒤를 준다</a:t>
            </a:r>
            <a:r>
              <a:rPr lang="en-US" altLang="ko-KR" sz="1400"/>
              <a:t>.</a:t>
            </a:r>
          </a:p>
          <a:p>
            <a:r>
              <a:rPr lang="en-US" altLang="ko-KR" sz="1400"/>
              <a:t>&gt;&gt; </a:t>
            </a:r>
            <a:r>
              <a:rPr lang="ko-KR" altLang="en-US" sz="1400"/>
              <a:t>이미 </a:t>
            </a:r>
            <a:r>
              <a:rPr lang="en-US" altLang="ko-KR" sz="1400"/>
              <a:t>3D</a:t>
            </a:r>
            <a:r>
              <a:rPr lang="ko-KR" altLang="en-US" sz="1400"/>
              <a:t>는 렌더가</a:t>
            </a:r>
            <a:endParaRPr lang="en-US" altLang="ko-KR" sz="1400"/>
          </a:p>
          <a:p>
            <a:r>
              <a:rPr lang="ko-KR" altLang="en-US" sz="1400"/>
              <a:t>끝난 상태고 </a:t>
            </a:r>
            <a:r>
              <a:rPr lang="en-US" altLang="ko-KR" sz="1400"/>
              <a:t>depth</a:t>
            </a:r>
            <a:r>
              <a:rPr lang="ko-KR" altLang="en-US" sz="1400"/>
              <a:t>는 </a:t>
            </a:r>
            <a:r>
              <a:rPr lang="en-US" altLang="ko-KR" sz="1400"/>
              <a:t>1.0</a:t>
            </a:r>
          </a:p>
          <a:p>
            <a:r>
              <a:rPr lang="ko-KR" altLang="en-US" sz="1400"/>
              <a:t>으로 클리어가 된 상태이다</a:t>
            </a:r>
            <a:r>
              <a:rPr lang="en-US" altLang="ko-KR" sz="1400"/>
              <a:t>.</a:t>
            </a:r>
          </a:p>
          <a:p>
            <a:r>
              <a:rPr lang="ko-KR" altLang="en-US" sz="1400"/>
              <a:t>크게 잡아도 무리는 없다</a:t>
            </a:r>
            <a:r>
              <a:rPr lang="en-US" altLang="ko-KR" sz="140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125029623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C60C818-C18F-C4E6-7237-844B919E98A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제목 1">
            <a:extLst>
              <a:ext uri="{FF2B5EF4-FFF2-40B4-BE49-F238E27FC236}">
                <a16:creationId xmlns:a16="http://schemas.microsoft.com/office/drawing/2014/main" id="{73B55D80-AA5F-12F7-1FC4-0E3977755510}"/>
              </a:ext>
            </a:extLst>
          </p:cNvPr>
          <p:cNvSpPr txBox="1">
            <a:spLocks/>
          </p:cNvSpPr>
          <p:nvPr/>
        </p:nvSpPr>
        <p:spPr>
          <a:xfrm>
            <a:off x="0" y="18255"/>
            <a:ext cx="10515600" cy="8504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ko-KR" sz="5400"/>
              <a:t>UI Update/Event</a:t>
            </a:r>
            <a:endParaRPr lang="ko-KR" altLang="en-US" sz="5400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76B6623B-217F-067C-22EC-4FAD59944568}"/>
              </a:ext>
            </a:extLst>
          </p:cNvPr>
          <p:cNvSpPr txBox="1"/>
          <p:nvPr/>
        </p:nvSpPr>
        <p:spPr>
          <a:xfrm>
            <a:off x="6222122" y="946161"/>
            <a:ext cx="1590035" cy="369332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altLang="ko-KR"/>
              <a:t>Global</a:t>
            </a:r>
            <a:r>
              <a:rPr lang="ko-KR" altLang="en-US"/>
              <a:t> </a:t>
            </a:r>
            <a:r>
              <a:rPr lang="en-US" altLang="ko-KR"/>
              <a:t>Event</a:t>
            </a:r>
            <a:endParaRPr lang="ko-KR" altLang="en-US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4CC5613-D6AC-FA07-29B8-6905F9AF4987}"/>
              </a:ext>
            </a:extLst>
          </p:cNvPr>
          <p:cNvSpPr txBox="1"/>
          <p:nvPr/>
        </p:nvSpPr>
        <p:spPr>
          <a:xfrm>
            <a:off x="119269" y="966405"/>
            <a:ext cx="4631635" cy="923330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altLang="ko-KR"/>
              <a:t>AnimOperUtil</a:t>
            </a:r>
          </a:p>
          <a:p>
            <a:r>
              <a:rPr lang="en-US" altLang="ko-KR"/>
              <a:t>: </a:t>
            </a:r>
            <a:r>
              <a:rPr lang="ko-KR" altLang="en-US"/>
              <a:t>애니메이션의 </a:t>
            </a:r>
            <a:r>
              <a:rPr lang="en-US" altLang="ko-KR"/>
              <a:t>Ease </a:t>
            </a:r>
            <a:r>
              <a:rPr lang="ko-KR" altLang="en-US"/>
              <a:t>무브를 구현</a:t>
            </a:r>
            <a:r>
              <a:rPr lang="en-US" altLang="ko-KR"/>
              <a:t>.</a:t>
            </a:r>
          </a:p>
          <a:p>
            <a:r>
              <a:rPr lang="en-US" altLang="ko-KR"/>
              <a:t>Update</a:t>
            </a:r>
            <a:r>
              <a:rPr lang="ko-KR" altLang="en-US"/>
              <a:t>시에 반응성을 극대화하는걸 돕는다</a:t>
            </a:r>
            <a:r>
              <a:rPr lang="en-US" altLang="ko-KR"/>
              <a:t>.</a:t>
            </a:r>
            <a:endParaRPr lang="ko-KR" altLang="en-US" dirty="0"/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E6FB5361-5EBD-87FB-BEDA-2CB15876294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9269" y="1987460"/>
            <a:ext cx="5185779" cy="4751269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3956E45D-8CA0-3912-FD1F-639283341008}"/>
              </a:ext>
            </a:extLst>
          </p:cNvPr>
          <p:cNvSpPr txBox="1"/>
          <p:nvPr/>
        </p:nvSpPr>
        <p:spPr>
          <a:xfrm>
            <a:off x="6222122" y="1428070"/>
            <a:ext cx="5747727" cy="181588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400"/>
              <a:t>어짜피 </a:t>
            </a:r>
            <a:r>
              <a:rPr lang="en-US" altLang="ko-KR" sz="1400"/>
              <a:t>winproc</a:t>
            </a:r>
            <a:r>
              <a:rPr lang="ko-KR" altLang="en-US" sz="1400"/>
              <a:t>에서 이벤트가 발생되면 전달되는 이벤트는 모든 </a:t>
            </a:r>
            <a:r>
              <a:rPr lang="en-US" altLang="ko-KR" sz="1400"/>
              <a:t>UI</a:t>
            </a:r>
            <a:r>
              <a:rPr lang="ko-KR" altLang="en-US" sz="1400"/>
              <a:t>에</a:t>
            </a:r>
            <a:endParaRPr lang="en-US" altLang="ko-KR" sz="1400"/>
          </a:p>
          <a:p>
            <a:r>
              <a:rPr lang="ko-KR" altLang="en-US" sz="1400"/>
              <a:t>대하여 모두 같을 것이니 </a:t>
            </a:r>
            <a:r>
              <a:rPr lang="en-US" altLang="ko-KR" sz="1400"/>
              <a:t>Global</a:t>
            </a:r>
            <a:r>
              <a:rPr lang="ko-KR" altLang="en-US" sz="1400"/>
              <a:t>로 빼둔다</a:t>
            </a:r>
            <a:r>
              <a:rPr lang="en-US" altLang="ko-KR" sz="1400"/>
              <a:t>.</a:t>
            </a:r>
          </a:p>
          <a:p>
            <a:r>
              <a:rPr lang="ko-KR" altLang="en-US" sz="1400"/>
              <a:t>기존 </a:t>
            </a:r>
            <a:r>
              <a:rPr lang="en-US" altLang="ko-KR" sz="1400"/>
              <a:t>hWnd, Message, wParam, lParam</a:t>
            </a:r>
            <a:r>
              <a:rPr lang="ko-KR" altLang="en-US" sz="1400"/>
              <a:t>도 있지만</a:t>
            </a:r>
            <a:r>
              <a:rPr lang="en-US" altLang="ko-KR" sz="1400"/>
              <a:t>,</a:t>
            </a:r>
          </a:p>
          <a:p>
            <a:r>
              <a:rPr lang="ko-KR" altLang="en-US" sz="1400"/>
              <a:t>현재 마우스의 위치와 상태</a:t>
            </a:r>
            <a:r>
              <a:rPr lang="en-US" altLang="ko-KR" sz="1400"/>
              <a:t>,</a:t>
            </a:r>
          </a:p>
          <a:p>
            <a:r>
              <a:rPr lang="ko-KR" altLang="en-US" sz="1400"/>
              <a:t>현재 키보드의 눌려진 상태등을 같이 보낸다</a:t>
            </a:r>
            <a:r>
              <a:rPr lang="en-US" altLang="ko-KR" sz="1400"/>
              <a:t>.</a:t>
            </a:r>
          </a:p>
          <a:p>
            <a:endParaRPr lang="en-US" altLang="ko-KR" sz="1400"/>
          </a:p>
          <a:p>
            <a:r>
              <a:rPr lang="en-US" altLang="ko-KR" sz="1400"/>
              <a:t>Edit Box </a:t>
            </a:r>
            <a:r>
              <a:rPr lang="ko-KR" altLang="en-US" sz="1400"/>
              <a:t>같이 텍스트 입력이 필요할때는 </a:t>
            </a:r>
            <a:r>
              <a:rPr lang="en-US" altLang="ko-KR" sz="1400"/>
              <a:t>WM_CHAR</a:t>
            </a:r>
            <a:r>
              <a:rPr lang="ko-KR" altLang="en-US" sz="1400"/>
              <a:t>과 </a:t>
            </a:r>
            <a:endParaRPr lang="en-US" altLang="ko-KR" sz="1400"/>
          </a:p>
          <a:p>
            <a:r>
              <a:rPr lang="ko-KR" altLang="en-US" sz="1400"/>
              <a:t>한글 입력시 </a:t>
            </a:r>
            <a:r>
              <a:rPr lang="en-US" altLang="ko-KR" sz="1400"/>
              <a:t>IME</a:t>
            </a:r>
            <a:r>
              <a:rPr lang="ko-KR" altLang="en-US" sz="1400"/>
              <a:t>의 이벤트를 사용하자</a:t>
            </a:r>
            <a:r>
              <a:rPr lang="en-US" altLang="ko-KR" sz="140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363661584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B2733AE-9F99-9267-D62C-B42EA2D7A06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90FE72D-544F-807F-1F47-DD6EEC2AE46D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0" y="18255"/>
            <a:ext cx="10515600" cy="850425"/>
          </a:xfrm>
        </p:spPr>
        <p:txBody>
          <a:bodyPr>
            <a:normAutofit/>
          </a:bodyPr>
          <a:lstStyle/>
          <a:p>
            <a:r>
              <a:rPr lang="en-US" altLang="ko-KR" sz="5400" dirty="0"/>
              <a:t>Game Data Exporter</a:t>
            </a:r>
            <a:endParaRPr lang="ko-KR" altLang="en-US" sz="5400" dirty="0"/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A278F3F3-D071-F010-C6DC-9D6FFAC8371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8945" y="1031240"/>
            <a:ext cx="8014667" cy="39065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33842180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C4F6FD6-4547-098A-8B02-39E52B508D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29DAB3F-2228-5FAA-389C-96DC91241B7C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0" y="18255"/>
            <a:ext cx="10515600" cy="850425"/>
          </a:xfrm>
        </p:spPr>
        <p:txBody>
          <a:bodyPr>
            <a:normAutofit/>
          </a:bodyPr>
          <a:lstStyle/>
          <a:p>
            <a:r>
              <a:rPr lang="en-US" altLang="ko-KR" sz="5400" dirty="0" err="1"/>
              <a:t>GameLogic</a:t>
            </a:r>
            <a:endParaRPr lang="ko-KR" altLang="en-US" sz="5400" dirty="0"/>
          </a:p>
        </p:txBody>
      </p:sp>
      <mc:AlternateContent xmlns:mc="http://schemas.openxmlformats.org/markup-compatibility/2006" xmlns:pslz="http://schemas.microsoft.com/office/powerpoint/2016/slidezoom">
        <mc:Choice Requires="pslz">
          <p:graphicFrame>
            <p:nvGraphicFramePr>
              <p:cNvPr id="4" name="슬라이드 확대/축소 3">
                <a:extLst>
                  <a:ext uri="{FF2B5EF4-FFF2-40B4-BE49-F238E27FC236}">
                    <a16:creationId xmlns:a16="http://schemas.microsoft.com/office/drawing/2014/main" id="{831D66FA-F757-79EF-C181-BB6DF67D0D3C}"/>
                  </a:ext>
                </a:extLst>
              </p:cNvPr>
              <p:cNvGraphicFramePr>
                <a:graphicFrameLocks noChangeAspect="1"/>
              </p:cNvGraphicFramePr>
              <p:nvPr>
                <p:extLst>
                  <p:ext uri="{D42A27DB-BD31-4B8C-83A1-F6EECF244321}">
                    <p14:modId xmlns:p14="http://schemas.microsoft.com/office/powerpoint/2010/main" val="3054750978"/>
                  </p:ext>
                </p:extLst>
              </p:nvPr>
            </p:nvGraphicFramePr>
            <p:xfrm>
              <a:off x="-1" y="1050207"/>
              <a:ext cx="5893893" cy="3315315"/>
            </p:xfrm>
            <a:graphic>
              <a:graphicData uri="http://schemas.microsoft.com/office/powerpoint/2016/slidezoom">
                <pslz:sldZm>
                  <pslz:sldZmObj sldId="278" cId="3420612943">
                    <pslz:zmPr id="{F2039B65-B6FC-4B2F-A42A-6D0581CC8FEF}" returnToParent="0" transitionDur="1000">
                      <p166:blipFill xmlns:p166="http://schemas.microsoft.com/office/powerpoint/2016/6/main">
                        <a:blip r:embed="rId2"/>
                        <a:stretch>
                          <a:fillRect/>
                        </a:stretch>
                      </p166:blipFill>
                      <p166:spPr xmlns:p166="http://schemas.microsoft.com/office/powerpoint/2016/6/main">
                        <a:xfrm>
                          <a:off x="0" y="0"/>
                          <a:ext cx="5893893" cy="3315315"/>
                        </a:xfrm>
                        <a:prstGeom prst="rect">
                          <a:avLst/>
                        </a:prstGeom>
                        <a:ln w="3175">
                          <a:solidFill>
                            <a:prstClr val="ltGray"/>
                          </a:solidFill>
                        </a:ln>
                      </p166:spPr>
                    </pslz:zmPr>
                  </pslz:sldZmObj>
                </pslz:sldZm>
              </a:graphicData>
            </a:graphic>
          </p:graphicFrame>
        </mc:Choice>
        <mc:Fallback xmlns="">
          <p:pic>
            <p:nvPicPr>
              <p:cNvPr id="4" name="슬라이드 확대/축소 3">
                <a:hlinkClick r:id="rId3" action="ppaction://hlinksldjump"/>
                <a:extLst>
                  <a:ext uri="{FF2B5EF4-FFF2-40B4-BE49-F238E27FC236}">
                    <a16:creationId xmlns:a16="http://schemas.microsoft.com/office/drawing/2014/main" id="{831D66FA-F757-79EF-C181-BB6DF67D0D3C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/>
              </p:cNvPicPr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-1" y="1050207"/>
                <a:ext cx="5893893" cy="3315315"/>
              </a:xfrm>
              <a:prstGeom prst="rect">
                <a:avLst/>
              </a:prstGeom>
              <a:ln w="3175">
                <a:solidFill>
                  <a:prstClr val="ltGray"/>
                </a:solidFill>
              </a:ln>
            </p:spPr>
          </p:pic>
        </mc:Fallback>
      </mc:AlternateContent>
      <mc:AlternateContent xmlns:mc="http://schemas.openxmlformats.org/markup-compatibility/2006" xmlns:pslz="http://schemas.microsoft.com/office/powerpoint/2016/slidezoom">
        <mc:Choice Requires="pslz">
          <p:graphicFrame>
            <p:nvGraphicFramePr>
              <p:cNvPr id="6" name="슬라이드 확대/축소 5">
                <a:extLst>
                  <a:ext uri="{FF2B5EF4-FFF2-40B4-BE49-F238E27FC236}">
                    <a16:creationId xmlns:a16="http://schemas.microsoft.com/office/drawing/2014/main" id="{DDF32986-FF6C-E5A3-849B-D60E77632BCB}"/>
                  </a:ext>
                </a:extLst>
              </p:cNvPr>
              <p:cNvGraphicFramePr>
                <a:graphicFrameLocks noChangeAspect="1"/>
              </p:cNvGraphicFramePr>
              <p:nvPr>
                <p:extLst>
                  <p:ext uri="{D42A27DB-BD31-4B8C-83A1-F6EECF244321}">
                    <p14:modId xmlns:p14="http://schemas.microsoft.com/office/powerpoint/2010/main" val="769494546"/>
                  </p:ext>
                </p:extLst>
              </p:nvPr>
            </p:nvGraphicFramePr>
            <p:xfrm>
              <a:off x="6298109" y="1050207"/>
              <a:ext cx="5893891" cy="3315314"/>
            </p:xfrm>
            <a:graphic>
              <a:graphicData uri="http://schemas.microsoft.com/office/powerpoint/2016/slidezoom">
                <pslz:sldZm>
                  <pslz:sldZmObj sldId="279" cId="2927238059">
                    <pslz:zmPr id="{EFAEE96A-68E4-4BA0-AD76-B19B21DBD83D}" returnToParent="0" transitionDur="1000">
                      <p166:blipFill xmlns:p166="http://schemas.microsoft.com/office/powerpoint/2016/6/main">
                        <a:blip r:embed="rId5"/>
                        <a:stretch>
                          <a:fillRect/>
                        </a:stretch>
                      </p166:blipFill>
                      <p166:spPr xmlns:p166="http://schemas.microsoft.com/office/powerpoint/2016/6/main">
                        <a:xfrm>
                          <a:off x="0" y="0"/>
                          <a:ext cx="5893891" cy="3315314"/>
                        </a:xfrm>
                        <a:prstGeom prst="rect">
                          <a:avLst/>
                        </a:prstGeom>
                        <a:ln w="3175">
                          <a:solidFill>
                            <a:prstClr val="ltGray"/>
                          </a:solidFill>
                        </a:ln>
                      </p166:spPr>
                    </pslz:zmPr>
                  </pslz:sldZmObj>
                </pslz:sldZm>
              </a:graphicData>
            </a:graphic>
          </p:graphicFrame>
        </mc:Choice>
        <mc:Fallback xmlns="">
          <p:pic>
            <p:nvPicPr>
              <p:cNvPr id="6" name="슬라이드 확대/축소 5">
                <a:hlinkClick r:id="rId6" action="ppaction://hlinksldjump"/>
                <a:extLst>
                  <a:ext uri="{FF2B5EF4-FFF2-40B4-BE49-F238E27FC236}">
                    <a16:creationId xmlns:a16="http://schemas.microsoft.com/office/drawing/2014/main" id="{DDF32986-FF6C-E5A3-849B-D60E77632BCB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/>
              </p:cNvPicPr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6298109" y="1050207"/>
                <a:ext cx="5893891" cy="3315314"/>
              </a:xfrm>
              <a:prstGeom prst="rect">
                <a:avLst/>
              </a:prstGeom>
              <a:ln w="3175">
                <a:solidFill>
                  <a:prstClr val="ltGray"/>
                </a:solidFill>
              </a:ln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2758334147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96B4EB2-09FD-458F-0E89-D6CD0EE844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DC4AF71-758F-BA8D-6192-FEC04D1D8F92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0" y="18255"/>
            <a:ext cx="10515600" cy="850425"/>
          </a:xfrm>
        </p:spPr>
        <p:txBody>
          <a:bodyPr>
            <a:normAutofit/>
          </a:bodyPr>
          <a:lstStyle/>
          <a:p>
            <a:r>
              <a:rPr lang="en-US" altLang="ko-KR" sz="5400" dirty="0" err="1"/>
              <a:t>BitAlloter</a:t>
            </a:r>
            <a:endParaRPr lang="ko-KR" altLang="en-US" sz="540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3D14BEE-5B9D-F77C-1F44-F02DDDD9145C}"/>
              </a:ext>
            </a:extLst>
          </p:cNvPr>
          <p:cNvSpPr txBox="1"/>
          <p:nvPr/>
        </p:nvSpPr>
        <p:spPr>
          <a:xfrm>
            <a:off x="137160" y="868680"/>
            <a:ext cx="12317796" cy="203132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 err="1"/>
              <a:t>bitAlloter</a:t>
            </a:r>
            <a:r>
              <a:rPr lang="ko-KR" altLang="en-US" dirty="0"/>
              <a:t>는 각 배열의 자리의 활성</a:t>
            </a:r>
            <a:r>
              <a:rPr lang="en-US" altLang="ko-KR" dirty="0"/>
              <a:t>/</a:t>
            </a:r>
            <a:r>
              <a:rPr lang="ko-KR" altLang="en-US" dirty="0"/>
              <a:t>비활성 혹은 할당</a:t>
            </a:r>
            <a:r>
              <a:rPr lang="en-US" altLang="ko-KR" dirty="0"/>
              <a:t>/</a:t>
            </a:r>
            <a:r>
              <a:rPr lang="ko-KR" altLang="en-US" dirty="0" err="1"/>
              <a:t>비할당</a:t>
            </a:r>
            <a:r>
              <a:rPr lang="ko-KR" altLang="en-US" dirty="0"/>
              <a:t> 여부를 </a:t>
            </a:r>
            <a:r>
              <a:rPr lang="en-US" altLang="ko-KR" dirty="0"/>
              <a:t>bit </a:t>
            </a:r>
            <a:r>
              <a:rPr lang="ko-KR" altLang="en-US" dirty="0"/>
              <a:t>배열로 나타낸다</a:t>
            </a:r>
            <a:r>
              <a:rPr lang="en-US" altLang="ko-KR" dirty="0"/>
              <a:t>.</a:t>
            </a:r>
          </a:p>
          <a:p>
            <a:r>
              <a:rPr lang="en-US" altLang="ko-KR" dirty="0" err="1"/>
              <a:t>Alloc</a:t>
            </a:r>
            <a:r>
              <a:rPr lang="en-US" altLang="ko-KR" dirty="0"/>
              <a:t>()</a:t>
            </a:r>
            <a:r>
              <a:rPr lang="ko-KR" altLang="en-US" dirty="0"/>
              <a:t>을 하면 비트가 </a:t>
            </a:r>
            <a:r>
              <a:rPr lang="en-US" altLang="ko-KR" dirty="0"/>
              <a:t>0</a:t>
            </a:r>
            <a:r>
              <a:rPr lang="ko-KR" altLang="en-US" dirty="0"/>
              <a:t>인 자리를 선택하여 </a:t>
            </a:r>
            <a:r>
              <a:rPr lang="en-US" altLang="ko-KR" dirty="0"/>
              <a:t>1</a:t>
            </a:r>
            <a:r>
              <a:rPr lang="ko-KR" altLang="en-US" dirty="0"/>
              <a:t>로 만들고 해당 위치를 </a:t>
            </a:r>
            <a:r>
              <a:rPr lang="en-US" altLang="ko-KR" dirty="0"/>
              <a:t>int </a:t>
            </a:r>
            <a:r>
              <a:rPr lang="ko-KR" altLang="en-US" dirty="0"/>
              <a:t>인덱스로 반환한다</a:t>
            </a:r>
            <a:r>
              <a:rPr lang="en-US" altLang="ko-KR" dirty="0"/>
              <a:t>.</a:t>
            </a:r>
          </a:p>
          <a:p>
            <a:r>
              <a:rPr lang="ko-KR" altLang="en-US" dirty="0"/>
              <a:t>그 인덱스를 오브젝트가 가지고 있다가 </a:t>
            </a:r>
            <a:r>
              <a:rPr lang="en-US" altLang="ko-KR" dirty="0"/>
              <a:t>Free(index) </a:t>
            </a:r>
            <a:r>
              <a:rPr lang="ko-KR" altLang="en-US" dirty="0"/>
              <a:t>를 호출하여 다시 해제할 수 있다</a:t>
            </a:r>
            <a:r>
              <a:rPr lang="en-US" altLang="ko-KR" dirty="0"/>
              <a:t>.</a:t>
            </a:r>
          </a:p>
          <a:p>
            <a:r>
              <a:rPr lang="ko-KR" altLang="en-US" dirty="0"/>
              <a:t>할당과정은 꽤나 빠르다</a:t>
            </a:r>
            <a:r>
              <a:rPr lang="en-US" altLang="ko-KR" dirty="0"/>
              <a:t>. </a:t>
            </a:r>
            <a:r>
              <a:rPr lang="ko-KR" altLang="en-US" dirty="0"/>
              <a:t>왜냐하면 가장 마지막 </a:t>
            </a:r>
            <a:r>
              <a:rPr lang="en-US" altLang="ko-KR" dirty="0"/>
              <a:t>0</a:t>
            </a:r>
            <a:r>
              <a:rPr lang="ko-KR" altLang="en-US" dirty="0"/>
              <a:t>을 항상 저장하게끔 알고리즘이 </a:t>
            </a:r>
            <a:r>
              <a:rPr lang="ko-KR" altLang="en-US" dirty="0" err="1"/>
              <a:t>짜여있기도</a:t>
            </a:r>
            <a:r>
              <a:rPr lang="ko-KR" altLang="en-US" dirty="0"/>
              <a:t> 하고</a:t>
            </a:r>
            <a:r>
              <a:rPr lang="en-US" altLang="ko-KR" dirty="0"/>
              <a:t>, (</a:t>
            </a:r>
            <a:r>
              <a:rPr lang="ko-KR" altLang="en-US" dirty="0"/>
              <a:t>곧바로 그걸 선택</a:t>
            </a:r>
            <a:r>
              <a:rPr lang="en-US" altLang="ko-KR" dirty="0"/>
              <a:t>)</a:t>
            </a:r>
          </a:p>
          <a:p>
            <a:r>
              <a:rPr lang="ko-KR" altLang="en-US" dirty="0"/>
              <a:t>또한 </a:t>
            </a:r>
            <a:r>
              <a:rPr lang="en-US" altLang="ko-KR" dirty="0"/>
              <a:t>bit </a:t>
            </a:r>
            <a:r>
              <a:rPr lang="ko-KR" altLang="en-US" dirty="0"/>
              <a:t>배열로 되어있기 때문에 </a:t>
            </a:r>
            <a:r>
              <a:rPr lang="en-US" altLang="ko-KR" dirty="0"/>
              <a:t>32</a:t>
            </a:r>
            <a:r>
              <a:rPr lang="ko-KR" altLang="en-US" dirty="0"/>
              <a:t>개의 오브젝트의 할당여부를 한번에 검사할 수 있다</a:t>
            </a:r>
            <a:r>
              <a:rPr lang="en-US" altLang="ko-KR" dirty="0"/>
              <a:t>. 0xFFFFFFFF</a:t>
            </a:r>
            <a:r>
              <a:rPr lang="ko-KR" altLang="en-US" dirty="0"/>
              <a:t>가 아니라면</a:t>
            </a:r>
            <a:endParaRPr lang="en-US" altLang="ko-KR" dirty="0"/>
          </a:p>
          <a:p>
            <a:r>
              <a:rPr lang="ko-KR" altLang="en-US" dirty="0"/>
              <a:t>그곳에 </a:t>
            </a:r>
            <a:r>
              <a:rPr lang="en-US" altLang="ko-KR" dirty="0"/>
              <a:t>0</a:t>
            </a:r>
            <a:r>
              <a:rPr lang="ko-KR" altLang="en-US" dirty="0"/>
              <a:t>이 있다는 것이니 해당 </a:t>
            </a:r>
            <a:r>
              <a:rPr lang="en-US" altLang="ko-KR" dirty="0"/>
              <a:t>doubleword </a:t>
            </a:r>
            <a:r>
              <a:rPr lang="ko-KR" altLang="en-US" dirty="0"/>
              <a:t>를 </a:t>
            </a:r>
            <a:r>
              <a:rPr lang="en-US" altLang="ko-KR" dirty="0"/>
              <a:t>bit </a:t>
            </a:r>
            <a:r>
              <a:rPr lang="ko-KR" altLang="en-US" dirty="0"/>
              <a:t>순회한다</a:t>
            </a:r>
            <a:r>
              <a:rPr lang="en-US" altLang="ko-KR" dirty="0"/>
              <a:t>.</a:t>
            </a:r>
          </a:p>
          <a:p>
            <a:endParaRPr lang="en-US" altLang="ko-KR" dirty="0"/>
          </a:p>
        </p:txBody>
      </p:sp>
      <mc:AlternateContent xmlns:mc="http://schemas.openxmlformats.org/markup-compatibility/2006" xmlns:pslz="http://schemas.microsoft.com/office/powerpoint/2016/slidezoom">
        <mc:Choice Requires="pslz">
          <p:graphicFrame>
            <p:nvGraphicFramePr>
              <p:cNvPr id="8" name="슬라이드 확대/축소 7">
                <a:extLst>
                  <a:ext uri="{FF2B5EF4-FFF2-40B4-BE49-F238E27FC236}">
                    <a16:creationId xmlns:a16="http://schemas.microsoft.com/office/drawing/2014/main" id="{D507B324-09B3-7B73-FD30-77FD1CC0027B}"/>
                  </a:ext>
                </a:extLst>
              </p:cNvPr>
              <p:cNvGraphicFramePr>
                <a:graphicFrameLocks noChangeAspect="1"/>
              </p:cNvGraphicFramePr>
              <p:nvPr>
                <p:extLst>
                  <p:ext uri="{D42A27DB-BD31-4B8C-83A1-F6EECF244321}">
                    <p14:modId xmlns:p14="http://schemas.microsoft.com/office/powerpoint/2010/main" val="3257729037"/>
                  </p:ext>
                </p:extLst>
              </p:nvPr>
            </p:nvGraphicFramePr>
            <p:xfrm>
              <a:off x="205986" y="2768395"/>
              <a:ext cx="6617109" cy="3722124"/>
            </p:xfrm>
            <a:graphic>
              <a:graphicData uri="http://schemas.microsoft.com/office/powerpoint/2016/slidezoom">
                <pslz:sldZm>
                  <pslz:sldZmObj sldId="283" cId="977256668">
                    <pslz:zmPr id="{64EB6C04-2ACE-4F0E-BEC1-03A316A8B18C}" returnToParent="0" transitionDur="1000">
                      <p166:blipFill xmlns:p166="http://schemas.microsoft.com/office/powerpoint/2016/6/main">
                        <a:blip r:embed="rId2"/>
                        <a:stretch>
                          <a:fillRect/>
                        </a:stretch>
                      </p166:blipFill>
                      <p166:spPr xmlns:p166="http://schemas.microsoft.com/office/powerpoint/2016/6/main">
                        <a:xfrm>
                          <a:off x="0" y="0"/>
                          <a:ext cx="6617109" cy="3722124"/>
                        </a:xfrm>
                        <a:prstGeom prst="rect">
                          <a:avLst/>
                        </a:prstGeom>
                        <a:ln w="3175">
                          <a:solidFill>
                            <a:prstClr val="ltGray"/>
                          </a:solidFill>
                        </a:ln>
                      </p166:spPr>
                    </pslz:zmPr>
                  </pslz:sldZmObj>
                </pslz:sldZm>
              </a:graphicData>
            </a:graphic>
          </p:graphicFrame>
        </mc:Choice>
        <mc:Fallback xmlns="">
          <p:pic>
            <p:nvPicPr>
              <p:cNvPr id="8" name="슬라이드 확대/축소 7">
                <a:hlinkClick r:id="rId3" action="ppaction://hlinksldjump"/>
                <a:extLst>
                  <a:ext uri="{FF2B5EF4-FFF2-40B4-BE49-F238E27FC236}">
                    <a16:creationId xmlns:a16="http://schemas.microsoft.com/office/drawing/2014/main" id="{D507B324-09B3-7B73-FD30-77FD1CC0027B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/>
              </p:cNvPicPr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205986" y="2768395"/>
                <a:ext cx="6617109" cy="3722124"/>
              </a:xfrm>
              <a:prstGeom prst="rect">
                <a:avLst/>
              </a:prstGeom>
              <a:ln w="3175">
                <a:solidFill>
                  <a:prstClr val="ltGray"/>
                </a:solidFill>
              </a:ln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3420612943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F16BDEE-4E30-B33C-786A-A062222B60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DF51FA0-2288-B9C4-6639-D7C68CFC2A26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0" y="18255"/>
            <a:ext cx="10515600" cy="850425"/>
          </a:xfrm>
        </p:spPr>
        <p:txBody>
          <a:bodyPr>
            <a:normAutofit/>
          </a:bodyPr>
          <a:lstStyle/>
          <a:p>
            <a:r>
              <a:rPr lang="en-US" altLang="ko-KR" sz="5400" dirty="0" err="1"/>
              <a:t>BitAlloter</a:t>
            </a:r>
            <a:r>
              <a:rPr lang="ko-KR" altLang="en-US" sz="5400" dirty="0"/>
              <a:t>의 순회 방법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207CD42-075F-59E4-8451-B20704309C2E}"/>
              </a:ext>
            </a:extLst>
          </p:cNvPr>
          <p:cNvSpPr txBox="1"/>
          <p:nvPr/>
        </p:nvSpPr>
        <p:spPr>
          <a:xfrm>
            <a:off x="159773" y="970455"/>
            <a:ext cx="11766755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 err="1"/>
              <a:t>bitAlloter</a:t>
            </a:r>
            <a:r>
              <a:rPr lang="ko-KR" altLang="en-US" dirty="0"/>
              <a:t>로 관리되는 오브젝트의 순회는 결국 활성화 비트 </a:t>
            </a:r>
            <a:r>
              <a:rPr lang="en-US" altLang="ko-KR" dirty="0"/>
              <a:t>(1)</a:t>
            </a:r>
            <a:r>
              <a:rPr lang="ko-KR" altLang="en-US" dirty="0"/>
              <a:t>로 켜진 오브젝트만을 대상으로 이루어지는데</a:t>
            </a:r>
            <a:r>
              <a:rPr lang="en-US" altLang="ko-KR" dirty="0"/>
              <a:t>,</a:t>
            </a:r>
          </a:p>
          <a:p>
            <a:r>
              <a:rPr lang="ko-KR" altLang="en-US" dirty="0"/>
              <a:t>이는 </a:t>
            </a:r>
            <a:r>
              <a:rPr lang="en-US" altLang="ko-KR" dirty="0" err="1"/>
              <a:t>IndexRange</a:t>
            </a:r>
            <a:r>
              <a:rPr lang="ko-KR" altLang="en-US" dirty="0"/>
              <a:t>의 배열로 해당하는 오브젝트 대상을 미리 뽑아두고 순회를 할 수 있다</a:t>
            </a:r>
            <a:r>
              <a:rPr lang="en-US" altLang="ko-KR" dirty="0"/>
              <a:t>. (</a:t>
            </a:r>
            <a:r>
              <a:rPr lang="ko-KR" altLang="en-US" dirty="0"/>
              <a:t>가장 빠른 방식</a:t>
            </a:r>
            <a:r>
              <a:rPr lang="en-US" altLang="ko-KR" dirty="0"/>
              <a:t>)</a:t>
            </a:r>
          </a:p>
          <a:p>
            <a:r>
              <a:rPr lang="en-US" altLang="ko-KR" dirty="0" err="1"/>
              <a:t>GetTourPairs</a:t>
            </a:r>
            <a:r>
              <a:rPr lang="en-US" altLang="ko-KR" dirty="0"/>
              <a:t> range</a:t>
            </a:r>
            <a:r>
              <a:rPr lang="ko-KR" altLang="en-US" dirty="0"/>
              <a:t>의 </a:t>
            </a:r>
            <a:r>
              <a:rPr lang="en-US" altLang="ko-KR" dirty="0" err="1"/>
              <a:t>startindex</a:t>
            </a:r>
            <a:r>
              <a:rPr lang="en-US" altLang="ko-KR" dirty="0"/>
              <a:t>, </a:t>
            </a:r>
            <a:r>
              <a:rPr lang="en-US" altLang="ko-KR" dirty="0" err="1"/>
              <a:t>endindex</a:t>
            </a:r>
            <a:r>
              <a:rPr lang="ko-KR" altLang="en-US" dirty="0"/>
              <a:t>를 담은 </a:t>
            </a:r>
            <a:r>
              <a:rPr lang="en-US" altLang="ko-KR" dirty="0"/>
              <a:t>pair</a:t>
            </a:r>
            <a:r>
              <a:rPr lang="ko-KR" altLang="en-US" dirty="0"/>
              <a:t>들을 순회하며 오브젝트를 처리하면 된다</a:t>
            </a:r>
            <a:r>
              <a:rPr lang="en-US" altLang="ko-KR" dirty="0"/>
              <a:t>.</a:t>
            </a:r>
          </a:p>
          <a:p>
            <a:r>
              <a:rPr lang="ko-KR" altLang="en-US" dirty="0"/>
              <a:t>아래 코드 </a:t>
            </a:r>
            <a:r>
              <a:rPr lang="ko-KR" altLang="en-US" dirty="0" err="1"/>
              <a:t>처럼</a:t>
            </a:r>
            <a:r>
              <a:rPr lang="ko-KR" altLang="en-US" dirty="0"/>
              <a:t> 사용된다</a:t>
            </a:r>
            <a:r>
              <a:rPr lang="en-US" altLang="ko-KR" dirty="0"/>
              <a:t>.</a:t>
            </a:r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048A0B7B-D6B7-55EF-F9E4-3607956E6BB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9773" y="2247697"/>
            <a:ext cx="7025640" cy="236260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77256668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8F40CFE-B1DF-AF97-9299-369ACD561A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A894679-0F0F-9BFC-2144-B64E52D6530D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0" y="18255"/>
            <a:ext cx="10515600" cy="850425"/>
          </a:xfrm>
        </p:spPr>
        <p:txBody>
          <a:bodyPr>
            <a:normAutofit/>
          </a:bodyPr>
          <a:lstStyle/>
          <a:p>
            <a:r>
              <a:rPr lang="en-US" altLang="ko-KR" sz="5400" dirty="0" err="1"/>
              <a:t>Chunck</a:t>
            </a:r>
            <a:endParaRPr lang="ko-KR" altLang="en-US" sz="5400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AD7D6DC-84FB-9AB3-5CDA-77D37639647D}"/>
              </a:ext>
            </a:extLst>
          </p:cNvPr>
          <p:cNvSpPr txBox="1"/>
          <p:nvPr/>
        </p:nvSpPr>
        <p:spPr>
          <a:xfrm>
            <a:off x="0" y="868680"/>
            <a:ext cx="10257936" cy="230832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dirty="0"/>
              <a:t>공간을 </a:t>
            </a:r>
            <a:r>
              <a:rPr lang="ko-KR" altLang="en-US" dirty="0" err="1"/>
              <a:t>청크로</a:t>
            </a:r>
            <a:r>
              <a:rPr lang="ko-KR" altLang="en-US" dirty="0"/>
              <a:t> 나누었다</a:t>
            </a:r>
            <a:r>
              <a:rPr lang="en-US" altLang="ko-KR" dirty="0"/>
              <a:t>.</a:t>
            </a:r>
          </a:p>
          <a:p>
            <a:r>
              <a:rPr lang="en-US" altLang="ko-KR" dirty="0"/>
              <a:t>&gt;&gt; </a:t>
            </a:r>
            <a:r>
              <a:rPr lang="ko-KR" altLang="en-US" dirty="0"/>
              <a:t>왜 나누었는가</a:t>
            </a:r>
            <a:r>
              <a:rPr lang="en-US" altLang="ko-KR" dirty="0"/>
              <a:t>?</a:t>
            </a:r>
          </a:p>
          <a:p>
            <a:r>
              <a:rPr lang="en-US" altLang="ko-KR" dirty="0"/>
              <a:t>1. Render</a:t>
            </a:r>
            <a:r>
              <a:rPr lang="ko-KR" altLang="en-US" dirty="0"/>
              <a:t>에서 오브젝트가 많아지더라도 뷰 </a:t>
            </a:r>
            <a:r>
              <a:rPr lang="ko-KR" altLang="en-US" dirty="0" err="1"/>
              <a:t>프러스텀</a:t>
            </a:r>
            <a:r>
              <a:rPr lang="ko-KR" altLang="en-US" dirty="0"/>
              <a:t> </a:t>
            </a:r>
            <a:r>
              <a:rPr lang="ko-KR" altLang="en-US" dirty="0" err="1"/>
              <a:t>컬링을</a:t>
            </a:r>
            <a:r>
              <a:rPr lang="ko-KR" altLang="en-US" dirty="0"/>
              <a:t> 빠르게 하고 싶었음</a:t>
            </a:r>
            <a:r>
              <a:rPr lang="en-US" altLang="ko-KR" dirty="0"/>
              <a:t>.</a:t>
            </a:r>
          </a:p>
          <a:p>
            <a:r>
              <a:rPr lang="en-US" altLang="ko-KR" dirty="0"/>
              <a:t>	</a:t>
            </a:r>
            <a:r>
              <a:rPr lang="ko-KR" altLang="en-US" dirty="0"/>
              <a:t>만약 </a:t>
            </a:r>
            <a:r>
              <a:rPr lang="ko-KR" altLang="en-US" dirty="0" err="1"/>
              <a:t>청크가</a:t>
            </a:r>
            <a:r>
              <a:rPr lang="ko-KR" altLang="en-US" dirty="0"/>
              <a:t> 없다면 오브젝트마다 </a:t>
            </a:r>
            <a:r>
              <a:rPr lang="ko-KR" altLang="en-US" dirty="0" err="1"/>
              <a:t>프러스텀에</a:t>
            </a:r>
            <a:r>
              <a:rPr lang="ko-KR" altLang="en-US" dirty="0"/>
              <a:t> 들어가는지 체크를 했어야 했음</a:t>
            </a:r>
            <a:r>
              <a:rPr lang="en-US" altLang="ko-KR" dirty="0"/>
              <a:t>.</a:t>
            </a:r>
          </a:p>
          <a:p>
            <a:r>
              <a:rPr lang="en-US" altLang="ko-KR" dirty="0"/>
              <a:t>2. </a:t>
            </a:r>
            <a:r>
              <a:rPr lang="ko-KR" altLang="en-US" dirty="0"/>
              <a:t>서버에서 충돌검사를 할 것을 염두에 두었다</a:t>
            </a:r>
            <a:r>
              <a:rPr lang="en-US" altLang="ko-KR" dirty="0"/>
              <a:t>. </a:t>
            </a:r>
            <a:r>
              <a:rPr lang="ko-KR" altLang="en-US" dirty="0"/>
              <a:t>충돌의 검사는 </a:t>
            </a:r>
            <a:r>
              <a:rPr lang="en-US" altLang="ko-KR" dirty="0"/>
              <a:t>O(N^2)</a:t>
            </a:r>
            <a:r>
              <a:rPr lang="ko-KR" altLang="en-US" dirty="0"/>
              <a:t>의 복잡도를 가지기 때문에</a:t>
            </a:r>
            <a:endParaRPr lang="en-US" altLang="ko-KR" dirty="0"/>
          </a:p>
          <a:p>
            <a:r>
              <a:rPr lang="en-US" altLang="ko-KR" dirty="0"/>
              <a:t>	</a:t>
            </a:r>
            <a:r>
              <a:rPr lang="ko-KR" altLang="en-US" dirty="0"/>
              <a:t>작업을 잘게 분할을 하지 않으면 </a:t>
            </a:r>
            <a:r>
              <a:rPr lang="en-US" altLang="ko-KR" dirty="0" err="1"/>
              <a:t>cpu</a:t>
            </a:r>
            <a:r>
              <a:rPr lang="en-US" altLang="ko-KR" dirty="0"/>
              <a:t> </a:t>
            </a:r>
            <a:r>
              <a:rPr lang="ko-KR" altLang="en-US" dirty="0"/>
              <a:t>의 부담이 심해질 것 같았다</a:t>
            </a:r>
            <a:r>
              <a:rPr lang="en-US" altLang="ko-KR" dirty="0"/>
              <a:t>.</a:t>
            </a:r>
          </a:p>
          <a:p>
            <a:r>
              <a:rPr lang="en-US" altLang="ko-KR" dirty="0"/>
              <a:t>&gt;&gt; </a:t>
            </a:r>
            <a:r>
              <a:rPr lang="ko-KR" altLang="en-US" dirty="0"/>
              <a:t>때문에 기본적으로 모든 오브젝트들은 </a:t>
            </a:r>
            <a:r>
              <a:rPr lang="en-US" altLang="ko-KR" dirty="0"/>
              <a:t>Chunk </a:t>
            </a:r>
            <a:r>
              <a:rPr lang="ko-KR" altLang="en-US" dirty="0"/>
              <a:t>안에 있어야 했고</a:t>
            </a:r>
            <a:r>
              <a:rPr lang="en-US" altLang="ko-KR" dirty="0"/>
              <a:t>, </a:t>
            </a:r>
            <a:r>
              <a:rPr lang="en-US" altLang="ko-KR" dirty="0" err="1"/>
              <a:t>chunck</a:t>
            </a:r>
            <a:r>
              <a:rPr lang="en-US" altLang="ko-KR" dirty="0"/>
              <a:t> </a:t>
            </a:r>
            <a:r>
              <a:rPr lang="ko-KR" altLang="en-US" dirty="0"/>
              <a:t>안에 </a:t>
            </a:r>
            <a:endParaRPr lang="en-US" altLang="ko-KR" dirty="0"/>
          </a:p>
          <a:p>
            <a:r>
              <a:rPr lang="en-US" altLang="ko-KR" dirty="0" err="1"/>
              <a:t>StaticObjectVecset</a:t>
            </a:r>
            <a:r>
              <a:rPr lang="en-US" altLang="ko-KR" dirty="0"/>
              <a:t>, </a:t>
            </a:r>
            <a:r>
              <a:rPr lang="en-US" altLang="ko-KR" dirty="0" err="1"/>
              <a:t>DynamicObjectVecset</a:t>
            </a:r>
            <a:r>
              <a:rPr lang="en-US" altLang="ko-KR" dirty="0"/>
              <a:t>, </a:t>
            </a:r>
            <a:r>
              <a:rPr lang="en-US" altLang="ko-KR" dirty="0" err="1"/>
              <a:t>SkinMeshObjectVecset</a:t>
            </a:r>
            <a:r>
              <a:rPr lang="ko-KR" altLang="en-US" dirty="0"/>
              <a:t>을 분리하여 저장한다</a:t>
            </a:r>
            <a:r>
              <a:rPr lang="en-US" altLang="ko-KR" dirty="0"/>
              <a:t>.</a:t>
            </a:r>
          </a:p>
        </p:txBody>
      </p:sp>
      <mc:AlternateContent xmlns:mc="http://schemas.openxmlformats.org/markup-compatibility/2006" xmlns:pslz="http://schemas.microsoft.com/office/powerpoint/2016/slidezoom">
        <mc:Choice Requires="pslz">
          <p:graphicFrame>
            <p:nvGraphicFramePr>
              <p:cNvPr id="5" name="슬라이드 확대/축소 4">
                <a:extLst>
                  <a:ext uri="{FF2B5EF4-FFF2-40B4-BE49-F238E27FC236}">
                    <a16:creationId xmlns:a16="http://schemas.microsoft.com/office/drawing/2014/main" id="{A32FD096-4D7D-DA8D-5C6D-B259A786D223}"/>
                  </a:ext>
                </a:extLst>
              </p:cNvPr>
              <p:cNvGraphicFramePr>
                <a:graphicFrameLocks noChangeAspect="1"/>
              </p:cNvGraphicFramePr>
              <p:nvPr>
                <p:extLst>
                  <p:ext uri="{D42A27DB-BD31-4B8C-83A1-F6EECF244321}">
                    <p14:modId xmlns:p14="http://schemas.microsoft.com/office/powerpoint/2010/main" val="331875436"/>
                  </p:ext>
                </p:extLst>
              </p:nvPr>
            </p:nvGraphicFramePr>
            <p:xfrm>
              <a:off x="176980" y="3177004"/>
              <a:ext cx="6235507" cy="3507473"/>
            </p:xfrm>
            <a:graphic>
              <a:graphicData uri="http://schemas.microsoft.com/office/powerpoint/2016/slidezoom">
                <pslz:sldZm>
                  <pslz:sldZmObj sldId="284" cId="1005892815">
                    <pslz:zmPr id="{FE25BFE4-38C9-478C-8B0E-F498B0B711D0}" returnToParent="0" transitionDur="1000">
                      <p166:blipFill xmlns:p166="http://schemas.microsoft.com/office/powerpoint/2016/6/main">
                        <a:blip r:embed="rId2"/>
                        <a:stretch>
                          <a:fillRect/>
                        </a:stretch>
                      </p166:blipFill>
                      <p166:spPr xmlns:p166="http://schemas.microsoft.com/office/powerpoint/2016/6/main">
                        <a:xfrm>
                          <a:off x="0" y="0"/>
                          <a:ext cx="6235507" cy="3507473"/>
                        </a:xfrm>
                        <a:prstGeom prst="rect">
                          <a:avLst/>
                        </a:prstGeom>
                        <a:ln w="3175">
                          <a:solidFill>
                            <a:prstClr val="ltGray"/>
                          </a:solidFill>
                        </a:ln>
                      </p166:spPr>
                    </pslz:zmPr>
                  </pslz:sldZmObj>
                </pslz:sldZm>
              </a:graphicData>
            </a:graphic>
          </p:graphicFrame>
        </mc:Choice>
        <mc:Fallback xmlns="">
          <p:pic>
            <p:nvPicPr>
              <p:cNvPr id="5" name="슬라이드 확대/축소 4">
                <a:hlinkClick r:id="rId3" action="ppaction://hlinksldjump"/>
                <a:extLst>
                  <a:ext uri="{FF2B5EF4-FFF2-40B4-BE49-F238E27FC236}">
                    <a16:creationId xmlns:a16="http://schemas.microsoft.com/office/drawing/2014/main" id="{A32FD096-4D7D-DA8D-5C6D-B259A786D223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/>
              </p:cNvPicPr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176980" y="3177004"/>
                <a:ext cx="6235507" cy="3507473"/>
              </a:xfrm>
              <a:prstGeom prst="rect">
                <a:avLst/>
              </a:prstGeom>
              <a:ln w="3175">
                <a:solidFill>
                  <a:prstClr val="ltGray"/>
                </a:solidFill>
              </a:ln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2927238059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99985CC-4D03-1292-E226-C319E96324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50DCC37-3080-F4E8-AA7B-4FF66D6E925E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0" y="18255"/>
            <a:ext cx="10515600" cy="850425"/>
          </a:xfrm>
        </p:spPr>
        <p:txBody>
          <a:bodyPr>
            <a:normAutofit/>
          </a:bodyPr>
          <a:lstStyle/>
          <a:p>
            <a:r>
              <a:rPr lang="en-US" altLang="ko-KR" sz="5400" dirty="0" err="1"/>
              <a:t>Chunck</a:t>
            </a:r>
            <a:r>
              <a:rPr lang="ko-KR" altLang="en-US" sz="5400" dirty="0"/>
              <a:t>의 문제점과 해결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B24A892-2A66-07AB-B5AA-3F07562002E2}"/>
              </a:ext>
            </a:extLst>
          </p:cNvPr>
          <p:cNvSpPr txBox="1"/>
          <p:nvPr/>
        </p:nvSpPr>
        <p:spPr>
          <a:xfrm>
            <a:off x="1" y="868680"/>
            <a:ext cx="12090400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/>
              <a:t>다만 특정 오브젝트는 여러 </a:t>
            </a:r>
            <a:r>
              <a:rPr lang="ko-KR" altLang="en-US" dirty="0" err="1"/>
              <a:t>청크에</a:t>
            </a:r>
            <a:r>
              <a:rPr lang="ko-KR" altLang="en-US" dirty="0"/>
              <a:t> 속해 있을 수 있다</a:t>
            </a:r>
            <a:r>
              <a:rPr lang="en-US" altLang="ko-KR" dirty="0"/>
              <a:t>. (</a:t>
            </a:r>
            <a:r>
              <a:rPr lang="ko-KR" altLang="en-US" dirty="0"/>
              <a:t>중간에 걸친 경우</a:t>
            </a:r>
            <a:r>
              <a:rPr lang="en-US" altLang="ko-KR" dirty="0"/>
              <a:t>)</a:t>
            </a:r>
          </a:p>
          <a:p>
            <a:r>
              <a:rPr lang="ko-KR" altLang="en-US" dirty="0"/>
              <a:t>이럴 경우 오브젝트의 일부를 포함하는 모든 </a:t>
            </a:r>
            <a:r>
              <a:rPr lang="ko-KR" altLang="en-US" dirty="0" err="1"/>
              <a:t>청크들의</a:t>
            </a:r>
            <a:r>
              <a:rPr lang="ko-KR" altLang="en-US" dirty="0"/>
              <a:t> </a:t>
            </a:r>
            <a:r>
              <a:rPr lang="en-US" altLang="ko-KR" dirty="0" err="1"/>
              <a:t>vecset</a:t>
            </a:r>
            <a:r>
              <a:rPr lang="ko-KR" altLang="en-US" dirty="0"/>
              <a:t>에 해당 오브젝트가 들어가게 된다</a:t>
            </a:r>
            <a:r>
              <a:rPr lang="en-US" altLang="ko-KR" dirty="0"/>
              <a:t>.</a:t>
            </a:r>
          </a:p>
          <a:p>
            <a:r>
              <a:rPr lang="ko-KR" altLang="en-US" dirty="0"/>
              <a:t>다만 이럴 경우 여러 문제가 생기는데</a:t>
            </a:r>
            <a:r>
              <a:rPr lang="en-US" altLang="ko-KR" dirty="0"/>
              <a:t>, </a:t>
            </a:r>
            <a:r>
              <a:rPr lang="ko-KR" altLang="en-US" dirty="0"/>
              <a:t>그것은 다음과 같다</a:t>
            </a:r>
            <a:r>
              <a:rPr lang="en-US" altLang="ko-KR" dirty="0"/>
              <a:t>.</a:t>
            </a:r>
          </a:p>
          <a:p>
            <a:pPr marL="342900" indent="-342900">
              <a:buAutoNum type="arabicPeriod"/>
            </a:pPr>
            <a:r>
              <a:rPr lang="ko-KR" altLang="en-US" dirty="0"/>
              <a:t>오브젝트마다 한번씩 </a:t>
            </a:r>
            <a:r>
              <a:rPr lang="en-US" altLang="ko-KR" dirty="0"/>
              <a:t>Update</a:t>
            </a:r>
            <a:r>
              <a:rPr lang="ko-KR" altLang="en-US" dirty="0"/>
              <a:t>나 </a:t>
            </a:r>
            <a:r>
              <a:rPr lang="en-US" altLang="ko-KR" dirty="0"/>
              <a:t>Render</a:t>
            </a:r>
            <a:r>
              <a:rPr lang="ko-KR" altLang="en-US" dirty="0"/>
              <a:t>를 수행해야 </a:t>
            </a:r>
            <a:r>
              <a:rPr lang="ko-KR" altLang="en-US" dirty="0" err="1"/>
              <a:t>할때는</a:t>
            </a:r>
            <a:r>
              <a:rPr lang="ko-KR" altLang="en-US" dirty="0"/>
              <a:t> 어떻게 하는가</a:t>
            </a:r>
            <a:r>
              <a:rPr lang="en-US" altLang="ko-KR" dirty="0"/>
              <a:t>? </a:t>
            </a:r>
            <a:r>
              <a:rPr lang="ko-KR" altLang="en-US" dirty="0"/>
              <a:t>그럴 때마다 각자가 이미 해당 동작을</a:t>
            </a:r>
            <a:r>
              <a:rPr lang="en-US" altLang="ko-KR" dirty="0"/>
              <a:t> </a:t>
            </a:r>
            <a:r>
              <a:rPr lang="ko-KR" altLang="en-US" dirty="0"/>
              <a:t>수행했다는 표시를 해야 하는데</a:t>
            </a:r>
            <a:r>
              <a:rPr lang="en-US" altLang="ko-KR" dirty="0"/>
              <a:t>, </a:t>
            </a:r>
            <a:r>
              <a:rPr lang="ko-KR" altLang="en-US" dirty="0"/>
              <a:t>어디에 어떻게 할 것인가</a:t>
            </a:r>
            <a:endParaRPr lang="en-US" altLang="ko-KR" dirty="0"/>
          </a:p>
          <a:p>
            <a:pPr marL="342900" indent="-342900">
              <a:buAutoNum type="arabicPeriod"/>
            </a:pPr>
            <a:r>
              <a:rPr lang="ko-KR" altLang="en-US" dirty="0"/>
              <a:t>해당 오브젝트가 이동을 하게 된다면</a:t>
            </a:r>
            <a:r>
              <a:rPr lang="en-US" altLang="ko-KR" dirty="0"/>
              <a:t>, </a:t>
            </a:r>
            <a:r>
              <a:rPr lang="ko-KR" altLang="en-US" dirty="0" err="1"/>
              <a:t>청크에서</a:t>
            </a:r>
            <a:r>
              <a:rPr lang="ko-KR" altLang="en-US" dirty="0"/>
              <a:t> 해당 오브젝트가 빠져나가야 한다</a:t>
            </a:r>
            <a:r>
              <a:rPr lang="en-US" altLang="ko-KR" dirty="0"/>
              <a:t>. </a:t>
            </a:r>
            <a:r>
              <a:rPr lang="ko-KR" altLang="en-US" dirty="0"/>
              <a:t>그러나 </a:t>
            </a:r>
            <a:r>
              <a:rPr lang="en-US" altLang="ko-KR" dirty="0" err="1"/>
              <a:t>vecset</a:t>
            </a:r>
            <a:r>
              <a:rPr lang="ko-KR" altLang="en-US" dirty="0"/>
              <a:t>은 해당 오브젝트가 자신이 어떤 인덱스를 가지고 있었는지 기억해야만 </a:t>
            </a:r>
            <a:r>
              <a:rPr lang="en-US" altLang="ko-KR" dirty="0"/>
              <a:t>Free</a:t>
            </a:r>
            <a:r>
              <a:rPr lang="ko-KR" altLang="en-US" dirty="0"/>
              <a:t>를 할 수 있었다</a:t>
            </a:r>
            <a:r>
              <a:rPr lang="en-US" altLang="ko-KR" dirty="0"/>
              <a:t>. </a:t>
            </a:r>
            <a:r>
              <a:rPr lang="ko-KR" altLang="en-US" dirty="0"/>
              <a:t>그럼 어떻게 이동을 정상적으로 처리할 수 있겠는가</a:t>
            </a:r>
            <a:r>
              <a:rPr lang="en-US" altLang="ko-KR" dirty="0"/>
              <a:t>?</a:t>
            </a:r>
          </a:p>
        </p:txBody>
      </p:sp>
      <mc:AlternateContent xmlns:mc="http://schemas.openxmlformats.org/markup-compatibility/2006" xmlns:pslz="http://schemas.microsoft.com/office/powerpoint/2016/slidezoom">
        <mc:Choice Requires="pslz">
          <p:graphicFrame>
            <p:nvGraphicFramePr>
              <p:cNvPr id="6" name="슬라이드 확대/축소 5">
                <a:extLst>
                  <a:ext uri="{FF2B5EF4-FFF2-40B4-BE49-F238E27FC236}">
                    <a16:creationId xmlns:a16="http://schemas.microsoft.com/office/drawing/2014/main" id="{0354CA0C-3B8C-BF9F-4B32-34158CC93393}"/>
                  </a:ext>
                </a:extLst>
              </p:cNvPr>
              <p:cNvGraphicFramePr>
                <a:graphicFrameLocks noChangeAspect="1"/>
              </p:cNvGraphicFramePr>
              <p:nvPr>
                <p:extLst>
                  <p:ext uri="{D42A27DB-BD31-4B8C-83A1-F6EECF244321}">
                    <p14:modId xmlns:p14="http://schemas.microsoft.com/office/powerpoint/2010/main" val="2554558329"/>
                  </p:ext>
                </p:extLst>
              </p:nvPr>
            </p:nvGraphicFramePr>
            <p:xfrm>
              <a:off x="101599" y="3177004"/>
              <a:ext cx="6381135" cy="3589388"/>
            </p:xfrm>
            <a:graphic>
              <a:graphicData uri="http://schemas.microsoft.com/office/powerpoint/2016/slidezoom">
                <pslz:sldZm>
                  <pslz:sldZmObj sldId="285" cId="1008121533">
                    <pslz:zmPr id="{1F90038D-034A-4EAB-AB1E-5F294533117C}" returnToParent="0" transitionDur="1000">
                      <p166:blipFill xmlns:p166="http://schemas.microsoft.com/office/powerpoint/2016/6/main">
                        <a:blip r:embed="rId2"/>
                        <a:stretch>
                          <a:fillRect/>
                        </a:stretch>
                      </p166:blipFill>
                      <p166:spPr xmlns:p166="http://schemas.microsoft.com/office/powerpoint/2016/6/main">
                        <a:xfrm>
                          <a:off x="0" y="0"/>
                          <a:ext cx="6381135" cy="3589388"/>
                        </a:xfrm>
                        <a:prstGeom prst="rect">
                          <a:avLst/>
                        </a:prstGeom>
                        <a:ln w="3175">
                          <a:solidFill>
                            <a:prstClr val="ltGray"/>
                          </a:solidFill>
                        </a:ln>
                      </p166:spPr>
                    </pslz:zmPr>
                  </pslz:sldZmObj>
                </pslz:sldZm>
              </a:graphicData>
            </a:graphic>
          </p:graphicFrame>
        </mc:Choice>
        <mc:Fallback xmlns="">
          <p:pic>
            <p:nvPicPr>
              <p:cNvPr id="6" name="슬라이드 확대/축소 5">
                <a:hlinkClick r:id="rId3" action="ppaction://hlinksldjump"/>
                <a:extLst>
                  <a:ext uri="{FF2B5EF4-FFF2-40B4-BE49-F238E27FC236}">
                    <a16:creationId xmlns:a16="http://schemas.microsoft.com/office/drawing/2014/main" id="{0354CA0C-3B8C-BF9F-4B32-34158CC93393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/>
              </p:cNvPicPr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101599" y="3177004"/>
                <a:ext cx="6381135" cy="3589388"/>
              </a:xfrm>
              <a:prstGeom prst="rect">
                <a:avLst/>
              </a:prstGeom>
              <a:ln w="3175">
                <a:solidFill>
                  <a:prstClr val="ltGray"/>
                </a:solidFill>
              </a:ln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1005892815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038583A-7194-4E96-4BF8-C3EB893F3F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6F28DFD-DCCC-E85F-7428-B796C9192ADA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-1" y="18255"/>
            <a:ext cx="12309987" cy="850425"/>
          </a:xfrm>
        </p:spPr>
        <p:txBody>
          <a:bodyPr>
            <a:normAutofit fontScale="90000"/>
          </a:bodyPr>
          <a:lstStyle/>
          <a:p>
            <a:r>
              <a:rPr lang="en-US" altLang="ko-KR" sz="5400" dirty="0" err="1"/>
              <a:t>Chunck</a:t>
            </a:r>
            <a:r>
              <a:rPr lang="ko-KR" altLang="en-US" sz="5400" dirty="0"/>
              <a:t>에 들어가기 위한 </a:t>
            </a:r>
            <a:r>
              <a:rPr lang="en-US" altLang="ko-KR" sz="5400" dirty="0" err="1"/>
              <a:t>GameObject</a:t>
            </a:r>
            <a:r>
              <a:rPr lang="en-US" altLang="ko-KR" sz="5400" dirty="0"/>
              <a:t> </a:t>
            </a:r>
            <a:r>
              <a:rPr lang="ko-KR" altLang="en-US" sz="5400" dirty="0"/>
              <a:t>구조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808B6FB-BE27-2E62-CE2E-7CF75573670C}"/>
              </a:ext>
            </a:extLst>
          </p:cNvPr>
          <p:cNvSpPr txBox="1"/>
          <p:nvPr/>
        </p:nvSpPr>
        <p:spPr>
          <a:xfrm>
            <a:off x="1" y="868680"/>
            <a:ext cx="120904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/>
              <a:t>그것은 다음과 같은 </a:t>
            </a:r>
            <a:r>
              <a:rPr lang="en-US" altLang="ko-KR" dirty="0" err="1"/>
              <a:t>GameObject</a:t>
            </a:r>
            <a:r>
              <a:rPr lang="en-US" altLang="ko-KR" dirty="0"/>
              <a:t> </a:t>
            </a:r>
            <a:r>
              <a:rPr lang="ko-KR" altLang="en-US" dirty="0"/>
              <a:t>구조로 해결한다</a:t>
            </a:r>
            <a:r>
              <a:rPr lang="en-US" altLang="ko-KR" dirty="0"/>
              <a:t>.</a:t>
            </a: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13325B53-DC7C-5E0F-193E-47B984BD604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599" y="1238012"/>
            <a:ext cx="8209281" cy="3128402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F85F6586-A141-DF33-A5D4-18BFC127592F}"/>
              </a:ext>
            </a:extLst>
          </p:cNvPr>
          <p:cNvSpPr txBox="1"/>
          <p:nvPr/>
        </p:nvSpPr>
        <p:spPr>
          <a:xfrm>
            <a:off x="0" y="4366414"/>
            <a:ext cx="9737025" cy="73866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dirty="0" err="1"/>
              <a:t>TourID</a:t>
            </a:r>
            <a:r>
              <a:rPr lang="en-US" altLang="ko-KR" sz="1400" dirty="0"/>
              <a:t> : </a:t>
            </a:r>
            <a:r>
              <a:rPr lang="ko-KR" altLang="en-US" sz="1400" dirty="0"/>
              <a:t>해당 작업에 하나의</a:t>
            </a:r>
            <a:r>
              <a:rPr lang="en-US" altLang="ko-KR" sz="1400" dirty="0"/>
              <a:t> </a:t>
            </a:r>
            <a:r>
              <a:rPr lang="en-US" altLang="ko-KR" sz="1400" dirty="0" err="1"/>
              <a:t>TourID</a:t>
            </a:r>
            <a:r>
              <a:rPr lang="ko-KR" altLang="en-US" sz="1400" dirty="0"/>
              <a:t>를 </a:t>
            </a:r>
            <a:r>
              <a:rPr lang="ko-KR" altLang="en-US" sz="1400" dirty="0" err="1"/>
              <a:t>할당받는다</a:t>
            </a:r>
            <a:r>
              <a:rPr lang="en-US" altLang="ko-KR" sz="1400" dirty="0"/>
              <a:t>. </a:t>
            </a:r>
            <a:r>
              <a:rPr lang="ko-KR" altLang="en-US" sz="1400" dirty="0"/>
              <a:t>그리고 만약 해당 작업의 </a:t>
            </a:r>
            <a:r>
              <a:rPr lang="en-US" altLang="ko-KR" sz="1400" dirty="0" err="1"/>
              <a:t>TourID</a:t>
            </a:r>
            <a:r>
              <a:rPr lang="ko-KR" altLang="en-US" sz="1400" dirty="0"/>
              <a:t>와 오브젝트의 </a:t>
            </a:r>
            <a:r>
              <a:rPr lang="en-US" altLang="ko-KR" sz="1400" dirty="0" err="1"/>
              <a:t>TourID</a:t>
            </a:r>
            <a:r>
              <a:rPr lang="ko-KR" altLang="en-US" sz="1400" dirty="0"/>
              <a:t>가 다르다면</a:t>
            </a:r>
            <a:endParaRPr lang="en-US" altLang="ko-KR" sz="1400" dirty="0"/>
          </a:p>
          <a:p>
            <a:r>
              <a:rPr lang="ko-KR" altLang="en-US" sz="1400" dirty="0"/>
              <a:t>작업을 수행한 후 오브젝트의 </a:t>
            </a:r>
            <a:r>
              <a:rPr lang="en-US" altLang="ko-KR" sz="1400" dirty="0" err="1"/>
              <a:t>TourID</a:t>
            </a:r>
            <a:r>
              <a:rPr lang="ko-KR" altLang="en-US" sz="1400" dirty="0"/>
              <a:t>를 작업의 </a:t>
            </a:r>
            <a:r>
              <a:rPr lang="en-US" altLang="ko-KR" sz="1400" dirty="0" err="1"/>
              <a:t>TourID</a:t>
            </a:r>
            <a:r>
              <a:rPr lang="ko-KR" altLang="en-US" sz="1400" dirty="0"/>
              <a:t>로 바꾼다</a:t>
            </a:r>
            <a:r>
              <a:rPr lang="en-US" altLang="ko-KR" sz="1400" dirty="0"/>
              <a:t>. </a:t>
            </a:r>
            <a:r>
              <a:rPr lang="ko-KR" altLang="en-US" sz="1400" dirty="0"/>
              <a:t>그러면 다른 </a:t>
            </a:r>
            <a:r>
              <a:rPr lang="ko-KR" altLang="en-US" sz="1400" dirty="0" err="1"/>
              <a:t>청크에서</a:t>
            </a:r>
            <a:r>
              <a:rPr lang="ko-KR" altLang="en-US" sz="1400" dirty="0"/>
              <a:t> 해당 오브젝트를 참조하더라도</a:t>
            </a:r>
            <a:r>
              <a:rPr lang="en-US" altLang="ko-KR" sz="1400" dirty="0"/>
              <a:t>, </a:t>
            </a:r>
          </a:p>
          <a:p>
            <a:r>
              <a:rPr lang="en-US" altLang="ko-KR" sz="1400" dirty="0" err="1"/>
              <a:t>TourID</a:t>
            </a:r>
            <a:r>
              <a:rPr lang="ko-KR" altLang="en-US" sz="1400" dirty="0"/>
              <a:t>가 같으니 작업을 수행하지 않고</a:t>
            </a:r>
            <a:r>
              <a:rPr lang="en-US" altLang="ko-KR" sz="1400" dirty="0"/>
              <a:t>, </a:t>
            </a:r>
            <a:r>
              <a:rPr lang="ko-KR" altLang="en-US" sz="1400" dirty="0"/>
              <a:t>결과적으로 어떤 작업이든 모든 오브젝트에 대해 한번씩 수행이 가능하다</a:t>
            </a:r>
            <a:r>
              <a:rPr lang="en-US" altLang="ko-KR" sz="1400" dirty="0"/>
              <a:t>.</a:t>
            </a:r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B089B979-258E-D8D2-B5A0-4D3994A8D42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1758" y="5260657"/>
            <a:ext cx="2257425" cy="1457325"/>
          </a:xfrm>
          <a:prstGeom prst="rect">
            <a:avLst/>
          </a:prstGeom>
        </p:spPr>
      </p:pic>
      <p:pic>
        <p:nvPicPr>
          <p:cNvPr id="10" name="그림 9">
            <a:extLst>
              <a:ext uri="{FF2B5EF4-FFF2-40B4-BE49-F238E27FC236}">
                <a16:creationId xmlns:a16="http://schemas.microsoft.com/office/drawing/2014/main" id="{95EF7EBE-9AA6-8EC3-90DB-41E0FB4C63E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480941" y="6060757"/>
            <a:ext cx="2790825" cy="657225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A49783B8-1844-1FF7-3056-C781CE636D96}"/>
              </a:ext>
            </a:extLst>
          </p:cNvPr>
          <p:cNvSpPr txBox="1"/>
          <p:nvPr/>
        </p:nvSpPr>
        <p:spPr>
          <a:xfrm>
            <a:off x="2480941" y="5260657"/>
            <a:ext cx="5124385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400" dirty="0"/>
              <a:t>이동시의 문제는 각 축마다 최소와 길이를 가지는 범위와</a:t>
            </a:r>
            <a:r>
              <a:rPr lang="en-US" altLang="ko-KR" sz="1400" dirty="0"/>
              <a:t>, </a:t>
            </a:r>
            <a:r>
              <a:rPr lang="ko-KR" altLang="en-US" sz="1400" dirty="0"/>
              <a:t>해당 범위에 </a:t>
            </a:r>
            <a:r>
              <a:rPr lang="ko-KR" altLang="en-US" sz="1400" dirty="0" err="1"/>
              <a:t>청크들에서</a:t>
            </a:r>
            <a:r>
              <a:rPr lang="ko-KR" altLang="en-US" sz="1400" dirty="0"/>
              <a:t> 해당 오브젝트가 어떤 인덱스에 있는지 저장하는 배열을 </a:t>
            </a:r>
            <a:r>
              <a:rPr lang="ko-KR" altLang="en-US" sz="1400" dirty="0" err="1"/>
              <a:t>힙</a:t>
            </a:r>
            <a:r>
              <a:rPr lang="ko-KR" altLang="en-US" sz="1400" dirty="0"/>
              <a:t> 메모리로 할당하여 해결한다</a:t>
            </a:r>
            <a:r>
              <a:rPr lang="en-US" altLang="ko-KR" sz="1400" dirty="0"/>
              <a:t>.</a:t>
            </a:r>
            <a:endParaRPr lang="ko-KR" altLang="en-US" sz="1400" dirty="0"/>
          </a:p>
        </p:txBody>
      </p:sp>
    </p:spTree>
    <p:extLst>
      <p:ext uri="{BB962C8B-B14F-4D97-AF65-F5344CB8AC3E}">
        <p14:creationId xmlns:p14="http://schemas.microsoft.com/office/powerpoint/2010/main" val="1008121533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50CB74A-4402-F9C6-688E-EB4955211B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A8DA8AC-A393-9337-7348-EFCF4D458A04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0" y="18255"/>
            <a:ext cx="10515600" cy="850425"/>
          </a:xfrm>
        </p:spPr>
        <p:txBody>
          <a:bodyPr>
            <a:normAutofit/>
          </a:bodyPr>
          <a:lstStyle/>
          <a:p>
            <a:r>
              <a:rPr lang="en-US" altLang="ko-KR" sz="5400" dirty="0"/>
              <a:t>TimeLine</a:t>
            </a:r>
            <a:endParaRPr lang="ko-KR" altLang="en-US" sz="5400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8AD6AEC-D4E7-CD96-5EEE-F49C9D7D504D}"/>
              </a:ext>
            </a:extLst>
          </p:cNvPr>
          <p:cNvSpPr txBox="1"/>
          <p:nvPr/>
        </p:nvSpPr>
        <p:spPr>
          <a:xfrm>
            <a:off x="0" y="776749"/>
            <a:ext cx="371287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dirty="0"/>
              <a:t>전체 실행의 타임라인을 보여준다</a:t>
            </a:r>
            <a:r>
              <a:rPr lang="en-US" altLang="ko-KR" dirty="0"/>
              <a:t>.</a:t>
            </a:r>
            <a:endParaRPr lang="ko-KR" altLang="en-US" dirty="0"/>
          </a:p>
        </p:txBody>
      </p:sp>
      <mc:AlternateContent xmlns:mc="http://schemas.openxmlformats.org/markup-compatibility/2006" xmlns:pslz="http://schemas.microsoft.com/office/powerpoint/2016/slidezoom">
        <mc:Choice Requires="pslz">
          <p:graphicFrame>
            <p:nvGraphicFramePr>
              <p:cNvPr id="5" name="슬라이드 확대/축소 4">
                <a:extLst>
                  <a:ext uri="{FF2B5EF4-FFF2-40B4-BE49-F238E27FC236}">
                    <a16:creationId xmlns:a16="http://schemas.microsoft.com/office/drawing/2014/main" id="{06B53281-40B2-6971-D5AC-410CAAA059DC}"/>
                  </a:ext>
                </a:extLst>
              </p:cNvPr>
              <p:cNvGraphicFramePr>
                <a:graphicFrameLocks noChangeAspect="1"/>
              </p:cNvGraphicFramePr>
              <p:nvPr>
                <p:extLst>
                  <p:ext uri="{D42A27DB-BD31-4B8C-83A1-F6EECF244321}">
                    <p14:modId xmlns:p14="http://schemas.microsoft.com/office/powerpoint/2010/main" val="3985626009"/>
                  </p:ext>
                </p:extLst>
              </p:nvPr>
            </p:nvGraphicFramePr>
            <p:xfrm>
              <a:off x="123824" y="1317531"/>
              <a:ext cx="4402667" cy="2476500"/>
            </p:xfrm>
            <a:graphic>
              <a:graphicData uri="http://schemas.microsoft.com/office/powerpoint/2016/slidezoom">
                <pslz:sldZm>
                  <pslz:sldZmObj sldId="287" cId="1981946874">
                    <pslz:zmPr id="{9AB2BB01-AAEA-4BCF-A481-2D917BD7A4B3}" returnToParent="0" transitionDur="1000">
                      <p166:blipFill xmlns:p166="http://schemas.microsoft.com/office/powerpoint/2016/6/main">
                        <a:blip r:embed="rId2"/>
                        <a:stretch>
                          <a:fillRect/>
                        </a:stretch>
                      </p166:blipFill>
                      <p166:spPr xmlns:p166="http://schemas.microsoft.com/office/powerpoint/2016/6/main">
                        <a:xfrm>
                          <a:off x="0" y="0"/>
                          <a:ext cx="4402667" cy="2476500"/>
                        </a:xfrm>
                        <a:prstGeom prst="rect">
                          <a:avLst/>
                        </a:prstGeom>
                        <a:ln w="3175">
                          <a:solidFill>
                            <a:prstClr val="ltGray"/>
                          </a:solidFill>
                        </a:ln>
                      </p166:spPr>
                    </pslz:zmPr>
                  </pslz:sldZmObj>
                </pslz:sldZm>
              </a:graphicData>
            </a:graphic>
          </p:graphicFrame>
        </mc:Choice>
        <mc:Fallback xmlns="">
          <p:pic>
            <p:nvPicPr>
              <p:cNvPr id="5" name="슬라이드 확대/축소 4">
                <a:hlinkClick r:id="rId3" action="ppaction://hlinksldjump"/>
                <a:extLst>
                  <a:ext uri="{FF2B5EF4-FFF2-40B4-BE49-F238E27FC236}">
                    <a16:creationId xmlns:a16="http://schemas.microsoft.com/office/drawing/2014/main" id="{06B53281-40B2-6971-D5AC-410CAAA059DC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/>
              </p:cNvPicPr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123824" y="1317531"/>
                <a:ext cx="4402667" cy="2476500"/>
              </a:xfrm>
              <a:prstGeom prst="rect">
                <a:avLst/>
              </a:prstGeom>
              <a:ln w="3175">
                <a:solidFill>
                  <a:prstClr val="ltGray"/>
                </a:solidFill>
              </a:ln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3849585021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F588F47-C363-F150-04AB-A90895D6FA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00E8A86-30E7-D60A-818F-3797DD69BCDB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0" y="18255"/>
            <a:ext cx="10515600" cy="850425"/>
          </a:xfrm>
        </p:spPr>
        <p:txBody>
          <a:bodyPr>
            <a:normAutofit/>
          </a:bodyPr>
          <a:lstStyle/>
          <a:p>
            <a:r>
              <a:rPr lang="en-US" altLang="ko-KR" sz="5400" dirty="0"/>
              <a:t>TimeLine-</a:t>
            </a:r>
            <a:r>
              <a:rPr lang="en-US" altLang="ko-KR" sz="5400" dirty="0" err="1"/>
              <a:t>RenderPass</a:t>
            </a:r>
            <a:endParaRPr lang="ko-KR" altLang="en-US" sz="5400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B14D78D-8D37-8A07-FCB6-E6714F2004C6}"/>
              </a:ext>
            </a:extLst>
          </p:cNvPr>
          <p:cNvSpPr txBox="1"/>
          <p:nvPr/>
        </p:nvSpPr>
        <p:spPr>
          <a:xfrm>
            <a:off x="0" y="953913"/>
            <a:ext cx="219483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dirty="0"/>
              <a:t>레스터 </a:t>
            </a:r>
            <a:r>
              <a:rPr lang="ko-KR" altLang="en-US"/>
              <a:t>렌더링</a:t>
            </a:r>
            <a:r>
              <a:rPr lang="en-US" altLang="ko-KR" dirty="0"/>
              <a:t> </a:t>
            </a:r>
            <a:r>
              <a:rPr lang="ko-KR" altLang="en-US" dirty="0"/>
              <a:t>패스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C5C655C-EF8A-900B-E9C3-276D9679831D}"/>
              </a:ext>
            </a:extLst>
          </p:cNvPr>
          <p:cNvSpPr txBox="1"/>
          <p:nvPr/>
        </p:nvSpPr>
        <p:spPr>
          <a:xfrm>
            <a:off x="219850" y="1442508"/>
            <a:ext cx="1420582" cy="369332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ko-KR" altLang="en-US" dirty="0" err="1"/>
              <a:t>셰도우</a:t>
            </a:r>
            <a:r>
              <a:rPr lang="ko-KR" altLang="en-US" dirty="0"/>
              <a:t> 패스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E58BD38-31ED-9A26-447E-C340B72A4CA8}"/>
              </a:ext>
            </a:extLst>
          </p:cNvPr>
          <p:cNvSpPr txBox="1"/>
          <p:nvPr/>
        </p:nvSpPr>
        <p:spPr>
          <a:xfrm>
            <a:off x="3274475" y="1442508"/>
            <a:ext cx="1189749" cy="369332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ko-KR" altLang="en-US" dirty="0" err="1"/>
              <a:t>렌더</a:t>
            </a:r>
            <a:r>
              <a:rPr lang="ko-KR" altLang="en-US" dirty="0"/>
              <a:t> 패스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9463E17-72F8-96B3-631D-F7E71EFB2BD5}"/>
              </a:ext>
            </a:extLst>
          </p:cNvPr>
          <p:cNvSpPr txBox="1"/>
          <p:nvPr/>
        </p:nvSpPr>
        <p:spPr>
          <a:xfrm>
            <a:off x="6098267" y="1442508"/>
            <a:ext cx="1420582" cy="369332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ko-KR" altLang="en-US" dirty="0" err="1"/>
              <a:t>컴퓨트</a:t>
            </a:r>
            <a:r>
              <a:rPr lang="ko-KR" altLang="en-US" dirty="0"/>
              <a:t> 패스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EB1B0FD-A24B-D3A6-4E3C-F1DFA7BB9CA8}"/>
              </a:ext>
            </a:extLst>
          </p:cNvPr>
          <p:cNvSpPr txBox="1"/>
          <p:nvPr/>
        </p:nvSpPr>
        <p:spPr>
          <a:xfrm>
            <a:off x="9046260" y="1442508"/>
            <a:ext cx="952505" cy="369332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altLang="ko-KR" dirty="0"/>
              <a:t>UI</a:t>
            </a:r>
            <a:r>
              <a:rPr lang="ko-KR" altLang="en-US" dirty="0"/>
              <a:t> 패스</a:t>
            </a:r>
          </a:p>
        </p:txBody>
      </p:sp>
      <p:cxnSp>
        <p:nvCxnSpPr>
          <p:cNvPr id="9" name="직선 화살표 연결선 8">
            <a:extLst>
              <a:ext uri="{FF2B5EF4-FFF2-40B4-BE49-F238E27FC236}">
                <a16:creationId xmlns:a16="http://schemas.microsoft.com/office/drawing/2014/main" id="{2DB76ECD-3C20-52F4-FF4E-AB0ACA976361}"/>
              </a:ext>
            </a:extLst>
          </p:cNvPr>
          <p:cNvCxnSpPr>
            <a:stCxn id="4" idx="3"/>
            <a:endCxn id="5" idx="1"/>
          </p:cNvCxnSpPr>
          <p:nvPr/>
        </p:nvCxnSpPr>
        <p:spPr>
          <a:xfrm>
            <a:off x="1640432" y="1627174"/>
            <a:ext cx="1634043" cy="0"/>
          </a:xfrm>
          <a:prstGeom prst="straightConnector1">
            <a:avLst/>
          </a:prstGeom>
          <a:ln w="4445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직선 화살표 연결선 9">
            <a:extLst>
              <a:ext uri="{FF2B5EF4-FFF2-40B4-BE49-F238E27FC236}">
                <a16:creationId xmlns:a16="http://schemas.microsoft.com/office/drawing/2014/main" id="{371A4A26-4BAE-4346-752F-376667868C6D}"/>
              </a:ext>
            </a:extLst>
          </p:cNvPr>
          <p:cNvCxnSpPr>
            <a:cxnSpLocks/>
            <a:stCxn id="5" idx="3"/>
            <a:endCxn id="6" idx="1"/>
          </p:cNvCxnSpPr>
          <p:nvPr/>
        </p:nvCxnSpPr>
        <p:spPr>
          <a:xfrm>
            <a:off x="4464224" y="1627174"/>
            <a:ext cx="1634043" cy="0"/>
          </a:xfrm>
          <a:prstGeom prst="straightConnector1">
            <a:avLst/>
          </a:prstGeom>
          <a:ln w="4445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직선 화살표 연결선 12">
            <a:extLst>
              <a:ext uri="{FF2B5EF4-FFF2-40B4-BE49-F238E27FC236}">
                <a16:creationId xmlns:a16="http://schemas.microsoft.com/office/drawing/2014/main" id="{F5C1783E-FDF1-9206-BEF0-CDD19E9C1634}"/>
              </a:ext>
            </a:extLst>
          </p:cNvPr>
          <p:cNvCxnSpPr>
            <a:cxnSpLocks/>
            <a:stCxn id="6" idx="3"/>
            <a:endCxn id="7" idx="1"/>
          </p:cNvCxnSpPr>
          <p:nvPr/>
        </p:nvCxnSpPr>
        <p:spPr>
          <a:xfrm>
            <a:off x="7518849" y="1627174"/>
            <a:ext cx="1527411" cy="0"/>
          </a:xfrm>
          <a:prstGeom prst="straightConnector1">
            <a:avLst/>
          </a:prstGeom>
          <a:ln w="4445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>
            <a:extLst>
              <a:ext uri="{FF2B5EF4-FFF2-40B4-BE49-F238E27FC236}">
                <a16:creationId xmlns:a16="http://schemas.microsoft.com/office/drawing/2014/main" id="{C433F918-5EDD-28A3-E6FB-9339ADE6528B}"/>
              </a:ext>
            </a:extLst>
          </p:cNvPr>
          <p:cNvSpPr txBox="1"/>
          <p:nvPr/>
        </p:nvSpPr>
        <p:spPr>
          <a:xfrm>
            <a:off x="10878373" y="1442508"/>
            <a:ext cx="954044" cy="369332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altLang="ko-KR" dirty="0"/>
              <a:t>Present</a:t>
            </a:r>
            <a:endParaRPr lang="ko-KR" altLang="en-US" dirty="0"/>
          </a:p>
        </p:txBody>
      </p:sp>
      <p:cxnSp>
        <p:nvCxnSpPr>
          <p:cNvPr id="28" name="직선 화살표 연결선 27">
            <a:extLst>
              <a:ext uri="{FF2B5EF4-FFF2-40B4-BE49-F238E27FC236}">
                <a16:creationId xmlns:a16="http://schemas.microsoft.com/office/drawing/2014/main" id="{D70EE693-388A-83A0-7676-736685BC6CB7}"/>
              </a:ext>
            </a:extLst>
          </p:cNvPr>
          <p:cNvCxnSpPr>
            <a:cxnSpLocks/>
            <a:stCxn id="7" idx="3"/>
            <a:endCxn id="27" idx="1"/>
          </p:cNvCxnSpPr>
          <p:nvPr/>
        </p:nvCxnSpPr>
        <p:spPr>
          <a:xfrm>
            <a:off x="9998765" y="1627174"/>
            <a:ext cx="879608" cy="0"/>
          </a:xfrm>
          <a:prstGeom prst="straightConnector1">
            <a:avLst/>
          </a:prstGeom>
          <a:ln w="4445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TextBox 32">
            <a:extLst>
              <a:ext uri="{FF2B5EF4-FFF2-40B4-BE49-F238E27FC236}">
                <a16:creationId xmlns:a16="http://schemas.microsoft.com/office/drawing/2014/main" id="{8FB9B2A4-30C1-768D-8FC6-2F5E8BF6B02C}"/>
              </a:ext>
            </a:extLst>
          </p:cNvPr>
          <p:cNvSpPr txBox="1"/>
          <p:nvPr/>
        </p:nvSpPr>
        <p:spPr>
          <a:xfrm>
            <a:off x="219850" y="1865701"/>
            <a:ext cx="2438488" cy="127727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100" dirty="0" err="1"/>
              <a:t>레스터에서</a:t>
            </a:r>
            <a:r>
              <a:rPr lang="ko-KR" altLang="en-US" sz="1100" dirty="0"/>
              <a:t> </a:t>
            </a:r>
            <a:r>
              <a:rPr lang="ko-KR" altLang="en-US" sz="1100" dirty="0" err="1"/>
              <a:t>셰도우</a:t>
            </a:r>
            <a:r>
              <a:rPr lang="ko-KR" altLang="en-US" sz="1100" dirty="0"/>
              <a:t> 맵 렌더링</a:t>
            </a:r>
            <a:endParaRPr lang="en-US" altLang="ko-KR" sz="1100" dirty="0"/>
          </a:p>
          <a:p>
            <a:r>
              <a:rPr lang="en-US" altLang="ko-KR" sz="1100" dirty="0"/>
              <a:t> - </a:t>
            </a:r>
            <a:r>
              <a:rPr lang="en-US" altLang="ko-KR" sz="1100" dirty="0" err="1"/>
              <a:t>DirLight</a:t>
            </a:r>
            <a:endParaRPr lang="en-US" altLang="ko-KR" sz="1100" dirty="0"/>
          </a:p>
          <a:p>
            <a:r>
              <a:rPr lang="en-US" altLang="ko-KR" sz="1100" dirty="0"/>
              <a:t> - </a:t>
            </a:r>
            <a:r>
              <a:rPr lang="en-US" altLang="ko-KR" sz="1100" dirty="0" err="1"/>
              <a:t>PointLight</a:t>
            </a:r>
            <a:endParaRPr lang="en-US" altLang="ko-KR" sz="1100" dirty="0"/>
          </a:p>
          <a:p>
            <a:r>
              <a:rPr lang="en-US" altLang="ko-KR" sz="1100" dirty="0"/>
              <a:t> - </a:t>
            </a:r>
            <a:r>
              <a:rPr lang="en-US" altLang="ko-KR" sz="1100" dirty="0" err="1"/>
              <a:t>SpotLight</a:t>
            </a:r>
            <a:endParaRPr lang="en-US" altLang="ko-KR" sz="1100" dirty="0"/>
          </a:p>
          <a:p>
            <a:r>
              <a:rPr lang="en-US" altLang="ko-KR" sz="1100" dirty="0"/>
              <a:t> : </a:t>
            </a:r>
            <a:r>
              <a:rPr lang="ko-KR" altLang="en-US" sz="1100" dirty="0"/>
              <a:t>이건 빛 방향의 </a:t>
            </a:r>
            <a:r>
              <a:rPr lang="ko-KR" altLang="en-US" sz="1100" dirty="0" err="1"/>
              <a:t>직교투영컬링수행</a:t>
            </a:r>
            <a:endParaRPr lang="en-US" altLang="ko-KR" sz="1100" dirty="0"/>
          </a:p>
          <a:p>
            <a:r>
              <a:rPr lang="en-US" altLang="ko-KR" sz="1100" dirty="0"/>
              <a:t> : </a:t>
            </a:r>
            <a:r>
              <a:rPr lang="ko-KR" altLang="en-US" sz="1100" dirty="0"/>
              <a:t>또한 </a:t>
            </a:r>
            <a:r>
              <a:rPr lang="en-US" altLang="ko-KR" sz="1100" dirty="0"/>
              <a:t>LOD,</a:t>
            </a:r>
            <a:r>
              <a:rPr lang="ko-KR" altLang="en-US" sz="1100" dirty="0"/>
              <a:t> </a:t>
            </a:r>
            <a:r>
              <a:rPr lang="en-US" altLang="ko-KR" sz="1100" dirty="0"/>
              <a:t>Instancing</a:t>
            </a:r>
            <a:r>
              <a:rPr lang="ko-KR" altLang="en-US" sz="1100" dirty="0"/>
              <a:t>을 </a:t>
            </a:r>
            <a:endParaRPr lang="en-US" altLang="ko-KR" sz="1100" dirty="0"/>
          </a:p>
          <a:p>
            <a:r>
              <a:rPr lang="en-US" altLang="ko-KR" sz="1100" dirty="0"/>
              <a:t> : </a:t>
            </a:r>
            <a:r>
              <a:rPr lang="ko-KR" altLang="en-US" sz="1100" dirty="0"/>
              <a:t>적극 사용해 수행해야 함</a:t>
            </a:r>
            <a:r>
              <a:rPr lang="en-US" altLang="ko-KR" sz="1100" dirty="0"/>
              <a:t>.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CACE8DBE-C1E7-0251-BCF5-81A23D8BAA1B}"/>
              </a:ext>
            </a:extLst>
          </p:cNvPr>
          <p:cNvSpPr txBox="1"/>
          <p:nvPr/>
        </p:nvSpPr>
        <p:spPr>
          <a:xfrm>
            <a:off x="3231283" y="1846657"/>
            <a:ext cx="2640466" cy="93871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100" dirty="0"/>
              <a:t>스카이 박스 렌더링</a:t>
            </a:r>
            <a:endParaRPr lang="en-US" altLang="ko-KR" sz="1100" dirty="0"/>
          </a:p>
          <a:p>
            <a:r>
              <a:rPr lang="ko-KR" altLang="en-US" sz="1100" dirty="0"/>
              <a:t>뷰 </a:t>
            </a:r>
            <a:r>
              <a:rPr lang="ko-KR" altLang="en-US" sz="1100" dirty="0" err="1"/>
              <a:t>프러스텀</a:t>
            </a:r>
            <a:r>
              <a:rPr lang="ko-KR" altLang="en-US" sz="1100" dirty="0"/>
              <a:t> </a:t>
            </a:r>
            <a:r>
              <a:rPr lang="ko-KR" altLang="en-US" sz="1100" dirty="0" err="1"/>
              <a:t>컬링으로</a:t>
            </a:r>
            <a:r>
              <a:rPr lang="ko-KR" altLang="en-US" sz="1100" dirty="0"/>
              <a:t> 오브젝트 렌더링</a:t>
            </a:r>
            <a:endParaRPr lang="en-US" altLang="ko-KR" sz="1100" dirty="0"/>
          </a:p>
          <a:p>
            <a:r>
              <a:rPr lang="ko-KR" altLang="en-US" sz="1100" dirty="0"/>
              <a:t>빌보드 출력 </a:t>
            </a:r>
            <a:r>
              <a:rPr lang="en-US" altLang="ko-KR" sz="1100" dirty="0"/>
              <a:t>(ex&gt; </a:t>
            </a:r>
            <a:r>
              <a:rPr lang="ko-KR" altLang="en-US" sz="1100" dirty="0"/>
              <a:t>적 </a:t>
            </a:r>
            <a:r>
              <a:rPr lang="en-US" altLang="ko-KR" sz="1100" dirty="0"/>
              <a:t>HP)</a:t>
            </a:r>
          </a:p>
          <a:p>
            <a:r>
              <a:rPr lang="ko-KR" altLang="en-US" sz="1100" dirty="0"/>
              <a:t>총알 궤적 출력</a:t>
            </a:r>
            <a:endParaRPr lang="en-US" altLang="ko-KR" sz="1100" dirty="0"/>
          </a:p>
          <a:p>
            <a:r>
              <a:rPr lang="ko-KR" altLang="en-US" sz="1100" dirty="0" err="1"/>
              <a:t>파티클</a:t>
            </a:r>
            <a:r>
              <a:rPr lang="ko-KR" altLang="en-US" sz="1100" dirty="0"/>
              <a:t> 입자 출력</a:t>
            </a:r>
            <a:endParaRPr lang="en-US" altLang="ko-KR" sz="1100" dirty="0"/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DE8DE7E5-C5B6-139F-70F7-A51B07A84272}"/>
              </a:ext>
            </a:extLst>
          </p:cNvPr>
          <p:cNvSpPr txBox="1"/>
          <p:nvPr/>
        </p:nvSpPr>
        <p:spPr>
          <a:xfrm>
            <a:off x="6096000" y="1865701"/>
            <a:ext cx="3121367" cy="93871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100" dirty="0"/>
              <a:t>모션 </a:t>
            </a:r>
            <a:r>
              <a:rPr lang="ko-KR" altLang="en-US" sz="1100" dirty="0" err="1"/>
              <a:t>블러</a:t>
            </a:r>
            <a:r>
              <a:rPr lang="ko-KR" altLang="en-US" sz="1100" dirty="0"/>
              <a:t> </a:t>
            </a:r>
            <a:r>
              <a:rPr lang="en-US" altLang="ko-KR" sz="1100" dirty="0"/>
              <a:t>/</a:t>
            </a:r>
            <a:r>
              <a:rPr lang="ko-KR" altLang="en-US" sz="1100" dirty="0"/>
              <a:t> 거리에 따른 </a:t>
            </a:r>
            <a:r>
              <a:rPr lang="ko-KR" altLang="en-US" sz="1100" dirty="0" err="1"/>
              <a:t>합성곱연산</a:t>
            </a:r>
            <a:endParaRPr lang="en-US" altLang="ko-KR" sz="1100" dirty="0"/>
          </a:p>
          <a:p>
            <a:r>
              <a:rPr lang="en-US" altLang="ko-KR" sz="1100" dirty="0"/>
              <a:t>GPU</a:t>
            </a:r>
            <a:r>
              <a:rPr lang="ko-KR" altLang="en-US" sz="1100" dirty="0"/>
              <a:t> 애니메이션 </a:t>
            </a:r>
            <a:r>
              <a:rPr lang="ko-KR" altLang="en-US" sz="1100" dirty="0" err="1"/>
              <a:t>블랜딩</a:t>
            </a:r>
            <a:endParaRPr lang="en-US" altLang="ko-KR" sz="1100" dirty="0"/>
          </a:p>
          <a:p>
            <a:r>
              <a:rPr lang="en-US" altLang="ko-KR" sz="1100" dirty="0"/>
              <a:t>GPU </a:t>
            </a:r>
            <a:r>
              <a:rPr lang="ko-KR" altLang="en-US" sz="1100" dirty="0"/>
              <a:t>애니메이션 </a:t>
            </a:r>
            <a:r>
              <a:rPr lang="en-US" altLang="ko-KR" sz="1100" dirty="0" err="1"/>
              <a:t>ToWorld</a:t>
            </a:r>
            <a:r>
              <a:rPr lang="ko-KR" altLang="en-US" sz="1100" dirty="0"/>
              <a:t> 트리누적연산</a:t>
            </a:r>
            <a:endParaRPr lang="en-US" altLang="ko-KR" sz="1100" dirty="0"/>
          </a:p>
          <a:p>
            <a:r>
              <a:rPr lang="ko-KR" altLang="en-US" sz="1100" dirty="0" err="1"/>
              <a:t>파티클</a:t>
            </a:r>
            <a:r>
              <a:rPr lang="ko-KR" altLang="en-US" sz="1100" dirty="0"/>
              <a:t> 움직임 연산 </a:t>
            </a:r>
            <a:r>
              <a:rPr lang="en-US" altLang="ko-KR" sz="1100" dirty="0"/>
              <a:t>(</a:t>
            </a:r>
            <a:r>
              <a:rPr lang="ko-KR" altLang="en-US" sz="1100" dirty="0"/>
              <a:t>이걸 하면 좋겠음</a:t>
            </a:r>
            <a:r>
              <a:rPr lang="en-US" altLang="ko-KR" sz="1100" dirty="0"/>
              <a:t>.)</a:t>
            </a:r>
          </a:p>
          <a:p>
            <a:r>
              <a:rPr lang="en-US" altLang="ko-KR" sz="1100" dirty="0"/>
              <a:t>+ </a:t>
            </a:r>
            <a:r>
              <a:rPr lang="ko-KR" altLang="en-US" sz="1100" dirty="0"/>
              <a:t>후에 포스트 프로세싱을 하면 여기에 </a:t>
            </a:r>
            <a:r>
              <a:rPr lang="ko-KR" altLang="en-US" sz="1100" dirty="0" err="1"/>
              <a:t>들어감</a:t>
            </a:r>
            <a:r>
              <a:rPr lang="en-US" altLang="ko-KR" sz="1100" dirty="0"/>
              <a:t>.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530045E0-9861-FE66-9674-80FE6C1FF18C}"/>
              </a:ext>
            </a:extLst>
          </p:cNvPr>
          <p:cNvSpPr txBox="1"/>
          <p:nvPr/>
        </p:nvSpPr>
        <p:spPr>
          <a:xfrm>
            <a:off x="8951843" y="1846657"/>
            <a:ext cx="654346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100" dirty="0"/>
              <a:t>UI </a:t>
            </a:r>
            <a:r>
              <a:rPr lang="ko-KR" altLang="en-US" sz="1100" dirty="0"/>
              <a:t>출력</a:t>
            </a:r>
            <a:endParaRPr lang="en-US" altLang="ko-KR" sz="1100" dirty="0"/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64FB49A6-83B0-5D1C-CFCB-568DC3D7AD3F}"/>
              </a:ext>
            </a:extLst>
          </p:cNvPr>
          <p:cNvSpPr txBox="1"/>
          <p:nvPr/>
        </p:nvSpPr>
        <p:spPr>
          <a:xfrm>
            <a:off x="0" y="3530361"/>
            <a:ext cx="296908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dirty="0" err="1"/>
              <a:t>레이트레이싱</a:t>
            </a:r>
            <a:r>
              <a:rPr lang="ko-KR" altLang="en-US" dirty="0"/>
              <a:t> 렌더링</a:t>
            </a:r>
            <a:r>
              <a:rPr lang="en-US" altLang="ko-KR" dirty="0"/>
              <a:t> </a:t>
            </a:r>
            <a:r>
              <a:rPr lang="ko-KR" altLang="en-US" dirty="0"/>
              <a:t>패스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1FFBCA5B-3CB5-22CC-96C6-BF46432DF167}"/>
              </a:ext>
            </a:extLst>
          </p:cNvPr>
          <p:cNvSpPr txBox="1"/>
          <p:nvPr/>
        </p:nvSpPr>
        <p:spPr>
          <a:xfrm>
            <a:off x="219850" y="4018956"/>
            <a:ext cx="1189749" cy="369332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ko-KR" altLang="en-US" dirty="0" err="1"/>
              <a:t>렌더</a:t>
            </a:r>
            <a:r>
              <a:rPr lang="ko-KR" altLang="en-US" dirty="0"/>
              <a:t> 패스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16DA9D43-DD70-5D68-42A2-E8A2E521D027}"/>
              </a:ext>
            </a:extLst>
          </p:cNvPr>
          <p:cNvSpPr txBox="1"/>
          <p:nvPr/>
        </p:nvSpPr>
        <p:spPr>
          <a:xfrm>
            <a:off x="6098267" y="4018956"/>
            <a:ext cx="1420582" cy="369332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ko-KR" altLang="en-US" dirty="0" err="1"/>
              <a:t>컴퓨트</a:t>
            </a:r>
            <a:r>
              <a:rPr lang="ko-KR" altLang="en-US" dirty="0"/>
              <a:t> 패스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B739DAEA-EA24-A21B-409C-70F6878574A0}"/>
              </a:ext>
            </a:extLst>
          </p:cNvPr>
          <p:cNvSpPr txBox="1"/>
          <p:nvPr/>
        </p:nvSpPr>
        <p:spPr>
          <a:xfrm>
            <a:off x="9046260" y="4018956"/>
            <a:ext cx="952505" cy="369332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altLang="ko-KR" dirty="0"/>
              <a:t>UI</a:t>
            </a:r>
            <a:r>
              <a:rPr lang="ko-KR" altLang="en-US" dirty="0"/>
              <a:t> 패스</a:t>
            </a:r>
          </a:p>
        </p:txBody>
      </p:sp>
      <p:cxnSp>
        <p:nvCxnSpPr>
          <p:cNvPr id="41" name="직선 화살표 연결선 40">
            <a:extLst>
              <a:ext uri="{FF2B5EF4-FFF2-40B4-BE49-F238E27FC236}">
                <a16:creationId xmlns:a16="http://schemas.microsoft.com/office/drawing/2014/main" id="{3FA9F540-5E07-F3FD-267E-4F311C088766}"/>
              </a:ext>
            </a:extLst>
          </p:cNvPr>
          <p:cNvCxnSpPr>
            <a:cxnSpLocks/>
            <a:stCxn id="39" idx="3"/>
            <a:endCxn id="40" idx="1"/>
          </p:cNvCxnSpPr>
          <p:nvPr/>
        </p:nvCxnSpPr>
        <p:spPr>
          <a:xfrm>
            <a:off x="7518849" y="4203622"/>
            <a:ext cx="1527411" cy="0"/>
          </a:xfrm>
          <a:prstGeom prst="straightConnector1">
            <a:avLst/>
          </a:prstGeom>
          <a:ln w="4445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TextBox 41">
            <a:extLst>
              <a:ext uri="{FF2B5EF4-FFF2-40B4-BE49-F238E27FC236}">
                <a16:creationId xmlns:a16="http://schemas.microsoft.com/office/drawing/2014/main" id="{DA355410-C3EB-9E06-C15A-07D0A26B3EB1}"/>
              </a:ext>
            </a:extLst>
          </p:cNvPr>
          <p:cNvSpPr txBox="1"/>
          <p:nvPr/>
        </p:nvSpPr>
        <p:spPr>
          <a:xfrm>
            <a:off x="10878373" y="4018956"/>
            <a:ext cx="954044" cy="369332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altLang="ko-KR" dirty="0"/>
              <a:t>Present</a:t>
            </a:r>
            <a:endParaRPr lang="ko-KR" altLang="en-US" dirty="0"/>
          </a:p>
        </p:txBody>
      </p:sp>
      <p:cxnSp>
        <p:nvCxnSpPr>
          <p:cNvPr id="43" name="직선 화살표 연결선 42">
            <a:extLst>
              <a:ext uri="{FF2B5EF4-FFF2-40B4-BE49-F238E27FC236}">
                <a16:creationId xmlns:a16="http://schemas.microsoft.com/office/drawing/2014/main" id="{CA50EBDE-EE00-1C2D-DF7A-5DB01213739B}"/>
              </a:ext>
            </a:extLst>
          </p:cNvPr>
          <p:cNvCxnSpPr>
            <a:cxnSpLocks/>
            <a:stCxn id="40" idx="3"/>
            <a:endCxn id="42" idx="1"/>
          </p:cNvCxnSpPr>
          <p:nvPr/>
        </p:nvCxnSpPr>
        <p:spPr>
          <a:xfrm>
            <a:off x="9998765" y="4203622"/>
            <a:ext cx="879608" cy="0"/>
          </a:xfrm>
          <a:prstGeom prst="straightConnector1">
            <a:avLst/>
          </a:prstGeom>
          <a:ln w="4445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TextBox 43">
            <a:extLst>
              <a:ext uri="{FF2B5EF4-FFF2-40B4-BE49-F238E27FC236}">
                <a16:creationId xmlns:a16="http://schemas.microsoft.com/office/drawing/2014/main" id="{ADC63604-0C18-795A-FA19-32D76B1AA08D}"/>
              </a:ext>
            </a:extLst>
          </p:cNvPr>
          <p:cNvSpPr txBox="1"/>
          <p:nvPr/>
        </p:nvSpPr>
        <p:spPr>
          <a:xfrm>
            <a:off x="6096000" y="4442149"/>
            <a:ext cx="2714205" cy="60016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100" dirty="0"/>
              <a:t>모션 </a:t>
            </a:r>
            <a:r>
              <a:rPr lang="ko-KR" altLang="en-US" sz="1100" dirty="0" err="1"/>
              <a:t>블러</a:t>
            </a:r>
            <a:r>
              <a:rPr lang="ko-KR" altLang="en-US" sz="1100" dirty="0"/>
              <a:t> </a:t>
            </a:r>
            <a:r>
              <a:rPr lang="en-US" altLang="ko-KR" sz="1100" dirty="0"/>
              <a:t>/</a:t>
            </a:r>
            <a:r>
              <a:rPr lang="ko-KR" altLang="en-US" sz="1100" dirty="0"/>
              <a:t> 거리에 따른 </a:t>
            </a:r>
            <a:r>
              <a:rPr lang="ko-KR" altLang="en-US" sz="1100" dirty="0" err="1"/>
              <a:t>합성곱연산</a:t>
            </a:r>
            <a:endParaRPr lang="en-US" altLang="ko-KR" sz="1100" dirty="0"/>
          </a:p>
          <a:p>
            <a:r>
              <a:rPr lang="en-US" altLang="ko-KR" sz="1100" dirty="0"/>
              <a:t>GPU</a:t>
            </a:r>
            <a:r>
              <a:rPr lang="ko-KR" altLang="en-US" sz="1100" dirty="0"/>
              <a:t> 애니메이션 </a:t>
            </a:r>
            <a:r>
              <a:rPr lang="ko-KR" altLang="en-US" sz="1100" dirty="0" err="1"/>
              <a:t>블랜딩</a:t>
            </a:r>
            <a:endParaRPr lang="en-US" altLang="ko-KR" sz="1100" dirty="0"/>
          </a:p>
          <a:p>
            <a:r>
              <a:rPr lang="en-US" altLang="ko-KR" sz="1100" dirty="0"/>
              <a:t>GPU </a:t>
            </a:r>
            <a:r>
              <a:rPr lang="ko-KR" altLang="en-US" sz="1100" dirty="0"/>
              <a:t>애니메이션 </a:t>
            </a:r>
            <a:r>
              <a:rPr lang="en-US" altLang="ko-KR" sz="1100" dirty="0" err="1"/>
              <a:t>ToWorld</a:t>
            </a:r>
            <a:r>
              <a:rPr lang="ko-KR" altLang="en-US" sz="1100" dirty="0"/>
              <a:t> 트리누적연산</a:t>
            </a:r>
            <a:endParaRPr lang="en-US" altLang="ko-KR" sz="1100" dirty="0"/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7ACFF6EA-2F1E-B668-E3B2-82BEC5C4B514}"/>
              </a:ext>
            </a:extLst>
          </p:cNvPr>
          <p:cNvSpPr txBox="1"/>
          <p:nvPr/>
        </p:nvSpPr>
        <p:spPr>
          <a:xfrm>
            <a:off x="8951843" y="4423105"/>
            <a:ext cx="654346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100" dirty="0"/>
              <a:t>UI </a:t>
            </a:r>
            <a:r>
              <a:rPr lang="ko-KR" altLang="en-US" sz="1100" dirty="0"/>
              <a:t>출력</a:t>
            </a:r>
            <a:endParaRPr lang="en-US" altLang="ko-KR" sz="1100" dirty="0"/>
          </a:p>
        </p:txBody>
      </p:sp>
      <p:cxnSp>
        <p:nvCxnSpPr>
          <p:cNvPr id="46" name="직선 화살표 연결선 45">
            <a:extLst>
              <a:ext uri="{FF2B5EF4-FFF2-40B4-BE49-F238E27FC236}">
                <a16:creationId xmlns:a16="http://schemas.microsoft.com/office/drawing/2014/main" id="{A8337250-34BB-1B5A-AC7D-766D63BEB2D2}"/>
              </a:ext>
            </a:extLst>
          </p:cNvPr>
          <p:cNvCxnSpPr>
            <a:cxnSpLocks/>
            <a:stCxn id="38" idx="3"/>
            <a:endCxn id="39" idx="1"/>
          </p:cNvCxnSpPr>
          <p:nvPr/>
        </p:nvCxnSpPr>
        <p:spPr>
          <a:xfrm>
            <a:off x="1409599" y="4203622"/>
            <a:ext cx="4688668" cy="0"/>
          </a:xfrm>
          <a:prstGeom prst="straightConnector1">
            <a:avLst/>
          </a:prstGeom>
          <a:ln w="4445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TextBox 48">
            <a:extLst>
              <a:ext uri="{FF2B5EF4-FFF2-40B4-BE49-F238E27FC236}">
                <a16:creationId xmlns:a16="http://schemas.microsoft.com/office/drawing/2014/main" id="{CB8032F4-4E67-DE59-85A9-42AF7D16C4ED}"/>
              </a:ext>
            </a:extLst>
          </p:cNvPr>
          <p:cNvSpPr txBox="1"/>
          <p:nvPr/>
        </p:nvSpPr>
        <p:spPr>
          <a:xfrm>
            <a:off x="219850" y="4442149"/>
            <a:ext cx="1077539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100" dirty="0"/>
              <a:t>Dispatch Rays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6391AED2-70A2-D509-91C8-9618C6C19E8A}"/>
              </a:ext>
            </a:extLst>
          </p:cNvPr>
          <p:cNvSpPr txBox="1"/>
          <p:nvPr/>
        </p:nvSpPr>
        <p:spPr>
          <a:xfrm>
            <a:off x="219850" y="5361823"/>
            <a:ext cx="8440131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dirty="0"/>
              <a:t>나중에 비동기 렌더링을 하게 된다면 한 프레임당 하나의 패스를 실행해야 한다</a:t>
            </a:r>
            <a:r>
              <a:rPr lang="en-US" altLang="ko-KR" dirty="0"/>
              <a:t>.</a:t>
            </a:r>
          </a:p>
          <a:p>
            <a:r>
              <a:rPr lang="ko-KR" altLang="en-US" dirty="0" err="1"/>
              <a:t>렌더가</a:t>
            </a:r>
            <a:r>
              <a:rPr lang="ko-KR" altLang="en-US" dirty="0"/>
              <a:t> 되는 건 </a:t>
            </a:r>
            <a:r>
              <a:rPr lang="en-US" altLang="ko-KR" dirty="0"/>
              <a:t>UI </a:t>
            </a:r>
            <a:r>
              <a:rPr lang="ko-KR" altLang="en-US" dirty="0"/>
              <a:t>패스를 끝내게 되면 바로 </a:t>
            </a:r>
            <a:r>
              <a:rPr lang="en-US" altLang="ko-KR" dirty="0"/>
              <a:t>Present</a:t>
            </a:r>
            <a:r>
              <a:rPr lang="ko-KR" altLang="en-US" dirty="0"/>
              <a:t>를 한다</a:t>
            </a:r>
            <a:r>
              <a:rPr lang="en-US" altLang="ko-KR" dirty="0"/>
              <a:t>.</a:t>
            </a:r>
          </a:p>
          <a:p>
            <a:r>
              <a:rPr lang="ko-KR" altLang="en-US" dirty="0"/>
              <a:t>렌더링을 하기 위해 </a:t>
            </a:r>
            <a:r>
              <a:rPr lang="en-US" altLang="ko-KR" dirty="0"/>
              <a:t>3~4 </a:t>
            </a:r>
            <a:r>
              <a:rPr lang="ko-KR" altLang="en-US" dirty="0"/>
              <a:t>프레임이 소요 되며</a:t>
            </a:r>
            <a:r>
              <a:rPr lang="en-US" altLang="ko-KR" dirty="0"/>
              <a:t>,</a:t>
            </a:r>
          </a:p>
          <a:p>
            <a:endParaRPr lang="en-US" altLang="ko-KR" dirty="0"/>
          </a:p>
        </p:txBody>
      </p:sp>
      <mc:AlternateContent xmlns:mc="http://schemas.openxmlformats.org/markup-compatibility/2006" xmlns:pslz="http://schemas.microsoft.com/office/powerpoint/2016/slidezoom">
        <mc:Choice Requires="pslz">
          <p:graphicFrame>
            <p:nvGraphicFramePr>
              <p:cNvPr id="52" name="슬라이드 확대/축소 51">
                <a:extLst>
                  <a:ext uri="{FF2B5EF4-FFF2-40B4-BE49-F238E27FC236}">
                    <a16:creationId xmlns:a16="http://schemas.microsoft.com/office/drawing/2014/main" id="{3717895E-BF62-6881-47D4-8314385C8258}"/>
                  </a:ext>
                </a:extLst>
              </p:cNvPr>
              <p:cNvGraphicFramePr>
                <a:graphicFrameLocks noChangeAspect="1"/>
              </p:cNvGraphicFramePr>
              <p:nvPr>
                <p:extLst>
                  <p:ext uri="{D42A27DB-BD31-4B8C-83A1-F6EECF244321}">
                    <p14:modId xmlns:p14="http://schemas.microsoft.com/office/powerpoint/2010/main" val="1708231777"/>
                  </p:ext>
                </p:extLst>
              </p:nvPr>
            </p:nvGraphicFramePr>
            <p:xfrm>
              <a:off x="8951843" y="4914853"/>
              <a:ext cx="3048000" cy="1714500"/>
            </p:xfrm>
            <a:graphic>
              <a:graphicData uri="http://schemas.microsoft.com/office/powerpoint/2016/slidezoom">
                <pslz:sldZm>
                  <pslz:sldZmObj sldId="288" cId="1454281042">
                    <pslz:zmPr id="{A8BB8807-490E-45C0-81DB-7FD4BC50EE99}" returnToParent="0" transitionDur="1000">
                      <p166:blipFill xmlns:p166="http://schemas.microsoft.com/office/powerpoint/2016/6/main">
                        <a:blip r:embed="rId2"/>
                        <a:stretch>
                          <a:fillRect/>
                        </a:stretch>
                      </p166:blipFill>
                      <p166:spPr xmlns:p166="http://schemas.microsoft.com/office/powerpoint/2016/6/main">
                        <a:xfrm>
                          <a:off x="0" y="0"/>
                          <a:ext cx="3048000" cy="1714500"/>
                        </a:xfrm>
                        <a:prstGeom prst="rect">
                          <a:avLst/>
                        </a:prstGeom>
                        <a:ln w="3175">
                          <a:solidFill>
                            <a:prstClr val="ltGray"/>
                          </a:solidFill>
                        </a:ln>
                      </p166:spPr>
                    </pslz:zmPr>
                  </pslz:sldZmObj>
                </pslz:sldZm>
              </a:graphicData>
            </a:graphic>
          </p:graphicFrame>
        </mc:Choice>
        <mc:Fallback xmlns="">
          <p:pic>
            <p:nvPicPr>
              <p:cNvPr id="52" name="슬라이드 확대/축소 51">
                <a:hlinkClick r:id="rId3" action="ppaction://hlinksldjump"/>
                <a:extLst>
                  <a:ext uri="{FF2B5EF4-FFF2-40B4-BE49-F238E27FC236}">
                    <a16:creationId xmlns:a16="http://schemas.microsoft.com/office/drawing/2014/main" id="{3717895E-BF62-6881-47D4-8314385C8258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/>
              </p:cNvPicPr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8951843" y="4914853"/>
                <a:ext cx="3048000" cy="1714500"/>
              </a:xfrm>
              <a:prstGeom prst="rect">
                <a:avLst/>
              </a:prstGeom>
              <a:ln w="3175">
                <a:solidFill>
                  <a:prstClr val="ltGray"/>
                </a:solidFill>
              </a:ln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1981946874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33AFE1-AA15-B5BF-1D27-F53DD591EED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직사각형 92">
            <a:extLst>
              <a:ext uri="{FF2B5EF4-FFF2-40B4-BE49-F238E27FC236}">
                <a16:creationId xmlns:a16="http://schemas.microsoft.com/office/drawing/2014/main" id="{0186797B-395B-7FCD-49AD-B9A6BA7E4A34}"/>
              </a:ext>
            </a:extLst>
          </p:cNvPr>
          <p:cNvSpPr/>
          <p:nvPr/>
        </p:nvSpPr>
        <p:spPr>
          <a:xfrm>
            <a:off x="5534025" y="1238249"/>
            <a:ext cx="2260485" cy="2369269"/>
          </a:xfrm>
          <a:prstGeom prst="rect">
            <a:avLst/>
          </a:prstGeom>
          <a:solidFill>
            <a:schemeClr val="accent1">
              <a:lumMod val="20000"/>
              <a:lumOff val="80000"/>
              <a:alpha val="67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3662D7DB-CEBC-F976-2827-A4A3306D04BA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0" y="18255"/>
            <a:ext cx="11601450" cy="850425"/>
          </a:xfrm>
        </p:spPr>
        <p:txBody>
          <a:bodyPr>
            <a:normAutofit fontScale="90000"/>
          </a:bodyPr>
          <a:lstStyle/>
          <a:p>
            <a:r>
              <a:rPr lang="en-US" altLang="ko-KR" sz="5400" dirty="0"/>
              <a:t>TimeLine-</a:t>
            </a:r>
            <a:r>
              <a:rPr lang="en-US" altLang="ko-KR" sz="5400" dirty="0" err="1"/>
              <a:t>RenderPass</a:t>
            </a:r>
            <a:r>
              <a:rPr lang="en-US" altLang="ko-KR" sz="5400" dirty="0"/>
              <a:t>- </a:t>
            </a:r>
            <a:r>
              <a:rPr lang="ko-KR" altLang="en-US" sz="5400" dirty="0"/>
              <a:t>비동기 렌더링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7C83826-4BAF-CDFB-C313-74345C07A0BC}"/>
              </a:ext>
            </a:extLst>
          </p:cNvPr>
          <p:cNvSpPr txBox="1"/>
          <p:nvPr/>
        </p:nvSpPr>
        <p:spPr>
          <a:xfrm>
            <a:off x="0" y="953913"/>
            <a:ext cx="219483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dirty="0"/>
              <a:t>비동기 렌더링 작동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C929899-BECB-A7EA-BDE5-83DEB0F26F36}"/>
              </a:ext>
            </a:extLst>
          </p:cNvPr>
          <p:cNvSpPr txBox="1"/>
          <p:nvPr/>
        </p:nvSpPr>
        <p:spPr>
          <a:xfrm>
            <a:off x="219850" y="1442508"/>
            <a:ext cx="1420582" cy="369332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ko-KR" altLang="en-US" dirty="0" err="1"/>
              <a:t>셰도우</a:t>
            </a:r>
            <a:r>
              <a:rPr lang="ko-KR" altLang="en-US" dirty="0"/>
              <a:t> 패스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66C4C9C-1EC8-3460-C2A7-14E4FB43B749}"/>
              </a:ext>
            </a:extLst>
          </p:cNvPr>
          <p:cNvSpPr txBox="1"/>
          <p:nvPr/>
        </p:nvSpPr>
        <p:spPr>
          <a:xfrm>
            <a:off x="2084726" y="1442508"/>
            <a:ext cx="1420582" cy="369332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ko-KR" altLang="en-US" dirty="0" err="1"/>
              <a:t>렌더</a:t>
            </a:r>
            <a:r>
              <a:rPr lang="ko-KR" altLang="en-US" dirty="0"/>
              <a:t> 패스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C258ECF-C82C-3C4B-E37E-24C42034F049}"/>
              </a:ext>
            </a:extLst>
          </p:cNvPr>
          <p:cNvSpPr txBox="1"/>
          <p:nvPr/>
        </p:nvSpPr>
        <p:spPr>
          <a:xfrm>
            <a:off x="3949602" y="1442508"/>
            <a:ext cx="1420582" cy="369332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ko-KR" altLang="en-US" dirty="0" err="1"/>
              <a:t>컴퓨트</a:t>
            </a:r>
            <a:r>
              <a:rPr lang="ko-KR" altLang="en-US" dirty="0"/>
              <a:t> 패스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582F13E-3F1A-2AB5-6945-8B68EF983BD4}"/>
              </a:ext>
            </a:extLst>
          </p:cNvPr>
          <p:cNvSpPr txBox="1"/>
          <p:nvPr/>
        </p:nvSpPr>
        <p:spPr>
          <a:xfrm>
            <a:off x="5635774" y="1442508"/>
            <a:ext cx="2074542" cy="369332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altLang="ko-KR" dirty="0"/>
              <a:t>UI</a:t>
            </a:r>
            <a:r>
              <a:rPr lang="ko-KR" altLang="en-US" dirty="0"/>
              <a:t> 패스 </a:t>
            </a:r>
            <a:r>
              <a:rPr lang="en-US" altLang="ko-KR" dirty="0"/>
              <a:t>&amp; Present</a:t>
            </a:r>
            <a:endParaRPr lang="ko-KR" altLang="en-US" dirty="0"/>
          </a:p>
        </p:txBody>
      </p:sp>
      <p:cxnSp>
        <p:nvCxnSpPr>
          <p:cNvPr id="9" name="직선 화살표 연결선 8">
            <a:extLst>
              <a:ext uri="{FF2B5EF4-FFF2-40B4-BE49-F238E27FC236}">
                <a16:creationId xmlns:a16="http://schemas.microsoft.com/office/drawing/2014/main" id="{0385E2DB-A81A-81EA-2A07-2321646653AF}"/>
              </a:ext>
            </a:extLst>
          </p:cNvPr>
          <p:cNvCxnSpPr>
            <a:cxnSpLocks/>
            <a:stCxn id="4" idx="3"/>
            <a:endCxn id="5" idx="1"/>
          </p:cNvCxnSpPr>
          <p:nvPr/>
        </p:nvCxnSpPr>
        <p:spPr>
          <a:xfrm>
            <a:off x="1640432" y="1627174"/>
            <a:ext cx="444294" cy="0"/>
          </a:xfrm>
          <a:prstGeom prst="straightConnector1">
            <a:avLst/>
          </a:prstGeom>
          <a:ln w="4445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직선 화살표 연결선 9">
            <a:extLst>
              <a:ext uri="{FF2B5EF4-FFF2-40B4-BE49-F238E27FC236}">
                <a16:creationId xmlns:a16="http://schemas.microsoft.com/office/drawing/2014/main" id="{BCC371D4-5698-127B-1EDD-002301528B7A}"/>
              </a:ext>
            </a:extLst>
          </p:cNvPr>
          <p:cNvCxnSpPr>
            <a:cxnSpLocks/>
            <a:stCxn id="5" idx="3"/>
            <a:endCxn id="6" idx="1"/>
          </p:cNvCxnSpPr>
          <p:nvPr/>
        </p:nvCxnSpPr>
        <p:spPr>
          <a:xfrm>
            <a:off x="3505308" y="1627174"/>
            <a:ext cx="444294" cy="0"/>
          </a:xfrm>
          <a:prstGeom prst="straightConnector1">
            <a:avLst/>
          </a:prstGeom>
          <a:ln w="4445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직선 화살표 연결선 12">
            <a:extLst>
              <a:ext uri="{FF2B5EF4-FFF2-40B4-BE49-F238E27FC236}">
                <a16:creationId xmlns:a16="http://schemas.microsoft.com/office/drawing/2014/main" id="{CEC8B670-4A3A-BEF9-1A68-2FDF20A9D26B}"/>
              </a:ext>
            </a:extLst>
          </p:cNvPr>
          <p:cNvCxnSpPr>
            <a:cxnSpLocks/>
            <a:stCxn id="6" idx="3"/>
            <a:endCxn id="7" idx="1"/>
          </p:cNvCxnSpPr>
          <p:nvPr/>
        </p:nvCxnSpPr>
        <p:spPr>
          <a:xfrm>
            <a:off x="5370184" y="1627174"/>
            <a:ext cx="265590" cy="0"/>
          </a:xfrm>
          <a:prstGeom prst="straightConnector1">
            <a:avLst/>
          </a:prstGeom>
          <a:ln w="4445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0" name="TextBox 49">
            <a:extLst>
              <a:ext uri="{FF2B5EF4-FFF2-40B4-BE49-F238E27FC236}">
                <a16:creationId xmlns:a16="http://schemas.microsoft.com/office/drawing/2014/main" id="{7E222BC4-51E0-C692-CF4F-9D131B9DC780}"/>
              </a:ext>
            </a:extLst>
          </p:cNvPr>
          <p:cNvSpPr txBox="1"/>
          <p:nvPr/>
        </p:nvSpPr>
        <p:spPr>
          <a:xfrm>
            <a:off x="2819262" y="3739545"/>
            <a:ext cx="7747634" cy="147732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dirty="0"/>
              <a:t>루프당 각자 다른 프레임의 각자 다른 패스를 병렬적으로 실행할 수 있다</a:t>
            </a:r>
            <a:r>
              <a:rPr lang="en-US" altLang="ko-KR" dirty="0"/>
              <a:t>.</a:t>
            </a:r>
          </a:p>
          <a:p>
            <a:r>
              <a:rPr lang="ko-KR" altLang="en-US" dirty="0"/>
              <a:t>의존성이 없으니까</a:t>
            </a:r>
            <a:r>
              <a:rPr lang="en-US" altLang="ko-KR" dirty="0"/>
              <a:t>. </a:t>
            </a:r>
          </a:p>
          <a:p>
            <a:r>
              <a:rPr lang="ko-KR" altLang="en-US" dirty="0" err="1"/>
              <a:t>멀티스레드</a:t>
            </a:r>
            <a:r>
              <a:rPr lang="ko-KR" altLang="en-US" dirty="0"/>
              <a:t> 활용</a:t>
            </a:r>
            <a:r>
              <a:rPr lang="en-US" altLang="ko-KR" dirty="0"/>
              <a:t>?</a:t>
            </a:r>
          </a:p>
          <a:p>
            <a:r>
              <a:rPr lang="ko-KR" altLang="en-US" dirty="0"/>
              <a:t>또한 특정 </a:t>
            </a:r>
            <a:r>
              <a:rPr lang="en-US" altLang="ko-KR" dirty="0"/>
              <a:t>Pass</a:t>
            </a:r>
            <a:r>
              <a:rPr lang="ko-KR" altLang="en-US" dirty="0"/>
              <a:t>의 </a:t>
            </a:r>
            <a:r>
              <a:rPr lang="en-US" altLang="ko-KR" dirty="0" err="1"/>
              <a:t>WaitForGPUComplete</a:t>
            </a:r>
            <a:r>
              <a:rPr lang="ko-KR" altLang="en-US" dirty="0"/>
              <a:t>는 다음 패스가 </a:t>
            </a:r>
            <a:r>
              <a:rPr lang="ko-KR" altLang="en-US" dirty="0" err="1"/>
              <a:t>시작할때</a:t>
            </a:r>
            <a:r>
              <a:rPr lang="ko-KR" altLang="en-US" dirty="0"/>
              <a:t> </a:t>
            </a:r>
            <a:endParaRPr lang="en-US" altLang="ko-KR" dirty="0"/>
          </a:p>
          <a:p>
            <a:r>
              <a:rPr lang="ko-KR" altLang="en-US" dirty="0"/>
              <a:t>호출되도록 한다</a:t>
            </a:r>
            <a:r>
              <a:rPr lang="en-US" altLang="ko-KR" dirty="0"/>
              <a:t>.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7DC61935-8CDE-F8CD-BB49-A0BEC0322F27}"/>
              </a:ext>
            </a:extLst>
          </p:cNvPr>
          <p:cNvSpPr txBox="1"/>
          <p:nvPr/>
        </p:nvSpPr>
        <p:spPr>
          <a:xfrm>
            <a:off x="2084726" y="1931103"/>
            <a:ext cx="1420582" cy="369332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ko-KR" altLang="en-US" dirty="0" err="1"/>
              <a:t>셰도우</a:t>
            </a:r>
            <a:r>
              <a:rPr lang="ko-KR" altLang="en-US" dirty="0"/>
              <a:t> 패스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0B72601F-3DF5-005D-1128-8101F49877A7}"/>
              </a:ext>
            </a:extLst>
          </p:cNvPr>
          <p:cNvSpPr txBox="1"/>
          <p:nvPr/>
        </p:nvSpPr>
        <p:spPr>
          <a:xfrm>
            <a:off x="3949602" y="1931103"/>
            <a:ext cx="1420582" cy="369332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ko-KR" altLang="en-US" dirty="0" err="1"/>
              <a:t>렌더</a:t>
            </a:r>
            <a:r>
              <a:rPr lang="ko-KR" altLang="en-US" dirty="0"/>
              <a:t> 패스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07A3CBAC-72E5-E1C9-7A4A-4142DB2624A1}"/>
              </a:ext>
            </a:extLst>
          </p:cNvPr>
          <p:cNvSpPr txBox="1"/>
          <p:nvPr/>
        </p:nvSpPr>
        <p:spPr>
          <a:xfrm>
            <a:off x="5635773" y="1931103"/>
            <a:ext cx="2074541" cy="369332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ko-KR" altLang="en-US" dirty="0" err="1"/>
              <a:t>컴퓨트</a:t>
            </a:r>
            <a:r>
              <a:rPr lang="ko-KR" altLang="en-US" dirty="0"/>
              <a:t> 패스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F3D9FE8C-79BE-D2B6-1101-E1F6DB44E2FF}"/>
              </a:ext>
            </a:extLst>
          </p:cNvPr>
          <p:cNvSpPr txBox="1"/>
          <p:nvPr/>
        </p:nvSpPr>
        <p:spPr>
          <a:xfrm>
            <a:off x="8060100" y="1931103"/>
            <a:ext cx="2074542" cy="369332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altLang="ko-KR" dirty="0"/>
              <a:t>UI</a:t>
            </a:r>
            <a:r>
              <a:rPr lang="ko-KR" altLang="en-US" dirty="0"/>
              <a:t> 패스 </a:t>
            </a:r>
            <a:r>
              <a:rPr lang="en-US" altLang="ko-KR" dirty="0"/>
              <a:t>&amp; Present</a:t>
            </a:r>
            <a:endParaRPr lang="ko-KR" altLang="en-US" dirty="0"/>
          </a:p>
        </p:txBody>
      </p:sp>
      <p:cxnSp>
        <p:nvCxnSpPr>
          <p:cNvPr id="22" name="직선 화살표 연결선 21">
            <a:extLst>
              <a:ext uri="{FF2B5EF4-FFF2-40B4-BE49-F238E27FC236}">
                <a16:creationId xmlns:a16="http://schemas.microsoft.com/office/drawing/2014/main" id="{8719B22E-0468-9219-F012-4916C5BA6AAC}"/>
              </a:ext>
            </a:extLst>
          </p:cNvPr>
          <p:cNvCxnSpPr>
            <a:cxnSpLocks/>
            <a:stCxn id="18" idx="3"/>
            <a:endCxn id="19" idx="1"/>
          </p:cNvCxnSpPr>
          <p:nvPr/>
        </p:nvCxnSpPr>
        <p:spPr>
          <a:xfrm>
            <a:off x="3505308" y="2115769"/>
            <a:ext cx="444294" cy="0"/>
          </a:xfrm>
          <a:prstGeom prst="straightConnector1">
            <a:avLst/>
          </a:prstGeom>
          <a:ln w="4445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직선 화살표 연결선 22">
            <a:extLst>
              <a:ext uri="{FF2B5EF4-FFF2-40B4-BE49-F238E27FC236}">
                <a16:creationId xmlns:a16="http://schemas.microsoft.com/office/drawing/2014/main" id="{20F3C0FB-126A-E49D-CD5F-F2965A3B1F83}"/>
              </a:ext>
            </a:extLst>
          </p:cNvPr>
          <p:cNvCxnSpPr>
            <a:cxnSpLocks/>
            <a:stCxn id="19" idx="3"/>
            <a:endCxn id="20" idx="1"/>
          </p:cNvCxnSpPr>
          <p:nvPr/>
        </p:nvCxnSpPr>
        <p:spPr>
          <a:xfrm>
            <a:off x="5370184" y="2115769"/>
            <a:ext cx="265589" cy="0"/>
          </a:xfrm>
          <a:prstGeom prst="straightConnector1">
            <a:avLst/>
          </a:prstGeom>
          <a:ln w="4445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직선 화살표 연결선 23">
            <a:extLst>
              <a:ext uri="{FF2B5EF4-FFF2-40B4-BE49-F238E27FC236}">
                <a16:creationId xmlns:a16="http://schemas.microsoft.com/office/drawing/2014/main" id="{7AF70D80-94E8-0919-7D39-E528394032D8}"/>
              </a:ext>
            </a:extLst>
          </p:cNvPr>
          <p:cNvCxnSpPr>
            <a:cxnSpLocks/>
            <a:stCxn id="20" idx="3"/>
            <a:endCxn id="21" idx="1"/>
          </p:cNvCxnSpPr>
          <p:nvPr/>
        </p:nvCxnSpPr>
        <p:spPr>
          <a:xfrm>
            <a:off x="7710314" y="2115769"/>
            <a:ext cx="349786" cy="0"/>
          </a:xfrm>
          <a:prstGeom prst="straightConnector1">
            <a:avLst/>
          </a:prstGeom>
          <a:ln w="4445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6" name="TextBox 75">
            <a:extLst>
              <a:ext uri="{FF2B5EF4-FFF2-40B4-BE49-F238E27FC236}">
                <a16:creationId xmlns:a16="http://schemas.microsoft.com/office/drawing/2014/main" id="{9EF8AC47-428D-F39D-364A-D646A864D8F7}"/>
              </a:ext>
            </a:extLst>
          </p:cNvPr>
          <p:cNvSpPr txBox="1"/>
          <p:nvPr/>
        </p:nvSpPr>
        <p:spPr>
          <a:xfrm>
            <a:off x="3949602" y="2438317"/>
            <a:ext cx="1420582" cy="369332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ko-KR" altLang="en-US" dirty="0" err="1"/>
              <a:t>셰도우</a:t>
            </a:r>
            <a:r>
              <a:rPr lang="ko-KR" altLang="en-US" dirty="0"/>
              <a:t> 패스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B09F4CCD-A549-C3A9-63B0-7BAE8DED7FA1}"/>
              </a:ext>
            </a:extLst>
          </p:cNvPr>
          <p:cNvSpPr txBox="1"/>
          <p:nvPr/>
        </p:nvSpPr>
        <p:spPr>
          <a:xfrm>
            <a:off x="5635292" y="2438317"/>
            <a:ext cx="1420582" cy="369332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ko-KR" altLang="en-US" dirty="0" err="1"/>
              <a:t>렌더</a:t>
            </a:r>
            <a:r>
              <a:rPr lang="ko-KR" altLang="en-US" dirty="0"/>
              <a:t> 패스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6DEB23DF-3AD5-C088-7D87-56D63E9CA7FF}"/>
              </a:ext>
            </a:extLst>
          </p:cNvPr>
          <p:cNvSpPr txBox="1"/>
          <p:nvPr/>
        </p:nvSpPr>
        <p:spPr>
          <a:xfrm>
            <a:off x="8060100" y="2415670"/>
            <a:ext cx="1420582" cy="369332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ko-KR" altLang="en-US" dirty="0" err="1"/>
              <a:t>컴퓨트</a:t>
            </a:r>
            <a:r>
              <a:rPr lang="ko-KR" altLang="en-US" dirty="0"/>
              <a:t> 패스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52B1EFD2-2D4C-ABDD-CC83-92C7CDA9EFF4}"/>
              </a:ext>
            </a:extLst>
          </p:cNvPr>
          <p:cNvSpPr txBox="1"/>
          <p:nvPr/>
        </p:nvSpPr>
        <p:spPr>
          <a:xfrm>
            <a:off x="9746272" y="2415670"/>
            <a:ext cx="2074542" cy="369332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altLang="ko-KR" dirty="0"/>
              <a:t>UI</a:t>
            </a:r>
            <a:r>
              <a:rPr lang="ko-KR" altLang="en-US" dirty="0"/>
              <a:t> 패스 </a:t>
            </a:r>
            <a:r>
              <a:rPr lang="en-US" altLang="ko-KR" dirty="0"/>
              <a:t>&amp; Present</a:t>
            </a:r>
            <a:endParaRPr lang="ko-KR" altLang="en-US" dirty="0"/>
          </a:p>
        </p:txBody>
      </p:sp>
      <p:cxnSp>
        <p:nvCxnSpPr>
          <p:cNvPr id="80" name="직선 화살표 연결선 79">
            <a:extLst>
              <a:ext uri="{FF2B5EF4-FFF2-40B4-BE49-F238E27FC236}">
                <a16:creationId xmlns:a16="http://schemas.microsoft.com/office/drawing/2014/main" id="{166872D1-C138-D993-08F0-21F619C33F49}"/>
              </a:ext>
            </a:extLst>
          </p:cNvPr>
          <p:cNvCxnSpPr>
            <a:cxnSpLocks/>
            <a:stCxn id="76" idx="3"/>
            <a:endCxn id="77" idx="1"/>
          </p:cNvCxnSpPr>
          <p:nvPr/>
        </p:nvCxnSpPr>
        <p:spPr>
          <a:xfrm>
            <a:off x="5370184" y="2622983"/>
            <a:ext cx="265108" cy="0"/>
          </a:xfrm>
          <a:prstGeom prst="straightConnector1">
            <a:avLst/>
          </a:prstGeom>
          <a:ln w="4445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1" name="직선 화살표 연결선 80">
            <a:extLst>
              <a:ext uri="{FF2B5EF4-FFF2-40B4-BE49-F238E27FC236}">
                <a16:creationId xmlns:a16="http://schemas.microsoft.com/office/drawing/2014/main" id="{DDBE9807-6028-9476-B5D5-8A45DEAA6A7B}"/>
              </a:ext>
            </a:extLst>
          </p:cNvPr>
          <p:cNvCxnSpPr>
            <a:cxnSpLocks/>
            <a:stCxn id="77" idx="3"/>
            <a:endCxn id="78" idx="1"/>
          </p:cNvCxnSpPr>
          <p:nvPr/>
        </p:nvCxnSpPr>
        <p:spPr>
          <a:xfrm flipV="1">
            <a:off x="7055874" y="2600336"/>
            <a:ext cx="1004226" cy="22647"/>
          </a:xfrm>
          <a:prstGeom prst="straightConnector1">
            <a:avLst/>
          </a:prstGeom>
          <a:ln w="4445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2" name="직선 화살표 연결선 81">
            <a:extLst>
              <a:ext uri="{FF2B5EF4-FFF2-40B4-BE49-F238E27FC236}">
                <a16:creationId xmlns:a16="http://schemas.microsoft.com/office/drawing/2014/main" id="{0D7D9367-5075-5A34-7A47-738CC7A08D9E}"/>
              </a:ext>
            </a:extLst>
          </p:cNvPr>
          <p:cNvCxnSpPr>
            <a:cxnSpLocks/>
            <a:stCxn id="78" idx="3"/>
            <a:endCxn id="79" idx="1"/>
          </p:cNvCxnSpPr>
          <p:nvPr/>
        </p:nvCxnSpPr>
        <p:spPr>
          <a:xfrm>
            <a:off x="9480682" y="2600336"/>
            <a:ext cx="265590" cy="0"/>
          </a:xfrm>
          <a:prstGeom prst="straightConnector1">
            <a:avLst/>
          </a:prstGeom>
          <a:ln w="4445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3" name="TextBox 82">
            <a:extLst>
              <a:ext uri="{FF2B5EF4-FFF2-40B4-BE49-F238E27FC236}">
                <a16:creationId xmlns:a16="http://schemas.microsoft.com/office/drawing/2014/main" id="{6C79E8C0-1540-D1AB-CEC8-E3FEEAE83FEB}"/>
              </a:ext>
            </a:extLst>
          </p:cNvPr>
          <p:cNvSpPr txBox="1"/>
          <p:nvPr/>
        </p:nvSpPr>
        <p:spPr>
          <a:xfrm>
            <a:off x="5635292" y="2926912"/>
            <a:ext cx="1420582" cy="369332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ko-KR" altLang="en-US" dirty="0" err="1"/>
              <a:t>셰도우</a:t>
            </a:r>
            <a:r>
              <a:rPr lang="ko-KR" altLang="en-US" dirty="0"/>
              <a:t> 패스</a:t>
            </a: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EBB3D9E5-33A0-55C3-A85B-69456D70A279}"/>
              </a:ext>
            </a:extLst>
          </p:cNvPr>
          <p:cNvSpPr txBox="1"/>
          <p:nvPr/>
        </p:nvSpPr>
        <p:spPr>
          <a:xfrm>
            <a:off x="8060100" y="2904265"/>
            <a:ext cx="1420582" cy="369332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ko-KR" altLang="en-US" dirty="0" err="1"/>
              <a:t>렌더</a:t>
            </a:r>
            <a:r>
              <a:rPr lang="ko-KR" altLang="en-US" dirty="0"/>
              <a:t> 패스</a:t>
            </a:r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3828A69C-6EE5-3EAA-9CB7-F3F193D55A8A}"/>
              </a:ext>
            </a:extLst>
          </p:cNvPr>
          <p:cNvSpPr txBox="1"/>
          <p:nvPr/>
        </p:nvSpPr>
        <p:spPr>
          <a:xfrm>
            <a:off x="9746271" y="2904265"/>
            <a:ext cx="2074541" cy="369332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ko-KR" altLang="en-US" dirty="0" err="1"/>
              <a:t>컴퓨트</a:t>
            </a:r>
            <a:r>
              <a:rPr lang="ko-KR" altLang="en-US" dirty="0"/>
              <a:t> 패스</a:t>
            </a:r>
          </a:p>
        </p:txBody>
      </p:sp>
      <p:cxnSp>
        <p:nvCxnSpPr>
          <p:cNvPr id="87" name="직선 화살표 연결선 86">
            <a:extLst>
              <a:ext uri="{FF2B5EF4-FFF2-40B4-BE49-F238E27FC236}">
                <a16:creationId xmlns:a16="http://schemas.microsoft.com/office/drawing/2014/main" id="{16C3C39D-AEC5-97F5-870A-B9EB1E60B2A7}"/>
              </a:ext>
            </a:extLst>
          </p:cNvPr>
          <p:cNvCxnSpPr>
            <a:cxnSpLocks/>
            <a:stCxn id="83" idx="3"/>
            <a:endCxn id="84" idx="1"/>
          </p:cNvCxnSpPr>
          <p:nvPr/>
        </p:nvCxnSpPr>
        <p:spPr>
          <a:xfrm flipV="1">
            <a:off x="7055874" y="3088931"/>
            <a:ext cx="1004226" cy="22647"/>
          </a:xfrm>
          <a:prstGeom prst="straightConnector1">
            <a:avLst/>
          </a:prstGeom>
          <a:ln w="4445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8" name="직선 화살표 연결선 87">
            <a:extLst>
              <a:ext uri="{FF2B5EF4-FFF2-40B4-BE49-F238E27FC236}">
                <a16:creationId xmlns:a16="http://schemas.microsoft.com/office/drawing/2014/main" id="{3D7C4CDD-8149-8F12-0340-8EBC392A999C}"/>
              </a:ext>
            </a:extLst>
          </p:cNvPr>
          <p:cNvCxnSpPr>
            <a:cxnSpLocks/>
            <a:stCxn id="84" idx="3"/>
            <a:endCxn id="85" idx="1"/>
          </p:cNvCxnSpPr>
          <p:nvPr/>
        </p:nvCxnSpPr>
        <p:spPr>
          <a:xfrm>
            <a:off x="9480682" y="3088931"/>
            <a:ext cx="265589" cy="0"/>
          </a:xfrm>
          <a:prstGeom prst="straightConnector1">
            <a:avLst/>
          </a:prstGeom>
          <a:ln w="4445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9" name="직선 화살표 연결선 88">
            <a:extLst>
              <a:ext uri="{FF2B5EF4-FFF2-40B4-BE49-F238E27FC236}">
                <a16:creationId xmlns:a16="http://schemas.microsoft.com/office/drawing/2014/main" id="{3DC8F132-7C7B-EBAB-70F0-A061BA82F850}"/>
              </a:ext>
            </a:extLst>
          </p:cNvPr>
          <p:cNvCxnSpPr>
            <a:cxnSpLocks/>
            <a:stCxn id="85" idx="3"/>
          </p:cNvCxnSpPr>
          <p:nvPr/>
        </p:nvCxnSpPr>
        <p:spPr>
          <a:xfrm>
            <a:off x="11820812" y="3088931"/>
            <a:ext cx="349786" cy="0"/>
          </a:xfrm>
          <a:prstGeom prst="straightConnector1">
            <a:avLst/>
          </a:prstGeom>
          <a:ln w="4445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4" name="TextBox 93">
            <a:extLst>
              <a:ext uri="{FF2B5EF4-FFF2-40B4-BE49-F238E27FC236}">
                <a16:creationId xmlns:a16="http://schemas.microsoft.com/office/drawing/2014/main" id="{E6A54125-A5C5-B9FA-F89C-9CC77823DF7B}"/>
              </a:ext>
            </a:extLst>
          </p:cNvPr>
          <p:cNvSpPr txBox="1"/>
          <p:nvPr/>
        </p:nvSpPr>
        <p:spPr>
          <a:xfrm>
            <a:off x="5969626" y="906050"/>
            <a:ext cx="118974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dirty="0" err="1"/>
              <a:t>렌더</a:t>
            </a:r>
            <a:r>
              <a:rPr lang="ko-KR" altLang="en-US" dirty="0"/>
              <a:t> 루프</a:t>
            </a:r>
            <a:endParaRPr lang="en-US" altLang="ko-KR" dirty="0"/>
          </a:p>
        </p:txBody>
      </p:sp>
    </p:spTree>
    <p:extLst>
      <p:ext uri="{BB962C8B-B14F-4D97-AF65-F5344CB8AC3E}">
        <p14:creationId xmlns:p14="http://schemas.microsoft.com/office/powerpoint/2010/main" val="1454281042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58EEAAD-7A05-9BEB-B2B5-9B625380D6CF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US" altLang="ko-KR"/>
              <a:t>Shape?</a:t>
            </a:r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7B39B80-7E02-C967-8CF6-AA97124D098D}"/>
              </a:ext>
            </a:extLst>
          </p:cNvPr>
          <p:cNvSpPr txBox="1"/>
          <p:nvPr/>
        </p:nvSpPr>
        <p:spPr>
          <a:xfrm>
            <a:off x="3049292" y="2107246"/>
            <a:ext cx="6098582" cy="20313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/>
              <a:t>SetShape 순서</a:t>
            </a:r>
          </a:p>
          <a:p>
            <a:r>
              <a:rPr lang="ko-KR" altLang="en-US"/>
              <a:t>1. 모델의 경우</a:t>
            </a:r>
          </a:p>
          <a:p>
            <a:r>
              <a:rPr lang="ko-KR" altLang="en-US"/>
              <a:t>	1-1. innerTransform의 메모리를 만들고 원하는 행렬들을 만든다.</a:t>
            </a:r>
          </a:p>
          <a:p>
            <a:r>
              <a:rPr lang="ko-KR" altLang="en-US"/>
              <a:t>	1-2. SetShape를 한다.</a:t>
            </a:r>
          </a:p>
          <a:p>
            <a:r>
              <a:rPr lang="ko-KR" altLang="en-US"/>
              <a:t>		- SetShape에서 만약 innerTransform이 없으면 만들고 모델의 transform을 사용한다.</a:t>
            </a:r>
          </a:p>
        </p:txBody>
      </p:sp>
    </p:spTree>
    <p:extLst>
      <p:ext uri="{BB962C8B-B14F-4D97-AF65-F5344CB8AC3E}">
        <p14:creationId xmlns:p14="http://schemas.microsoft.com/office/powerpoint/2010/main" val="412795982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  <a:txDef>
      <a:spPr>
        <a:noFill/>
      </a:spPr>
      <a:bodyPr wrap="none" rtlCol="0">
        <a:spAutoFit/>
      </a:bodyPr>
      <a:lstStyle>
        <a:defPPr algn="l">
          <a:defRPr kern="0" smtClean="0"/>
        </a:defPPr>
      </a:lstStyle>
    </a:tx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4395</TotalTime>
  <Words>2031</Words>
  <Application>Microsoft Office PowerPoint</Application>
  <PresentationFormat>와이드스크린</PresentationFormat>
  <Paragraphs>351</Paragraphs>
  <Slides>39</Slides>
  <Notes>1</Notes>
  <HiddenSlides>0</HiddenSlides>
  <MMClips>0</MMClips>
  <ScaleCrop>false</ScaleCrop>
  <HeadingPairs>
    <vt:vector size="6" baseType="variant">
      <vt:variant>
        <vt:lpstr>사용한 글꼴</vt:lpstr>
      </vt:variant>
      <vt:variant>
        <vt:i4>3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39</vt:i4>
      </vt:variant>
    </vt:vector>
  </HeadingPairs>
  <TitlesOfParts>
    <vt:vector size="43" baseType="lpstr">
      <vt:lpstr>맑은 고딕</vt:lpstr>
      <vt:lpstr>Arial</vt:lpstr>
      <vt:lpstr>Courier New</vt:lpstr>
      <vt:lpstr>Office 테마</vt:lpstr>
      <vt:lpstr>PulseCity Graphics High Level Design</vt:lpstr>
      <vt:lpstr>Graphics</vt:lpstr>
      <vt:lpstr>Render</vt:lpstr>
      <vt:lpstr>3D Object</vt:lpstr>
      <vt:lpstr>ResourceBinding</vt:lpstr>
      <vt:lpstr>ShaderVisibleDescHeap의 확장 / 정리</vt:lpstr>
      <vt:lpstr>PowerPoint 프레젠테이션</vt:lpstr>
      <vt:lpstr>DescIndex</vt:lpstr>
      <vt:lpstr>Raster</vt:lpstr>
      <vt:lpstr>View Frustum Culling</vt:lpstr>
      <vt:lpstr>Occulsion Culling</vt:lpstr>
      <vt:lpstr>Forward Rendering</vt:lpstr>
      <vt:lpstr>Defered Rendering</vt:lpstr>
      <vt:lpstr>DrawCalls</vt:lpstr>
      <vt:lpstr>Instancing</vt:lpstr>
      <vt:lpstr>Static/Dynamic Object</vt:lpstr>
      <vt:lpstr>SkinMesh Object</vt:lpstr>
      <vt:lpstr>Mirror</vt:lpstr>
      <vt:lpstr>Particle</vt:lpstr>
      <vt:lpstr>Raytracing</vt:lpstr>
      <vt:lpstr>DXR – Vertex Compute</vt:lpstr>
      <vt:lpstr>DXR - Default</vt:lpstr>
      <vt:lpstr>DXR - SkinMesh</vt:lpstr>
      <vt:lpstr>Screen Render</vt:lpstr>
      <vt:lpstr>PowerPoint 프레젠테이션</vt:lpstr>
      <vt:lpstr>PowerPoint 프레젠테이션</vt:lpstr>
      <vt:lpstr>PowerPoint 프레젠테이션</vt:lpstr>
      <vt:lpstr>PowerPoint 프레젠테이션</vt:lpstr>
      <vt:lpstr>Game Data Exporter</vt:lpstr>
      <vt:lpstr>GameLogic</vt:lpstr>
      <vt:lpstr>BitAlloter</vt:lpstr>
      <vt:lpstr>BitAlloter의 순회 방법</vt:lpstr>
      <vt:lpstr>Chunck</vt:lpstr>
      <vt:lpstr>Chunck의 문제점과 해결</vt:lpstr>
      <vt:lpstr>Chunck에 들어가기 위한 GameObject 구조</vt:lpstr>
      <vt:lpstr>TimeLine</vt:lpstr>
      <vt:lpstr>TimeLine-RenderPass</vt:lpstr>
      <vt:lpstr>TimeLine-RenderPass- 비동기 렌더링</vt:lpstr>
      <vt:lpstr>Shape?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Administrator</dc:creator>
  <cp:lastModifiedBy>훈철 노</cp:lastModifiedBy>
  <cp:revision>25</cp:revision>
  <dcterms:created xsi:type="dcterms:W3CDTF">2026-03-06T12:08:56Z</dcterms:created>
  <dcterms:modified xsi:type="dcterms:W3CDTF">2026-04-14T17:02:23Z</dcterms:modified>
</cp:coreProperties>
</file>